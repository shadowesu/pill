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Pill is a forty-dollar box. One quarter tablet, about three minutes, two channels that must agree. It says three things only: PASS, NEEDS LAB, UNABLE TO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bottle says vitamin B2. Inside is chalk. The blue line drops right into the reference band, so a one-sensor tester would call that a pass, but the green line never moves. Pill says NEEDS LAB and the supplier's four hundred and eighty dollars stays held, lab referral drafted. Sandbox money; this is a replay, and we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estimates 1 in 10 medical products in low- and middle-income countries is substandard or falsified. A new lab dissolution tester costs twenty to a hundred thousand dollars, and lab results take seven to ten business days. A clinic pharmacist has neither; what they have is an invoice to pay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station is an Arduino UNO Q, a 3.3-volt board with a 12-bit ADC. Once a second it turns every LED off and reads both photoresistors, the dark reading that cancels room light, then lights blue, white and red in turn and reads again: one sensor in line with the beam, one at ninety degrees. It sends one CSV line a second. The firmware decides nothing; the laptop does the maths.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station has its own app, Pill Gate, on the laptop beside the box. Prepare checks the lid and the light path, ten seconds of clean water make the blank, the lid opening marks the tablet going in, sixty seconds of dissolving, then the result. It compares the run with a reference profile from three or more runs of a known-good tablet, and it says one of three things: Passed the screen, Needs lab testing, or Unable to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quarter tablet, about three minutes. The pill fills to last night's reference plateau; at 100% the seven rules run in order and the rule that fired is printed. Claude explains the result in plain English but never sets a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says three things only: PASS, NEEDS LAB, UNABLE TO VERIFY. Never a fourth. PASS means this tablet's curve matched last night's riboflavin references on this box; it does not mean right drug, right dose or contaminant-free.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it decides the money. A policy agent holds the payment in escrow and proposes release only on a PASS; a pharmacist taps to approve. Claude explains the result and keeps the log, but never sets a verdict and never moves money. Sandbox and testnet money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clinics can buy a verdict for five cents over x402: the server answers 402, the wallet signs, the facilitator settles, and the server answers 200 with the verdict and the rule id. Testnet USDC on Base Sepolia; nothing here is real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web app on the station's touchscreen and on any phone. These are the newest build pass; the Design file has every screenshot, grouped by pass and linked to its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run is six phases, the same ones the station walks through. Lights off for three seconds: the box must be dark, or the lid is open and nothing runs. Ten seconds of clear water as the blank; it must be steady. Drop the tablet; the station waits for the reading to fall six percent. Dissolving: the pill fills and the glow should rise with it. Settling: twenty flat seconds is a plateau. Then the seven rules give the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run, a Gemini agent checks what the sensor says: it reads the label, looks at photos of the cup, checks openFDA for a recall, cross-checks expiry, drug and lot, and compares what the camera saw with the sensor numbers. Every step is logged with its own time. The verdict word comes from the sensor and is never changed. The follower is the same Gemini, docked on every screen, answering questions about what is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website came first and set the tokens the app inherited. A 16-persona panel picked a plain, honest page over a copied storytelling site. All three crops are the live site today, captured headless.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a code-first team. Ideation and prototyping happened in markdown, AI panels and HTML. Figma enters as the place the repo is published to: slides, screens, tokens and the ideation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API cannot draw, so the repo emits deck.json and a one-file plugin draws it in Slides, Design or FigJam. Composio closes the loop: comments, dev resources back to the code, thumbnails, and tokens back to CSS. Nobody has run it in real Figma yet; that step is marked pending.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stages, timed from git commit times. Steps not yet run in real Figma say pending; we do not estimate them. The full log, with the Figma Make prompt and a ten-minute reproduce box, is STAGE-LOG.md.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broke, honestly. A rule bug the tests caught, a deploy we ran twice because the output was cut off, an API that cannot draw, and a hand-copied palette where most tokens drifted. Each one changed how we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numbers are estimates and say so. After numbers are measured on this machine; the real Figma run time is printed by the plugin and goes into LINKS.md.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limits before a judge asks. PASS, or Passed the screen in the station app, means this tablet dissolved like the reference runs; it never calls a medicine good or bad. Then what is real today: the UNO Q station and its app are real, and a live Claude scan ran Saturday at 19:19 on a replay of our real aspirin run; there is no reference profile yet, so it said Unable to verify. The clinic app replays labelled synthetic curves, and escrow is simulated until a CDP key. All money is SANDBOX or TESTNET.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build, many judges; only the emphasis changes. Money is SANDBOX or TESTNET on every track.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ask: try to make it say PASS on the chalk. Then tell us which tablet to calibrate next, and introduce us to one clinic pharmacist. Everything still pending is marked pending in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slideLayout" Target="../slideLayouts/slideLayout1.xml"/><Relationship Id="rId1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406359"/>
            <a:ext cx="447050" cy="195590"/>
          </a:xfrm>
          <a:prstGeom prst="roundRect">
            <a:avLst>
              <a:gd name="adj" fmla="val 49977"/>
            </a:avLst>
          </a:prstGeom>
          <a:solidFill>
            <a:srgbClr val="FFFFFF"/>
          </a:solidFill>
          <a:ln/>
        </p:spPr>
      </p:sp>
      <p:sp>
        <p:nvSpPr>
          <p:cNvPr id="3" name="Shape 1"/>
          <p:cNvSpPr/>
          <p:nvPr/>
        </p:nvSpPr>
        <p:spPr>
          <a:xfrm>
            <a:off x="761970" y="406359"/>
            <a:ext cx="447050" cy="195590"/>
          </a:xfrm>
          <a:custGeom>
            <a:avLst/>
            <a:gdLst/>
            <a:ahLst/>
            <a:cxnLst/>
            <a:rect l="l" t="t" r="r" b="b"/>
            <a:pathLst>
              <a:path w="447050" h="195590">
                <a:moveTo>
                  <a:pt x="223479" y="195590"/>
                </a:moveTo>
                <a:lnTo>
                  <a:pt x="97749" y="195590"/>
                </a:lnTo>
                <a:lnTo>
                  <a:pt x="85039" y="194767"/>
                </a:lnTo>
                <a:lnTo>
                  <a:pt x="72512" y="192207"/>
                </a:lnTo>
                <a:lnTo>
                  <a:pt x="60350" y="188092"/>
                </a:lnTo>
                <a:lnTo>
                  <a:pt x="48920" y="182514"/>
                </a:lnTo>
                <a:lnTo>
                  <a:pt x="38222" y="175382"/>
                </a:lnTo>
                <a:lnTo>
                  <a:pt x="28621" y="166969"/>
                </a:lnTo>
                <a:lnTo>
                  <a:pt x="20208" y="157277"/>
                </a:lnTo>
                <a:lnTo>
                  <a:pt x="13076" y="146670"/>
                </a:lnTo>
                <a:lnTo>
                  <a:pt x="7407" y="135240"/>
                </a:lnTo>
                <a:lnTo>
                  <a:pt x="3292" y="123078"/>
                </a:lnTo>
                <a:lnTo>
                  <a:pt x="823" y="110551"/>
                </a:lnTo>
                <a:lnTo>
                  <a:pt x="0" y="97749"/>
                </a:lnTo>
                <a:lnTo>
                  <a:pt x="823" y="85039"/>
                </a:lnTo>
                <a:lnTo>
                  <a:pt x="3292" y="72512"/>
                </a:lnTo>
                <a:lnTo>
                  <a:pt x="7407" y="60350"/>
                </a:lnTo>
                <a:lnTo>
                  <a:pt x="13076" y="48920"/>
                </a:lnTo>
                <a:lnTo>
                  <a:pt x="20208" y="38222"/>
                </a:lnTo>
                <a:lnTo>
                  <a:pt x="28621" y="28621"/>
                </a:lnTo>
                <a:lnTo>
                  <a:pt x="38222" y="20208"/>
                </a:lnTo>
                <a:lnTo>
                  <a:pt x="48920" y="13076"/>
                </a:lnTo>
                <a:lnTo>
                  <a:pt x="60350" y="7407"/>
                </a:lnTo>
                <a:lnTo>
                  <a:pt x="72512" y="3292"/>
                </a:lnTo>
                <a:lnTo>
                  <a:pt x="85039" y="823"/>
                </a:lnTo>
                <a:lnTo>
                  <a:pt x="97749" y="0"/>
                </a:lnTo>
                <a:lnTo>
                  <a:pt x="223479" y="0"/>
                </a:lnTo>
                <a:close/>
              </a:path>
            </a:pathLst>
          </a:custGeom>
          <a:solidFill>
            <a:srgbClr val="5FD39A"/>
          </a:solidFill>
          <a:ln/>
        </p:spPr>
      </p:sp>
      <p:sp>
        <p:nvSpPr>
          <p:cNvPr id="4" name="Shape 2"/>
          <p:cNvSpPr/>
          <p:nvPr/>
        </p:nvSpPr>
        <p:spPr>
          <a:xfrm>
            <a:off x="761970" y="406359"/>
            <a:ext cx="447050" cy="195590"/>
          </a:xfrm>
          <a:prstGeom prst="roundRect">
            <a:avLst>
              <a:gd name="adj" fmla="val 49977"/>
            </a:avLst>
          </a:prstGeom>
          <a:ln w="12700">
            <a:solidFill>
              <a:srgbClr val="16181B"/>
            </a:solidFill>
            <a:prstDash val="solid"/>
          </a:ln>
        </p:spPr>
      </p:sp>
      <p:sp>
        <p:nvSpPr>
          <p:cNvPr id="5" name="Text 2"/>
          <p:cNvSpPr/>
          <p:nvPr/>
        </p:nvSpPr>
        <p:spPr>
          <a:xfrm>
            <a:off x="1306860" y="385420"/>
            <a:ext cx="1270010" cy="228600"/>
          </a:xfrm>
          <a:prstGeom prst="rect">
            <a:avLst/>
          </a:prstGeom>
          <a:noFill/>
          <a:ln/>
        </p:spPr>
        <p:txBody>
          <a:bodyPr wrap="square" lIns="0" tIns="0" rIns="0" bIns="0" rtlCol="0" anchor="t"/>
          <a:lstStyle/>
          <a:p>
            <a:pPr algn="l" indent="0" marL="0">
              <a:lnSpc>
                <a:spcPct val="100000"/>
              </a:lnSpc>
              <a:buNone/>
            </a:pPr>
            <a:r>
              <a:rPr lang="en-US" sz="1459" dirty="0">
                <a:solidFill>
                  <a:srgbClr val="16181B"/>
                </a:solidFill>
                <a:latin typeface="Instrument Serif" pitchFamily="34" charset="0"/>
                <a:ea typeface="Instrument Serif" pitchFamily="34" charset="-122"/>
                <a:cs typeface="Instrument Serif" pitchFamily="34" charset="-120"/>
              </a:rPr>
              <a:t>Pill</a:t>
            </a:r>
            <a:endParaRPr lang="en-US" sz="1459" dirty="0"/>
          </a:p>
        </p:txBody>
      </p:sp>
      <p:sp>
        <p:nvSpPr>
          <p:cNvPr id="6" name="Text 3"/>
          <p:cNvSpPr/>
          <p:nvPr/>
        </p:nvSpPr>
        <p:spPr>
          <a:xfrm>
            <a:off x="761970" y="1587490"/>
            <a:ext cx="7619970" cy="177759"/>
          </a:xfrm>
          <a:prstGeom prst="rect">
            <a:avLst/>
          </a:prstGeom>
          <a:noFill/>
          <a:ln/>
        </p:spPr>
        <p:txBody>
          <a:bodyPr wrap="square" lIns="0" tIns="0" rIns="0" bIns="0" rtlCol="0" anchor="t"/>
          <a:lstStyle/>
          <a:p>
            <a:pPr algn="l" indent="0" marL="0">
              <a:lnSpc>
                <a:spcPct val="120000"/>
              </a:lnSpc>
              <a:buNone/>
            </a:pPr>
            <a:r>
              <a:rPr lang="en-US" sz="1000" spc="140" kern="0" dirty="0">
                <a:solidFill>
                  <a:srgbClr val="7C8188"/>
                </a:solidFill>
                <a:latin typeface="JetBrains Mono" pitchFamily="34" charset="0"/>
                <a:ea typeface="JetBrains Mono" pitchFamily="34" charset="-122"/>
                <a:cs typeface="JetBrains Mono" pitchFamily="34" charset="-120"/>
              </a:rPr>
              <a:t>CAL HACKS 13.0 · IDEA TO DEMO · FIGMA</a:t>
            </a:r>
            <a:endParaRPr lang="en-US" sz="1000" dirty="0"/>
          </a:p>
        </p:txBody>
      </p:sp>
      <p:sp>
        <p:nvSpPr>
          <p:cNvPr id="7" name="Title"/>
          <p:cNvSpPr/>
          <p:nvPr/>
        </p:nvSpPr>
        <p:spPr>
          <a:xfrm>
            <a:off x="761970" y="1904970"/>
            <a:ext cx="5524530" cy="1974830"/>
          </a:xfrm>
          <a:prstGeom prst="rect">
            <a:avLst/>
          </a:prstGeom>
          <a:noFill/>
          <a:ln/>
        </p:spPr>
        <p:txBody>
          <a:bodyPr wrap="square" lIns="0" tIns="0" rIns="0" bIns="0" rtlCol="0" anchor="t"/>
          <a:lstStyle/>
          <a:p>
            <a:pPr algn="l" indent="0" marL="0">
              <a:lnSpc>
                <a:spcPct val="96000"/>
              </a:lnSpc>
              <a:buNone/>
            </a:pPr>
            <a:r>
              <a:rPr lang="en-US" sz="5040" spc="-76" kern="0" dirty="0">
                <a:solidFill>
                  <a:srgbClr val="16181B"/>
                </a:solidFill>
                <a:latin typeface="Instrument Serif" pitchFamily="34" charset="0"/>
                <a:ea typeface="Instrument Serif" pitchFamily="34" charset="-122"/>
                <a:cs typeface="Instrument Serif" pitchFamily="34" charset="-120"/>
              </a:rPr>
              <a:t>The box measures.
</a:t>
            </a:r>
            <a:pPr algn="l" indent="0" marL="0">
              <a:lnSpc>
                <a:spcPct val="96000"/>
              </a:lnSpc>
              <a:buNone/>
            </a:pPr>
            <a:r>
              <a:rPr lang="en-US" sz="5040" i="1" spc="-76" kern="0" dirty="0">
                <a:solidFill>
                  <a:srgbClr val="16181B"/>
                </a:solidFill>
                <a:latin typeface="Instrument Serif" pitchFamily="34" charset="0"/>
                <a:ea typeface="Instrument Serif" pitchFamily="34" charset="-122"/>
                <a:cs typeface="Instrument Serif" pitchFamily="34" charset="-120"/>
              </a:rPr>
              <a:t>Pill explains.</a:t>
            </a:r>
            <a:endParaRPr lang="en-US" sz="5040" dirty="0"/>
          </a:p>
        </p:txBody>
      </p:sp>
      <p:sp>
        <p:nvSpPr>
          <p:cNvPr id="8" name="Text 5"/>
          <p:cNvSpPr/>
          <p:nvPr/>
        </p:nvSpPr>
        <p:spPr>
          <a:xfrm>
            <a:off x="761970" y="3937041"/>
            <a:ext cx="4953030" cy="1219170"/>
          </a:xfrm>
          <a:prstGeom prst="rect">
            <a:avLst/>
          </a:prstGeom>
          <a:noFill/>
          <a:ln/>
        </p:spPr>
        <p:txBody>
          <a:bodyPr wrap="square" lIns="0" tIns="0" rIns="0" bIns="0" rtlCol="0" anchor="t"/>
          <a:lstStyle/>
          <a:p>
            <a:pPr algn="l" indent="0" marL="0">
              <a:lnSpc>
                <a:spcPct val="145000"/>
              </a:lnSpc>
              <a:buNone/>
            </a:pPr>
            <a:r>
              <a:rPr lang="en-US" sz="1600" dirty="0">
                <a:solidFill>
                  <a:srgbClr val="4A4E55"/>
                </a:solidFill>
                <a:latin typeface="Inter" pitchFamily="34" charset="0"/>
                <a:ea typeface="Inter" pitchFamily="34" charset="-122"/>
                <a:cs typeface="Inter" pitchFamily="34" charset="-120"/>
              </a:rPr>
              <a:t>A $40 lab-in-a-box. One tablet, about three minutes, one of three answers. In a clinic, that answer decides whether the supplier gets paid.</a:t>
            </a:r>
            <a:endParaRPr lang="en-US" sz="1600" dirty="0"/>
          </a:p>
        </p:txBody>
      </p:sp>
      <p:sp>
        <p:nvSpPr>
          <p:cNvPr id="9" name="Shape 7"/>
          <p:cNvSpPr/>
          <p:nvPr/>
        </p:nvSpPr>
        <p:spPr>
          <a:xfrm>
            <a:off x="761970" y="5460980"/>
            <a:ext cx="742950" cy="254020"/>
          </a:xfrm>
          <a:prstGeom prst="roundRect">
            <a:avLst>
              <a:gd name="adj" fmla="val 50000"/>
            </a:avLst>
          </a:prstGeom>
          <a:solidFill>
            <a:srgbClr val="5FD39A">
              <a:alpha val="16000"/>
            </a:srgbClr>
          </a:solidFill>
          <a:ln/>
        </p:spPr>
      </p:sp>
      <p:sp>
        <p:nvSpPr>
          <p:cNvPr id="10" name="Shape 8"/>
          <p:cNvSpPr/>
          <p:nvPr/>
        </p:nvSpPr>
        <p:spPr>
          <a:xfrm>
            <a:off x="888980" y="5556260"/>
            <a:ext cx="63459" cy="63459"/>
          </a:xfrm>
          <a:prstGeom prst="ellipse">
            <a:avLst/>
          </a:prstGeom>
          <a:solidFill>
            <a:srgbClr val="5FD39A"/>
          </a:solidFill>
          <a:ln/>
        </p:spPr>
      </p:sp>
      <p:sp>
        <p:nvSpPr>
          <p:cNvPr id="11" name="Text 8"/>
          <p:cNvSpPr/>
          <p:nvPr/>
        </p:nvSpPr>
        <p:spPr>
          <a:xfrm>
            <a:off x="1003280" y="5511820"/>
            <a:ext cx="425470" cy="177759"/>
          </a:xfrm>
          <a:prstGeom prst="rect">
            <a:avLst/>
          </a:prstGeom>
          <a:noFill/>
          <a:ln/>
        </p:spPr>
        <p:txBody>
          <a:bodyPr wrap="square" lIns="0" tIns="0" rIns="0" bIns="0" rtlCol="0" anchor="t"/>
          <a:lstStyle/>
          <a:p>
            <a:pPr algn="l" indent="0" marL="0">
              <a:lnSpc>
                <a:spcPct val="120000"/>
              </a:lnSpc>
              <a:buNone/>
            </a:pPr>
            <a:r>
              <a:rPr lang="en-US" sz="1000" b="1" spc="60" kern="0" dirty="0">
                <a:solidFill>
                  <a:srgbClr val="16181B"/>
                </a:solidFill>
                <a:latin typeface="JetBrains Mono" pitchFamily="34" charset="0"/>
                <a:ea typeface="JetBrains Mono" pitchFamily="34" charset="-122"/>
                <a:cs typeface="JetBrains Mono" pitchFamily="34" charset="-120"/>
              </a:rPr>
              <a:t>PASS</a:t>
            </a:r>
            <a:endParaRPr lang="en-US" sz="1000" dirty="0"/>
          </a:p>
        </p:txBody>
      </p:sp>
      <p:sp>
        <p:nvSpPr>
          <p:cNvPr id="12" name="Shape 10"/>
          <p:cNvSpPr/>
          <p:nvPr/>
        </p:nvSpPr>
        <p:spPr>
          <a:xfrm>
            <a:off x="1593891" y="5460980"/>
            <a:ext cx="1162020" cy="254020"/>
          </a:xfrm>
          <a:prstGeom prst="roundRect">
            <a:avLst>
              <a:gd name="adj" fmla="val 50000"/>
            </a:avLst>
          </a:prstGeom>
          <a:solidFill>
            <a:srgbClr val="E09A3A">
              <a:alpha val="16000"/>
            </a:srgbClr>
          </a:solidFill>
          <a:ln/>
        </p:spPr>
      </p:sp>
      <p:sp>
        <p:nvSpPr>
          <p:cNvPr id="13" name="Shape 11"/>
          <p:cNvSpPr/>
          <p:nvPr/>
        </p:nvSpPr>
        <p:spPr>
          <a:xfrm>
            <a:off x="1720809" y="5556260"/>
            <a:ext cx="63459" cy="63459"/>
          </a:xfrm>
          <a:prstGeom prst="ellipse">
            <a:avLst/>
          </a:prstGeom>
          <a:solidFill>
            <a:srgbClr val="E09A3A"/>
          </a:solidFill>
          <a:ln/>
        </p:spPr>
      </p:sp>
      <p:sp>
        <p:nvSpPr>
          <p:cNvPr id="14" name="Text 11"/>
          <p:cNvSpPr/>
          <p:nvPr/>
        </p:nvSpPr>
        <p:spPr>
          <a:xfrm>
            <a:off x="1835109" y="5511820"/>
            <a:ext cx="844540" cy="177759"/>
          </a:xfrm>
          <a:prstGeom prst="rect">
            <a:avLst/>
          </a:prstGeom>
          <a:noFill/>
          <a:ln/>
        </p:spPr>
        <p:txBody>
          <a:bodyPr wrap="square" lIns="0" tIns="0" rIns="0" bIns="0" rtlCol="0" anchor="t"/>
          <a:lstStyle/>
          <a:p>
            <a:pPr algn="l" indent="0" marL="0">
              <a:lnSpc>
                <a:spcPct val="120000"/>
              </a:lnSpc>
              <a:buNone/>
            </a:pPr>
            <a:r>
              <a:rPr lang="en-US" sz="1000" b="1" spc="60" kern="0" dirty="0">
                <a:solidFill>
                  <a:srgbClr val="16181B"/>
                </a:solidFill>
                <a:latin typeface="JetBrains Mono" pitchFamily="34" charset="0"/>
                <a:ea typeface="JetBrains Mono" pitchFamily="34" charset="-122"/>
                <a:cs typeface="JetBrains Mono" pitchFamily="34" charset="-120"/>
              </a:rPr>
              <a:t>NEEDS LAB</a:t>
            </a:r>
            <a:endParaRPr lang="en-US" sz="1000" dirty="0"/>
          </a:p>
        </p:txBody>
      </p:sp>
      <p:sp>
        <p:nvSpPr>
          <p:cNvPr id="15" name="Shape 13"/>
          <p:cNvSpPr/>
          <p:nvPr/>
        </p:nvSpPr>
        <p:spPr>
          <a:xfrm>
            <a:off x="2844790" y="5460980"/>
            <a:ext cx="1746230" cy="254020"/>
          </a:xfrm>
          <a:prstGeom prst="roundRect">
            <a:avLst>
              <a:gd name="adj" fmla="val 50000"/>
            </a:avLst>
          </a:prstGeom>
          <a:solidFill>
            <a:srgbClr val="9AA0A6">
              <a:alpha val="18000"/>
            </a:srgbClr>
          </a:solidFill>
          <a:ln/>
        </p:spPr>
      </p:sp>
      <p:sp>
        <p:nvSpPr>
          <p:cNvPr id="16" name="Shape 14"/>
          <p:cNvSpPr/>
          <p:nvPr/>
        </p:nvSpPr>
        <p:spPr>
          <a:xfrm>
            <a:off x="2971800" y="5556260"/>
            <a:ext cx="63459" cy="63459"/>
          </a:xfrm>
          <a:prstGeom prst="ellipse">
            <a:avLst/>
          </a:prstGeom>
          <a:solidFill>
            <a:srgbClr val="9AA0A6"/>
          </a:solidFill>
          <a:ln/>
        </p:spPr>
      </p:sp>
      <p:sp>
        <p:nvSpPr>
          <p:cNvPr id="17" name="Text 14"/>
          <p:cNvSpPr/>
          <p:nvPr/>
        </p:nvSpPr>
        <p:spPr>
          <a:xfrm>
            <a:off x="3086100" y="5511820"/>
            <a:ext cx="1428750" cy="177759"/>
          </a:xfrm>
          <a:prstGeom prst="rect">
            <a:avLst/>
          </a:prstGeom>
          <a:noFill/>
          <a:ln/>
        </p:spPr>
        <p:txBody>
          <a:bodyPr wrap="square" lIns="0" tIns="0" rIns="0" bIns="0" rtlCol="0" anchor="t"/>
          <a:lstStyle/>
          <a:p>
            <a:pPr algn="l" indent="0" marL="0">
              <a:lnSpc>
                <a:spcPct val="120000"/>
              </a:lnSpc>
              <a:buNone/>
            </a:pPr>
            <a:r>
              <a:rPr lang="en-US" sz="1000" b="1" spc="60" kern="0" dirty="0">
                <a:solidFill>
                  <a:srgbClr val="16181B"/>
                </a:solidFill>
                <a:latin typeface="JetBrains Mono" pitchFamily="34" charset="0"/>
                <a:ea typeface="JetBrains Mono" pitchFamily="34" charset="-122"/>
                <a:cs typeface="JetBrains Mono" pitchFamily="34" charset="-120"/>
              </a:rPr>
              <a:t>UNABLE TO VERIFY</a:t>
            </a:r>
            <a:endParaRPr lang="en-US" sz="1000" dirty="0"/>
          </a:p>
        </p:txBody>
      </p:sp>
      <p:pic>
        <p:nvPicPr>
          <p:cNvPr id="18" name="Image 0" descr="Title: figma-art-binary-pill-1000">    </p:cNvPr>
          <p:cNvPicPr>
            <a:picLocks noChangeAspect="1"/>
          </p:cNvPicPr>
          <p:nvPr/>
        </p:nvPicPr>
        <p:blipFill>
          <a:blip r:embed="rId1"/>
          <a:stretch>
            <a:fillRect/>
          </a:stretch>
        </p:blipFill>
        <p:spPr>
          <a:xfrm>
            <a:off x="6349959" y="1079541"/>
            <a:ext cx="5080041" cy="4171950"/>
          </a:xfrm>
          <a:prstGeom prst="rect">
            <a:avLst/>
          </a:prstGeom>
        </p:spPr>
      </p:pic>
      <p:sp>
        <p:nvSpPr>
          <p:cNvPr id="19" name="Text 16"/>
          <p:cNvSpPr/>
          <p:nvPr/>
        </p:nvSpPr>
        <p:spPr>
          <a:xfrm>
            <a:off x="6349959" y="5397520"/>
            <a:ext cx="5080041" cy="177759"/>
          </a:xfrm>
          <a:prstGeom prst="rect">
            <a:avLst/>
          </a:prstGeom>
          <a:noFill/>
          <a:ln/>
        </p:spPr>
        <p:txBody>
          <a:bodyPr wrap="square" lIns="0" tIns="0" rIns="0" bIns="0" rtlCol="0" anchor="t"/>
          <a:lstStyle/>
          <a:p>
            <a:pPr algn="l" indent="0" marL="0">
              <a:lnSpc>
                <a:spcPct val="140000"/>
              </a:lnSpc>
              <a:buNone/>
            </a:pPr>
            <a:r>
              <a:rPr lang="en-US" sz="850" dirty="0">
                <a:solidFill>
                  <a:srgbClr val="7C8188"/>
                </a:solidFill>
                <a:latin typeface="JetBrains Mono" pitchFamily="34" charset="0"/>
                <a:ea typeface="JetBrains Mono" pitchFamily="34" charset="-122"/>
                <a:cs typeface="JetBrains Mono" pitchFamily="34" charset="-120"/>
              </a:rPr>
              <a:t>Art · the site’s binary pill (pill.js), captured from pill-site.vercel.app</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THE MOMENT · DELIVERY D-1042 · REPLAY TM-02</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02 / 21</a:t>
            </a:r>
            <a:endParaRPr lang="en-US" sz="900" dirty="0"/>
          </a:p>
        </p:txBody>
      </p:sp>
      <p:sp>
        <p:nvSpPr>
          <p:cNvPr id="8" name="Shape 6"/>
          <p:cNvSpPr/>
          <p:nvPr/>
        </p:nvSpPr>
        <p:spPr>
          <a:xfrm>
            <a:off x="761970" y="6413510"/>
            <a:ext cx="10668030" cy="12710"/>
          </a:xfrm>
          <a:prstGeom prst="rect">
            <a:avLst/>
          </a:prstGeom>
          <a:solidFill>
            <a:srgbClr val="16181B">
              <a:alpha val="10000"/>
            </a:srgbClr>
          </a:solidFill>
          <a:ln/>
        </p:spPr>
      </p:sp>
      <p:sp>
        <p:nvSpPr>
          <p:cNvPr id="9" name="Text 6"/>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0" name="Title"/>
          <p:cNvSpPr/>
          <p:nvPr/>
        </p:nvSpPr>
        <p:spPr>
          <a:xfrm>
            <a:off x="761970" y="952530"/>
            <a:ext cx="9525030" cy="622341"/>
          </a:xfrm>
          <a:prstGeom prst="rect">
            <a:avLst/>
          </a:prstGeom>
          <a:noFill/>
          <a:ln/>
        </p:spPr>
        <p:txBody>
          <a:bodyPr wrap="square" lIns="0" tIns="0" rIns="0" bIns="0" rtlCol="0" anchor="t"/>
          <a:lstStyle/>
          <a:p>
            <a:pPr algn="l" indent="0" marL="0">
              <a:lnSpc>
                <a:spcPct val="100000"/>
              </a:lnSpc>
              <a:buNone/>
            </a:pPr>
            <a:r>
              <a:rPr lang="en-US" sz="4056" spc="-61" kern="0" dirty="0">
                <a:solidFill>
                  <a:srgbClr val="16181B"/>
                </a:solidFill>
                <a:latin typeface="Instrument Serif" pitchFamily="34" charset="0"/>
                <a:ea typeface="Instrument Serif" pitchFamily="34" charset="-122"/>
                <a:cs typeface="Instrument Serif" pitchFamily="34" charset="-120"/>
              </a:rPr>
              <a:t>Same label. </a:t>
            </a:r>
            <a:pPr algn="l" indent="0" marL="0">
              <a:lnSpc>
                <a:spcPct val="100000"/>
              </a:lnSpc>
              <a:buNone/>
            </a:pPr>
            <a:r>
              <a:rPr lang="en-US" sz="4056" i="1" spc="-61" kern="0" dirty="0">
                <a:solidFill>
                  <a:srgbClr val="16181B"/>
                </a:solidFill>
                <a:latin typeface="Instrument Serif" pitchFamily="34" charset="0"/>
                <a:ea typeface="Instrument Serif" pitchFamily="34" charset="-122"/>
                <a:cs typeface="Instrument Serif" pitchFamily="34" charset="-120"/>
              </a:rPr>
              <a:t>Chalk inside.</a:t>
            </a:r>
            <a:endParaRPr lang="en-US" sz="4056" dirty="0"/>
          </a:p>
        </p:txBody>
      </p:sp>
      <p:sp>
        <p:nvSpPr>
          <p:cNvPr id="11" name="Text 8"/>
          <p:cNvSpPr/>
          <p:nvPr/>
        </p:nvSpPr>
        <p:spPr>
          <a:xfrm>
            <a:off x="761970" y="1777959"/>
            <a:ext cx="8255020" cy="552480"/>
          </a:xfrm>
          <a:prstGeom prst="rect">
            <a:avLst/>
          </a:prstGeom>
          <a:noFill/>
          <a:ln/>
        </p:spPr>
        <p:txBody>
          <a:bodyPr wrap="square" lIns="0" tIns="0" rIns="0" bIns="0" rtlCol="0" anchor="t"/>
          <a:lstStyle/>
          <a:p>
            <a:pPr algn="l" indent="0" marL="0">
              <a:lnSpc>
                <a:spcPct val="145000"/>
              </a:lnSpc>
              <a:buNone/>
            </a:pPr>
            <a:r>
              <a:rPr lang="en-US" sz="1400" dirty="0">
                <a:solidFill>
                  <a:srgbClr val="4A4E55"/>
                </a:solidFill>
                <a:latin typeface="Inter" pitchFamily="34" charset="0"/>
                <a:ea typeface="Inter" pitchFamily="34" charset="-122"/>
                <a:cs typeface="Inter" pitchFamily="34" charset="-120"/>
              </a:rPr>
              <a:t>The bottle says vitamin B2. The blue line drops into the reference band, so a one-sensor tester would call it a pass. The green glow never moves.</a:t>
            </a:r>
            <a:endParaRPr lang="en-US" sz="1400" dirty="0"/>
          </a:p>
        </p:txBody>
      </p:sp>
      <p:sp>
        <p:nvSpPr>
          <p:cNvPr id="12" name="Shape 10"/>
          <p:cNvSpPr/>
          <p:nvPr/>
        </p:nvSpPr>
        <p:spPr>
          <a:xfrm>
            <a:off x="761970" y="2540020"/>
            <a:ext cx="6730990" cy="3556010"/>
          </a:xfrm>
          <a:prstGeom prst="roundRect">
            <a:avLst>
              <a:gd name="adj" fmla="val 4999"/>
            </a:avLst>
          </a:prstGeom>
          <a:solidFill>
            <a:srgbClr val="FFFFFF"/>
          </a:solidFill>
          <a:ln w="12700">
            <a:solidFill>
              <a:srgbClr val="16181B">
                <a:alpha val="10000"/>
              </a:srgbClr>
            </a:solidFill>
            <a:prstDash val="solid"/>
          </a:ln>
        </p:spPr>
      </p:sp>
      <p:sp>
        <p:nvSpPr>
          <p:cNvPr id="13" name="Shape 11"/>
          <p:cNvSpPr/>
          <p:nvPr/>
        </p:nvSpPr>
        <p:spPr>
          <a:xfrm>
            <a:off x="1587490" y="3556010"/>
            <a:ext cx="5333970" cy="482620"/>
          </a:xfrm>
          <a:prstGeom prst="rect">
            <a:avLst/>
          </a:prstGeom>
          <a:solidFill>
            <a:srgbClr val="4FB3FF">
              <a:alpha val="14000"/>
            </a:srgbClr>
          </a:solidFill>
          <a:ln/>
        </p:spPr>
      </p:sp>
      <p:sp>
        <p:nvSpPr>
          <p:cNvPr id="14" name="Shape 12"/>
          <p:cNvSpPr/>
          <p:nvPr/>
        </p:nvSpPr>
        <p:spPr>
          <a:xfrm>
            <a:off x="1574780" y="3543300"/>
            <a:ext cx="5359390" cy="25420"/>
          </a:xfrm>
          <a:custGeom>
            <a:avLst/>
            <a:gdLst/>
            <a:ahLst/>
            <a:cxnLst/>
            <a:rect l="l" t="t" r="r" b="b"/>
            <a:pathLst>
              <a:path w="5359390" h="25420">
                <a:moveTo>
                  <a:pt x="12710" y="12710"/>
                </a:moveTo>
                <a:lnTo>
                  <a:pt x="5346680" y="12710"/>
                </a:lnTo>
              </a:path>
            </a:pathLst>
          </a:custGeom>
          <a:ln w="12700">
            <a:solidFill>
              <a:srgbClr val="4FB3FF"/>
            </a:solidFill>
            <a:prstDash val="dash"/>
          </a:ln>
        </p:spPr>
      </p:sp>
      <p:sp>
        <p:nvSpPr>
          <p:cNvPr id="15" name="Shape 13"/>
          <p:cNvSpPr/>
          <p:nvPr/>
        </p:nvSpPr>
        <p:spPr>
          <a:xfrm>
            <a:off x="1574780" y="4025920"/>
            <a:ext cx="5359390" cy="25420"/>
          </a:xfrm>
          <a:custGeom>
            <a:avLst/>
            <a:gdLst/>
            <a:ahLst/>
            <a:cxnLst/>
            <a:rect l="l" t="t" r="r" b="b"/>
            <a:pathLst>
              <a:path w="5359390" h="25420">
                <a:moveTo>
                  <a:pt x="12710" y="12710"/>
                </a:moveTo>
                <a:lnTo>
                  <a:pt x="5346680" y="12710"/>
                </a:lnTo>
              </a:path>
            </a:pathLst>
          </a:custGeom>
          <a:ln w="12700">
            <a:solidFill>
              <a:srgbClr val="4FB3FF"/>
            </a:solidFill>
            <a:prstDash val="dash"/>
          </a:ln>
        </p:spPr>
      </p:sp>
      <p:sp>
        <p:nvSpPr>
          <p:cNvPr id="16" name="Shape 14"/>
          <p:cNvSpPr/>
          <p:nvPr/>
        </p:nvSpPr>
        <p:spPr>
          <a:xfrm>
            <a:off x="1574780" y="2844790"/>
            <a:ext cx="5359390" cy="2755910"/>
          </a:xfrm>
          <a:custGeom>
            <a:avLst/>
            <a:gdLst/>
            <a:ahLst/>
            <a:cxnLst/>
            <a:rect l="l" t="t" r="r" b="b"/>
            <a:pathLst>
              <a:path w="5359390" h="2755910">
                <a:moveTo>
                  <a:pt x="12710" y="12710"/>
                </a:moveTo>
                <a:lnTo>
                  <a:pt x="12710" y="2743200"/>
                </a:lnTo>
                <a:lnTo>
                  <a:pt x="5346680" y="2743200"/>
                </a:lnTo>
              </a:path>
            </a:pathLst>
          </a:custGeom>
          <a:ln w="12700">
            <a:solidFill>
              <a:srgbClr val="16181B"/>
            </a:solidFill>
            <a:prstDash val="solid"/>
          </a:ln>
        </p:spPr>
      </p:sp>
      <p:sp>
        <p:nvSpPr>
          <p:cNvPr id="17" name="Shape 15"/>
          <p:cNvSpPr/>
          <p:nvPr/>
        </p:nvSpPr>
        <p:spPr>
          <a:xfrm>
            <a:off x="1079541" y="2476470"/>
            <a:ext cx="6096030" cy="3556010"/>
          </a:xfrm>
          <a:custGeom>
            <a:avLst/>
            <a:gdLst/>
            <a:ahLst/>
            <a:cxnLst/>
            <a:rect l="l" t="t" r="r" b="b"/>
            <a:pathLst>
              <a:path w="6096030" h="3556010">
                <a:moveTo>
                  <a:pt x="508041" y="3111520"/>
                </a:moveTo>
                <a:cubicBezTo>
                  <a:pt x="1270010" y="2667030"/>
                  <a:pt x="1904970" y="1904970"/>
                  <a:pt x="2667030" y="1587490"/>
                </a:cubicBezTo>
                <a:cubicBezTo>
                  <a:pt x="3429000" y="1270010"/>
                  <a:pt x="4444990" y="1409730"/>
                  <a:pt x="5842010" y="1397020"/>
                </a:cubicBezTo>
              </a:path>
            </a:pathLst>
          </a:custGeom>
          <a:ln w="44450">
            <a:solidFill>
              <a:srgbClr val="4FB3FF"/>
            </a:solidFill>
            <a:prstDash val="solid"/>
          </a:ln>
        </p:spPr>
      </p:sp>
      <p:sp>
        <p:nvSpPr>
          <p:cNvPr id="18" name="Shape 16"/>
          <p:cNvSpPr/>
          <p:nvPr/>
        </p:nvSpPr>
        <p:spPr>
          <a:xfrm>
            <a:off x="1079541" y="2476470"/>
            <a:ext cx="6096030" cy="3556010"/>
          </a:xfrm>
          <a:custGeom>
            <a:avLst/>
            <a:gdLst/>
            <a:ahLst/>
            <a:cxnLst/>
            <a:rect l="l" t="t" r="r" b="b"/>
            <a:pathLst>
              <a:path w="6096030" h="3556010">
                <a:moveTo>
                  <a:pt x="508041" y="3086100"/>
                </a:moveTo>
                <a:cubicBezTo>
                  <a:pt x="1904970" y="3079791"/>
                  <a:pt x="3810030" y="3073390"/>
                  <a:pt x="5842010" y="3067080"/>
                </a:cubicBezTo>
              </a:path>
            </a:pathLst>
          </a:custGeom>
          <a:ln w="44450">
            <a:solidFill>
              <a:srgbClr val="5FD39A"/>
            </a:solidFill>
            <a:prstDash val="solid"/>
          </a:ln>
        </p:spPr>
      </p:sp>
      <p:sp>
        <p:nvSpPr>
          <p:cNvPr id="19" name="Text 16"/>
          <p:cNvSpPr/>
          <p:nvPr/>
        </p:nvSpPr>
        <p:spPr>
          <a:xfrm>
            <a:off x="4381530" y="3314700"/>
            <a:ext cx="2540020" cy="196870"/>
          </a:xfrm>
          <a:prstGeom prst="rect">
            <a:avLst/>
          </a:prstGeom>
          <a:noFill/>
          <a:ln/>
        </p:spPr>
        <p:txBody>
          <a:bodyPr wrap="square" lIns="0" tIns="0" rIns="0" bIns="0" rtlCol="0" anchor="t"/>
          <a:lstStyle/>
          <a:p>
            <a:pPr algn="r" indent="0" marL="0">
              <a:lnSpc>
                <a:spcPct val="140000"/>
              </a:lnSpc>
              <a:buNone/>
            </a:pPr>
            <a:r>
              <a:rPr lang="en-US" sz="950" dirty="0">
                <a:solidFill>
                  <a:srgbClr val="16181B"/>
                </a:solidFill>
                <a:latin typeface="JetBrains Mono" pitchFamily="34" charset="0"/>
                <a:ea typeface="JetBrains Mono" pitchFamily="34" charset="-122"/>
                <a:cs typeface="JetBrains Mono" pitchFamily="34" charset="-120"/>
              </a:rPr>
              <a:t>reference band 0.36–0.47</a:t>
            </a:r>
            <a:endParaRPr lang="en-US" sz="950" dirty="0"/>
          </a:p>
        </p:txBody>
      </p:sp>
      <p:sp>
        <p:nvSpPr>
          <p:cNvPr id="20" name="Text 17"/>
          <p:cNvSpPr/>
          <p:nvPr/>
        </p:nvSpPr>
        <p:spPr>
          <a:xfrm>
            <a:off x="4635459" y="4140220"/>
            <a:ext cx="2413010" cy="247620"/>
          </a:xfrm>
          <a:prstGeom prst="rect">
            <a:avLst/>
          </a:prstGeom>
          <a:noFill/>
          <a:ln/>
        </p:spPr>
        <p:txBody>
          <a:bodyPr wrap="square" lIns="0" tIns="0" rIns="0" bIns="0" rtlCol="0" anchor="t"/>
          <a:lstStyle/>
          <a:p>
            <a:pPr algn="l" indent="0" marL="0">
              <a:lnSpc>
                <a:spcPct val="140000"/>
              </a:lnSpc>
              <a:buNone/>
            </a:pPr>
            <a:r>
              <a:rPr lang="en-US" sz="1200" b="1" dirty="0">
                <a:solidFill>
                  <a:srgbClr val="16181B"/>
                </a:solidFill>
                <a:latin typeface="Inter" pitchFamily="34" charset="0"/>
                <a:ea typeface="Inter" pitchFamily="34" charset="-122"/>
                <a:cs typeface="Inter" pitchFamily="34" charset="-120"/>
              </a:rPr>
              <a:t>blue inline: in the band</a:t>
            </a:r>
            <a:endParaRPr lang="en-US" sz="1200" dirty="0"/>
          </a:p>
        </p:txBody>
      </p:sp>
      <p:sp>
        <p:nvSpPr>
          <p:cNvPr id="21" name="Text 18"/>
          <p:cNvSpPr/>
          <p:nvPr/>
        </p:nvSpPr>
        <p:spPr>
          <a:xfrm>
            <a:off x="4635459" y="5143500"/>
            <a:ext cx="2413010" cy="247620"/>
          </a:xfrm>
          <a:prstGeom prst="rect">
            <a:avLst/>
          </a:prstGeom>
          <a:noFill/>
          <a:ln/>
        </p:spPr>
        <p:txBody>
          <a:bodyPr wrap="square" lIns="0" tIns="0" rIns="0" bIns="0" rtlCol="0" anchor="t"/>
          <a:lstStyle/>
          <a:p>
            <a:pPr algn="l" indent="0" marL="0">
              <a:lnSpc>
                <a:spcPct val="140000"/>
              </a:lnSpc>
              <a:buNone/>
            </a:pPr>
            <a:r>
              <a:rPr lang="en-US" sz="1200" b="1" dirty="0">
                <a:solidFill>
                  <a:srgbClr val="16181B"/>
                </a:solidFill>
                <a:latin typeface="Inter" pitchFamily="34" charset="0"/>
                <a:ea typeface="Inter" pitchFamily="34" charset="-122"/>
                <a:cs typeface="Inter" pitchFamily="34" charset="-120"/>
              </a:rPr>
              <a:t>green 90° glow: flat</a:t>
            </a:r>
            <a:endParaRPr lang="en-US" sz="1200" dirty="0"/>
          </a:p>
        </p:txBody>
      </p:sp>
      <p:sp>
        <p:nvSpPr>
          <p:cNvPr id="22" name="Text 19"/>
          <p:cNvSpPr/>
          <p:nvPr/>
        </p:nvSpPr>
        <p:spPr>
          <a:xfrm>
            <a:off x="1587490" y="5676870"/>
            <a:ext cx="1270010" cy="177759"/>
          </a:xfrm>
          <a:prstGeom prst="rect">
            <a:avLst/>
          </a:prstGeom>
          <a:noFill/>
          <a:ln/>
        </p:spPr>
        <p:txBody>
          <a:bodyPr wrap="square" lIns="0" tIns="0" rIns="0" bIns="0" rtlCol="0" anchor="t"/>
          <a:lstStyle/>
          <a:p>
            <a:pPr algn="l" indent="0" marL="0">
              <a:lnSpc>
                <a:spcPct val="140000"/>
              </a:lnSpc>
              <a:buNone/>
            </a:pPr>
            <a:r>
              <a:rPr lang="en-US" sz="850" dirty="0">
                <a:solidFill>
                  <a:srgbClr val="7C8188"/>
                </a:solidFill>
                <a:latin typeface="JetBrains Mono" pitchFamily="34" charset="0"/>
                <a:ea typeface="JetBrains Mono" pitchFamily="34" charset="-122"/>
                <a:cs typeface="JetBrains Mono" pitchFamily="34" charset="-120"/>
              </a:rPr>
              <a:t>0 s</a:t>
            </a:r>
            <a:endParaRPr lang="en-US" sz="850" dirty="0"/>
          </a:p>
        </p:txBody>
      </p:sp>
      <p:sp>
        <p:nvSpPr>
          <p:cNvPr id="23" name="Text 20"/>
          <p:cNvSpPr/>
          <p:nvPr/>
        </p:nvSpPr>
        <p:spPr>
          <a:xfrm>
            <a:off x="5651541" y="5676870"/>
            <a:ext cx="1270010" cy="177759"/>
          </a:xfrm>
          <a:prstGeom prst="rect">
            <a:avLst/>
          </a:prstGeom>
          <a:noFill/>
          <a:ln/>
        </p:spPr>
        <p:txBody>
          <a:bodyPr wrap="square" lIns="0" tIns="0" rIns="0" bIns="0" rtlCol="0" anchor="t"/>
          <a:lstStyle/>
          <a:p>
            <a:pPr algn="r" indent="0" marL="0">
              <a:lnSpc>
                <a:spcPct val="140000"/>
              </a:lnSpc>
              <a:buNone/>
            </a:pPr>
            <a:r>
              <a:rPr lang="en-US" sz="850" dirty="0">
                <a:solidFill>
                  <a:srgbClr val="7C8188"/>
                </a:solidFill>
                <a:latin typeface="JetBrains Mono" pitchFamily="34" charset="0"/>
                <a:ea typeface="JetBrains Mono" pitchFamily="34" charset="-122"/>
                <a:cs typeface="JetBrains Mono" pitchFamily="34" charset="-120"/>
              </a:rPr>
              <a:t>180 s</a:t>
            </a:r>
            <a:endParaRPr lang="en-US" sz="850" dirty="0"/>
          </a:p>
        </p:txBody>
      </p:sp>
      <p:sp>
        <p:nvSpPr>
          <p:cNvPr id="24" name="Text 21"/>
          <p:cNvSpPr/>
          <p:nvPr/>
        </p:nvSpPr>
        <p:spPr>
          <a:xfrm>
            <a:off x="761970" y="6172200"/>
            <a:ext cx="6730990" cy="165141"/>
          </a:xfrm>
          <a:prstGeom prst="rect">
            <a:avLst/>
          </a:prstGeom>
          <a:noFill/>
          <a:ln/>
        </p:spPr>
        <p:txBody>
          <a:bodyPr wrap="square" lIns="0" tIns="0" rIns="0" bIns="0" rtlCol="0" anchor="t"/>
          <a:lstStyle/>
          <a:p>
            <a:pPr algn="l" indent="0" marL="0">
              <a:lnSpc>
                <a:spcPct val="140000"/>
              </a:lnSpc>
              <a:buNone/>
            </a:pPr>
            <a:r>
              <a:rPr lang="en-US" sz="800" dirty="0">
                <a:solidFill>
                  <a:srgbClr val="7C8188"/>
                </a:solidFill>
                <a:latin typeface="JetBrains Mono" pitchFamily="34" charset="0"/>
                <a:ea typeface="JetBrains Mono" pitchFamily="34" charset="-122"/>
                <a:cs typeface="JetBrains Mono" pitchFamily="34" charset="-120"/>
              </a:rPr>
              <a:t>Illustration · the shape of replay TM-02, redrawn; not live sensor data.</a:t>
            </a:r>
            <a:endParaRPr lang="en-US" sz="800" dirty="0"/>
          </a:p>
        </p:txBody>
      </p:sp>
      <p:sp>
        <p:nvSpPr>
          <p:cNvPr id="25" name="Shape 23"/>
          <p:cNvSpPr/>
          <p:nvPr/>
        </p:nvSpPr>
        <p:spPr>
          <a:xfrm>
            <a:off x="7873990" y="2540020"/>
            <a:ext cx="3556010" cy="3556010"/>
          </a:xfrm>
          <a:prstGeom prst="roundRect">
            <a:avLst>
              <a:gd name="adj" fmla="val 4999"/>
            </a:avLst>
          </a:prstGeom>
          <a:solidFill>
            <a:srgbClr val="E09A3A">
              <a:alpha val="16000"/>
            </a:srgbClr>
          </a:solidFill>
          <a:ln w="12700">
            <a:solidFill>
              <a:srgbClr val="E09A3A">
                <a:alpha val="40000"/>
              </a:srgbClr>
            </a:solidFill>
            <a:prstDash val="solid"/>
          </a:ln>
        </p:spPr>
      </p:sp>
      <p:sp>
        <p:nvSpPr>
          <p:cNvPr id="26" name="Text 23"/>
          <p:cNvSpPr/>
          <p:nvPr/>
        </p:nvSpPr>
        <p:spPr>
          <a:xfrm>
            <a:off x="8128010" y="2794041"/>
            <a:ext cx="3047970" cy="133320"/>
          </a:xfrm>
          <a:prstGeom prst="rect">
            <a:avLst/>
          </a:prstGeom>
          <a:noFill/>
          <a:ln/>
        </p:spPr>
        <p:txBody>
          <a:bodyPr wrap="square" lIns="0" tIns="0" rIns="0" bIns="0" rtlCol="0" anchor="t"/>
          <a:lstStyle/>
          <a:p>
            <a:pPr algn="l" indent="0" marL="0">
              <a:lnSpc>
                <a:spcPct val="120000"/>
              </a:lnSpc>
              <a:buNone/>
            </a:pPr>
            <a:r>
              <a:rPr lang="en-US" sz="750" spc="45" kern="0" dirty="0">
                <a:solidFill>
                  <a:srgbClr val="4A4E55"/>
                </a:solidFill>
                <a:latin typeface="JetBrains Mono" pitchFamily="34" charset="0"/>
                <a:ea typeface="JetBrains Mono" pitchFamily="34" charset="-122"/>
                <a:cs typeface="JetBrains Mono" pitchFamily="34" charset="-120"/>
              </a:rPr>
              <a:t>RULE N2 · INLINE MOVED, GLOW DID NOT RISE</a:t>
            </a:r>
            <a:endParaRPr lang="en-US" sz="750" dirty="0"/>
          </a:p>
        </p:txBody>
      </p:sp>
      <p:sp>
        <p:nvSpPr>
          <p:cNvPr id="27" name="Text 24"/>
          <p:cNvSpPr/>
          <p:nvPr/>
        </p:nvSpPr>
        <p:spPr>
          <a:xfrm>
            <a:off x="8128010" y="3098810"/>
            <a:ext cx="3047970" cy="571500"/>
          </a:xfrm>
          <a:prstGeom prst="rect">
            <a:avLst/>
          </a:prstGeom>
          <a:noFill/>
          <a:ln/>
        </p:spPr>
        <p:txBody>
          <a:bodyPr wrap="square" lIns="0" tIns="0" rIns="0" bIns="0" rtlCol="0" anchor="t"/>
          <a:lstStyle/>
          <a:p>
            <a:pPr algn="l" indent="0" marL="0">
              <a:lnSpc>
                <a:spcPct val="100000"/>
              </a:lnSpc>
              <a:buNone/>
            </a:pPr>
            <a:r>
              <a:rPr lang="en-US" sz="3744" spc="-56" kern="0" dirty="0">
                <a:solidFill>
                  <a:srgbClr val="16181B"/>
                </a:solidFill>
                <a:latin typeface="Instrument Serif" pitchFamily="34" charset="0"/>
                <a:ea typeface="Instrument Serif" pitchFamily="34" charset="-122"/>
                <a:cs typeface="Instrument Serif" pitchFamily="34" charset="-120"/>
              </a:rPr>
              <a:t>NEEDS LAB</a:t>
            </a:r>
            <a:endParaRPr lang="en-US" sz="3744" dirty="0"/>
          </a:p>
        </p:txBody>
      </p:sp>
      <p:sp>
        <p:nvSpPr>
          <p:cNvPr id="28" name="Text 25"/>
          <p:cNvSpPr/>
          <p:nvPr/>
        </p:nvSpPr>
        <p:spPr>
          <a:xfrm>
            <a:off x="8128010" y="3860780"/>
            <a:ext cx="3047970" cy="514350"/>
          </a:xfrm>
          <a:prstGeom prst="rect">
            <a:avLst/>
          </a:prstGeom>
          <a:noFill/>
          <a:ln/>
        </p:spPr>
        <p:txBody>
          <a:bodyPr wrap="square" lIns="0" tIns="0" rIns="0" bIns="0" rtlCol="0" anchor="t"/>
          <a:lstStyle/>
          <a:p>
            <a:pPr algn="l" indent="0" marL="0">
              <a:lnSpc>
                <a:spcPct val="145000"/>
              </a:lnSpc>
              <a:buNone/>
            </a:pPr>
            <a:r>
              <a:rPr lang="en-US" sz="1300" dirty="0">
                <a:solidFill>
                  <a:srgbClr val="16181B"/>
                </a:solidFill>
                <a:latin typeface="Inter" pitchFamily="34" charset="0"/>
                <a:ea typeface="Inter" pitchFamily="34" charset="-122"/>
                <a:cs typeface="Inter" pitchFamily="34" charset="-120"/>
              </a:rPr>
              <a:t>A one-sensor tester would have passed it.</a:t>
            </a:r>
            <a:endParaRPr lang="en-US" sz="1300" dirty="0"/>
          </a:p>
        </p:txBody>
      </p:sp>
      <p:sp>
        <p:nvSpPr>
          <p:cNvPr id="29" name="Shape 27"/>
          <p:cNvSpPr/>
          <p:nvPr/>
        </p:nvSpPr>
        <p:spPr>
          <a:xfrm>
            <a:off x="8128010" y="4495830"/>
            <a:ext cx="3047970" cy="12710"/>
          </a:xfrm>
          <a:prstGeom prst="rect">
            <a:avLst/>
          </a:prstGeom>
          <a:solidFill>
            <a:srgbClr val="E09A3A"/>
          </a:solidFill>
          <a:ln/>
        </p:spPr>
      </p:sp>
      <p:sp>
        <p:nvSpPr>
          <p:cNvPr id="30" name="Text 27"/>
          <p:cNvSpPr/>
          <p:nvPr/>
        </p:nvSpPr>
        <p:spPr>
          <a:xfrm>
            <a:off x="8128010" y="4673590"/>
            <a:ext cx="3047970" cy="152430"/>
          </a:xfrm>
          <a:prstGeom prst="rect">
            <a:avLst/>
          </a:prstGeom>
          <a:noFill/>
          <a:ln/>
        </p:spPr>
        <p:txBody>
          <a:bodyPr wrap="square" lIns="0" tIns="0" rIns="0" bIns="0" rtlCol="0" anchor="t"/>
          <a:lstStyle/>
          <a:p>
            <a:pPr algn="l" indent="0" marL="0">
              <a:lnSpc>
                <a:spcPct val="120000"/>
              </a:lnSpc>
              <a:buNone/>
            </a:pPr>
            <a:r>
              <a:rPr lang="en-US" sz="850" spc="85" kern="0" dirty="0">
                <a:solidFill>
                  <a:srgbClr val="4A4E55"/>
                </a:solidFill>
                <a:latin typeface="JetBrains Mono" pitchFamily="34" charset="0"/>
                <a:ea typeface="JetBrains Mono" pitchFamily="34" charset="-122"/>
                <a:cs typeface="JetBrains Mono" pitchFamily="34" charset="-120"/>
              </a:rPr>
              <a:t>POLICY P2 · HOLD, DRAFT THE LAB REFERRAL</a:t>
            </a:r>
            <a:endParaRPr lang="en-US" sz="850" dirty="0"/>
          </a:p>
        </p:txBody>
      </p:sp>
      <p:sp>
        <p:nvSpPr>
          <p:cNvPr id="31" name="Text 28"/>
          <p:cNvSpPr/>
          <p:nvPr/>
        </p:nvSpPr>
        <p:spPr>
          <a:xfrm>
            <a:off x="8128010" y="4953030"/>
            <a:ext cx="3047970" cy="431780"/>
          </a:xfrm>
          <a:prstGeom prst="rect">
            <a:avLst/>
          </a:prstGeom>
          <a:noFill/>
          <a:ln/>
        </p:spPr>
        <p:txBody>
          <a:bodyPr wrap="square" lIns="0" tIns="0" rIns="0" bIns="0" rtlCol="0" anchor="t"/>
          <a:lstStyle/>
          <a:p>
            <a:pPr algn="l" indent="0" marL="0">
              <a:lnSpc>
                <a:spcPct val="110000"/>
              </a:lnSpc>
              <a:buNone/>
            </a:pPr>
            <a:r>
              <a:rPr lang="en-US" sz="2600" dirty="0">
                <a:solidFill>
                  <a:srgbClr val="16181B"/>
                </a:solidFill>
                <a:latin typeface="JetBrains Mono" pitchFamily="34" charset="0"/>
                <a:ea typeface="JetBrains Mono" pitchFamily="34" charset="-122"/>
                <a:cs typeface="JetBrains Mono" pitchFamily="34" charset="-120"/>
              </a:rPr>
              <a:t>$480.00 held</a:t>
            </a:r>
            <a:endParaRPr lang="en-US" sz="2600" dirty="0"/>
          </a:p>
        </p:txBody>
      </p:sp>
      <p:sp>
        <p:nvSpPr>
          <p:cNvPr id="32" name="Shape 30"/>
          <p:cNvSpPr/>
          <p:nvPr/>
        </p:nvSpPr>
        <p:spPr>
          <a:xfrm>
            <a:off x="8128010" y="5562570"/>
            <a:ext cx="1619220" cy="254020"/>
          </a:xfrm>
          <a:prstGeom prst="roundRect">
            <a:avLst>
              <a:gd name="adj" fmla="val 50000"/>
            </a:avLst>
          </a:prstGeom>
          <a:solidFill>
            <a:srgbClr val="9AA0A6">
              <a:alpha val="18000"/>
            </a:srgbClr>
          </a:solidFill>
          <a:ln/>
        </p:spPr>
      </p:sp>
      <p:sp>
        <p:nvSpPr>
          <p:cNvPr id="33" name="Text 30"/>
          <p:cNvSpPr/>
          <p:nvPr/>
        </p:nvSpPr>
        <p:spPr>
          <a:xfrm>
            <a:off x="8128010" y="5613410"/>
            <a:ext cx="1619220" cy="177759"/>
          </a:xfrm>
          <a:prstGeom prst="rect">
            <a:avLst/>
          </a:prstGeom>
          <a:noFill/>
          <a:ln/>
        </p:spPr>
        <p:txBody>
          <a:bodyPr wrap="square" lIns="0" tIns="0" rIns="0" bIns="0" rtlCol="0" anchor="t"/>
          <a:lstStyle/>
          <a:p>
            <a:pPr algn="ctr" indent="0" marL="0">
              <a:lnSpc>
                <a:spcPct val="120000"/>
              </a:lnSpc>
              <a:buNone/>
            </a:pPr>
            <a:r>
              <a:rPr lang="en-US" sz="1000" b="1" spc="60" kern="0" dirty="0">
                <a:solidFill>
                  <a:srgbClr val="16181B"/>
                </a:solidFill>
                <a:latin typeface="JetBrains Mono" pitchFamily="34" charset="0"/>
                <a:ea typeface="JetBrains Mono" pitchFamily="34" charset="-122"/>
                <a:cs typeface="JetBrains Mono" pitchFamily="34" charset="-120"/>
              </a:rPr>
              <a:t>SANDBOX · REPLAY</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THE PROBLEM</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03 / 21</a:t>
            </a:r>
            <a:endParaRPr lang="en-US" sz="900" dirty="0"/>
          </a:p>
        </p:txBody>
      </p:sp>
      <p:sp>
        <p:nvSpPr>
          <p:cNvPr id="8" name="Shape 6"/>
          <p:cNvSpPr/>
          <p:nvPr/>
        </p:nvSpPr>
        <p:spPr>
          <a:xfrm>
            <a:off x="761970" y="6413510"/>
            <a:ext cx="10668030" cy="12710"/>
          </a:xfrm>
          <a:prstGeom prst="rect">
            <a:avLst/>
          </a:prstGeom>
          <a:solidFill>
            <a:srgbClr val="16181B">
              <a:alpha val="10000"/>
            </a:srgbClr>
          </a:solidFill>
          <a:ln/>
        </p:spPr>
      </p:sp>
      <p:sp>
        <p:nvSpPr>
          <p:cNvPr id="9" name="Text 6"/>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0" name="Title"/>
          <p:cNvSpPr/>
          <p:nvPr/>
        </p:nvSpPr>
        <p:spPr>
          <a:xfrm>
            <a:off x="761970" y="952530"/>
            <a:ext cx="6349959" cy="895380"/>
          </a:xfrm>
          <a:prstGeom prst="rect">
            <a:avLst/>
          </a:prstGeom>
          <a:noFill/>
          <a:ln/>
        </p:spPr>
        <p:txBody>
          <a:bodyPr wrap="square" lIns="0" tIns="0" rIns="0" bIns="0" rtlCol="0" anchor="t"/>
          <a:lstStyle/>
          <a:p>
            <a:pPr algn="l" indent="0" marL="0">
              <a:lnSpc>
                <a:spcPct val="100000"/>
              </a:lnSpc>
              <a:buNone/>
            </a:pPr>
            <a:r>
              <a:rPr lang="en-US" sz="5850" spc="-88" kern="0" dirty="0">
                <a:solidFill>
                  <a:srgbClr val="16181B"/>
                </a:solidFill>
                <a:latin typeface="Instrument Serif" pitchFamily="34" charset="0"/>
                <a:ea typeface="Instrument Serif" pitchFamily="34" charset="-122"/>
                <a:cs typeface="Instrument Serif" pitchFamily="34" charset="-120"/>
              </a:rPr>
              <a:t>One in ten.</a:t>
            </a:r>
            <a:endParaRPr lang="en-US" sz="5850" dirty="0"/>
          </a:p>
        </p:txBody>
      </p:sp>
      <p:sp>
        <p:nvSpPr>
          <p:cNvPr id="11" name="Text 8"/>
          <p:cNvSpPr/>
          <p:nvPr/>
        </p:nvSpPr>
        <p:spPr>
          <a:xfrm>
            <a:off x="761970" y="2095530"/>
            <a:ext cx="8889980" cy="590520"/>
          </a:xfrm>
          <a:prstGeom prst="rect">
            <a:avLst/>
          </a:prstGeom>
          <a:noFill/>
          <a:ln/>
        </p:spPr>
        <p:txBody>
          <a:bodyPr wrap="square" lIns="0" tIns="0" rIns="0" bIns="0" rtlCol="0" anchor="t"/>
          <a:lstStyle/>
          <a:p>
            <a:pPr algn="l" indent="0" marL="0">
              <a:lnSpc>
                <a:spcPct val="145000"/>
              </a:lnSpc>
              <a:buNone/>
            </a:pPr>
            <a:r>
              <a:rPr lang="en-US" sz="1500" dirty="0">
                <a:solidFill>
                  <a:srgbClr val="4A4E55"/>
                </a:solidFill>
                <a:latin typeface="Inter" pitchFamily="34" charset="0"/>
                <a:ea typeface="Inter" pitchFamily="34" charset="-122"/>
                <a:cs typeface="Inter" pitchFamily="34" charset="-120"/>
              </a:rPr>
              <a:t>WHO estimates 1 in 10 medical products in low- and middle-income countries is substandard or falsified. The lab instrument that catches one costs $20,000 to $100,000.</a:t>
            </a:r>
            <a:endParaRPr lang="en-US" sz="1500" dirty="0"/>
          </a:p>
        </p:txBody>
      </p:sp>
      <p:sp>
        <p:nvSpPr>
          <p:cNvPr id="12" name="Shape 10"/>
          <p:cNvSpPr/>
          <p:nvPr/>
        </p:nvSpPr>
        <p:spPr>
          <a:xfrm>
            <a:off x="1035009" y="2959090"/>
            <a:ext cx="634959" cy="1460480"/>
          </a:xfrm>
          <a:prstGeom prst="roundRect">
            <a:avLst>
              <a:gd name="adj" fmla="val 50000"/>
            </a:avLst>
          </a:prstGeom>
          <a:solidFill>
            <a:srgbClr val="FFFFFF"/>
          </a:solidFill>
          <a:ln/>
        </p:spPr>
      </p:sp>
      <p:sp>
        <p:nvSpPr>
          <p:cNvPr id="13" name="Shape 11"/>
          <p:cNvSpPr/>
          <p:nvPr/>
        </p:nvSpPr>
        <p:spPr>
          <a:xfrm>
            <a:off x="1035009" y="2959090"/>
            <a:ext cx="634959" cy="1460480"/>
          </a:xfrm>
          <a:custGeom>
            <a:avLst/>
            <a:gdLst/>
            <a:ahLst/>
            <a:cxnLst/>
            <a:rect l="l" t="t" r="r" b="b"/>
            <a:pathLst>
              <a:path w="634959" h="1460480">
                <a:moveTo>
                  <a:pt x="634959" y="730240"/>
                </a:moveTo>
                <a:lnTo>
                  <a:pt x="634959" y="1143000"/>
                </a:lnTo>
                <a:lnTo>
                  <a:pt x="632308" y="1184422"/>
                </a:lnTo>
                <a:lnTo>
                  <a:pt x="624169" y="1225205"/>
                </a:lnTo>
                <a:lnTo>
                  <a:pt x="610819" y="1264524"/>
                </a:lnTo>
                <a:lnTo>
                  <a:pt x="592440" y="1301740"/>
                </a:lnTo>
                <a:lnTo>
                  <a:pt x="569397" y="1336304"/>
                </a:lnTo>
                <a:lnTo>
                  <a:pt x="541965" y="1367485"/>
                </a:lnTo>
                <a:lnTo>
                  <a:pt x="510784" y="1394917"/>
                </a:lnTo>
                <a:lnTo>
                  <a:pt x="476220" y="1417960"/>
                </a:lnTo>
                <a:lnTo>
                  <a:pt x="439003" y="1436340"/>
                </a:lnTo>
                <a:lnTo>
                  <a:pt x="399684" y="1449690"/>
                </a:lnTo>
                <a:lnTo>
                  <a:pt x="358902" y="1457828"/>
                </a:lnTo>
                <a:lnTo>
                  <a:pt x="317480" y="1460480"/>
                </a:lnTo>
                <a:lnTo>
                  <a:pt x="276057" y="1457828"/>
                </a:lnTo>
                <a:lnTo>
                  <a:pt x="235367" y="1449690"/>
                </a:lnTo>
                <a:lnTo>
                  <a:pt x="195956" y="1436340"/>
                </a:lnTo>
                <a:lnTo>
                  <a:pt x="158740" y="1417960"/>
                </a:lnTo>
                <a:lnTo>
                  <a:pt x="124176" y="1394917"/>
                </a:lnTo>
                <a:lnTo>
                  <a:pt x="92994" y="1367485"/>
                </a:lnTo>
                <a:lnTo>
                  <a:pt x="65654" y="1336304"/>
                </a:lnTo>
                <a:lnTo>
                  <a:pt x="42520" y="1301740"/>
                </a:lnTo>
                <a:lnTo>
                  <a:pt x="24140" y="1264524"/>
                </a:lnTo>
                <a:lnTo>
                  <a:pt x="10790" y="1225205"/>
                </a:lnTo>
                <a:lnTo>
                  <a:pt x="2743" y="1184422"/>
                </a:lnTo>
                <a:lnTo>
                  <a:pt x="0" y="1143000"/>
                </a:lnTo>
                <a:lnTo>
                  <a:pt x="0" y="730240"/>
                </a:lnTo>
                <a:close/>
              </a:path>
            </a:pathLst>
          </a:custGeom>
          <a:solidFill>
            <a:srgbClr val="D9DDE1"/>
          </a:solidFill>
          <a:ln/>
        </p:spPr>
      </p:sp>
      <p:sp>
        <p:nvSpPr>
          <p:cNvPr id="14" name="Shape 12"/>
          <p:cNvSpPr/>
          <p:nvPr/>
        </p:nvSpPr>
        <p:spPr>
          <a:xfrm>
            <a:off x="1035009" y="2959090"/>
            <a:ext cx="634959" cy="1460480"/>
          </a:xfrm>
          <a:prstGeom prst="roundRect">
            <a:avLst>
              <a:gd name="adj" fmla="val 50000"/>
            </a:avLst>
          </a:prstGeom>
          <a:ln w="19050">
            <a:solidFill>
              <a:srgbClr val="16181B">
                <a:alpha val="22000"/>
              </a:srgbClr>
            </a:solidFill>
            <a:prstDash val="solid"/>
          </a:ln>
        </p:spPr>
      </p:sp>
      <p:sp>
        <p:nvSpPr>
          <p:cNvPr id="15" name="Shape 13"/>
          <p:cNvSpPr/>
          <p:nvPr/>
        </p:nvSpPr>
        <p:spPr>
          <a:xfrm>
            <a:off x="2089130" y="2959090"/>
            <a:ext cx="634959" cy="1460480"/>
          </a:xfrm>
          <a:prstGeom prst="roundRect">
            <a:avLst>
              <a:gd name="adj" fmla="val 50000"/>
            </a:avLst>
          </a:prstGeom>
          <a:solidFill>
            <a:srgbClr val="FFFFFF"/>
          </a:solidFill>
          <a:ln/>
        </p:spPr>
      </p:sp>
      <p:sp>
        <p:nvSpPr>
          <p:cNvPr id="16" name="Shape 14"/>
          <p:cNvSpPr/>
          <p:nvPr/>
        </p:nvSpPr>
        <p:spPr>
          <a:xfrm>
            <a:off x="2089130" y="2959090"/>
            <a:ext cx="634959" cy="1460480"/>
          </a:xfrm>
          <a:custGeom>
            <a:avLst/>
            <a:gdLst/>
            <a:ahLst/>
            <a:cxnLst/>
            <a:rect l="l" t="t" r="r" b="b"/>
            <a:pathLst>
              <a:path w="634959" h="1460480">
                <a:moveTo>
                  <a:pt x="634959" y="730240"/>
                </a:moveTo>
                <a:lnTo>
                  <a:pt x="634959" y="1143000"/>
                </a:lnTo>
                <a:lnTo>
                  <a:pt x="632308" y="1184422"/>
                </a:lnTo>
                <a:lnTo>
                  <a:pt x="624169" y="1225205"/>
                </a:lnTo>
                <a:lnTo>
                  <a:pt x="610819" y="1264524"/>
                </a:lnTo>
                <a:lnTo>
                  <a:pt x="592440" y="1301740"/>
                </a:lnTo>
                <a:lnTo>
                  <a:pt x="569397" y="1336304"/>
                </a:lnTo>
                <a:lnTo>
                  <a:pt x="541965" y="1367485"/>
                </a:lnTo>
                <a:lnTo>
                  <a:pt x="510784" y="1394917"/>
                </a:lnTo>
                <a:lnTo>
                  <a:pt x="476220" y="1417960"/>
                </a:lnTo>
                <a:lnTo>
                  <a:pt x="439003" y="1436340"/>
                </a:lnTo>
                <a:lnTo>
                  <a:pt x="399684" y="1449690"/>
                </a:lnTo>
                <a:lnTo>
                  <a:pt x="358902" y="1457828"/>
                </a:lnTo>
                <a:lnTo>
                  <a:pt x="317480" y="1460480"/>
                </a:lnTo>
                <a:lnTo>
                  <a:pt x="276057" y="1457828"/>
                </a:lnTo>
                <a:lnTo>
                  <a:pt x="235367" y="1449690"/>
                </a:lnTo>
                <a:lnTo>
                  <a:pt x="195956" y="1436340"/>
                </a:lnTo>
                <a:lnTo>
                  <a:pt x="158740" y="1417960"/>
                </a:lnTo>
                <a:lnTo>
                  <a:pt x="124176" y="1394917"/>
                </a:lnTo>
                <a:lnTo>
                  <a:pt x="92994" y="1367485"/>
                </a:lnTo>
                <a:lnTo>
                  <a:pt x="65654" y="1336304"/>
                </a:lnTo>
                <a:lnTo>
                  <a:pt x="42520" y="1301740"/>
                </a:lnTo>
                <a:lnTo>
                  <a:pt x="24140" y="1264524"/>
                </a:lnTo>
                <a:lnTo>
                  <a:pt x="10790" y="1225205"/>
                </a:lnTo>
                <a:lnTo>
                  <a:pt x="2743" y="1184422"/>
                </a:lnTo>
                <a:lnTo>
                  <a:pt x="0" y="1143000"/>
                </a:lnTo>
                <a:lnTo>
                  <a:pt x="0" y="730240"/>
                </a:lnTo>
                <a:close/>
              </a:path>
            </a:pathLst>
          </a:custGeom>
          <a:solidFill>
            <a:srgbClr val="D9DDE1"/>
          </a:solidFill>
          <a:ln/>
        </p:spPr>
      </p:sp>
      <p:sp>
        <p:nvSpPr>
          <p:cNvPr id="17" name="Shape 15"/>
          <p:cNvSpPr/>
          <p:nvPr/>
        </p:nvSpPr>
        <p:spPr>
          <a:xfrm>
            <a:off x="2089130" y="2959090"/>
            <a:ext cx="634959" cy="1460480"/>
          </a:xfrm>
          <a:prstGeom prst="roundRect">
            <a:avLst>
              <a:gd name="adj" fmla="val 50000"/>
            </a:avLst>
          </a:prstGeom>
          <a:ln w="19050">
            <a:solidFill>
              <a:srgbClr val="16181B">
                <a:alpha val="22000"/>
              </a:srgbClr>
            </a:solidFill>
            <a:prstDash val="solid"/>
          </a:ln>
        </p:spPr>
      </p:sp>
      <p:sp>
        <p:nvSpPr>
          <p:cNvPr id="18" name="Shape 16"/>
          <p:cNvSpPr/>
          <p:nvPr/>
        </p:nvSpPr>
        <p:spPr>
          <a:xfrm>
            <a:off x="3143250" y="2959090"/>
            <a:ext cx="634959" cy="1460480"/>
          </a:xfrm>
          <a:prstGeom prst="roundRect">
            <a:avLst>
              <a:gd name="adj" fmla="val 50000"/>
            </a:avLst>
          </a:prstGeom>
          <a:solidFill>
            <a:srgbClr val="FFFFFF"/>
          </a:solidFill>
          <a:ln/>
        </p:spPr>
      </p:sp>
      <p:sp>
        <p:nvSpPr>
          <p:cNvPr id="19" name="Shape 17"/>
          <p:cNvSpPr/>
          <p:nvPr/>
        </p:nvSpPr>
        <p:spPr>
          <a:xfrm>
            <a:off x="3143250" y="2959090"/>
            <a:ext cx="634959" cy="1460480"/>
          </a:xfrm>
          <a:custGeom>
            <a:avLst/>
            <a:gdLst/>
            <a:ahLst/>
            <a:cxnLst/>
            <a:rect l="l" t="t" r="r" b="b"/>
            <a:pathLst>
              <a:path w="634959" h="1460480">
                <a:moveTo>
                  <a:pt x="634959" y="730240"/>
                </a:moveTo>
                <a:lnTo>
                  <a:pt x="634959" y="1143000"/>
                </a:lnTo>
                <a:lnTo>
                  <a:pt x="632308" y="1184422"/>
                </a:lnTo>
                <a:lnTo>
                  <a:pt x="624169" y="1225205"/>
                </a:lnTo>
                <a:lnTo>
                  <a:pt x="610819" y="1264524"/>
                </a:lnTo>
                <a:lnTo>
                  <a:pt x="592440" y="1301740"/>
                </a:lnTo>
                <a:lnTo>
                  <a:pt x="569397" y="1336304"/>
                </a:lnTo>
                <a:lnTo>
                  <a:pt x="541965" y="1367485"/>
                </a:lnTo>
                <a:lnTo>
                  <a:pt x="510784" y="1394917"/>
                </a:lnTo>
                <a:lnTo>
                  <a:pt x="476220" y="1417960"/>
                </a:lnTo>
                <a:lnTo>
                  <a:pt x="439003" y="1436340"/>
                </a:lnTo>
                <a:lnTo>
                  <a:pt x="399684" y="1449690"/>
                </a:lnTo>
                <a:lnTo>
                  <a:pt x="358902" y="1457828"/>
                </a:lnTo>
                <a:lnTo>
                  <a:pt x="317480" y="1460480"/>
                </a:lnTo>
                <a:lnTo>
                  <a:pt x="276057" y="1457828"/>
                </a:lnTo>
                <a:lnTo>
                  <a:pt x="235367" y="1449690"/>
                </a:lnTo>
                <a:lnTo>
                  <a:pt x="195956" y="1436340"/>
                </a:lnTo>
                <a:lnTo>
                  <a:pt x="158740" y="1417960"/>
                </a:lnTo>
                <a:lnTo>
                  <a:pt x="124176" y="1394917"/>
                </a:lnTo>
                <a:lnTo>
                  <a:pt x="92994" y="1367485"/>
                </a:lnTo>
                <a:lnTo>
                  <a:pt x="65654" y="1336304"/>
                </a:lnTo>
                <a:lnTo>
                  <a:pt x="42520" y="1301740"/>
                </a:lnTo>
                <a:lnTo>
                  <a:pt x="24140" y="1264524"/>
                </a:lnTo>
                <a:lnTo>
                  <a:pt x="10790" y="1225205"/>
                </a:lnTo>
                <a:lnTo>
                  <a:pt x="2743" y="1184422"/>
                </a:lnTo>
                <a:lnTo>
                  <a:pt x="0" y="1143000"/>
                </a:lnTo>
                <a:lnTo>
                  <a:pt x="0" y="730240"/>
                </a:lnTo>
                <a:close/>
              </a:path>
            </a:pathLst>
          </a:custGeom>
          <a:solidFill>
            <a:srgbClr val="D9DDE1"/>
          </a:solidFill>
          <a:ln/>
        </p:spPr>
      </p:sp>
      <p:sp>
        <p:nvSpPr>
          <p:cNvPr id="20" name="Shape 18"/>
          <p:cNvSpPr/>
          <p:nvPr/>
        </p:nvSpPr>
        <p:spPr>
          <a:xfrm>
            <a:off x="3143250" y="2959090"/>
            <a:ext cx="634959" cy="1460480"/>
          </a:xfrm>
          <a:prstGeom prst="roundRect">
            <a:avLst>
              <a:gd name="adj" fmla="val 50000"/>
            </a:avLst>
          </a:prstGeom>
          <a:ln w="19050">
            <a:solidFill>
              <a:srgbClr val="16181B">
                <a:alpha val="22000"/>
              </a:srgbClr>
            </a:solidFill>
            <a:prstDash val="solid"/>
          </a:ln>
        </p:spPr>
      </p:sp>
      <p:sp>
        <p:nvSpPr>
          <p:cNvPr id="21" name="Shape 19"/>
          <p:cNvSpPr/>
          <p:nvPr/>
        </p:nvSpPr>
        <p:spPr>
          <a:xfrm>
            <a:off x="4197370" y="2959090"/>
            <a:ext cx="634959" cy="1460480"/>
          </a:xfrm>
          <a:prstGeom prst="roundRect">
            <a:avLst>
              <a:gd name="adj" fmla="val 50000"/>
            </a:avLst>
          </a:prstGeom>
          <a:solidFill>
            <a:srgbClr val="FFFFFF"/>
          </a:solidFill>
          <a:ln/>
        </p:spPr>
      </p:sp>
      <p:sp>
        <p:nvSpPr>
          <p:cNvPr id="22" name="Shape 20"/>
          <p:cNvSpPr/>
          <p:nvPr/>
        </p:nvSpPr>
        <p:spPr>
          <a:xfrm>
            <a:off x="4197370" y="2959090"/>
            <a:ext cx="634959" cy="1460480"/>
          </a:xfrm>
          <a:custGeom>
            <a:avLst/>
            <a:gdLst/>
            <a:ahLst/>
            <a:cxnLst/>
            <a:rect l="l" t="t" r="r" b="b"/>
            <a:pathLst>
              <a:path w="634959" h="1460480">
                <a:moveTo>
                  <a:pt x="634959" y="730240"/>
                </a:moveTo>
                <a:lnTo>
                  <a:pt x="634959" y="1143000"/>
                </a:lnTo>
                <a:lnTo>
                  <a:pt x="632308" y="1184422"/>
                </a:lnTo>
                <a:lnTo>
                  <a:pt x="624169" y="1225205"/>
                </a:lnTo>
                <a:lnTo>
                  <a:pt x="610819" y="1264524"/>
                </a:lnTo>
                <a:lnTo>
                  <a:pt x="592440" y="1301740"/>
                </a:lnTo>
                <a:lnTo>
                  <a:pt x="569397" y="1336304"/>
                </a:lnTo>
                <a:lnTo>
                  <a:pt x="541965" y="1367485"/>
                </a:lnTo>
                <a:lnTo>
                  <a:pt x="510784" y="1394917"/>
                </a:lnTo>
                <a:lnTo>
                  <a:pt x="476220" y="1417960"/>
                </a:lnTo>
                <a:lnTo>
                  <a:pt x="439003" y="1436340"/>
                </a:lnTo>
                <a:lnTo>
                  <a:pt x="399684" y="1449690"/>
                </a:lnTo>
                <a:lnTo>
                  <a:pt x="358902" y="1457828"/>
                </a:lnTo>
                <a:lnTo>
                  <a:pt x="317480" y="1460480"/>
                </a:lnTo>
                <a:lnTo>
                  <a:pt x="276057" y="1457828"/>
                </a:lnTo>
                <a:lnTo>
                  <a:pt x="235367" y="1449690"/>
                </a:lnTo>
                <a:lnTo>
                  <a:pt x="195956" y="1436340"/>
                </a:lnTo>
                <a:lnTo>
                  <a:pt x="158740" y="1417960"/>
                </a:lnTo>
                <a:lnTo>
                  <a:pt x="124176" y="1394917"/>
                </a:lnTo>
                <a:lnTo>
                  <a:pt x="92994" y="1367485"/>
                </a:lnTo>
                <a:lnTo>
                  <a:pt x="65654" y="1336304"/>
                </a:lnTo>
                <a:lnTo>
                  <a:pt x="42520" y="1301740"/>
                </a:lnTo>
                <a:lnTo>
                  <a:pt x="24140" y="1264524"/>
                </a:lnTo>
                <a:lnTo>
                  <a:pt x="10790" y="1225205"/>
                </a:lnTo>
                <a:lnTo>
                  <a:pt x="2743" y="1184422"/>
                </a:lnTo>
                <a:lnTo>
                  <a:pt x="0" y="1143000"/>
                </a:lnTo>
                <a:lnTo>
                  <a:pt x="0" y="730240"/>
                </a:lnTo>
                <a:close/>
              </a:path>
            </a:pathLst>
          </a:custGeom>
          <a:solidFill>
            <a:srgbClr val="D9DDE1"/>
          </a:solidFill>
          <a:ln/>
        </p:spPr>
      </p:sp>
      <p:sp>
        <p:nvSpPr>
          <p:cNvPr id="23" name="Shape 21"/>
          <p:cNvSpPr/>
          <p:nvPr/>
        </p:nvSpPr>
        <p:spPr>
          <a:xfrm>
            <a:off x="4197370" y="2959090"/>
            <a:ext cx="634959" cy="1460480"/>
          </a:xfrm>
          <a:prstGeom prst="roundRect">
            <a:avLst>
              <a:gd name="adj" fmla="val 50000"/>
            </a:avLst>
          </a:prstGeom>
          <a:ln w="19050">
            <a:solidFill>
              <a:srgbClr val="16181B">
                <a:alpha val="22000"/>
              </a:srgbClr>
            </a:solidFill>
            <a:prstDash val="solid"/>
          </a:ln>
        </p:spPr>
      </p:sp>
      <p:sp>
        <p:nvSpPr>
          <p:cNvPr id="24" name="Shape 22"/>
          <p:cNvSpPr/>
          <p:nvPr/>
        </p:nvSpPr>
        <p:spPr>
          <a:xfrm>
            <a:off x="5251491" y="2959090"/>
            <a:ext cx="634959" cy="1460480"/>
          </a:xfrm>
          <a:prstGeom prst="roundRect">
            <a:avLst>
              <a:gd name="adj" fmla="val 50000"/>
            </a:avLst>
          </a:prstGeom>
          <a:solidFill>
            <a:srgbClr val="FFFFFF"/>
          </a:solidFill>
          <a:ln/>
        </p:spPr>
      </p:sp>
      <p:sp>
        <p:nvSpPr>
          <p:cNvPr id="25" name="Shape 23"/>
          <p:cNvSpPr/>
          <p:nvPr/>
        </p:nvSpPr>
        <p:spPr>
          <a:xfrm>
            <a:off x="5251491" y="2959090"/>
            <a:ext cx="634959" cy="1460480"/>
          </a:xfrm>
          <a:custGeom>
            <a:avLst/>
            <a:gdLst/>
            <a:ahLst/>
            <a:cxnLst/>
            <a:rect l="l" t="t" r="r" b="b"/>
            <a:pathLst>
              <a:path w="634959" h="1460480">
                <a:moveTo>
                  <a:pt x="634959" y="730240"/>
                </a:moveTo>
                <a:lnTo>
                  <a:pt x="634959" y="1143000"/>
                </a:lnTo>
                <a:lnTo>
                  <a:pt x="632308" y="1184422"/>
                </a:lnTo>
                <a:lnTo>
                  <a:pt x="624169" y="1225205"/>
                </a:lnTo>
                <a:lnTo>
                  <a:pt x="610819" y="1264524"/>
                </a:lnTo>
                <a:lnTo>
                  <a:pt x="592440" y="1301740"/>
                </a:lnTo>
                <a:lnTo>
                  <a:pt x="569397" y="1336304"/>
                </a:lnTo>
                <a:lnTo>
                  <a:pt x="541965" y="1367485"/>
                </a:lnTo>
                <a:lnTo>
                  <a:pt x="510784" y="1394917"/>
                </a:lnTo>
                <a:lnTo>
                  <a:pt x="476220" y="1417960"/>
                </a:lnTo>
                <a:lnTo>
                  <a:pt x="439003" y="1436340"/>
                </a:lnTo>
                <a:lnTo>
                  <a:pt x="399684" y="1449690"/>
                </a:lnTo>
                <a:lnTo>
                  <a:pt x="358902" y="1457828"/>
                </a:lnTo>
                <a:lnTo>
                  <a:pt x="317480" y="1460480"/>
                </a:lnTo>
                <a:lnTo>
                  <a:pt x="276057" y="1457828"/>
                </a:lnTo>
                <a:lnTo>
                  <a:pt x="235367" y="1449690"/>
                </a:lnTo>
                <a:lnTo>
                  <a:pt x="195956" y="1436340"/>
                </a:lnTo>
                <a:lnTo>
                  <a:pt x="158740" y="1417960"/>
                </a:lnTo>
                <a:lnTo>
                  <a:pt x="124176" y="1394917"/>
                </a:lnTo>
                <a:lnTo>
                  <a:pt x="92994" y="1367485"/>
                </a:lnTo>
                <a:lnTo>
                  <a:pt x="65654" y="1336304"/>
                </a:lnTo>
                <a:lnTo>
                  <a:pt x="42520" y="1301740"/>
                </a:lnTo>
                <a:lnTo>
                  <a:pt x="24140" y="1264524"/>
                </a:lnTo>
                <a:lnTo>
                  <a:pt x="10790" y="1225205"/>
                </a:lnTo>
                <a:lnTo>
                  <a:pt x="2743" y="1184422"/>
                </a:lnTo>
                <a:lnTo>
                  <a:pt x="0" y="1143000"/>
                </a:lnTo>
                <a:lnTo>
                  <a:pt x="0" y="730240"/>
                </a:lnTo>
                <a:close/>
              </a:path>
            </a:pathLst>
          </a:custGeom>
          <a:solidFill>
            <a:srgbClr val="D9DDE1"/>
          </a:solidFill>
          <a:ln/>
        </p:spPr>
      </p:sp>
      <p:sp>
        <p:nvSpPr>
          <p:cNvPr id="26" name="Shape 24"/>
          <p:cNvSpPr/>
          <p:nvPr/>
        </p:nvSpPr>
        <p:spPr>
          <a:xfrm>
            <a:off x="5251491" y="2959090"/>
            <a:ext cx="634959" cy="1460480"/>
          </a:xfrm>
          <a:prstGeom prst="roundRect">
            <a:avLst>
              <a:gd name="adj" fmla="val 50000"/>
            </a:avLst>
          </a:prstGeom>
          <a:ln w="19050">
            <a:solidFill>
              <a:srgbClr val="16181B">
                <a:alpha val="22000"/>
              </a:srgbClr>
            </a:solidFill>
            <a:prstDash val="solid"/>
          </a:ln>
        </p:spPr>
      </p:sp>
      <p:sp>
        <p:nvSpPr>
          <p:cNvPr id="27" name="Shape 25"/>
          <p:cNvSpPr/>
          <p:nvPr/>
        </p:nvSpPr>
        <p:spPr>
          <a:xfrm>
            <a:off x="6305520" y="2959090"/>
            <a:ext cx="634959" cy="1460480"/>
          </a:xfrm>
          <a:prstGeom prst="roundRect">
            <a:avLst>
              <a:gd name="adj" fmla="val 50000"/>
            </a:avLst>
          </a:prstGeom>
          <a:solidFill>
            <a:srgbClr val="FFFFFF"/>
          </a:solidFill>
          <a:ln/>
        </p:spPr>
      </p:sp>
      <p:sp>
        <p:nvSpPr>
          <p:cNvPr id="28" name="Shape 26"/>
          <p:cNvSpPr/>
          <p:nvPr/>
        </p:nvSpPr>
        <p:spPr>
          <a:xfrm>
            <a:off x="6305520" y="2959090"/>
            <a:ext cx="634959" cy="1460480"/>
          </a:xfrm>
          <a:custGeom>
            <a:avLst/>
            <a:gdLst/>
            <a:ahLst/>
            <a:cxnLst/>
            <a:rect l="l" t="t" r="r" b="b"/>
            <a:pathLst>
              <a:path w="634959" h="1460480">
                <a:moveTo>
                  <a:pt x="634959" y="730240"/>
                </a:moveTo>
                <a:lnTo>
                  <a:pt x="634959" y="1143000"/>
                </a:lnTo>
                <a:lnTo>
                  <a:pt x="632308" y="1184422"/>
                </a:lnTo>
                <a:lnTo>
                  <a:pt x="624169" y="1225205"/>
                </a:lnTo>
                <a:lnTo>
                  <a:pt x="610819" y="1264524"/>
                </a:lnTo>
                <a:lnTo>
                  <a:pt x="592440" y="1301740"/>
                </a:lnTo>
                <a:lnTo>
                  <a:pt x="569397" y="1336304"/>
                </a:lnTo>
                <a:lnTo>
                  <a:pt x="541965" y="1367485"/>
                </a:lnTo>
                <a:lnTo>
                  <a:pt x="510784" y="1394917"/>
                </a:lnTo>
                <a:lnTo>
                  <a:pt x="476220" y="1417960"/>
                </a:lnTo>
                <a:lnTo>
                  <a:pt x="439003" y="1436340"/>
                </a:lnTo>
                <a:lnTo>
                  <a:pt x="399684" y="1449690"/>
                </a:lnTo>
                <a:lnTo>
                  <a:pt x="358902" y="1457828"/>
                </a:lnTo>
                <a:lnTo>
                  <a:pt x="317480" y="1460480"/>
                </a:lnTo>
                <a:lnTo>
                  <a:pt x="276057" y="1457828"/>
                </a:lnTo>
                <a:lnTo>
                  <a:pt x="235367" y="1449690"/>
                </a:lnTo>
                <a:lnTo>
                  <a:pt x="195956" y="1436340"/>
                </a:lnTo>
                <a:lnTo>
                  <a:pt x="158740" y="1417960"/>
                </a:lnTo>
                <a:lnTo>
                  <a:pt x="124176" y="1394917"/>
                </a:lnTo>
                <a:lnTo>
                  <a:pt x="92994" y="1367485"/>
                </a:lnTo>
                <a:lnTo>
                  <a:pt x="65654" y="1336304"/>
                </a:lnTo>
                <a:lnTo>
                  <a:pt x="42520" y="1301740"/>
                </a:lnTo>
                <a:lnTo>
                  <a:pt x="24140" y="1264524"/>
                </a:lnTo>
                <a:lnTo>
                  <a:pt x="10790" y="1225205"/>
                </a:lnTo>
                <a:lnTo>
                  <a:pt x="2743" y="1184422"/>
                </a:lnTo>
                <a:lnTo>
                  <a:pt x="0" y="1143000"/>
                </a:lnTo>
                <a:lnTo>
                  <a:pt x="0" y="730240"/>
                </a:lnTo>
                <a:close/>
              </a:path>
            </a:pathLst>
          </a:custGeom>
          <a:solidFill>
            <a:srgbClr val="D9DDE1"/>
          </a:solidFill>
          <a:ln/>
        </p:spPr>
      </p:sp>
      <p:sp>
        <p:nvSpPr>
          <p:cNvPr id="29" name="Shape 27"/>
          <p:cNvSpPr/>
          <p:nvPr/>
        </p:nvSpPr>
        <p:spPr>
          <a:xfrm>
            <a:off x="6305520" y="2959090"/>
            <a:ext cx="634959" cy="1460480"/>
          </a:xfrm>
          <a:prstGeom prst="roundRect">
            <a:avLst>
              <a:gd name="adj" fmla="val 50000"/>
            </a:avLst>
          </a:prstGeom>
          <a:ln w="19050">
            <a:solidFill>
              <a:srgbClr val="16181B">
                <a:alpha val="22000"/>
              </a:srgbClr>
            </a:solidFill>
            <a:prstDash val="solid"/>
          </a:ln>
        </p:spPr>
      </p:sp>
      <p:sp>
        <p:nvSpPr>
          <p:cNvPr id="30" name="Shape 28"/>
          <p:cNvSpPr/>
          <p:nvPr/>
        </p:nvSpPr>
        <p:spPr>
          <a:xfrm>
            <a:off x="7359640" y="2959090"/>
            <a:ext cx="634959" cy="1460480"/>
          </a:xfrm>
          <a:prstGeom prst="roundRect">
            <a:avLst>
              <a:gd name="adj" fmla="val 50000"/>
            </a:avLst>
          </a:prstGeom>
          <a:solidFill>
            <a:srgbClr val="E09A3A">
              <a:alpha val="16000"/>
            </a:srgbClr>
          </a:solidFill>
          <a:ln/>
        </p:spPr>
      </p:sp>
      <p:sp>
        <p:nvSpPr>
          <p:cNvPr id="31" name="Shape 29"/>
          <p:cNvSpPr/>
          <p:nvPr/>
        </p:nvSpPr>
        <p:spPr>
          <a:xfrm>
            <a:off x="7359640" y="2959090"/>
            <a:ext cx="634959" cy="1460480"/>
          </a:xfrm>
          <a:custGeom>
            <a:avLst/>
            <a:gdLst/>
            <a:ahLst/>
            <a:cxnLst/>
            <a:rect l="l" t="t" r="r" b="b"/>
            <a:pathLst>
              <a:path w="634959" h="1460480">
                <a:moveTo>
                  <a:pt x="634959" y="730240"/>
                </a:moveTo>
                <a:lnTo>
                  <a:pt x="634959" y="1143000"/>
                </a:lnTo>
                <a:lnTo>
                  <a:pt x="632308" y="1184422"/>
                </a:lnTo>
                <a:lnTo>
                  <a:pt x="624169" y="1225205"/>
                </a:lnTo>
                <a:lnTo>
                  <a:pt x="610819" y="1264524"/>
                </a:lnTo>
                <a:lnTo>
                  <a:pt x="592440" y="1301740"/>
                </a:lnTo>
                <a:lnTo>
                  <a:pt x="569397" y="1336304"/>
                </a:lnTo>
                <a:lnTo>
                  <a:pt x="541965" y="1367485"/>
                </a:lnTo>
                <a:lnTo>
                  <a:pt x="510784" y="1394917"/>
                </a:lnTo>
                <a:lnTo>
                  <a:pt x="476220" y="1417960"/>
                </a:lnTo>
                <a:lnTo>
                  <a:pt x="439003" y="1436340"/>
                </a:lnTo>
                <a:lnTo>
                  <a:pt x="399684" y="1449690"/>
                </a:lnTo>
                <a:lnTo>
                  <a:pt x="358902" y="1457828"/>
                </a:lnTo>
                <a:lnTo>
                  <a:pt x="317480" y="1460480"/>
                </a:lnTo>
                <a:lnTo>
                  <a:pt x="276057" y="1457828"/>
                </a:lnTo>
                <a:lnTo>
                  <a:pt x="235367" y="1449690"/>
                </a:lnTo>
                <a:lnTo>
                  <a:pt x="195956" y="1436340"/>
                </a:lnTo>
                <a:lnTo>
                  <a:pt x="158740" y="1417960"/>
                </a:lnTo>
                <a:lnTo>
                  <a:pt x="124176" y="1394917"/>
                </a:lnTo>
                <a:lnTo>
                  <a:pt x="92994" y="1367485"/>
                </a:lnTo>
                <a:lnTo>
                  <a:pt x="65654" y="1336304"/>
                </a:lnTo>
                <a:lnTo>
                  <a:pt x="42520" y="1301740"/>
                </a:lnTo>
                <a:lnTo>
                  <a:pt x="24140" y="1264524"/>
                </a:lnTo>
                <a:lnTo>
                  <a:pt x="10790" y="1225205"/>
                </a:lnTo>
                <a:lnTo>
                  <a:pt x="2743" y="1184422"/>
                </a:lnTo>
                <a:lnTo>
                  <a:pt x="0" y="1143000"/>
                </a:lnTo>
                <a:lnTo>
                  <a:pt x="0" y="730240"/>
                </a:lnTo>
                <a:close/>
              </a:path>
            </a:pathLst>
          </a:custGeom>
          <a:solidFill>
            <a:srgbClr val="E09A3A"/>
          </a:solidFill>
          <a:ln/>
        </p:spPr>
      </p:sp>
      <p:sp>
        <p:nvSpPr>
          <p:cNvPr id="32" name="Shape 30"/>
          <p:cNvSpPr/>
          <p:nvPr/>
        </p:nvSpPr>
        <p:spPr>
          <a:xfrm>
            <a:off x="7359640" y="2959090"/>
            <a:ext cx="634959" cy="1460480"/>
          </a:xfrm>
          <a:prstGeom prst="roundRect">
            <a:avLst>
              <a:gd name="adj" fmla="val 50000"/>
            </a:avLst>
          </a:prstGeom>
          <a:ln w="25400">
            <a:solidFill>
              <a:srgbClr val="E09A3A"/>
            </a:solidFill>
            <a:prstDash val="solid"/>
          </a:ln>
        </p:spPr>
      </p:sp>
      <p:sp>
        <p:nvSpPr>
          <p:cNvPr id="33" name="Shape 31"/>
          <p:cNvSpPr/>
          <p:nvPr/>
        </p:nvSpPr>
        <p:spPr>
          <a:xfrm>
            <a:off x="8413760" y="2959090"/>
            <a:ext cx="634959" cy="1460480"/>
          </a:xfrm>
          <a:prstGeom prst="roundRect">
            <a:avLst>
              <a:gd name="adj" fmla="val 50000"/>
            </a:avLst>
          </a:prstGeom>
          <a:solidFill>
            <a:srgbClr val="FFFFFF"/>
          </a:solidFill>
          <a:ln/>
        </p:spPr>
      </p:sp>
      <p:sp>
        <p:nvSpPr>
          <p:cNvPr id="34" name="Shape 32"/>
          <p:cNvSpPr/>
          <p:nvPr/>
        </p:nvSpPr>
        <p:spPr>
          <a:xfrm>
            <a:off x="8413760" y="2959090"/>
            <a:ext cx="634959" cy="1460480"/>
          </a:xfrm>
          <a:custGeom>
            <a:avLst/>
            <a:gdLst/>
            <a:ahLst/>
            <a:cxnLst/>
            <a:rect l="l" t="t" r="r" b="b"/>
            <a:pathLst>
              <a:path w="634959" h="1460480">
                <a:moveTo>
                  <a:pt x="634959" y="730240"/>
                </a:moveTo>
                <a:lnTo>
                  <a:pt x="634959" y="1143000"/>
                </a:lnTo>
                <a:lnTo>
                  <a:pt x="632308" y="1184422"/>
                </a:lnTo>
                <a:lnTo>
                  <a:pt x="624169" y="1225205"/>
                </a:lnTo>
                <a:lnTo>
                  <a:pt x="610819" y="1264524"/>
                </a:lnTo>
                <a:lnTo>
                  <a:pt x="592440" y="1301740"/>
                </a:lnTo>
                <a:lnTo>
                  <a:pt x="569397" y="1336304"/>
                </a:lnTo>
                <a:lnTo>
                  <a:pt x="541965" y="1367485"/>
                </a:lnTo>
                <a:lnTo>
                  <a:pt x="510784" y="1394917"/>
                </a:lnTo>
                <a:lnTo>
                  <a:pt x="476220" y="1417960"/>
                </a:lnTo>
                <a:lnTo>
                  <a:pt x="439003" y="1436340"/>
                </a:lnTo>
                <a:lnTo>
                  <a:pt x="399684" y="1449690"/>
                </a:lnTo>
                <a:lnTo>
                  <a:pt x="358902" y="1457828"/>
                </a:lnTo>
                <a:lnTo>
                  <a:pt x="317480" y="1460480"/>
                </a:lnTo>
                <a:lnTo>
                  <a:pt x="276057" y="1457828"/>
                </a:lnTo>
                <a:lnTo>
                  <a:pt x="235367" y="1449690"/>
                </a:lnTo>
                <a:lnTo>
                  <a:pt x="195956" y="1436340"/>
                </a:lnTo>
                <a:lnTo>
                  <a:pt x="158740" y="1417960"/>
                </a:lnTo>
                <a:lnTo>
                  <a:pt x="124176" y="1394917"/>
                </a:lnTo>
                <a:lnTo>
                  <a:pt x="92994" y="1367485"/>
                </a:lnTo>
                <a:lnTo>
                  <a:pt x="65654" y="1336304"/>
                </a:lnTo>
                <a:lnTo>
                  <a:pt x="42520" y="1301740"/>
                </a:lnTo>
                <a:lnTo>
                  <a:pt x="24140" y="1264524"/>
                </a:lnTo>
                <a:lnTo>
                  <a:pt x="10790" y="1225205"/>
                </a:lnTo>
                <a:lnTo>
                  <a:pt x="2743" y="1184422"/>
                </a:lnTo>
                <a:lnTo>
                  <a:pt x="0" y="1143000"/>
                </a:lnTo>
                <a:lnTo>
                  <a:pt x="0" y="730240"/>
                </a:lnTo>
                <a:close/>
              </a:path>
            </a:pathLst>
          </a:custGeom>
          <a:solidFill>
            <a:srgbClr val="D9DDE1"/>
          </a:solidFill>
          <a:ln/>
        </p:spPr>
      </p:sp>
      <p:sp>
        <p:nvSpPr>
          <p:cNvPr id="35" name="Shape 33"/>
          <p:cNvSpPr/>
          <p:nvPr/>
        </p:nvSpPr>
        <p:spPr>
          <a:xfrm>
            <a:off x="8413760" y="2959090"/>
            <a:ext cx="634959" cy="1460480"/>
          </a:xfrm>
          <a:prstGeom prst="roundRect">
            <a:avLst>
              <a:gd name="adj" fmla="val 50000"/>
            </a:avLst>
          </a:prstGeom>
          <a:ln w="19050">
            <a:solidFill>
              <a:srgbClr val="16181B">
                <a:alpha val="22000"/>
              </a:srgbClr>
            </a:solidFill>
            <a:prstDash val="solid"/>
          </a:ln>
        </p:spPr>
      </p:sp>
      <p:sp>
        <p:nvSpPr>
          <p:cNvPr id="36" name="Shape 34"/>
          <p:cNvSpPr/>
          <p:nvPr/>
        </p:nvSpPr>
        <p:spPr>
          <a:xfrm>
            <a:off x="9467880" y="2959090"/>
            <a:ext cx="634959" cy="1460480"/>
          </a:xfrm>
          <a:prstGeom prst="roundRect">
            <a:avLst>
              <a:gd name="adj" fmla="val 50000"/>
            </a:avLst>
          </a:prstGeom>
          <a:solidFill>
            <a:srgbClr val="FFFFFF"/>
          </a:solidFill>
          <a:ln/>
        </p:spPr>
      </p:sp>
      <p:sp>
        <p:nvSpPr>
          <p:cNvPr id="37" name="Shape 35"/>
          <p:cNvSpPr/>
          <p:nvPr/>
        </p:nvSpPr>
        <p:spPr>
          <a:xfrm>
            <a:off x="9467880" y="2959090"/>
            <a:ext cx="634959" cy="1460480"/>
          </a:xfrm>
          <a:custGeom>
            <a:avLst/>
            <a:gdLst/>
            <a:ahLst/>
            <a:cxnLst/>
            <a:rect l="l" t="t" r="r" b="b"/>
            <a:pathLst>
              <a:path w="634959" h="1460480">
                <a:moveTo>
                  <a:pt x="634959" y="730240"/>
                </a:moveTo>
                <a:lnTo>
                  <a:pt x="634959" y="1143000"/>
                </a:lnTo>
                <a:lnTo>
                  <a:pt x="632308" y="1184422"/>
                </a:lnTo>
                <a:lnTo>
                  <a:pt x="624169" y="1225205"/>
                </a:lnTo>
                <a:lnTo>
                  <a:pt x="610819" y="1264524"/>
                </a:lnTo>
                <a:lnTo>
                  <a:pt x="592440" y="1301740"/>
                </a:lnTo>
                <a:lnTo>
                  <a:pt x="569397" y="1336304"/>
                </a:lnTo>
                <a:lnTo>
                  <a:pt x="541965" y="1367485"/>
                </a:lnTo>
                <a:lnTo>
                  <a:pt x="510784" y="1394917"/>
                </a:lnTo>
                <a:lnTo>
                  <a:pt x="476220" y="1417960"/>
                </a:lnTo>
                <a:lnTo>
                  <a:pt x="439003" y="1436340"/>
                </a:lnTo>
                <a:lnTo>
                  <a:pt x="399684" y="1449690"/>
                </a:lnTo>
                <a:lnTo>
                  <a:pt x="358902" y="1457828"/>
                </a:lnTo>
                <a:lnTo>
                  <a:pt x="317480" y="1460480"/>
                </a:lnTo>
                <a:lnTo>
                  <a:pt x="276057" y="1457828"/>
                </a:lnTo>
                <a:lnTo>
                  <a:pt x="235367" y="1449690"/>
                </a:lnTo>
                <a:lnTo>
                  <a:pt x="195956" y="1436340"/>
                </a:lnTo>
                <a:lnTo>
                  <a:pt x="158740" y="1417960"/>
                </a:lnTo>
                <a:lnTo>
                  <a:pt x="124176" y="1394917"/>
                </a:lnTo>
                <a:lnTo>
                  <a:pt x="92994" y="1367485"/>
                </a:lnTo>
                <a:lnTo>
                  <a:pt x="65654" y="1336304"/>
                </a:lnTo>
                <a:lnTo>
                  <a:pt x="42520" y="1301740"/>
                </a:lnTo>
                <a:lnTo>
                  <a:pt x="24140" y="1264524"/>
                </a:lnTo>
                <a:lnTo>
                  <a:pt x="10790" y="1225205"/>
                </a:lnTo>
                <a:lnTo>
                  <a:pt x="2743" y="1184422"/>
                </a:lnTo>
                <a:lnTo>
                  <a:pt x="0" y="1143000"/>
                </a:lnTo>
                <a:lnTo>
                  <a:pt x="0" y="730240"/>
                </a:lnTo>
                <a:close/>
              </a:path>
            </a:pathLst>
          </a:custGeom>
          <a:solidFill>
            <a:srgbClr val="D9DDE1"/>
          </a:solidFill>
          <a:ln/>
        </p:spPr>
      </p:sp>
      <p:sp>
        <p:nvSpPr>
          <p:cNvPr id="38" name="Shape 36"/>
          <p:cNvSpPr/>
          <p:nvPr/>
        </p:nvSpPr>
        <p:spPr>
          <a:xfrm>
            <a:off x="9467880" y="2959090"/>
            <a:ext cx="634959" cy="1460480"/>
          </a:xfrm>
          <a:prstGeom prst="roundRect">
            <a:avLst>
              <a:gd name="adj" fmla="val 50000"/>
            </a:avLst>
          </a:prstGeom>
          <a:ln w="19050">
            <a:solidFill>
              <a:srgbClr val="16181B">
                <a:alpha val="22000"/>
              </a:srgbClr>
            </a:solidFill>
            <a:prstDash val="solid"/>
          </a:ln>
        </p:spPr>
      </p:sp>
      <p:sp>
        <p:nvSpPr>
          <p:cNvPr id="39" name="Shape 37"/>
          <p:cNvSpPr/>
          <p:nvPr/>
        </p:nvSpPr>
        <p:spPr>
          <a:xfrm>
            <a:off x="10521909" y="2959090"/>
            <a:ext cx="634959" cy="1460480"/>
          </a:xfrm>
          <a:prstGeom prst="roundRect">
            <a:avLst>
              <a:gd name="adj" fmla="val 50000"/>
            </a:avLst>
          </a:prstGeom>
          <a:solidFill>
            <a:srgbClr val="FFFFFF"/>
          </a:solidFill>
          <a:ln/>
        </p:spPr>
      </p:sp>
      <p:sp>
        <p:nvSpPr>
          <p:cNvPr id="40" name="Shape 38"/>
          <p:cNvSpPr/>
          <p:nvPr/>
        </p:nvSpPr>
        <p:spPr>
          <a:xfrm>
            <a:off x="10521909" y="2959090"/>
            <a:ext cx="634959" cy="1460480"/>
          </a:xfrm>
          <a:custGeom>
            <a:avLst/>
            <a:gdLst/>
            <a:ahLst/>
            <a:cxnLst/>
            <a:rect l="l" t="t" r="r" b="b"/>
            <a:pathLst>
              <a:path w="634959" h="1460480">
                <a:moveTo>
                  <a:pt x="634959" y="730240"/>
                </a:moveTo>
                <a:lnTo>
                  <a:pt x="634959" y="1143000"/>
                </a:lnTo>
                <a:lnTo>
                  <a:pt x="632308" y="1184422"/>
                </a:lnTo>
                <a:lnTo>
                  <a:pt x="624169" y="1225205"/>
                </a:lnTo>
                <a:lnTo>
                  <a:pt x="610819" y="1264524"/>
                </a:lnTo>
                <a:lnTo>
                  <a:pt x="592440" y="1301740"/>
                </a:lnTo>
                <a:lnTo>
                  <a:pt x="569397" y="1336304"/>
                </a:lnTo>
                <a:lnTo>
                  <a:pt x="541965" y="1367485"/>
                </a:lnTo>
                <a:lnTo>
                  <a:pt x="510784" y="1394917"/>
                </a:lnTo>
                <a:lnTo>
                  <a:pt x="476220" y="1417960"/>
                </a:lnTo>
                <a:lnTo>
                  <a:pt x="439003" y="1436340"/>
                </a:lnTo>
                <a:lnTo>
                  <a:pt x="399684" y="1449690"/>
                </a:lnTo>
                <a:lnTo>
                  <a:pt x="358902" y="1457828"/>
                </a:lnTo>
                <a:lnTo>
                  <a:pt x="317480" y="1460480"/>
                </a:lnTo>
                <a:lnTo>
                  <a:pt x="276057" y="1457828"/>
                </a:lnTo>
                <a:lnTo>
                  <a:pt x="235367" y="1449690"/>
                </a:lnTo>
                <a:lnTo>
                  <a:pt x="195956" y="1436340"/>
                </a:lnTo>
                <a:lnTo>
                  <a:pt x="158740" y="1417960"/>
                </a:lnTo>
                <a:lnTo>
                  <a:pt x="124176" y="1394917"/>
                </a:lnTo>
                <a:lnTo>
                  <a:pt x="92994" y="1367485"/>
                </a:lnTo>
                <a:lnTo>
                  <a:pt x="65654" y="1336304"/>
                </a:lnTo>
                <a:lnTo>
                  <a:pt x="42520" y="1301740"/>
                </a:lnTo>
                <a:lnTo>
                  <a:pt x="24140" y="1264524"/>
                </a:lnTo>
                <a:lnTo>
                  <a:pt x="10790" y="1225205"/>
                </a:lnTo>
                <a:lnTo>
                  <a:pt x="2743" y="1184422"/>
                </a:lnTo>
                <a:lnTo>
                  <a:pt x="0" y="1143000"/>
                </a:lnTo>
                <a:lnTo>
                  <a:pt x="0" y="730240"/>
                </a:lnTo>
                <a:close/>
              </a:path>
            </a:pathLst>
          </a:custGeom>
          <a:solidFill>
            <a:srgbClr val="D9DDE1"/>
          </a:solidFill>
          <a:ln/>
        </p:spPr>
      </p:sp>
      <p:sp>
        <p:nvSpPr>
          <p:cNvPr id="41" name="Shape 39"/>
          <p:cNvSpPr/>
          <p:nvPr/>
        </p:nvSpPr>
        <p:spPr>
          <a:xfrm>
            <a:off x="10521909" y="2959090"/>
            <a:ext cx="634959" cy="1460480"/>
          </a:xfrm>
          <a:prstGeom prst="roundRect">
            <a:avLst>
              <a:gd name="adj" fmla="val 50000"/>
            </a:avLst>
          </a:prstGeom>
          <a:ln w="19050">
            <a:solidFill>
              <a:srgbClr val="16181B">
                <a:alpha val="22000"/>
              </a:srgbClr>
            </a:solidFill>
            <a:prstDash val="solid"/>
          </a:ln>
        </p:spPr>
      </p:sp>
      <p:sp>
        <p:nvSpPr>
          <p:cNvPr id="42" name="Text 19"/>
          <p:cNvSpPr/>
          <p:nvPr/>
        </p:nvSpPr>
        <p:spPr>
          <a:xfrm>
            <a:off x="1035009" y="4546580"/>
            <a:ext cx="10159990" cy="177759"/>
          </a:xfrm>
          <a:prstGeom prst="rect">
            <a:avLst/>
          </a:prstGeom>
          <a:noFill/>
          <a:ln/>
        </p:spPr>
        <p:txBody>
          <a:bodyPr wrap="square" lIns="0" tIns="0" rIns="0" bIns="0" rtlCol="0" anchor="t"/>
          <a:lstStyle/>
          <a:p>
            <a:pPr algn="l" indent="0" marL="0">
              <a:lnSpc>
                <a:spcPct val="140000"/>
              </a:lnSpc>
              <a:buNone/>
            </a:pPr>
            <a:r>
              <a:rPr lang="en-US" sz="850" dirty="0">
                <a:solidFill>
                  <a:srgbClr val="7C8188"/>
                </a:solidFill>
                <a:latin typeface="JetBrains Mono" pitchFamily="34" charset="0"/>
                <a:ea typeface="JetBrains Mono" pitchFamily="34" charset="-122"/>
                <a:cs typeface="JetBrains Mono" pitchFamily="34" charset="-120"/>
              </a:rPr>
              <a:t>Illustration · one tablet in ten. WHO, 2017: substandard and falsified products counted together.</a:t>
            </a:r>
            <a:endParaRPr lang="en-US" sz="850" dirty="0"/>
          </a:p>
        </p:txBody>
      </p:sp>
      <p:sp>
        <p:nvSpPr>
          <p:cNvPr id="43" name="Shape 41"/>
          <p:cNvSpPr/>
          <p:nvPr/>
        </p:nvSpPr>
        <p:spPr>
          <a:xfrm>
            <a:off x="761970" y="4953030"/>
            <a:ext cx="355610" cy="38130"/>
          </a:xfrm>
          <a:prstGeom prst="roundRect">
            <a:avLst>
              <a:gd name="adj" fmla="val 49881"/>
            </a:avLst>
          </a:prstGeom>
          <a:solidFill>
            <a:srgbClr val="E09A3A"/>
          </a:solidFill>
          <a:ln/>
        </p:spPr>
      </p:sp>
      <p:sp>
        <p:nvSpPr>
          <p:cNvPr id="44" name="Text 21"/>
          <p:cNvSpPr/>
          <p:nvPr/>
        </p:nvSpPr>
        <p:spPr>
          <a:xfrm>
            <a:off x="761970" y="5092659"/>
            <a:ext cx="3301990" cy="381030"/>
          </a:xfrm>
          <a:prstGeom prst="rect">
            <a:avLst/>
          </a:prstGeom>
          <a:noFill/>
          <a:ln/>
        </p:spPr>
        <p:txBody>
          <a:bodyPr wrap="square" lIns="0" tIns="0" rIns="0" bIns="0" rtlCol="0" anchor="t"/>
          <a:lstStyle/>
          <a:p>
            <a:pPr algn="l" indent="0" marL="0">
              <a:lnSpc>
                <a:spcPct val="100000"/>
              </a:lnSpc>
              <a:buNone/>
            </a:pPr>
            <a:r>
              <a:rPr lang="en-US" sz="2496" dirty="0">
                <a:solidFill>
                  <a:srgbClr val="16181B"/>
                </a:solidFill>
                <a:latin typeface="Instrument Serif" pitchFamily="34" charset="0"/>
                <a:ea typeface="Instrument Serif" pitchFamily="34" charset="-122"/>
                <a:cs typeface="Instrument Serif" pitchFamily="34" charset="-120"/>
              </a:rPr>
              <a:t>116,000</a:t>
            </a:r>
            <a:endParaRPr lang="en-US" sz="2496" dirty="0"/>
          </a:p>
        </p:txBody>
      </p:sp>
      <p:sp>
        <p:nvSpPr>
          <p:cNvPr id="45" name="Text 22"/>
          <p:cNvSpPr/>
          <p:nvPr/>
        </p:nvSpPr>
        <p:spPr>
          <a:xfrm>
            <a:off x="761970" y="5562570"/>
            <a:ext cx="3301990" cy="508041"/>
          </a:xfrm>
          <a:prstGeom prst="rect">
            <a:avLst/>
          </a:prstGeom>
          <a:noFill/>
          <a:ln/>
        </p:spPr>
        <p:txBody>
          <a:bodyPr wrap="square" lIns="0" tIns="0" rIns="0" bIns="0" rtlCol="0" anchor="t"/>
          <a:lstStyle/>
          <a:p>
            <a:pPr algn="l" indent="0" marL="0">
              <a:lnSpc>
                <a:spcPct val="140000"/>
              </a:lnSpc>
              <a:buNone/>
            </a:pPr>
            <a:r>
              <a:rPr lang="en-US" sz="900" dirty="0">
                <a:solidFill>
                  <a:srgbClr val="4A4E55"/>
                </a:solidFill>
                <a:latin typeface="Inter" pitchFamily="34" charset="0"/>
                <a:ea typeface="Inter" pitchFamily="34" charset="-122"/>
                <a:cs typeface="Inter" pitchFamily="34" charset="-120"/>
              </a:rPr>
              <a:t>extra malaria deaths a year in sub-Saharan Africa, modelled central estimate, from substandard and falsified antimalarials (range 64,000–158,000)</a:t>
            </a:r>
            <a:endParaRPr lang="en-US" sz="900" dirty="0"/>
          </a:p>
        </p:txBody>
      </p:sp>
      <p:sp>
        <p:nvSpPr>
          <p:cNvPr id="46" name="Text 23"/>
          <p:cNvSpPr/>
          <p:nvPr/>
        </p:nvSpPr>
        <p:spPr>
          <a:xfrm>
            <a:off x="761970" y="6096030"/>
            <a:ext cx="3301990" cy="152430"/>
          </a:xfrm>
          <a:prstGeom prst="rect">
            <a:avLst/>
          </a:prstGeom>
          <a:noFill/>
          <a:ln/>
        </p:spPr>
        <p:txBody>
          <a:bodyPr wrap="square" lIns="0" tIns="0" rIns="0" bIns="0" rtlCol="0" anchor="t"/>
          <a:lstStyle/>
          <a:p>
            <a:pPr algn="l" indent="0" marL="0">
              <a:lnSpc>
                <a:spcPct val="140000"/>
              </a:lnSpc>
              <a:buNone/>
            </a:pPr>
            <a:r>
              <a:rPr lang="en-US" sz="750" dirty="0">
                <a:solidFill>
                  <a:srgbClr val="7C8188"/>
                </a:solidFill>
                <a:latin typeface="JetBrains Mono" pitchFamily="34" charset="0"/>
                <a:ea typeface="JetBrains Mono" pitchFamily="34" charset="-122"/>
                <a:cs typeface="JetBrains Mono" pitchFamily="34" charset="-120"/>
              </a:rPr>
              <a:t>LSHTM model, cited by WHO, 2017</a:t>
            </a:r>
            <a:endParaRPr lang="en-US" sz="750" dirty="0"/>
          </a:p>
        </p:txBody>
      </p:sp>
      <p:sp>
        <p:nvSpPr>
          <p:cNvPr id="47" name="Shape 45"/>
          <p:cNvSpPr/>
          <p:nvPr/>
        </p:nvSpPr>
        <p:spPr>
          <a:xfrm>
            <a:off x="4444990" y="4953030"/>
            <a:ext cx="355610" cy="38130"/>
          </a:xfrm>
          <a:prstGeom prst="roundRect">
            <a:avLst>
              <a:gd name="adj" fmla="val 49881"/>
            </a:avLst>
          </a:prstGeom>
          <a:solidFill>
            <a:srgbClr val="E09A3A"/>
          </a:solidFill>
          <a:ln/>
        </p:spPr>
      </p:sp>
      <p:sp>
        <p:nvSpPr>
          <p:cNvPr id="48" name="Text 25"/>
          <p:cNvSpPr/>
          <p:nvPr/>
        </p:nvSpPr>
        <p:spPr>
          <a:xfrm>
            <a:off x="4444990" y="5092659"/>
            <a:ext cx="3301990" cy="381030"/>
          </a:xfrm>
          <a:prstGeom prst="rect">
            <a:avLst/>
          </a:prstGeom>
          <a:noFill/>
          <a:ln/>
        </p:spPr>
        <p:txBody>
          <a:bodyPr wrap="square" lIns="0" tIns="0" rIns="0" bIns="0" rtlCol="0" anchor="t"/>
          <a:lstStyle/>
          <a:p>
            <a:pPr algn="l" indent="0" marL="0">
              <a:lnSpc>
                <a:spcPct val="100000"/>
              </a:lnSpc>
              <a:buNone/>
            </a:pPr>
            <a:r>
              <a:rPr lang="en-US" sz="2496" dirty="0">
                <a:solidFill>
                  <a:srgbClr val="16181B"/>
                </a:solidFill>
                <a:latin typeface="Instrument Serif" pitchFamily="34" charset="0"/>
                <a:ea typeface="Instrument Serif" pitchFamily="34" charset="-122"/>
                <a:cs typeface="Instrument Serif" pitchFamily="34" charset="-120"/>
              </a:rPr>
              <a:t>&gt;300</a:t>
            </a:r>
            <a:endParaRPr lang="en-US" sz="2496" dirty="0"/>
          </a:p>
        </p:txBody>
      </p:sp>
      <p:sp>
        <p:nvSpPr>
          <p:cNvPr id="49" name="Text 26"/>
          <p:cNvSpPr/>
          <p:nvPr/>
        </p:nvSpPr>
        <p:spPr>
          <a:xfrm>
            <a:off x="4444990" y="5562570"/>
            <a:ext cx="3301990" cy="342900"/>
          </a:xfrm>
          <a:prstGeom prst="rect">
            <a:avLst/>
          </a:prstGeom>
          <a:noFill/>
          <a:ln/>
        </p:spPr>
        <p:txBody>
          <a:bodyPr wrap="square" lIns="0" tIns="0" rIns="0" bIns="0" rtlCol="0" anchor="t"/>
          <a:lstStyle/>
          <a:p>
            <a:pPr algn="l" indent="0" marL="0">
              <a:lnSpc>
                <a:spcPct val="140000"/>
              </a:lnSpc>
              <a:buNone/>
            </a:pPr>
            <a:r>
              <a:rPr lang="en-US" sz="900" dirty="0">
                <a:solidFill>
                  <a:srgbClr val="4A4E55"/>
                </a:solidFill>
                <a:latin typeface="Inter" pitchFamily="34" charset="0"/>
                <a:ea typeface="Inter" pitchFamily="34" charset="-122"/>
                <a:cs typeface="Inter" pitchFamily="34" charset="-120"/>
              </a:rPr>
              <a:t>children's deaths linked to contaminated cough syrups in three countries, 2022–23, most under five</a:t>
            </a:r>
            <a:endParaRPr lang="en-US" sz="900" dirty="0"/>
          </a:p>
        </p:txBody>
      </p:sp>
      <p:sp>
        <p:nvSpPr>
          <p:cNvPr id="50" name="Text 27"/>
          <p:cNvSpPr/>
          <p:nvPr/>
        </p:nvSpPr>
        <p:spPr>
          <a:xfrm>
            <a:off x="4444990" y="6096030"/>
            <a:ext cx="3301990" cy="152430"/>
          </a:xfrm>
          <a:prstGeom prst="rect">
            <a:avLst/>
          </a:prstGeom>
          <a:noFill/>
          <a:ln/>
        </p:spPr>
        <p:txBody>
          <a:bodyPr wrap="square" lIns="0" tIns="0" rIns="0" bIns="0" rtlCol="0" anchor="t"/>
          <a:lstStyle/>
          <a:p>
            <a:pPr algn="l" indent="0" marL="0">
              <a:lnSpc>
                <a:spcPct val="140000"/>
              </a:lnSpc>
              <a:buNone/>
            </a:pPr>
            <a:r>
              <a:rPr lang="en-US" sz="750" dirty="0">
                <a:solidFill>
                  <a:srgbClr val="7C8188"/>
                </a:solidFill>
                <a:latin typeface="JetBrains Mono" pitchFamily="34" charset="0"/>
                <a:ea typeface="JetBrains Mono" pitchFamily="34" charset="-122"/>
                <a:cs typeface="JetBrains Mono" pitchFamily="34" charset="-120"/>
              </a:rPr>
              <a:t>WHO, Jan 2023</a:t>
            </a:r>
            <a:endParaRPr lang="en-US" sz="750" dirty="0"/>
          </a:p>
        </p:txBody>
      </p:sp>
      <p:sp>
        <p:nvSpPr>
          <p:cNvPr id="51" name="Shape 49"/>
          <p:cNvSpPr/>
          <p:nvPr/>
        </p:nvSpPr>
        <p:spPr>
          <a:xfrm>
            <a:off x="8128010" y="4953030"/>
            <a:ext cx="355610" cy="38130"/>
          </a:xfrm>
          <a:prstGeom prst="roundRect">
            <a:avLst>
              <a:gd name="adj" fmla="val 49881"/>
            </a:avLst>
          </a:prstGeom>
          <a:solidFill>
            <a:srgbClr val="4FB3FF"/>
          </a:solidFill>
          <a:ln/>
        </p:spPr>
      </p:sp>
      <p:sp>
        <p:nvSpPr>
          <p:cNvPr id="52" name="Text 29"/>
          <p:cNvSpPr/>
          <p:nvPr/>
        </p:nvSpPr>
        <p:spPr>
          <a:xfrm>
            <a:off x="8128010" y="5092659"/>
            <a:ext cx="3301990" cy="381030"/>
          </a:xfrm>
          <a:prstGeom prst="rect">
            <a:avLst/>
          </a:prstGeom>
          <a:noFill/>
          <a:ln/>
        </p:spPr>
        <p:txBody>
          <a:bodyPr wrap="square" lIns="0" tIns="0" rIns="0" bIns="0" rtlCol="0" anchor="t"/>
          <a:lstStyle/>
          <a:p>
            <a:pPr algn="l" indent="0" marL="0">
              <a:lnSpc>
                <a:spcPct val="100000"/>
              </a:lnSpc>
              <a:buNone/>
            </a:pPr>
            <a:r>
              <a:rPr lang="en-US" sz="2496" dirty="0">
                <a:solidFill>
                  <a:srgbClr val="16181B"/>
                </a:solidFill>
                <a:latin typeface="Instrument Serif" pitchFamily="34" charset="0"/>
                <a:ea typeface="Instrument Serif" pitchFamily="34" charset="-122"/>
                <a:cs typeface="Instrument Serif" pitchFamily="34" charset="-120"/>
              </a:rPr>
              <a:t>$30.5B</a:t>
            </a:r>
            <a:endParaRPr lang="en-US" sz="2496" dirty="0"/>
          </a:p>
        </p:txBody>
      </p:sp>
      <p:sp>
        <p:nvSpPr>
          <p:cNvPr id="53" name="Text 30"/>
          <p:cNvSpPr/>
          <p:nvPr/>
        </p:nvSpPr>
        <p:spPr>
          <a:xfrm>
            <a:off x="8128010" y="5562570"/>
            <a:ext cx="3301990" cy="342900"/>
          </a:xfrm>
          <a:prstGeom prst="rect">
            <a:avLst/>
          </a:prstGeom>
          <a:noFill/>
          <a:ln/>
        </p:spPr>
        <p:txBody>
          <a:bodyPr wrap="square" lIns="0" tIns="0" rIns="0" bIns="0" rtlCol="0" anchor="t"/>
          <a:lstStyle/>
          <a:p>
            <a:pPr algn="l" indent="0" marL="0">
              <a:lnSpc>
                <a:spcPct val="140000"/>
              </a:lnSpc>
              <a:buNone/>
            </a:pPr>
            <a:r>
              <a:rPr lang="en-US" sz="900" dirty="0">
                <a:solidFill>
                  <a:srgbClr val="4A4E55"/>
                </a:solidFill>
                <a:latin typeface="Inter" pitchFamily="34" charset="0"/>
                <a:ea typeface="Inter" pitchFamily="34" charset="-122"/>
                <a:cs typeface="Inter" pitchFamily="34" charset="-120"/>
              </a:rPr>
              <a:t>spent each year on substandard and falsified medical products, by WHO's estimate</a:t>
            </a:r>
            <a:endParaRPr lang="en-US" sz="900" dirty="0"/>
          </a:p>
        </p:txBody>
      </p:sp>
      <p:sp>
        <p:nvSpPr>
          <p:cNvPr id="54" name="Text 31"/>
          <p:cNvSpPr/>
          <p:nvPr/>
        </p:nvSpPr>
        <p:spPr>
          <a:xfrm>
            <a:off x="8128010" y="6096030"/>
            <a:ext cx="3301990" cy="152430"/>
          </a:xfrm>
          <a:prstGeom prst="rect">
            <a:avLst/>
          </a:prstGeom>
          <a:noFill/>
          <a:ln/>
        </p:spPr>
        <p:txBody>
          <a:bodyPr wrap="square" lIns="0" tIns="0" rIns="0" bIns="0" rtlCol="0" anchor="t"/>
          <a:lstStyle/>
          <a:p>
            <a:pPr algn="l" indent="0" marL="0">
              <a:lnSpc>
                <a:spcPct val="140000"/>
              </a:lnSpc>
              <a:buNone/>
            </a:pPr>
            <a:r>
              <a:rPr lang="en-US" sz="750" dirty="0">
                <a:solidFill>
                  <a:srgbClr val="7C8188"/>
                </a:solidFill>
                <a:latin typeface="JetBrains Mono" pitchFamily="34" charset="0"/>
                <a:ea typeface="JetBrains Mono" pitchFamily="34" charset="-122"/>
                <a:cs typeface="JetBrains Mono" pitchFamily="34" charset="-120"/>
              </a:rPr>
              <a:t>WHO fact sheet, 2024</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THE STATION</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04 / 21</a:t>
            </a:r>
            <a:endParaRPr lang="en-US" sz="900" dirty="0"/>
          </a:p>
        </p:txBody>
      </p:sp>
      <p:sp>
        <p:nvSpPr>
          <p:cNvPr id="8" name="Shape 6"/>
          <p:cNvSpPr/>
          <p:nvPr/>
        </p:nvSpPr>
        <p:spPr>
          <a:xfrm>
            <a:off x="761970" y="6413510"/>
            <a:ext cx="10668030" cy="12710"/>
          </a:xfrm>
          <a:prstGeom prst="rect">
            <a:avLst/>
          </a:prstGeom>
          <a:solidFill>
            <a:srgbClr val="16181B">
              <a:alpha val="10000"/>
            </a:srgbClr>
          </a:solidFill>
          <a:ln/>
        </p:spPr>
      </p:sp>
      <p:sp>
        <p:nvSpPr>
          <p:cNvPr id="9" name="Text 6"/>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0" name="Title"/>
          <p:cNvSpPr/>
          <p:nvPr/>
        </p:nvSpPr>
        <p:spPr>
          <a:xfrm>
            <a:off x="761970" y="952530"/>
            <a:ext cx="4826020" cy="1333470"/>
          </a:xfrm>
          <a:prstGeom prst="rect">
            <a:avLst/>
          </a:prstGeom>
          <a:noFill/>
          <a:ln/>
        </p:spPr>
        <p:txBody>
          <a:bodyPr wrap="square" lIns="0" tIns="0" rIns="0" bIns="0" rtlCol="0" anchor="t"/>
          <a:lstStyle/>
          <a:p>
            <a:pPr algn="l" indent="0" marL="0">
              <a:lnSpc>
                <a:spcPct val="100000"/>
              </a:lnSpc>
              <a:buNone/>
            </a:pPr>
            <a:r>
              <a:rPr lang="en-US" sz="3276" spc="-49" kern="0" dirty="0">
                <a:solidFill>
                  <a:srgbClr val="16181B"/>
                </a:solidFill>
                <a:latin typeface="Instrument Serif" pitchFamily="34" charset="0"/>
                <a:ea typeface="Instrument Serif" pitchFamily="34" charset="-122"/>
                <a:cs typeface="Instrument Serif" pitchFamily="34" charset="-120"/>
              </a:rPr>
              <a:t>Lot numbers can be copied. Dissolution cannot.</a:t>
            </a:r>
            <a:endParaRPr lang="en-US" sz="3276" dirty="0"/>
          </a:p>
        </p:txBody>
      </p:sp>
      <p:sp>
        <p:nvSpPr>
          <p:cNvPr id="11" name="Text 8"/>
          <p:cNvSpPr/>
          <p:nvPr/>
        </p:nvSpPr>
        <p:spPr>
          <a:xfrm>
            <a:off x="761970" y="2349459"/>
            <a:ext cx="4699010" cy="723930"/>
          </a:xfrm>
          <a:prstGeom prst="rect">
            <a:avLst/>
          </a:prstGeom>
          <a:noFill/>
          <a:ln/>
        </p:spPr>
        <p:txBody>
          <a:bodyPr wrap="square" lIns="0" tIns="0" rIns="0" bIns="0" rtlCol="0" anchor="t"/>
          <a:lstStyle/>
          <a:p>
            <a:pPr algn="l" indent="0" marL="0">
              <a:lnSpc>
                <a:spcPct val="145000"/>
              </a:lnSpc>
              <a:buNone/>
            </a:pPr>
            <a:r>
              <a:rPr lang="en-US" sz="1250" dirty="0">
                <a:solidFill>
                  <a:srgbClr val="4A4E55"/>
                </a:solidFill>
                <a:latin typeface="Inter" pitchFamily="34" charset="0"/>
                <a:ea typeface="Inter" pitchFamily="34" charset="-122"/>
                <a:cs typeface="Inter" pitchFamily="34" charset="-120"/>
              </a:rPr>
              <a:t>A recall lookup trusts the label. Pill measures the tablet itself: one tablet in a cup of water inside a dark chamber, two light sensors watching it dissolve.</a:t>
            </a:r>
            <a:endParaRPr lang="en-US" sz="1250" dirty="0"/>
          </a:p>
        </p:txBody>
      </p:sp>
      <p:sp>
        <p:nvSpPr>
          <p:cNvPr id="12" name="Shape 10"/>
          <p:cNvSpPr/>
          <p:nvPr/>
        </p:nvSpPr>
        <p:spPr>
          <a:xfrm>
            <a:off x="761970" y="3486150"/>
            <a:ext cx="114300" cy="114300"/>
          </a:xfrm>
          <a:prstGeom prst="ellipse">
            <a:avLst/>
          </a:prstGeom>
          <a:solidFill>
            <a:srgbClr val="16181B"/>
          </a:solidFill>
          <a:ln/>
        </p:spPr>
      </p:sp>
      <p:sp>
        <p:nvSpPr>
          <p:cNvPr id="13" name="Text 10"/>
          <p:cNvSpPr/>
          <p:nvPr/>
        </p:nvSpPr>
        <p:spPr>
          <a:xfrm>
            <a:off x="990570" y="3429000"/>
            <a:ext cx="4444990" cy="241310"/>
          </a:xfrm>
          <a:prstGeom prst="rect">
            <a:avLst/>
          </a:prstGeom>
          <a:noFill/>
          <a:ln/>
        </p:spPr>
        <p:txBody>
          <a:bodyPr wrap="square" lIns="0" tIns="0" rIns="0" bIns="0" rtlCol="0" anchor="t"/>
          <a:lstStyle/>
          <a:p>
            <a:pPr algn="l" indent="0" marL="0">
              <a:lnSpc>
                <a:spcPct val="130000"/>
              </a:lnSpc>
              <a:buNone/>
            </a:pPr>
            <a:r>
              <a:rPr lang="en-US" sz="1250" b="1" dirty="0">
                <a:solidFill>
                  <a:srgbClr val="16181B"/>
                </a:solidFill>
                <a:latin typeface="Inter" pitchFamily="34" charset="0"/>
                <a:ea typeface="Inter" pitchFamily="34" charset="-122"/>
                <a:cs typeface="Inter" pitchFamily="34" charset="-120"/>
              </a:rPr>
              <a:t>Arduino UNO Q · 3.3 V · 12-bit</a:t>
            </a:r>
            <a:endParaRPr lang="en-US" sz="1250" dirty="0"/>
          </a:p>
        </p:txBody>
      </p:sp>
      <p:sp>
        <p:nvSpPr>
          <p:cNvPr id="14" name="Text 11"/>
          <p:cNvSpPr/>
          <p:nvPr/>
        </p:nvSpPr>
        <p:spPr>
          <a:xfrm>
            <a:off x="990570" y="3670310"/>
            <a:ext cx="4444990" cy="342900"/>
          </a:xfrm>
          <a:prstGeom prst="rect">
            <a:avLst/>
          </a:prstGeom>
          <a:noFill/>
          <a:ln/>
        </p:spPr>
        <p:txBody>
          <a:bodyPr wrap="square" lIns="0" tIns="0" rIns="0" bIns="0" rtlCol="0" anchor="t"/>
          <a:lstStyle/>
          <a:p>
            <a:pPr algn="l" indent="0" marL="0">
              <a:lnSpc>
                <a:spcPct val="140000"/>
              </a:lnSpc>
              <a:buNone/>
            </a:pPr>
            <a:r>
              <a:rPr lang="en-US" sz="900" dirty="0">
                <a:solidFill>
                  <a:srgbClr val="4A4E55"/>
                </a:solidFill>
                <a:latin typeface="Inter" pitchFamily="34" charset="0"/>
                <a:ea typeface="Inter" pitchFamily="34" charset="-122"/>
                <a:cs typeface="Inter" pitchFamily="34" charset="-120"/>
              </a:rPr>
              <a:t>Two photoresistors in 10 kΩ dividers from the 3V3 pin: A0 across the cup, A1 at 90° to the beam.</a:t>
            </a:r>
            <a:endParaRPr lang="en-US" sz="900" dirty="0"/>
          </a:p>
        </p:txBody>
      </p:sp>
      <p:sp>
        <p:nvSpPr>
          <p:cNvPr id="15" name="Shape 13"/>
          <p:cNvSpPr/>
          <p:nvPr/>
        </p:nvSpPr>
        <p:spPr>
          <a:xfrm>
            <a:off x="761970" y="4171950"/>
            <a:ext cx="114300" cy="114300"/>
          </a:xfrm>
          <a:prstGeom prst="ellipse">
            <a:avLst/>
          </a:prstGeom>
          <a:solidFill>
            <a:srgbClr val="9AA0A6"/>
          </a:solidFill>
          <a:ln/>
        </p:spPr>
      </p:sp>
      <p:sp>
        <p:nvSpPr>
          <p:cNvPr id="16" name="Text 13"/>
          <p:cNvSpPr/>
          <p:nvPr/>
        </p:nvSpPr>
        <p:spPr>
          <a:xfrm>
            <a:off x="990570" y="4114800"/>
            <a:ext cx="4444990" cy="241310"/>
          </a:xfrm>
          <a:prstGeom prst="rect">
            <a:avLst/>
          </a:prstGeom>
          <a:noFill/>
          <a:ln/>
        </p:spPr>
        <p:txBody>
          <a:bodyPr wrap="square" lIns="0" tIns="0" rIns="0" bIns="0" rtlCol="0" anchor="t"/>
          <a:lstStyle/>
          <a:p>
            <a:pPr algn="l" indent="0" marL="0">
              <a:lnSpc>
                <a:spcPct val="130000"/>
              </a:lnSpc>
              <a:buNone/>
            </a:pPr>
            <a:r>
              <a:rPr lang="en-US" sz="1250" b="1" dirty="0">
                <a:solidFill>
                  <a:srgbClr val="16181B"/>
                </a:solidFill>
                <a:latin typeface="Inter" pitchFamily="34" charset="0"/>
                <a:ea typeface="Inter" pitchFamily="34" charset="-122"/>
                <a:cs typeface="Inter" pitchFamily="34" charset="-120"/>
              </a:rPr>
              <a:t>A dark reading every second</a:t>
            </a:r>
            <a:endParaRPr lang="en-US" sz="1250" dirty="0"/>
          </a:p>
        </p:txBody>
      </p:sp>
      <p:sp>
        <p:nvSpPr>
          <p:cNvPr id="17" name="Text 14"/>
          <p:cNvSpPr/>
          <p:nvPr/>
        </p:nvSpPr>
        <p:spPr>
          <a:xfrm>
            <a:off x="990570" y="4356110"/>
            <a:ext cx="4444990" cy="342900"/>
          </a:xfrm>
          <a:prstGeom prst="rect">
            <a:avLst/>
          </a:prstGeom>
          <a:noFill/>
          <a:ln/>
        </p:spPr>
        <p:txBody>
          <a:bodyPr wrap="square" lIns="0" tIns="0" rIns="0" bIns="0" rtlCol="0" anchor="t"/>
          <a:lstStyle/>
          <a:p>
            <a:pPr algn="l" indent="0" marL="0">
              <a:lnSpc>
                <a:spcPct val="140000"/>
              </a:lnSpc>
              <a:buNone/>
            </a:pPr>
            <a:r>
              <a:rPr lang="en-US" sz="900" dirty="0">
                <a:solidFill>
                  <a:srgbClr val="4A4E55"/>
                </a:solidFill>
                <a:latin typeface="Inter" pitchFamily="34" charset="0"/>
                <a:ea typeface="Inter" pitchFamily="34" charset="-122"/>
                <a:cs typeface="Inter" pitchFamily="34" charset="-120"/>
              </a:rPr>
              <a:t>All LEDs off, both sensors read. Room light cancels out of the signal instead of leaking into it.</a:t>
            </a:r>
            <a:endParaRPr lang="en-US" sz="900" dirty="0"/>
          </a:p>
        </p:txBody>
      </p:sp>
      <p:sp>
        <p:nvSpPr>
          <p:cNvPr id="18" name="Shape 16"/>
          <p:cNvSpPr/>
          <p:nvPr/>
        </p:nvSpPr>
        <p:spPr>
          <a:xfrm>
            <a:off x="761970" y="4857750"/>
            <a:ext cx="114300" cy="114300"/>
          </a:xfrm>
          <a:prstGeom prst="ellipse">
            <a:avLst/>
          </a:prstGeom>
          <a:solidFill>
            <a:srgbClr val="4FB3FF"/>
          </a:solidFill>
          <a:ln/>
        </p:spPr>
      </p:sp>
      <p:sp>
        <p:nvSpPr>
          <p:cNvPr id="19" name="Text 16"/>
          <p:cNvSpPr/>
          <p:nvPr/>
        </p:nvSpPr>
        <p:spPr>
          <a:xfrm>
            <a:off x="990570" y="4800600"/>
            <a:ext cx="4444990" cy="241310"/>
          </a:xfrm>
          <a:prstGeom prst="rect">
            <a:avLst/>
          </a:prstGeom>
          <a:noFill/>
          <a:ln/>
        </p:spPr>
        <p:txBody>
          <a:bodyPr wrap="square" lIns="0" tIns="0" rIns="0" bIns="0" rtlCol="0" anchor="t"/>
          <a:lstStyle/>
          <a:p>
            <a:pPr algn="l" indent="0" marL="0">
              <a:lnSpc>
                <a:spcPct val="130000"/>
              </a:lnSpc>
              <a:buNone/>
            </a:pPr>
            <a:r>
              <a:rPr lang="en-US" sz="1250" b="1" dirty="0">
                <a:solidFill>
                  <a:srgbClr val="16181B"/>
                </a:solidFill>
                <a:latin typeface="Inter" pitchFamily="34" charset="0"/>
                <a:ea typeface="Inter" pitchFamily="34" charset="-122"/>
                <a:cs typeface="Inter" pitchFamily="34" charset="-120"/>
              </a:rPr>
              <a:t>Blue, white, red in turn</a:t>
            </a:r>
            <a:endParaRPr lang="en-US" sz="1250" dirty="0"/>
          </a:p>
        </p:txBody>
      </p:sp>
      <p:sp>
        <p:nvSpPr>
          <p:cNvPr id="20" name="Text 17"/>
          <p:cNvSpPr/>
          <p:nvPr/>
        </p:nvSpPr>
        <p:spPr>
          <a:xfrm>
            <a:off x="990570" y="5041910"/>
            <a:ext cx="4444990" cy="342900"/>
          </a:xfrm>
          <a:prstGeom prst="rect">
            <a:avLst/>
          </a:prstGeom>
          <a:noFill/>
          <a:ln/>
        </p:spPr>
        <p:txBody>
          <a:bodyPr wrap="square" lIns="0" tIns="0" rIns="0" bIns="0" rtlCol="0" anchor="t"/>
          <a:lstStyle/>
          <a:p>
            <a:pPr algn="l" indent="0" marL="0">
              <a:lnSpc>
                <a:spcPct val="140000"/>
              </a:lnSpc>
              <a:buNone/>
            </a:pPr>
            <a:r>
              <a:rPr lang="en-US" sz="900" dirty="0">
                <a:solidFill>
                  <a:srgbClr val="4A4E55"/>
                </a:solidFill>
                <a:latin typeface="Inter" pitchFamily="34" charset="0"/>
                <a:ea typeface="Inter" pitchFamily="34" charset="-122"/>
                <a:cs typeface="Inter" pitchFamily="34" charset="-120"/>
              </a:rPr>
              <a:t>Each LED lights alone and both sensors read again: light that gets through, light that scatters sideways.</a:t>
            </a:r>
            <a:endParaRPr lang="en-US" sz="900" dirty="0"/>
          </a:p>
        </p:txBody>
      </p:sp>
      <p:sp>
        <p:nvSpPr>
          <p:cNvPr id="21" name="Shape 19"/>
          <p:cNvSpPr/>
          <p:nvPr/>
        </p:nvSpPr>
        <p:spPr>
          <a:xfrm>
            <a:off x="761970" y="5543550"/>
            <a:ext cx="114300" cy="114300"/>
          </a:xfrm>
          <a:prstGeom prst="ellipse">
            <a:avLst/>
          </a:prstGeom>
          <a:solidFill>
            <a:srgbClr val="5FD39A"/>
          </a:solidFill>
          <a:ln/>
        </p:spPr>
      </p:sp>
      <p:sp>
        <p:nvSpPr>
          <p:cNvPr id="22" name="Text 19"/>
          <p:cNvSpPr/>
          <p:nvPr/>
        </p:nvSpPr>
        <p:spPr>
          <a:xfrm>
            <a:off x="990570" y="5486400"/>
            <a:ext cx="4444990" cy="241310"/>
          </a:xfrm>
          <a:prstGeom prst="rect">
            <a:avLst/>
          </a:prstGeom>
          <a:noFill/>
          <a:ln/>
        </p:spPr>
        <p:txBody>
          <a:bodyPr wrap="square" lIns="0" tIns="0" rIns="0" bIns="0" rtlCol="0" anchor="t"/>
          <a:lstStyle/>
          <a:p>
            <a:pPr algn="l" indent="0" marL="0">
              <a:lnSpc>
                <a:spcPct val="130000"/>
              </a:lnSpc>
              <a:buNone/>
            </a:pPr>
            <a:r>
              <a:rPr lang="en-US" sz="1250" b="1" dirty="0">
                <a:solidFill>
                  <a:srgbClr val="16181B"/>
                </a:solidFill>
                <a:latin typeface="Inter" pitchFamily="34" charset="0"/>
                <a:ea typeface="Inter" pitchFamily="34" charset="-122"/>
                <a:cs typeface="Inter" pitchFamily="34" charset="-120"/>
              </a:rPr>
              <a:t>One CSV line a second</a:t>
            </a:r>
            <a:endParaRPr lang="en-US" sz="1250" dirty="0"/>
          </a:p>
        </p:txBody>
      </p:sp>
      <p:sp>
        <p:nvSpPr>
          <p:cNvPr id="23" name="Text 20"/>
          <p:cNvSpPr/>
          <p:nvPr/>
        </p:nvSpPr>
        <p:spPr>
          <a:xfrm>
            <a:off x="990570" y="5727710"/>
            <a:ext cx="4444990" cy="342900"/>
          </a:xfrm>
          <a:prstGeom prst="rect">
            <a:avLst/>
          </a:prstGeom>
          <a:noFill/>
          <a:ln/>
        </p:spPr>
        <p:txBody>
          <a:bodyPr wrap="square" lIns="0" tIns="0" rIns="0" bIns="0" rtlCol="0" anchor="t"/>
          <a:lstStyle/>
          <a:p>
            <a:pPr algn="l" indent="0" marL="0">
              <a:lnSpc>
                <a:spcPct val="140000"/>
              </a:lnSpc>
              <a:buNone/>
            </a:pPr>
            <a:r>
              <a:rPr lang="en-US" sz="900" dirty="0">
                <a:solidFill>
                  <a:srgbClr val="4A4E55"/>
                </a:solidFill>
                <a:latin typeface="Inter" pitchFamily="34" charset="0"/>
                <a:ea typeface="Inter" pitchFamily="34" charset="-122"/>
                <a:cs typeface="Inter" pitchFamily="34" charset="-120"/>
              </a:rPr>
              <a:t>ms, dark, blue, white, red for each sensor, at 115200 baud. The firmware decides nothing.</a:t>
            </a:r>
            <a:endParaRPr lang="en-US" sz="900" dirty="0"/>
          </a:p>
        </p:txBody>
      </p:sp>
      <p:sp>
        <p:nvSpPr>
          <p:cNvPr id="24" name="Shape 22"/>
          <p:cNvSpPr/>
          <p:nvPr/>
        </p:nvSpPr>
        <p:spPr>
          <a:xfrm>
            <a:off x="5842010" y="952530"/>
            <a:ext cx="5587990" cy="4826020"/>
          </a:xfrm>
          <a:prstGeom prst="roundRect">
            <a:avLst>
              <a:gd name="adj" fmla="val 3683"/>
            </a:avLst>
          </a:prstGeom>
          <a:solidFill>
            <a:srgbClr val="FFFFFF"/>
          </a:solidFill>
          <a:ln w="12700">
            <a:solidFill>
              <a:srgbClr val="16181B">
                <a:alpha val="10000"/>
              </a:srgbClr>
            </a:solidFill>
            <a:prstDash val="solid"/>
          </a:ln>
        </p:spPr>
      </p:sp>
      <p:pic>
        <p:nvPicPr>
          <p:cNvPr id="25" name="Image 0" descr="The station: pillgate-diagrams-01-wiring-overview-1200k">    </p:cNvPr>
          <p:cNvPicPr>
            <a:picLocks noChangeAspect="1"/>
          </p:cNvPicPr>
          <p:nvPr/>
        </p:nvPicPr>
        <p:blipFill>
          <a:blip r:embed="rId1"/>
          <a:stretch>
            <a:fillRect/>
          </a:stretch>
        </p:blipFill>
        <p:spPr>
          <a:xfrm>
            <a:off x="6032480" y="1745864"/>
            <a:ext cx="5206959" cy="2985333"/>
          </a:xfrm>
          <a:prstGeom prst="rect">
            <a:avLst/>
          </a:prstGeom>
        </p:spPr>
      </p:pic>
      <p:sp>
        <p:nvSpPr>
          <p:cNvPr id="26" name="Text 23"/>
          <p:cNvSpPr/>
          <p:nvPr/>
        </p:nvSpPr>
        <p:spPr>
          <a:xfrm>
            <a:off x="6032480" y="5308641"/>
            <a:ext cx="5206959" cy="323880"/>
          </a:xfrm>
          <a:prstGeom prst="rect">
            <a:avLst/>
          </a:prstGeom>
          <a:noFill/>
          <a:ln/>
        </p:spPr>
        <p:txBody>
          <a:bodyPr wrap="square" lIns="0" tIns="0" rIns="0" bIns="0" rtlCol="0" anchor="t"/>
          <a:lstStyle/>
          <a:p>
            <a:pPr algn="l" indent="0" marL="0">
              <a:lnSpc>
                <a:spcPct val="140000"/>
              </a:lnSpc>
              <a:buNone/>
            </a:pPr>
            <a:r>
              <a:rPr lang="en-US" sz="850" dirty="0">
                <a:solidFill>
                  <a:srgbClr val="7C8188"/>
                </a:solidFill>
                <a:latin typeface="JetBrains Mono" pitchFamily="34" charset="0"/>
                <a:ea typeface="JetBrains Mono" pitchFamily="34" charset="-122"/>
                <a:cs typeface="JetBrains Mono" pitchFamily="34" charset="-120"/>
              </a:rPr>
              <a:t>Fig 1 · UNO Q wiring (pillgate/diagrams): photoresistors on A0/A1 from 3V3; LEDs on D5–D8, active-low via one 330 Ω from 5V.</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THE STATION APP · PILL GATE</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05 / 21</a:t>
            </a:r>
            <a:endParaRPr lang="en-US" sz="900" dirty="0"/>
          </a:p>
        </p:txBody>
      </p:sp>
      <p:sp>
        <p:nvSpPr>
          <p:cNvPr id="8" name="Shape 6"/>
          <p:cNvSpPr/>
          <p:nvPr/>
        </p:nvSpPr>
        <p:spPr>
          <a:xfrm>
            <a:off x="761970" y="6413510"/>
            <a:ext cx="10668030" cy="12710"/>
          </a:xfrm>
          <a:prstGeom prst="rect">
            <a:avLst/>
          </a:prstGeom>
          <a:solidFill>
            <a:srgbClr val="16181B">
              <a:alpha val="10000"/>
            </a:srgbClr>
          </a:solidFill>
          <a:ln/>
        </p:spPr>
      </p:sp>
      <p:sp>
        <p:nvSpPr>
          <p:cNvPr id="9" name="Text 6"/>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0" name="Title"/>
          <p:cNvSpPr/>
          <p:nvPr/>
        </p:nvSpPr>
        <p:spPr>
          <a:xfrm>
            <a:off x="761970" y="812810"/>
            <a:ext cx="5715000" cy="431780"/>
          </a:xfrm>
          <a:prstGeom prst="rect">
            <a:avLst/>
          </a:prstGeom>
          <a:noFill/>
          <a:ln/>
        </p:spPr>
        <p:txBody>
          <a:bodyPr wrap="square" lIns="0" tIns="0" rIns="0" bIns="0" rtlCol="0" anchor="t"/>
          <a:lstStyle/>
          <a:p>
            <a:pPr algn="l" indent="0" marL="0">
              <a:lnSpc>
                <a:spcPct val="100000"/>
              </a:lnSpc>
              <a:buNone/>
            </a:pPr>
            <a:r>
              <a:rPr lang="en-US" sz="2808" spc="-42" kern="0" dirty="0">
                <a:solidFill>
                  <a:srgbClr val="16181B"/>
                </a:solidFill>
                <a:latin typeface="Instrument Serif" pitchFamily="34" charset="0"/>
                <a:ea typeface="Instrument Serif" pitchFamily="34" charset="-122"/>
                <a:cs typeface="Instrument Serif" pitchFamily="34" charset="-120"/>
              </a:rPr>
              <a:t>The station app.</a:t>
            </a:r>
            <a:endParaRPr lang="en-US" sz="2808" dirty="0"/>
          </a:p>
        </p:txBody>
      </p:sp>
      <p:sp>
        <p:nvSpPr>
          <p:cNvPr id="11" name="Text 8"/>
          <p:cNvSpPr/>
          <p:nvPr/>
        </p:nvSpPr>
        <p:spPr>
          <a:xfrm>
            <a:off x="6858000" y="838230"/>
            <a:ext cx="4572000" cy="533370"/>
          </a:xfrm>
          <a:prstGeom prst="rect">
            <a:avLst/>
          </a:prstGeom>
          <a:noFill/>
          <a:ln/>
        </p:spPr>
        <p:txBody>
          <a:bodyPr wrap="square" lIns="0" tIns="0" rIns="0" bIns="0" rtlCol="0" anchor="t"/>
          <a:lstStyle/>
          <a:p>
            <a:pPr algn="l" indent="0" marL="0">
              <a:lnSpc>
                <a:spcPct val="140000"/>
              </a:lnSpc>
              <a:buNone/>
            </a:pPr>
            <a:r>
              <a:rPr lang="en-US" sz="950" dirty="0">
                <a:solidFill>
                  <a:srgbClr val="4A4E55"/>
                </a:solidFill>
                <a:latin typeface="Inter" pitchFamily="34" charset="0"/>
                <a:ea typeface="Inter" pitchFamily="34" charset="-122"/>
                <a:cs typeface="Inter" pitchFamily="34" charset="-120"/>
              </a:rPr>
              <a:t>Pill Gate runs on the laptop next to the box (Python, FastAPI). It guides the check and compares the run with a reference profile built from three or more runs of a known-good tablet.</a:t>
            </a:r>
            <a:endParaRPr lang="en-US" sz="950" dirty="0"/>
          </a:p>
        </p:txBody>
      </p:sp>
      <p:sp>
        <p:nvSpPr>
          <p:cNvPr id="12" name="Shape 10"/>
          <p:cNvSpPr/>
          <p:nvPr/>
        </p:nvSpPr>
        <p:spPr>
          <a:xfrm>
            <a:off x="838230" y="1885950"/>
            <a:ext cx="8610630" cy="12710"/>
          </a:xfrm>
          <a:prstGeom prst="rect">
            <a:avLst/>
          </a:prstGeom>
          <a:solidFill>
            <a:srgbClr val="16181B">
              <a:alpha val="18000"/>
            </a:srgbClr>
          </a:solidFill>
          <a:ln/>
        </p:spPr>
      </p:sp>
      <p:sp>
        <p:nvSpPr>
          <p:cNvPr id="13" name="Shape 11"/>
          <p:cNvSpPr/>
          <p:nvPr/>
        </p:nvSpPr>
        <p:spPr>
          <a:xfrm>
            <a:off x="761970" y="1816090"/>
            <a:ext cx="152430" cy="152430"/>
          </a:xfrm>
          <a:prstGeom prst="ellipse">
            <a:avLst/>
          </a:prstGeom>
          <a:solidFill>
            <a:srgbClr val="9AA0A6"/>
          </a:solidFill>
          <a:ln w="25400">
            <a:solidFill>
              <a:srgbClr val="FFFFFF"/>
            </a:solidFill>
            <a:prstDash val="solid"/>
          </a:ln>
        </p:spPr>
      </p:sp>
      <p:sp>
        <p:nvSpPr>
          <p:cNvPr id="14" name="Text 11"/>
          <p:cNvSpPr/>
          <p:nvPr/>
        </p:nvSpPr>
        <p:spPr>
          <a:xfrm>
            <a:off x="1015990" y="1822491"/>
            <a:ext cx="1270010" cy="165141"/>
          </a:xfrm>
          <a:prstGeom prst="rect">
            <a:avLst/>
          </a:prstGeom>
          <a:noFill/>
          <a:ln/>
        </p:spPr>
        <p:txBody>
          <a:bodyPr wrap="square" lIns="0" tIns="0" rIns="0" bIns="0" rtlCol="0" anchor="t"/>
          <a:lstStyle/>
          <a:p>
            <a:pPr algn="l" indent="0" marL="0">
              <a:lnSpc>
                <a:spcPct val="130000"/>
              </a:lnSpc>
              <a:buNone/>
            </a:pPr>
            <a:r>
              <a:rPr lang="en-US" sz="850" spc="85" kern="0" dirty="0">
                <a:solidFill>
                  <a:srgbClr val="7C8188"/>
                </a:solidFill>
                <a:latin typeface="JetBrains Mono" pitchFamily="34" charset="0"/>
                <a:ea typeface="JetBrains Mono" pitchFamily="34" charset="-122"/>
                <a:cs typeface="JetBrains Mono" pitchFamily="34" charset="-120"/>
              </a:rPr>
              <a:t>01</a:t>
            </a:r>
            <a:endParaRPr lang="en-US" sz="850" dirty="0"/>
          </a:p>
        </p:txBody>
      </p:sp>
      <p:sp>
        <p:nvSpPr>
          <p:cNvPr id="15" name="Text 12"/>
          <p:cNvSpPr/>
          <p:nvPr/>
        </p:nvSpPr>
        <p:spPr>
          <a:xfrm>
            <a:off x="761970" y="2120859"/>
            <a:ext cx="190497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Prepare</a:t>
            </a:r>
            <a:endParaRPr lang="en-US" sz="1350" dirty="0"/>
          </a:p>
        </p:txBody>
      </p:sp>
      <p:sp>
        <p:nvSpPr>
          <p:cNvPr id="16" name="Shape 14"/>
          <p:cNvSpPr/>
          <p:nvPr/>
        </p:nvSpPr>
        <p:spPr>
          <a:xfrm>
            <a:off x="761970" y="2400300"/>
            <a:ext cx="628650" cy="203180"/>
          </a:xfrm>
          <a:prstGeom prst="roundRect">
            <a:avLst>
              <a:gd name="adj" fmla="val 50000"/>
            </a:avLst>
          </a:prstGeom>
          <a:solidFill>
            <a:srgbClr val="9AA0A6">
              <a:alpha val="18000"/>
            </a:srgbClr>
          </a:solidFill>
          <a:ln/>
        </p:spPr>
      </p:sp>
      <p:sp>
        <p:nvSpPr>
          <p:cNvPr id="17" name="Text 14"/>
          <p:cNvSpPr/>
          <p:nvPr/>
        </p:nvSpPr>
        <p:spPr>
          <a:xfrm>
            <a:off x="761970" y="2440899"/>
            <a:ext cx="628650" cy="146030"/>
          </a:xfrm>
          <a:prstGeom prst="rect">
            <a:avLst/>
          </a:prstGeom>
          <a:noFill/>
          <a:ln/>
        </p:spPr>
        <p:txBody>
          <a:bodyPr wrap="square" lIns="0" tIns="0" rIns="0" bIns="0" rtlCol="0" anchor="t"/>
          <a:lstStyle/>
          <a:p>
            <a:pPr algn="ctr" indent="0" marL="0">
              <a:lnSpc>
                <a:spcPct val="120000"/>
              </a:lnSpc>
              <a:buNone/>
            </a:pPr>
            <a:r>
              <a:rPr lang="en-US" sz="800" b="1" spc="48" kern="0" dirty="0">
                <a:solidFill>
                  <a:srgbClr val="16181B"/>
                </a:solidFill>
                <a:latin typeface="JetBrains Mono" pitchFamily="34" charset="0"/>
                <a:ea typeface="JetBrains Mono" pitchFamily="34" charset="-122"/>
                <a:cs typeface="JetBrains Mono" pitchFamily="34" charset="-120"/>
              </a:rPr>
              <a:t>checks</a:t>
            </a:r>
            <a:endParaRPr lang="en-US" sz="800" dirty="0"/>
          </a:p>
        </p:txBody>
      </p:sp>
      <p:sp>
        <p:nvSpPr>
          <p:cNvPr id="18" name="Text 15"/>
          <p:cNvSpPr/>
          <p:nvPr/>
        </p:nvSpPr>
        <p:spPr>
          <a:xfrm>
            <a:off x="761970" y="2717780"/>
            <a:ext cx="1904970" cy="342900"/>
          </a:xfrm>
          <a:prstGeom prst="rect">
            <a:avLst/>
          </a:prstGeom>
          <a:noFill/>
          <a:ln/>
        </p:spPr>
        <p:txBody>
          <a:bodyPr wrap="square" lIns="0" tIns="0" rIns="0" bIns="0" rtlCol="0" anchor="t"/>
          <a:lstStyle/>
          <a:p>
            <a:pPr algn="l" indent="0" marL="0">
              <a:lnSpc>
                <a:spcPct val="140000"/>
              </a:lnSpc>
              <a:buNone/>
            </a:pPr>
            <a:r>
              <a:rPr lang="en-US" sz="900" dirty="0">
                <a:solidFill>
                  <a:srgbClr val="4A4E55"/>
                </a:solidFill>
                <a:latin typeface="Inter" pitchFamily="34" charset="0"/>
                <a:ea typeface="Inter" pitchFamily="34" charset="-122"/>
                <a:cs typeface="Inter" pitchFamily="34" charset="-120"/>
              </a:rPr>
              <a:t>Lid closed, the LED reaches the sensor.</a:t>
            </a:r>
            <a:endParaRPr lang="en-US" sz="900" dirty="0"/>
          </a:p>
        </p:txBody>
      </p:sp>
      <p:sp>
        <p:nvSpPr>
          <p:cNvPr id="19" name="Shape 17"/>
          <p:cNvSpPr/>
          <p:nvPr/>
        </p:nvSpPr>
        <p:spPr>
          <a:xfrm>
            <a:off x="2895630" y="1816090"/>
            <a:ext cx="152430" cy="152430"/>
          </a:xfrm>
          <a:prstGeom prst="ellipse">
            <a:avLst/>
          </a:prstGeom>
          <a:solidFill>
            <a:srgbClr val="4FB3FF"/>
          </a:solidFill>
          <a:ln w="25400">
            <a:solidFill>
              <a:srgbClr val="FFFFFF"/>
            </a:solidFill>
            <a:prstDash val="solid"/>
          </a:ln>
        </p:spPr>
      </p:sp>
      <p:sp>
        <p:nvSpPr>
          <p:cNvPr id="20" name="Text 17"/>
          <p:cNvSpPr/>
          <p:nvPr/>
        </p:nvSpPr>
        <p:spPr>
          <a:xfrm>
            <a:off x="3149559" y="1822491"/>
            <a:ext cx="1270010" cy="165141"/>
          </a:xfrm>
          <a:prstGeom prst="rect">
            <a:avLst/>
          </a:prstGeom>
          <a:noFill/>
          <a:ln/>
        </p:spPr>
        <p:txBody>
          <a:bodyPr wrap="square" lIns="0" tIns="0" rIns="0" bIns="0" rtlCol="0" anchor="t"/>
          <a:lstStyle/>
          <a:p>
            <a:pPr algn="l" indent="0" marL="0">
              <a:lnSpc>
                <a:spcPct val="130000"/>
              </a:lnSpc>
              <a:buNone/>
            </a:pPr>
            <a:r>
              <a:rPr lang="en-US" sz="850" spc="85" kern="0" dirty="0">
                <a:solidFill>
                  <a:srgbClr val="7C8188"/>
                </a:solidFill>
                <a:latin typeface="JetBrains Mono" pitchFamily="34" charset="0"/>
                <a:ea typeface="JetBrains Mono" pitchFamily="34" charset="-122"/>
                <a:cs typeface="JetBrains Mono" pitchFamily="34" charset="-120"/>
              </a:rPr>
              <a:t>02</a:t>
            </a:r>
            <a:endParaRPr lang="en-US" sz="850" dirty="0"/>
          </a:p>
        </p:txBody>
      </p:sp>
      <p:sp>
        <p:nvSpPr>
          <p:cNvPr id="21" name="Text 18"/>
          <p:cNvSpPr/>
          <p:nvPr/>
        </p:nvSpPr>
        <p:spPr>
          <a:xfrm>
            <a:off x="2895630" y="2120859"/>
            <a:ext cx="190497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Clean water</a:t>
            </a:r>
            <a:endParaRPr lang="en-US" sz="1350" dirty="0"/>
          </a:p>
        </p:txBody>
      </p:sp>
      <p:sp>
        <p:nvSpPr>
          <p:cNvPr id="22" name="Shape 20"/>
          <p:cNvSpPr/>
          <p:nvPr/>
        </p:nvSpPr>
        <p:spPr>
          <a:xfrm>
            <a:off x="2895630" y="2400300"/>
            <a:ext cx="488930" cy="203180"/>
          </a:xfrm>
          <a:prstGeom prst="roundRect">
            <a:avLst>
              <a:gd name="adj" fmla="val 50000"/>
            </a:avLst>
          </a:prstGeom>
          <a:solidFill>
            <a:srgbClr val="4FB3FF">
              <a:alpha val="14000"/>
            </a:srgbClr>
          </a:solidFill>
          <a:ln/>
        </p:spPr>
      </p:sp>
      <p:sp>
        <p:nvSpPr>
          <p:cNvPr id="23" name="Text 20"/>
          <p:cNvSpPr/>
          <p:nvPr/>
        </p:nvSpPr>
        <p:spPr>
          <a:xfrm>
            <a:off x="2895630" y="2440899"/>
            <a:ext cx="488930" cy="146030"/>
          </a:xfrm>
          <a:prstGeom prst="rect">
            <a:avLst/>
          </a:prstGeom>
          <a:noFill/>
          <a:ln/>
        </p:spPr>
        <p:txBody>
          <a:bodyPr wrap="square" lIns="0" tIns="0" rIns="0" bIns="0" rtlCol="0" anchor="t"/>
          <a:lstStyle/>
          <a:p>
            <a:pPr algn="ctr" indent="0" marL="0">
              <a:lnSpc>
                <a:spcPct val="120000"/>
              </a:lnSpc>
              <a:buNone/>
            </a:pPr>
            <a:r>
              <a:rPr lang="en-US" sz="800" b="1" spc="48" kern="0" dirty="0">
                <a:solidFill>
                  <a:srgbClr val="16181B"/>
                </a:solidFill>
                <a:latin typeface="JetBrains Mono" pitchFamily="34" charset="0"/>
                <a:ea typeface="JetBrains Mono" pitchFamily="34" charset="-122"/>
                <a:cs typeface="JetBrains Mono" pitchFamily="34" charset="-120"/>
              </a:rPr>
              <a:t>10 s</a:t>
            </a:r>
            <a:endParaRPr lang="en-US" sz="800" dirty="0"/>
          </a:p>
        </p:txBody>
      </p:sp>
      <p:sp>
        <p:nvSpPr>
          <p:cNvPr id="24" name="Text 21"/>
          <p:cNvSpPr/>
          <p:nvPr/>
        </p:nvSpPr>
        <p:spPr>
          <a:xfrm>
            <a:off x="2895630" y="2717780"/>
            <a:ext cx="1904970" cy="342900"/>
          </a:xfrm>
          <a:prstGeom prst="rect">
            <a:avLst/>
          </a:prstGeom>
          <a:noFill/>
          <a:ln/>
        </p:spPr>
        <p:txBody>
          <a:bodyPr wrap="square" lIns="0" tIns="0" rIns="0" bIns="0" rtlCol="0" anchor="t"/>
          <a:lstStyle/>
          <a:p>
            <a:pPr algn="l" indent="0" marL="0">
              <a:lnSpc>
                <a:spcPct val="140000"/>
              </a:lnSpc>
              <a:buNone/>
            </a:pPr>
            <a:r>
              <a:rPr lang="en-US" sz="900" dirty="0">
                <a:solidFill>
                  <a:srgbClr val="4A4E55"/>
                </a:solidFill>
                <a:latin typeface="Inter" pitchFamily="34" charset="0"/>
                <a:ea typeface="Inter" pitchFamily="34" charset="-122"/>
                <a:cs typeface="Inter" pitchFamily="34" charset="-120"/>
              </a:rPr>
              <a:t>The blank must hold steady for 10 s.</a:t>
            </a:r>
            <a:endParaRPr lang="en-US" sz="900" dirty="0"/>
          </a:p>
        </p:txBody>
      </p:sp>
      <p:sp>
        <p:nvSpPr>
          <p:cNvPr id="25" name="Shape 23"/>
          <p:cNvSpPr/>
          <p:nvPr/>
        </p:nvSpPr>
        <p:spPr>
          <a:xfrm>
            <a:off x="5029200" y="1816090"/>
            <a:ext cx="152430" cy="152430"/>
          </a:xfrm>
          <a:prstGeom prst="ellipse">
            <a:avLst/>
          </a:prstGeom>
          <a:solidFill>
            <a:srgbClr val="7A5CFF"/>
          </a:solidFill>
          <a:ln w="25400">
            <a:solidFill>
              <a:srgbClr val="FFFFFF"/>
            </a:solidFill>
            <a:prstDash val="solid"/>
          </a:ln>
        </p:spPr>
      </p:sp>
      <p:sp>
        <p:nvSpPr>
          <p:cNvPr id="26" name="Text 23"/>
          <p:cNvSpPr/>
          <p:nvPr/>
        </p:nvSpPr>
        <p:spPr>
          <a:xfrm>
            <a:off x="5283220" y="1822491"/>
            <a:ext cx="1270010" cy="165141"/>
          </a:xfrm>
          <a:prstGeom prst="rect">
            <a:avLst/>
          </a:prstGeom>
          <a:noFill/>
          <a:ln/>
        </p:spPr>
        <p:txBody>
          <a:bodyPr wrap="square" lIns="0" tIns="0" rIns="0" bIns="0" rtlCol="0" anchor="t"/>
          <a:lstStyle/>
          <a:p>
            <a:pPr algn="l" indent="0" marL="0">
              <a:lnSpc>
                <a:spcPct val="130000"/>
              </a:lnSpc>
              <a:buNone/>
            </a:pPr>
            <a:r>
              <a:rPr lang="en-US" sz="850" spc="85" kern="0" dirty="0">
                <a:solidFill>
                  <a:srgbClr val="7C8188"/>
                </a:solidFill>
                <a:latin typeface="JetBrains Mono" pitchFamily="34" charset="0"/>
                <a:ea typeface="JetBrains Mono" pitchFamily="34" charset="-122"/>
                <a:cs typeface="JetBrains Mono" pitchFamily="34" charset="-120"/>
              </a:rPr>
              <a:t>03</a:t>
            </a:r>
            <a:endParaRPr lang="en-US" sz="850" dirty="0"/>
          </a:p>
        </p:txBody>
      </p:sp>
      <p:sp>
        <p:nvSpPr>
          <p:cNvPr id="27" name="Text 24"/>
          <p:cNvSpPr/>
          <p:nvPr/>
        </p:nvSpPr>
        <p:spPr>
          <a:xfrm>
            <a:off x="5029200" y="2120859"/>
            <a:ext cx="190497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Tablet in</a:t>
            </a:r>
            <a:endParaRPr lang="en-US" sz="1350" dirty="0"/>
          </a:p>
        </p:txBody>
      </p:sp>
      <p:sp>
        <p:nvSpPr>
          <p:cNvPr id="28" name="Shape 26"/>
          <p:cNvSpPr/>
          <p:nvPr/>
        </p:nvSpPr>
        <p:spPr>
          <a:xfrm>
            <a:off x="5029200" y="2400300"/>
            <a:ext cx="825520" cy="203180"/>
          </a:xfrm>
          <a:prstGeom prst="roundRect">
            <a:avLst>
              <a:gd name="adj" fmla="val 50000"/>
            </a:avLst>
          </a:prstGeom>
          <a:solidFill>
            <a:srgbClr val="7A5CFF">
              <a:alpha val="10000"/>
            </a:srgbClr>
          </a:solidFill>
          <a:ln/>
        </p:spPr>
      </p:sp>
      <p:sp>
        <p:nvSpPr>
          <p:cNvPr id="29" name="Text 26"/>
          <p:cNvSpPr/>
          <p:nvPr/>
        </p:nvSpPr>
        <p:spPr>
          <a:xfrm>
            <a:off x="5029200" y="2440899"/>
            <a:ext cx="825520" cy="146030"/>
          </a:xfrm>
          <a:prstGeom prst="rect">
            <a:avLst/>
          </a:prstGeom>
          <a:noFill/>
          <a:ln/>
        </p:spPr>
        <p:txBody>
          <a:bodyPr wrap="square" lIns="0" tIns="0" rIns="0" bIns="0" rtlCol="0" anchor="t"/>
          <a:lstStyle/>
          <a:p>
            <a:pPr algn="ctr" indent="0" marL="0">
              <a:lnSpc>
                <a:spcPct val="120000"/>
              </a:lnSpc>
              <a:buNone/>
            </a:pPr>
            <a:r>
              <a:rPr lang="en-US" sz="800" b="1" spc="48" kern="0" dirty="0">
                <a:solidFill>
                  <a:srgbClr val="16181B"/>
                </a:solidFill>
                <a:latin typeface="JetBrains Mono" pitchFamily="34" charset="0"/>
                <a:ea typeface="JetBrains Mono" pitchFamily="34" charset="-122"/>
                <a:cs typeface="JetBrains Mono" pitchFamily="34" charset="-120"/>
              </a:rPr>
              <a:t>lid opens</a:t>
            </a:r>
            <a:endParaRPr lang="en-US" sz="800" dirty="0"/>
          </a:p>
        </p:txBody>
      </p:sp>
      <p:sp>
        <p:nvSpPr>
          <p:cNvPr id="30" name="Text 27"/>
          <p:cNvSpPr/>
          <p:nvPr/>
        </p:nvSpPr>
        <p:spPr>
          <a:xfrm>
            <a:off x="5029200" y="2717780"/>
            <a:ext cx="1904970" cy="342900"/>
          </a:xfrm>
          <a:prstGeom prst="rect">
            <a:avLst/>
          </a:prstGeom>
          <a:noFill/>
          <a:ln/>
        </p:spPr>
        <p:txBody>
          <a:bodyPr wrap="square" lIns="0" tIns="0" rIns="0" bIns="0" rtlCol="0" anchor="t"/>
          <a:lstStyle/>
          <a:p>
            <a:pPr algn="l" indent="0" marL="0">
              <a:lnSpc>
                <a:spcPct val="140000"/>
              </a:lnSpc>
              <a:buNone/>
            </a:pPr>
            <a:r>
              <a:rPr lang="en-US" sz="900" dirty="0">
                <a:solidFill>
                  <a:srgbClr val="4A4E55"/>
                </a:solidFill>
                <a:latin typeface="Inter" pitchFamily="34" charset="0"/>
                <a:ea typeface="Inter" pitchFamily="34" charset="-122"/>
                <a:cs typeface="Inter" pitchFamily="34" charset="-120"/>
              </a:rPr>
              <a:t>The lid opening on both sensors marks the start.</a:t>
            </a:r>
            <a:endParaRPr lang="en-US" sz="900" dirty="0"/>
          </a:p>
        </p:txBody>
      </p:sp>
      <p:sp>
        <p:nvSpPr>
          <p:cNvPr id="31" name="Shape 29"/>
          <p:cNvSpPr/>
          <p:nvPr/>
        </p:nvSpPr>
        <p:spPr>
          <a:xfrm>
            <a:off x="7162770" y="1816090"/>
            <a:ext cx="152430" cy="152430"/>
          </a:xfrm>
          <a:prstGeom prst="ellipse">
            <a:avLst/>
          </a:prstGeom>
          <a:solidFill>
            <a:srgbClr val="2A8FE0"/>
          </a:solidFill>
          <a:ln w="25400">
            <a:solidFill>
              <a:srgbClr val="FFFFFF"/>
            </a:solidFill>
            <a:prstDash val="solid"/>
          </a:ln>
        </p:spPr>
      </p:sp>
      <p:sp>
        <p:nvSpPr>
          <p:cNvPr id="32" name="Text 29"/>
          <p:cNvSpPr/>
          <p:nvPr/>
        </p:nvSpPr>
        <p:spPr>
          <a:xfrm>
            <a:off x="7416790" y="1822491"/>
            <a:ext cx="1270010" cy="165141"/>
          </a:xfrm>
          <a:prstGeom prst="rect">
            <a:avLst/>
          </a:prstGeom>
          <a:noFill/>
          <a:ln/>
        </p:spPr>
        <p:txBody>
          <a:bodyPr wrap="square" lIns="0" tIns="0" rIns="0" bIns="0" rtlCol="0" anchor="t"/>
          <a:lstStyle/>
          <a:p>
            <a:pPr algn="l" indent="0" marL="0">
              <a:lnSpc>
                <a:spcPct val="130000"/>
              </a:lnSpc>
              <a:buNone/>
            </a:pPr>
            <a:r>
              <a:rPr lang="en-US" sz="850" spc="85" kern="0" dirty="0">
                <a:solidFill>
                  <a:srgbClr val="7C8188"/>
                </a:solidFill>
                <a:latin typeface="JetBrains Mono" pitchFamily="34" charset="0"/>
                <a:ea typeface="JetBrains Mono" pitchFamily="34" charset="-122"/>
                <a:cs typeface="JetBrains Mono" pitchFamily="34" charset="-120"/>
              </a:rPr>
              <a:t>04</a:t>
            </a:r>
            <a:endParaRPr lang="en-US" sz="850" dirty="0"/>
          </a:p>
        </p:txBody>
      </p:sp>
      <p:sp>
        <p:nvSpPr>
          <p:cNvPr id="33" name="Text 30"/>
          <p:cNvSpPr/>
          <p:nvPr/>
        </p:nvSpPr>
        <p:spPr>
          <a:xfrm>
            <a:off x="7162770" y="2120859"/>
            <a:ext cx="190497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Dissolving</a:t>
            </a:r>
            <a:endParaRPr lang="en-US" sz="1350" dirty="0"/>
          </a:p>
        </p:txBody>
      </p:sp>
      <p:sp>
        <p:nvSpPr>
          <p:cNvPr id="34" name="Shape 32"/>
          <p:cNvSpPr/>
          <p:nvPr/>
        </p:nvSpPr>
        <p:spPr>
          <a:xfrm>
            <a:off x="7162770" y="2400300"/>
            <a:ext cx="488930" cy="203180"/>
          </a:xfrm>
          <a:prstGeom prst="roundRect">
            <a:avLst>
              <a:gd name="adj" fmla="val 50000"/>
            </a:avLst>
          </a:prstGeom>
          <a:solidFill>
            <a:srgbClr val="4FB3FF">
              <a:alpha val="14000"/>
            </a:srgbClr>
          </a:solidFill>
          <a:ln/>
        </p:spPr>
      </p:sp>
      <p:sp>
        <p:nvSpPr>
          <p:cNvPr id="35" name="Text 32"/>
          <p:cNvSpPr/>
          <p:nvPr/>
        </p:nvSpPr>
        <p:spPr>
          <a:xfrm>
            <a:off x="7162770" y="2440899"/>
            <a:ext cx="488930" cy="146030"/>
          </a:xfrm>
          <a:prstGeom prst="rect">
            <a:avLst/>
          </a:prstGeom>
          <a:noFill/>
          <a:ln/>
        </p:spPr>
        <p:txBody>
          <a:bodyPr wrap="square" lIns="0" tIns="0" rIns="0" bIns="0" rtlCol="0" anchor="t"/>
          <a:lstStyle/>
          <a:p>
            <a:pPr algn="ctr" indent="0" marL="0">
              <a:lnSpc>
                <a:spcPct val="120000"/>
              </a:lnSpc>
              <a:buNone/>
            </a:pPr>
            <a:r>
              <a:rPr lang="en-US" sz="800" b="1" spc="48" kern="0" dirty="0">
                <a:solidFill>
                  <a:srgbClr val="16181B"/>
                </a:solidFill>
                <a:latin typeface="JetBrains Mono" pitchFamily="34" charset="0"/>
                <a:ea typeface="JetBrains Mono" pitchFamily="34" charset="-122"/>
                <a:cs typeface="JetBrains Mono" pitchFamily="34" charset="-120"/>
              </a:rPr>
              <a:t>60 s</a:t>
            </a:r>
            <a:endParaRPr lang="en-US" sz="800" dirty="0"/>
          </a:p>
        </p:txBody>
      </p:sp>
      <p:sp>
        <p:nvSpPr>
          <p:cNvPr id="36" name="Text 33"/>
          <p:cNvSpPr/>
          <p:nvPr/>
        </p:nvSpPr>
        <p:spPr>
          <a:xfrm>
            <a:off x="7162770" y="2717780"/>
            <a:ext cx="1904970" cy="342900"/>
          </a:xfrm>
          <a:prstGeom prst="rect">
            <a:avLst/>
          </a:prstGeom>
          <a:noFill/>
          <a:ln/>
        </p:spPr>
        <p:txBody>
          <a:bodyPr wrap="square" lIns="0" tIns="0" rIns="0" bIns="0" rtlCol="0" anchor="t"/>
          <a:lstStyle/>
          <a:p>
            <a:pPr algn="l" indent="0" marL="0">
              <a:lnSpc>
                <a:spcPct val="140000"/>
              </a:lnSpc>
              <a:buNone/>
            </a:pPr>
            <a:r>
              <a:rPr lang="en-US" sz="900" dirty="0">
                <a:solidFill>
                  <a:srgbClr val="4A4E55"/>
                </a:solidFill>
                <a:latin typeface="Inter" pitchFamily="34" charset="0"/>
                <a:ea typeface="Inter" pitchFamily="34" charset="-122"/>
                <a:cs typeface="Inter" pitchFamily="34" charset="-120"/>
              </a:rPr>
              <a:t>Absorbance and cloudiness curves, live.</a:t>
            </a:r>
            <a:endParaRPr lang="en-US" sz="900" dirty="0"/>
          </a:p>
        </p:txBody>
      </p:sp>
      <p:sp>
        <p:nvSpPr>
          <p:cNvPr id="37" name="Shape 35"/>
          <p:cNvSpPr/>
          <p:nvPr/>
        </p:nvSpPr>
        <p:spPr>
          <a:xfrm>
            <a:off x="9296430" y="1816090"/>
            <a:ext cx="152430" cy="152430"/>
          </a:xfrm>
          <a:prstGeom prst="ellipse">
            <a:avLst/>
          </a:prstGeom>
          <a:solidFill>
            <a:srgbClr val="5FD39A"/>
          </a:solidFill>
          <a:ln w="25400">
            <a:solidFill>
              <a:srgbClr val="FFFFFF"/>
            </a:solidFill>
            <a:prstDash val="solid"/>
          </a:ln>
        </p:spPr>
      </p:sp>
      <p:sp>
        <p:nvSpPr>
          <p:cNvPr id="38" name="Text 35"/>
          <p:cNvSpPr/>
          <p:nvPr/>
        </p:nvSpPr>
        <p:spPr>
          <a:xfrm>
            <a:off x="9550359" y="1822491"/>
            <a:ext cx="1270010" cy="165141"/>
          </a:xfrm>
          <a:prstGeom prst="rect">
            <a:avLst/>
          </a:prstGeom>
          <a:noFill/>
          <a:ln/>
        </p:spPr>
        <p:txBody>
          <a:bodyPr wrap="square" lIns="0" tIns="0" rIns="0" bIns="0" rtlCol="0" anchor="t"/>
          <a:lstStyle/>
          <a:p>
            <a:pPr algn="l" indent="0" marL="0">
              <a:lnSpc>
                <a:spcPct val="130000"/>
              </a:lnSpc>
              <a:buNone/>
            </a:pPr>
            <a:r>
              <a:rPr lang="en-US" sz="850" spc="85" kern="0" dirty="0">
                <a:solidFill>
                  <a:srgbClr val="7C8188"/>
                </a:solidFill>
                <a:latin typeface="JetBrains Mono" pitchFamily="34" charset="0"/>
                <a:ea typeface="JetBrains Mono" pitchFamily="34" charset="-122"/>
                <a:cs typeface="JetBrains Mono" pitchFamily="34" charset="-120"/>
              </a:rPr>
              <a:t>05</a:t>
            </a:r>
            <a:endParaRPr lang="en-US" sz="850" dirty="0"/>
          </a:p>
        </p:txBody>
      </p:sp>
      <p:sp>
        <p:nvSpPr>
          <p:cNvPr id="39" name="Text 36"/>
          <p:cNvSpPr/>
          <p:nvPr/>
        </p:nvSpPr>
        <p:spPr>
          <a:xfrm>
            <a:off x="9296430" y="2120859"/>
            <a:ext cx="190497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Result</a:t>
            </a:r>
            <a:endParaRPr lang="en-US" sz="1350" dirty="0"/>
          </a:p>
        </p:txBody>
      </p:sp>
      <p:sp>
        <p:nvSpPr>
          <p:cNvPr id="40" name="Shape 38"/>
          <p:cNvSpPr/>
          <p:nvPr/>
        </p:nvSpPr>
        <p:spPr>
          <a:xfrm>
            <a:off x="9296430" y="2400300"/>
            <a:ext cx="488930" cy="203180"/>
          </a:xfrm>
          <a:prstGeom prst="roundRect">
            <a:avLst>
              <a:gd name="adj" fmla="val 50000"/>
            </a:avLst>
          </a:prstGeom>
          <a:solidFill>
            <a:srgbClr val="5FD39A">
              <a:alpha val="16000"/>
            </a:srgbClr>
          </a:solidFill>
          <a:ln/>
        </p:spPr>
      </p:sp>
      <p:sp>
        <p:nvSpPr>
          <p:cNvPr id="41" name="Text 38"/>
          <p:cNvSpPr/>
          <p:nvPr/>
        </p:nvSpPr>
        <p:spPr>
          <a:xfrm>
            <a:off x="9296430" y="2440899"/>
            <a:ext cx="488930" cy="146030"/>
          </a:xfrm>
          <a:prstGeom prst="rect">
            <a:avLst/>
          </a:prstGeom>
          <a:noFill/>
          <a:ln/>
        </p:spPr>
        <p:txBody>
          <a:bodyPr wrap="square" lIns="0" tIns="0" rIns="0" bIns="0" rtlCol="0" anchor="t"/>
          <a:lstStyle/>
          <a:p>
            <a:pPr algn="ctr" indent="0" marL="0">
              <a:lnSpc>
                <a:spcPct val="120000"/>
              </a:lnSpc>
              <a:buNone/>
            </a:pPr>
            <a:r>
              <a:rPr lang="en-US" sz="800" b="1" spc="48" kern="0" dirty="0">
                <a:solidFill>
                  <a:srgbClr val="16181B"/>
                </a:solidFill>
                <a:latin typeface="JetBrains Mono" pitchFamily="34" charset="0"/>
                <a:ea typeface="JetBrains Mono" pitchFamily="34" charset="-122"/>
                <a:cs typeface="JetBrains Mono" pitchFamily="34" charset="-120"/>
              </a:rPr>
              <a:t>auto</a:t>
            </a:r>
            <a:endParaRPr lang="en-US" sz="800" dirty="0"/>
          </a:p>
        </p:txBody>
      </p:sp>
      <p:sp>
        <p:nvSpPr>
          <p:cNvPr id="42" name="Text 39"/>
          <p:cNvSpPr/>
          <p:nvPr/>
        </p:nvSpPr>
        <p:spPr>
          <a:xfrm>
            <a:off x="9296430" y="2717780"/>
            <a:ext cx="1904970" cy="342900"/>
          </a:xfrm>
          <a:prstGeom prst="rect">
            <a:avLst/>
          </a:prstGeom>
          <a:noFill/>
          <a:ln/>
        </p:spPr>
        <p:txBody>
          <a:bodyPr wrap="square" lIns="0" tIns="0" rIns="0" bIns="0" rtlCol="0" anchor="t"/>
          <a:lstStyle/>
          <a:p>
            <a:pPr algn="l" indent="0" marL="0">
              <a:lnSpc>
                <a:spcPct val="140000"/>
              </a:lnSpc>
              <a:buNone/>
            </a:pPr>
            <a:r>
              <a:rPr lang="en-US" sz="900" dirty="0">
                <a:solidFill>
                  <a:srgbClr val="4A4E55"/>
                </a:solidFill>
                <a:latin typeface="Inter" pitchFamily="34" charset="0"/>
                <a:ea typeface="Inter" pitchFamily="34" charset="-122"/>
                <a:cs typeface="Inter" pitchFamily="34" charset="-120"/>
              </a:rPr>
              <a:t>Compared with the reference profile.</a:t>
            </a:r>
            <a:endParaRPr lang="en-US" sz="900" dirty="0"/>
          </a:p>
        </p:txBody>
      </p:sp>
      <p:sp>
        <p:nvSpPr>
          <p:cNvPr id="43" name="Shape 41"/>
          <p:cNvSpPr/>
          <p:nvPr/>
        </p:nvSpPr>
        <p:spPr>
          <a:xfrm>
            <a:off x="761970" y="3301990"/>
            <a:ext cx="1651041" cy="2667030"/>
          </a:xfrm>
          <a:prstGeom prst="roundRect">
            <a:avLst>
              <a:gd name="adj" fmla="val 13076"/>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44" name="Image 0" descr="The station app: pillgate-dev-shots-ui-measure-390-360c">    </p:cNvPr>
          <p:cNvPicPr>
            <a:picLocks noChangeAspect="1"/>
          </p:cNvPicPr>
          <p:nvPr/>
        </p:nvPicPr>
        <p:blipFill>
          <a:blip r:embed="rId1"/>
          <a:stretch>
            <a:fillRect/>
          </a:stretch>
        </p:blipFill>
        <p:spPr>
          <a:xfrm>
            <a:off x="806409" y="3346430"/>
            <a:ext cx="1562070" cy="2578059"/>
          </a:xfrm>
          <a:prstGeom prst="rect">
            <a:avLst/>
          </a:prstGeom>
        </p:spPr>
      </p:pic>
      <p:sp>
        <p:nvSpPr>
          <p:cNvPr id="45" name="Text 42"/>
          <p:cNvSpPr/>
          <p:nvPr/>
        </p:nvSpPr>
        <p:spPr>
          <a:xfrm>
            <a:off x="761970" y="6032480"/>
            <a:ext cx="1651041" cy="165141"/>
          </a:xfrm>
          <a:prstGeom prst="rect">
            <a:avLst/>
          </a:prstGeom>
          <a:noFill/>
          <a:ln/>
        </p:spPr>
        <p:txBody>
          <a:bodyPr wrap="square" lIns="0" tIns="0" rIns="0" bIns="0" rtlCol="0" anchor="t"/>
          <a:lstStyle/>
          <a:p>
            <a:pPr algn="ctr" indent="0" marL="0">
              <a:lnSpc>
                <a:spcPct val="140000"/>
              </a:lnSpc>
              <a:buNone/>
            </a:pPr>
            <a:r>
              <a:rPr lang="en-US" sz="800" dirty="0">
                <a:solidFill>
                  <a:srgbClr val="4A4E55"/>
                </a:solidFill>
                <a:latin typeface="JetBrains Mono" pitchFamily="34" charset="0"/>
                <a:ea typeface="JetBrains Mono" pitchFamily="34" charset="-122"/>
                <a:cs typeface="JetBrains Mono" pitchFamily="34" charset="-120"/>
              </a:rPr>
              <a:t>Measure · the phase rail</a:t>
            </a:r>
            <a:endParaRPr lang="en-US" sz="800" dirty="0"/>
          </a:p>
        </p:txBody>
      </p:sp>
      <p:sp>
        <p:nvSpPr>
          <p:cNvPr id="46" name="Shape 43"/>
          <p:cNvSpPr/>
          <p:nvPr/>
        </p:nvSpPr>
        <p:spPr>
          <a:xfrm>
            <a:off x="2603480" y="3301990"/>
            <a:ext cx="1651041" cy="2667030"/>
          </a:xfrm>
          <a:prstGeom prst="roundRect">
            <a:avLst>
              <a:gd name="adj" fmla="val 13076"/>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47" name="Image 1" descr="The station app: pillgate-dev-shots-ui-flow-06-result-390-360c">    </p:cNvPr>
          <p:cNvPicPr>
            <a:picLocks noChangeAspect="1"/>
          </p:cNvPicPr>
          <p:nvPr/>
        </p:nvPicPr>
        <p:blipFill>
          <a:blip r:embed="rId2"/>
          <a:stretch>
            <a:fillRect/>
          </a:stretch>
        </p:blipFill>
        <p:spPr>
          <a:xfrm>
            <a:off x="2647920" y="3346430"/>
            <a:ext cx="1562070" cy="2578059"/>
          </a:xfrm>
          <a:prstGeom prst="rect">
            <a:avLst/>
          </a:prstGeom>
        </p:spPr>
      </p:pic>
      <p:sp>
        <p:nvSpPr>
          <p:cNvPr id="48" name="Text 45"/>
          <p:cNvSpPr/>
          <p:nvPr/>
        </p:nvSpPr>
        <p:spPr>
          <a:xfrm>
            <a:off x="2603480" y="6032480"/>
            <a:ext cx="1651041" cy="165141"/>
          </a:xfrm>
          <a:prstGeom prst="rect">
            <a:avLst/>
          </a:prstGeom>
          <a:noFill/>
          <a:ln/>
        </p:spPr>
        <p:txBody>
          <a:bodyPr wrap="square" lIns="0" tIns="0" rIns="0" bIns="0" rtlCol="0" anchor="t"/>
          <a:lstStyle/>
          <a:p>
            <a:pPr algn="ctr" indent="0" marL="0">
              <a:lnSpc>
                <a:spcPct val="140000"/>
              </a:lnSpc>
              <a:buNone/>
            </a:pPr>
            <a:r>
              <a:rPr lang="en-US" sz="800" dirty="0">
                <a:solidFill>
                  <a:srgbClr val="4A4E55"/>
                </a:solidFill>
                <a:latin typeface="JetBrains Mono" pitchFamily="34" charset="0"/>
                <a:ea typeface="JetBrains Mono" pitchFamily="34" charset="-122"/>
                <a:cs typeface="JetBrains Mono" pitchFamily="34" charset="-120"/>
              </a:rPr>
              <a:t>Guided flow · step 6</a:t>
            </a:r>
            <a:endParaRPr lang="en-US" sz="800" dirty="0"/>
          </a:p>
        </p:txBody>
      </p:sp>
      <p:sp>
        <p:nvSpPr>
          <p:cNvPr id="49" name="Shape 45"/>
          <p:cNvSpPr/>
          <p:nvPr/>
        </p:nvSpPr>
        <p:spPr>
          <a:xfrm>
            <a:off x="4444990" y="3301990"/>
            <a:ext cx="1651041" cy="2667030"/>
          </a:xfrm>
          <a:prstGeom prst="roundRect">
            <a:avLst>
              <a:gd name="adj" fmla="val 13076"/>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50" name="Image 2" descr="The station app: pillgate-dev-shots-ui-result-390-360c">    </p:cNvPr>
          <p:cNvPicPr>
            <a:picLocks noChangeAspect="1"/>
          </p:cNvPicPr>
          <p:nvPr/>
        </p:nvPicPr>
        <p:blipFill>
          <a:blip r:embed="rId3"/>
          <a:stretch>
            <a:fillRect/>
          </a:stretch>
        </p:blipFill>
        <p:spPr>
          <a:xfrm>
            <a:off x="4489430" y="3346430"/>
            <a:ext cx="1562070" cy="2578059"/>
          </a:xfrm>
          <a:prstGeom prst="rect">
            <a:avLst/>
          </a:prstGeom>
        </p:spPr>
      </p:pic>
      <p:sp>
        <p:nvSpPr>
          <p:cNvPr id="51" name="Text 48"/>
          <p:cNvSpPr/>
          <p:nvPr/>
        </p:nvSpPr>
        <p:spPr>
          <a:xfrm>
            <a:off x="4444990" y="6032480"/>
            <a:ext cx="1651041" cy="165141"/>
          </a:xfrm>
          <a:prstGeom prst="rect">
            <a:avLst/>
          </a:prstGeom>
          <a:noFill/>
          <a:ln/>
        </p:spPr>
        <p:txBody>
          <a:bodyPr wrap="square" lIns="0" tIns="0" rIns="0" bIns="0" rtlCol="0" anchor="t"/>
          <a:lstStyle/>
          <a:p>
            <a:pPr algn="ctr" indent="0" marL="0">
              <a:lnSpc>
                <a:spcPct val="140000"/>
              </a:lnSpc>
              <a:buNone/>
            </a:pPr>
            <a:r>
              <a:rPr lang="en-US" sz="800" dirty="0">
                <a:solidFill>
                  <a:srgbClr val="4A4E55"/>
                </a:solidFill>
                <a:latin typeface="JetBrains Mono" pitchFamily="34" charset="0"/>
                <a:ea typeface="JetBrains Mono" pitchFamily="34" charset="-122"/>
                <a:cs typeface="JetBrains Mono" pitchFamily="34" charset="-120"/>
              </a:rPr>
              <a:t>Result · the answer</a:t>
            </a:r>
            <a:endParaRPr lang="en-US" sz="800" dirty="0"/>
          </a:p>
        </p:txBody>
      </p:sp>
      <p:sp>
        <p:nvSpPr>
          <p:cNvPr id="52" name="Text 49"/>
          <p:cNvSpPr/>
          <p:nvPr/>
        </p:nvSpPr>
        <p:spPr>
          <a:xfrm>
            <a:off x="6603980" y="3352830"/>
            <a:ext cx="4826020" cy="146030"/>
          </a:xfrm>
          <a:prstGeom prst="rect">
            <a:avLst/>
          </a:prstGeom>
          <a:noFill/>
          <a:ln/>
        </p:spPr>
        <p:txBody>
          <a:bodyPr wrap="square" lIns="0" tIns="0" rIns="0" bIns="0" rtlCol="0" anchor="t"/>
          <a:lstStyle/>
          <a:p>
            <a:pPr algn="l" indent="0" marL="0">
              <a:lnSpc>
                <a:spcPct val="120000"/>
              </a:lnSpc>
              <a:buNone/>
            </a:pPr>
            <a:r>
              <a:rPr lang="en-US" sz="800" spc="112" kern="0" dirty="0">
                <a:solidFill>
                  <a:srgbClr val="7C8188"/>
                </a:solidFill>
                <a:latin typeface="JetBrains Mono" pitchFamily="34" charset="0"/>
                <a:ea typeface="JetBrains Mono" pitchFamily="34" charset="-122"/>
                <a:cs typeface="JetBrains Mono" pitchFamily="34" charset="-120"/>
              </a:rPr>
              <a:t>THREE ANSWERS, WRITTEN THIS WAY IN THE STATION APP</a:t>
            </a:r>
            <a:endParaRPr lang="en-US" sz="800" dirty="0"/>
          </a:p>
        </p:txBody>
      </p:sp>
      <p:sp>
        <p:nvSpPr>
          <p:cNvPr id="53" name="Shape 48"/>
          <p:cNvSpPr/>
          <p:nvPr/>
        </p:nvSpPr>
        <p:spPr>
          <a:xfrm>
            <a:off x="6603980" y="3683020"/>
            <a:ext cx="1828800" cy="254020"/>
          </a:xfrm>
          <a:prstGeom prst="roundRect">
            <a:avLst>
              <a:gd name="adj" fmla="val 50000"/>
            </a:avLst>
          </a:prstGeom>
          <a:solidFill>
            <a:srgbClr val="5FD39A">
              <a:alpha val="16000"/>
            </a:srgbClr>
          </a:solidFill>
          <a:ln/>
        </p:spPr>
      </p:sp>
      <p:sp>
        <p:nvSpPr>
          <p:cNvPr id="54" name="Shape 49"/>
          <p:cNvSpPr/>
          <p:nvPr/>
        </p:nvSpPr>
        <p:spPr>
          <a:xfrm>
            <a:off x="6730990" y="3778209"/>
            <a:ext cx="63459" cy="63459"/>
          </a:xfrm>
          <a:prstGeom prst="ellipse">
            <a:avLst/>
          </a:prstGeom>
          <a:solidFill>
            <a:srgbClr val="5FD39A"/>
          </a:solidFill>
          <a:ln/>
        </p:spPr>
      </p:sp>
      <p:sp>
        <p:nvSpPr>
          <p:cNvPr id="55" name="Text 52"/>
          <p:cNvSpPr/>
          <p:nvPr/>
        </p:nvSpPr>
        <p:spPr>
          <a:xfrm>
            <a:off x="6845290" y="3733770"/>
            <a:ext cx="1511320" cy="177759"/>
          </a:xfrm>
          <a:prstGeom prst="rect">
            <a:avLst/>
          </a:prstGeom>
          <a:noFill/>
          <a:ln/>
        </p:spPr>
        <p:txBody>
          <a:bodyPr wrap="square" lIns="0" tIns="0" rIns="0" bIns="0" rtlCol="0" anchor="t"/>
          <a:lstStyle/>
          <a:p>
            <a:pPr algn="l" indent="0" marL="0">
              <a:lnSpc>
                <a:spcPct val="120000"/>
              </a:lnSpc>
              <a:buNone/>
            </a:pPr>
            <a:r>
              <a:rPr lang="en-US" sz="1000" b="1" spc="60" kern="0" dirty="0">
                <a:solidFill>
                  <a:srgbClr val="16181B"/>
                </a:solidFill>
                <a:latin typeface="JetBrains Mono" pitchFamily="34" charset="0"/>
                <a:ea typeface="JetBrains Mono" pitchFamily="34" charset="-122"/>
                <a:cs typeface="JetBrains Mono" pitchFamily="34" charset="-120"/>
              </a:rPr>
              <a:t>Passed the screen</a:t>
            </a:r>
            <a:endParaRPr lang="en-US" sz="1000" dirty="0"/>
          </a:p>
        </p:txBody>
      </p:sp>
      <p:sp>
        <p:nvSpPr>
          <p:cNvPr id="56" name="Text 53"/>
          <p:cNvSpPr/>
          <p:nvPr/>
        </p:nvSpPr>
        <p:spPr>
          <a:xfrm>
            <a:off x="6603980" y="4038630"/>
            <a:ext cx="4826020" cy="203180"/>
          </a:xfrm>
          <a:prstGeom prst="rect">
            <a:avLst/>
          </a:prstGeom>
          <a:noFill/>
          <a:ln/>
        </p:spPr>
        <p:txBody>
          <a:bodyPr wrap="square" lIns="0" tIns="0" rIns="0" bIns="0" rtlCol="0" anchor="t"/>
          <a:lstStyle/>
          <a:p>
            <a:pPr algn="l" indent="0" marL="0">
              <a:lnSpc>
                <a:spcPct val="140000"/>
              </a:lnSpc>
              <a:buNone/>
            </a:pPr>
            <a:r>
              <a:rPr lang="en-US" sz="1000" dirty="0">
                <a:solidFill>
                  <a:srgbClr val="4A4E55"/>
                </a:solidFill>
                <a:latin typeface="Inter" pitchFamily="34" charset="0"/>
                <a:ea typeface="Inter" pitchFamily="34" charset="-122"/>
                <a:cs typeface="Inter" pitchFamily="34" charset="-120"/>
              </a:rPr>
              <a:t>Time-to-80 % and final colour inside the spread of the reference runs.</a:t>
            </a:r>
            <a:endParaRPr lang="en-US" sz="1000" dirty="0"/>
          </a:p>
        </p:txBody>
      </p:sp>
      <p:sp>
        <p:nvSpPr>
          <p:cNvPr id="57" name="Shape 52"/>
          <p:cNvSpPr/>
          <p:nvPr/>
        </p:nvSpPr>
        <p:spPr>
          <a:xfrm>
            <a:off x="6603980" y="4508541"/>
            <a:ext cx="1828800" cy="254020"/>
          </a:xfrm>
          <a:prstGeom prst="roundRect">
            <a:avLst>
              <a:gd name="adj" fmla="val 50000"/>
            </a:avLst>
          </a:prstGeom>
          <a:solidFill>
            <a:srgbClr val="E09A3A">
              <a:alpha val="16000"/>
            </a:srgbClr>
          </a:solidFill>
          <a:ln/>
        </p:spPr>
      </p:sp>
      <p:sp>
        <p:nvSpPr>
          <p:cNvPr id="58" name="Shape 53"/>
          <p:cNvSpPr/>
          <p:nvPr/>
        </p:nvSpPr>
        <p:spPr>
          <a:xfrm>
            <a:off x="6730990" y="4603730"/>
            <a:ext cx="63459" cy="63459"/>
          </a:xfrm>
          <a:prstGeom prst="ellipse">
            <a:avLst/>
          </a:prstGeom>
          <a:solidFill>
            <a:srgbClr val="E09A3A"/>
          </a:solidFill>
          <a:ln/>
        </p:spPr>
      </p:sp>
      <p:sp>
        <p:nvSpPr>
          <p:cNvPr id="59" name="Text 56"/>
          <p:cNvSpPr/>
          <p:nvPr/>
        </p:nvSpPr>
        <p:spPr>
          <a:xfrm>
            <a:off x="6845290" y="4559290"/>
            <a:ext cx="1511320" cy="177759"/>
          </a:xfrm>
          <a:prstGeom prst="rect">
            <a:avLst/>
          </a:prstGeom>
          <a:noFill/>
          <a:ln/>
        </p:spPr>
        <p:txBody>
          <a:bodyPr wrap="square" lIns="0" tIns="0" rIns="0" bIns="0" rtlCol="0" anchor="t"/>
          <a:lstStyle/>
          <a:p>
            <a:pPr algn="l" indent="0" marL="0">
              <a:lnSpc>
                <a:spcPct val="120000"/>
              </a:lnSpc>
              <a:buNone/>
            </a:pPr>
            <a:r>
              <a:rPr lang="en-US" sz="1000" b="1" spc="60" kern="0" dirty="0">
                <a:solidFill>
                  <a:srgbClr val="16181B"/>
                </a:solidFill>
                <a:latin typeface="JetBrains Mono" pitchFamily="34" charset="0"/>
                <a:ea typeface="JetBrains Mono" pitchFamily="34" charset="-122"/>
                <a:cs typeface="JetBrains Mono" pitchFamily="34" charset="-120"/>
              </a:rPr>
              <a:t>Needs lab testing</a:t>
            </a:r>
            <a:endParaRPr lang="en-US" sz="1000" dirty="0"/>
          </a:p>
        </p:txBody>
      </p:sp>
      <p:sp>
        <p:nvSpPr>
          <p:cNvPr id="60" name="Text 57"/>
          <p:cNvSpPr/>
          <p:nvPr/>
        </p:nvSpPr>
        <p:spPr>
          <a:xfrm>
            <a:off x="6603980" y="4864059"/>
            <a:ext cx="4826020" cy="203180"/>
          </a:xfrm>
          <a:prstGeom prst="rect">
            <a:avLst/>
          </a:prstGeom>
          <a:noFill/>
          <a:ln/>
        </p:spPr>
        <p:txBody>
          <a:bodyPr wrap="square" lIns="0" tIns="0" rIns="0" bIns="0" rtlCol="0" anchor="t"/>
          <a:lstStyle/>
          <a:p>
            <a:pPr algn="l" indent="0" marL="0">
              <a:lnSpc>
                <a:spcPct val="140000"/>
              </a:lnSpc>
              <a:buNone/>
            </a:pPr>
            <a:r>
              <a:rPr lang="en-US" sz="1000" dirty="0">
                <a:solidFill>
                  <a:srgbClr val="4A4E55"/>
                </a:solidFill>
                <a:latin typeface="Inter" pitchFamily="34" charset="0"/>
                <a:ea typeface="Inter" pitchFamily="34" charset="-122"/>
                <a:cs typeface="Inter" pitchFamily="34" charset="-120"/>
              </a:rPr>
              <a:t>Outside it: slower, weaker, cloudier or clearer than the reference.</a:t>
            </a:r>
            <a:endParaRPr lang="en-US" sz="1000" dirty="0"/>
          </a:p>
        </p:txBody>
      </p:sp>
      <p:sp>
        <p:nvSpPr>
          <p:cNvPr id="61" name="Shape 56"/>
          <p:cNvSpPr/>
          <p:nvPr/>
        </p:nvSpPr>
        <p:spPr>
          <a:xfrm>
            <a:off x="6603980" y="5333970"/>
            <a:ext cx="1746230" cy="254020"/>
          </a:xfrm>
          <a:prstGeom prst="roundRect">
            <a:avLst>
              <a:gd name="adj" fmla="val 50000"/>
            </a:avLst>
          </a:prstGeom>
          <a:solidFill>
            <a:srgbClr val="9AA0A6">
              <a:alpha val="18000"/>
            </a:srgbClr>
          </a:solidFill>
          <a:ln/>
        </p:spPr>
      </p:sp>
      <p:sp>
        <p:nvSpPr>
          <p:cNvPr id="62" name="Shape 57"/>
          <p:cNvSpPr/>
          <p:nvPr/>
        </p:nvSpPr>
        <p:spPr>
          <a:xfrm>
            <a:off x="6730990" y="5429250"/>
            <a:ext cx="63459" cy="63459"/>
          </a:xfrm>
          <a:prstGeom prst="ellipse">
            <a:avLst/>
          </a:prstGeom>
          <a:solidFill>
            <a:srgbClr val="9AA0A6"/>
          </a:solidFill>
          <a:ln/>
        </p:spPr>
      </p:sp>
      <p:sp>
        <p:nvSpPr>
          <p:cNvPr id="63" name="Text 60"/>
          <p:cNvSpPr/>
          <p:nvPr/>
        </p:nvSpPr>
        <p:spPr>
          <a:xfrm>
            <a:off x="6845290" y="5384810"/>
            <a:ext cx="1428750" cy="177759"/>
          </a:xfrm>
          <a:prstGeom prst="rect">
            <a:avLst/>
          </a:prstGeom>
          <a:noFill/>
          <a:ln/>
        </p:spPr>
        <p:txBody>
          <a:bodyPr wrap="square" lIns="0" tIns="0" rIns="0" bIns="0" rtlCol="0" anchor="t"/>
          <a:lstStyle/>
          <a:p>
            <a:pPr algn="l" indent="0" marL="0">
              <a:lnSpc>
                <a:spcPct val="120000"/>
              </a:lnSpc>
              <a:buNone/>
            </a:pPr>
            <a:r>
              <a:rPr lang="en-US" sz="1000" b="1" spc="60" kern="0" dirty="0">
                <a:solidFill>
                  <a:srgbClr val="16181B"/>
                </a:solidFill>
                <a:latin typeface="JetBrains Mono" pitchFamily="34" charset="0"/>
                <a:ea typeface="JetBrains Mono" pitchFamily="34" charset="-122"/>
                <a:cs typeface="JetBrains Mono" pitchFamily="34" charset="-120"/>
              </a:rPr>
              <a:t>Unable to verify</a:t>
            </a:r>
            <a:endParaRPr lang="en-US" sz="1000" dirty="0"/>
          </a:p>
        </p:txBody>
      </p:sp>
      <p:sp>
        <p:nvSpPr>
          <p:cNvPr id="64" name="Text 61"/>
          <p:cNvSpPr/>
          <p:nvPr/>
        </p:nvSpPr>
        <p:spPr>
          <a:xfrm>
            <a:off x="6603980" y="5689580"/>
            <a:ext cx="4826020" cy="381030"/>
          </a:xfrm>
          <a:prstGeom prst="rect">
            <a:avLst/>
          </a:prstGeom>
          <a:noFill/>
          <a:ln/>
        </p:spPr>
        <p:txBody>
          <a:bodyPr wrap="square" lIns="0" tIns="0" rIns="0" bIns="0" rtlCol="0" anchor="t"/>
          <a:lstStyle/>
          <a:p>
            <a:pPr algn="l" indent="0" marL="0">
              <a:lnSpc>
                <a:spcPct val="140000"/>
              </a:lnSpc>
              <a:buNone/>
            </a:pPr>
            <a:r>
              <a:rPr lang="en-US" sz="1000" dirty="0">
                <a:solidFill>
                  <a:srgbClr val="4A4E55"/>
                </a:solidFill>
                <a:latin typeface="Inter" pitchFamily="34" charset="0"/>
                <a:ea typeface="Inter" pitchFamily="34" charset="-122"/>
                <a:cs typeface="Inter" pitchFamily="34" charset="-120"/>
              </a:rPr>
              <a:t>No reference for this product, lid open too long, a noisy blank, or the curve never settled.</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HOW A RUN WORKS</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06 / 21</a:t>
            </a:r>
            <a:endParaRPr lang="en-US" sz="900" dirty="0"/>
          </a:p>
        </p:txBody>
      </p:sp>
      <p:sp>
        <p:nvSpPr>
          <p:cNvPr id="8" name="Shape 6"/>
          <p:cNvSpPr/>
          <p:nvPr/>
        </p:nvSpPr>
        <p:spPr>
          <a:xfrm>
            <a:off x="761970" y="6413510"/>
            <a:ext cx="10668030" cy="12710"/>
          </a:xfrm>
          <a:prstGeom prst="rect">
            <a:avLst/>
          </a:prstGeom>
          <a:solidFill>
            <a:srgbClr val="16181B">
              <a:alpha val="10000"/>
            </a:srgbClr>
          </a:solidFill>
          <a:ln/>
        </p:spPr>
      </p:sp>
      <p:sp>
        <p:nvSpPr>
          <p:cNvPr id="9" name="Text 6"/>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0" name="Title"/>
          <p:cNvSpPr/>
          <p:nvPr/>
        </p:nvSpPr>
        <p:spPr>
          <a:xfrm>
            <a:off x="761970" y="952530"/>
            <a:ext cx="9525030" cy="571500"/>
          </a:xfrm>
          <a:prstGeom prst="rect">
            <a:avLst/>
          </a:prstGeom>
          <a:noFill/>
          <a:ln/>
        </p:spPr>
        <p:txBody>
          <a:bodyPr wrap="square" lIns="0" tIns="0" rIns="0" bIns="0" rtlCol="0" anchor="t"/>
          <a:lstStyle/>
          <a:p>
            <a:pPr algn="l" indent="0" marL="0">
              <a:lnSpc>
                <a:spcPct val="100000"/>
              </a:lnSpc>
              <a:buNone/>
            </a:pPr>
            <a:r>
              <a:rPr lang="en-US" sz="3744" spc="-56" kern="0" dirty="0">
                <a:solidFill>
                  <a:srgbClr val="16181B"/>
                </a:solidFill>
                <a:latin typeface="Instrument Serif" pitchFamily="34" charset="0"/>
                <a:ea typeface="Instrument Serif" pitchFamily="34" charset="-122"/>
                <a:cs typeface="Instrument Serif" pitchFamily="34" charset="-120"/>
              </a:rPr>
              <a:t>Three minutes, start to verdict.</a:t>
            </a:r>
            <a:endParaRPr lang="en-US" sz="3744" dirty="0"/>
          </a:p>
        </p:txBody>
      </p:sp>
      <p:sp>
        <p:nvSpPr>
          <p:cNvPr id="11" name="Text 8"/>
          <p:cNvSpPr/>
          <p:nvPr/>
        </p:nvSpPr>
        <p:spPr>
          <a:xfrm>
            <a:off x="761970" y="1714500"/>
            <a:ext cx="9525030" cy="514350"/>
          </a:xfrm>
          <a:prstGeom prst="rect">
            <a:avLst/>
          </a:prstGeom>
          <a:noFill/>
          <a:ln/>
        </p:spPr>
        <p:txBody>
          <a:bodyPr wrap="square" lIns="0" tIns="0" rIns="0" bIns="0" rtlCol="0" anchor="t"/>
          <a:lstStyle/>
          <a:p>
            <a:pPr algn="l" indent="0" marL="0">
              <a:lnSpc>
                <a:spcPct val="145000"/>
              </a:lnSpc>
              <a:buNone/>
            </a:pPr>
            <a:r>
              <a:rPr lang="en-US" sz="1300" dirty="0">
                <a:solidFill>
                  <a:srgbClr val="4A4E55"/>
                </a:solidFill>
                <a:latin typeface="Inter" pitchFamily="34" charset="0"/>
                <a:ea typeface="Inter" pitchFamily="34" charset="-122"/>
                <a:cs typeface="Inter" pitchFamily="34" charset="-120"/>
              </a:rPr>
              <a:t>The app draws the run as a pill filling to last night’s reference plateau (ten reference runs make the band). At 100% the curve has flattened and the seven rules run.</a:t>
            </a:r>
            <a:endParaRPr lang="en-US" sz="1300" dirty="0"/>
          </a:p>
        </p:txBody>
      </p:sp>
      <p:sp>
        <p:nvSpPr>
          <p:cNvPr id="12" name="Shape 10"/>
          <p:cNvSpPr/>
          <p:nvPr/>
        </p:nvSpPr>
        <p:spPr>
          <a:xfrm>
            <a:off x="1352580" y="2286000"/>
            <a:ext cx="952530" cy="2349459"/>
          </a:xfrm>
          <a:prstGeom prst="roundRect">
            <a:avLst>
              <a:gd name="adj" fmla="val 49995"/>
            </a:avLst>
          </a:prstGeom>
          <a:solidFill>
            <a:srgbClr val="FFFFFF"/>
          </a:solidFill>
          <a:ln/>
        </p:spPr>
      </p:sp>
      <p:sp>
        <p:nvSpPr>
          <p:cNvPr id="13" name="Shape 11"/>
          <p:cNvSpPr/>
          <p:nvPr/>
        </p:nvSpPr>
        <p:spPr>
          <a:xfrm>
            <a:off x="1352580" y="2286000"/>
            <a:ext cx="952530" cy="2349459"/>
          </a:xfrm>
          <a:prstGeom prst="roundRect">
            <a:avLst>
              <a:gd name="adj" fmla="val 49995"/>
            </a:avLst>
          </a:prstGeom>
          <a:ln w="31750">
            <a:solidFill>
              <a:srgbClr val="4FB3FF"/>
            </a:solidFill>
            <a:prstDash val="solid"/>
          </a:ln>
        </p:spPr>
      </p:sp>
      <p:sp>
        <p:nvSpPr>
          <p:cNvPr id="14" name="Shape 12"/>
          <p:cNvSpPr/>
          <p:nvPr/>
        </p:nvSpPr>
        <p:spPr>
          <a:xfrm>
            <a:off x="2425720" y="3397270"/>
            <a:ext cx="939820" cy="127010"/>
          </a:xfrm>
          <a:custGeom>
            <a:avLst/>
            <a:gdLst/>
            <a:ahLst/>
            <a:cxnLst/>
            <a:rect l="l" t="t" r="r" b="b"/>
            <a:pathLst>
              <a:path w="939820" h="127010">
                <a:moveTo>
                  <a:pt x="19020" y="63459"/>
                </a:moveTo>
                <a:lnTo>
                  <a:pt x="920709" y="63459"/>
                </a:lnTo>
                <a:moveTo>
                  <a:pt x="842620" y="106070"/>
                </a:moveTo>
                <a:lnTo>
                  <a:pt x="920709" y="63459"/>
                </a:lnTo>
                <a:lnTo>
                  <a:pt x="842620" y="20940"/>
                </a:lnTo>
              </a:path>
            </a:pathLst>
          </a:custGeom>
          <a:ln w="19050">
            <a:solidFill>
              <a:srgbClr val="16181B">
                <a:alpha val="18000"/>
              </a:srgbClr>
            </a:solidFill>
            <a:prstDash val="solid"/>
          </a:ln>
        </p:spPr>
      </p:sp>
      <p:sp>
        <p:nvSpPr>
          <p:cNvPr id="15" name="Text 11"/>
          <p:cNvSpPr/>
          <p:nvPr/>
        </p:nvSpPr>
        <p:spPr>
          <a:xfrm>
            <a:off x="761970" y="4775180"/>
            <a:ext cx="2133570" cy="336591"/>
          </a:xfrm>
          <a:prstGeom prst="rect">
            <a:avLst/>
          </a:prstGeom>
          <a:noFill/>
          <a:ln/>
        </p:spPr>
        <p:txBody>
          <a:bodyPr wrap="square" lIns="0" tIns="0" rIns="0" bIns="0" rtlCol="0" anchor="t"/>
          <a:lstStyle/>
          <a:p>
            <a:pPr algn="ctr" indent="0" marL="0">
              <a:lnSpc>
                <a:spcPct val="100000"/>
              </a:lnSpc>
              <a:buNone/>
            </a:pPr>
            <a:r>
              <a:rPr lang="en-US" sz="2184" dirty="0">
                <a:solidFill>
                  <a:srgbClr val="16181B"/>
                </a:solidFill>
                <a:latin typeface="Instrument Serif" pitchFamily="34" charset="0"/>
                <a:ea typeface="Instrument Serif" pitchFamily="34" charset="-122"/>
                <a:cs typeface="Instrument Serif" pitchFamily="34" charset="-120"/>
              </a:rPr>
              <a:t>0%</a:t>
            </a:r>
            <a:endParaRPr lang="en-US" sz="2184" dirty="0"/>
          </a:p>
        </p:txBody>
      </p:sp>
      <p:sp>
        <p:nvSpPr>
          <p:cNvPr id="16" name="Text 12"/>
          <p:cNvSpPr/>
          <p:nvPr/>
        </p:nvSpPr>
        <p:spPr>
          <a:xfrm>
            <a:off x="761970" y="5181630"/>
            <a:ext cx="2133570" cy="177759"/>
          </a:xfrm>
          <a:prstGeom prst="rect">
            <a:avLst/>
          </a:prstGeom>
          <a:noFill/>
          <a:ln/>
        </p:spPr>
        <p:txBody>
          <a:bodyPr wrap="square" lIns="0" tIns="0" rIns="0" bIns="0" rtlCol="0" anchor="t"/>
          <a:lstStyle/>
          <a:p>
            <a:pPr algn="ctr" indent="0" marL="0">
              <a:lnSpc>
                <a:spcPct val="140000"/>
              </a:lnSpc>
              <a:buNone/>
            </a:pPr>
            <a:r>
              <a:rPr lang="en-US" sz="850" dirty="0">
                <a:solidFill>
                  <a:srgbClr val="7C8188"/>
                </a:solidFill>
                <a:latin typeface="JetBrains Mono" pitchFamily="34" charset="0"/>
                <a:ea typeface="JetBrains Mono" pitchFamily="34" charset="-122"/>
                <a:cs typeface="JetBrains Mono" pitchFamily="34" charset="-120"/>
              </a:rPr>
              <a:t>blank</a:t>
            </a:r>
            <a:endParaRPr lang="en-US" sz="850" dirty="0"/>
          </a:p>
        </p:txBody>
      </p:sp>
      <p:sp>
        <p:nvSpPr>
          <p:cNvPr id="17" name="Text 13"/>
          <p:cNvSpPr/>
          <p:nvPr/>
        </p:nvSpPr>
        <p:spPr>
          <a:xfrm>
            <a:off x="876270" y="5410230"/>
            <a:ext cx="1904970" cy="381030"/>
          </a:xfrm>
          <a:prstGeom prst="rect">
            <a:avLst/>
          </a:prstGeom>
          <a:noFill/>
          <a:ln/>
        </p:spPr>
        <p:txBody>
          <a:bodyPr wrap="square" lIns="0" tIns="0" rIns="0" bIns="0" rtlCol="0" anchor="t"/>
          <a:lstStyle/>
          <a:p>
            <a:pPr algn="ctr" indent="0" marL="0">
              <a:lnSpc>
                <a:spcPct val="140000"/>
              </a:lnSpc>
              <a:buNone/>
            </a:pPr>
            <a:r>
              <a:rPr lang="en-US" sz="1000" dirty="0">
                <a:solidFill>
                  <a:srgbClr val="4A4E55"/>
                </a:solidFill>
                <a:latin typeface="Inter" pitchFamily="34" charset="0"/>
                <a:ea typeface="Inter" pitchFamily="34" charset="-122"/>
                <a:cs typeface="Inter" pitchFamily="34" charset="-120"/>
              </a:rPr>
              <a:t>0:20 · dark, then blank. Lid open? No run.</a:t>
            </a:r>
            <a:endParaRPr lang="en-US" sz="1000" dirty="0"/>
          </a:p>
        </p:txBody>
      </p:sp>
      <p:sp>
        <p:nvSpPr>
          <p:cNvPr id="18" name="Shape 16"/>
          <p:cNvSpPr/>
          <p:nvPr/>
        </p:nvSpPr>
        <p:spPr>
          <a:xfrm>
            <a:off x="3486150" y="2286000"/>
            <a:ext cx="952530" cy="2349459"/>
          </a:xfrm>
          <a:prstGeom prst="roundRect">
            <a:avLst>
              <a:gd name="adj" fmla="val 49995"/>
            </a:avLst>
          </a:prstGeom>
          <a:solidFill>
            <a:srgbClr val="FFFFFF"/>
          </a:solidFill>
          <a:ln/>
        </p:spPr>
      </p:sp>
      <p:sp>
        <p:nvSpPr>
          <p:cNvPr id="19" name="Shape 17"/>
          <p:cNvSpPr/>
          <p:nvPr/>
        </p:nvSpPr>
        <p:spPr>
          <a:xfrm>
            <a:off x="3486150" y="2286000"/>
            <a:ext cx="952530" cy="2349459"/>
          </a:xfrm>
          <a:custGeom>
            <a:avLst/>
            <a:gdLst/>
            <a:ahLst/>
            <a:cxnLst/>
            <a:rect l="l" t="t" r="r" b="b"/>
            <a:pathLst>
              <a:path w="952530" h="2349459">
                <a:moveTo>
                  <a:pt x="952530" y="1832640"/>
                </a:moveTo>
                <a:lnTo>
                  <a:pt x="952530" y="1873240"/>
                </a:lnTo>
                <a:lnTo>
                  <a:pt x="948416" y="1935419"/>
                </a:lnTo>
                <a:lnTo>
                  <a:pt x="936254" y="1996501"/>
                </a:lnTo>
                <a:lnTo>
                  <a:pt x="916229" y="2055480"/>
                </a:lnTo>
                <a:lnTo>
                  <a:pt x="888705" y="2111350"/>
                </a:lnTo>
                <a:lnTo>
                  <a:pt x="854050" y="2163196"/>
                </a:lnTo>
                <a:lnTo>
                  <a:pt x="812993" y="2210013"/>
                </a:lnTo>
                <a:lnTo>
                  <a:pt x="766176" y="2251070"/>
                </a:lnTo>
                <a:lnTo>
                  <a:pt x="714421" y="2285726"/>
                </a:lnTo>
                <a:lnTo>
                  <a:pt x="658459" y="2313249"/>
                </a:lnTo>
                <a:lnTo>
                  <a:pt x="599481" y="2333274"/>
                </a:lnTo>
                <a:lnTo>
                  <a:pt x="538399" y="2345436"/>
                </a:lnTo>
                <a:lnTo>
                  <a:pt x="476220" y="2349459"/>
                </a:lnTo>
                <a:lnTo>
                  <a:pt x="414132" y="2345436"/>
                </a:lnTo>
                <a:lnTo>
                  <a:pt x="352958" y="2333274"/>
                </a:lnTo>
                <a:lnTo>
                  <a:pt x="293980" y="2313249"/>
                </a:lnTo>
                <a:lnTo>
                  <a:pt x="238110" y="2285726"/>
                </a:lnTo>
                <a:lnTo>
                  <a:pt x="186355" y="2251070"/>
                </a:lnTo>
                <a:lnTo>
                  <a:pt x="139446" y="2210013"/>
                </a:lnTo>
                <a:lnTo>
                  <a:pt x="98389" y="2163196"/>
                </a:lnTo>
                <a:lnTo>
                  <a:pt x="63825" y="2111350"/>
                </a:lnTo>
                <a:lnTo>
                  <a:pt x="36210" y="2055480"/>
                </a:lnTo>
                <a:lnTo>
                  <a:pt x="16185" y="1996501"/>
                </a:lnTo>
                <a:lnTo>
                  <a:pt x="4115" y="1935419"/>
                </a:lnTo>
                <a:lnTo>
                  <a:pt x="0" y="1873240"/>
                </a:lnTo>
                <a:lnTo>
                  <a:pt x="0" y="1832640"/>
                </a:lnTo>
                <a:close/>
              </a:path>
            </a:pathLst>
          </a:custGeom>
          <a:solidFill>
            <a:srgbClr val="4FB3FF"/>
          </a:solidFill>
          <a:ln/>
        </p:spPr>
      </p:sp>
      <p:sp>
        <p:nvSpPr>
          <p:cNvPr id="20" name="Shape 18"/>
          <p:cNvSpPr/>
          <p:nvPr/>
        </p:nvSpPr>
        <p:spPr>
          <a:xfrm>
            <a:off x="3486150" y="2286000"/>
            <a:ext cx="952530" cy="2349459"/>
          </a:xfrm>
          <a:prstGeom prst="roundRect">
            <a:avLst>
              <a:gd name="adj" fmla="val 49995"/>
            </a:avLst>
          </a:prstGeom>
          <a:ln w="31750">
            <a:solidFill>
              <a:srgbClr val="4FB3FF"/>
            </a:solidFill>
            <a:prstDash val="solid"/>
          </a:ln>
        </p:spPr>
      </p:sp>
      <p:sp>
        <p:nvSpPr>
          <p:cNvPr id="21" name="Shape 19"/>
          <p:cNvSpPr/>
          <p:nvPr/>
        </p:nvSpPr>
        <p:spPr>
          <a:xfrm>
            <a:off x="4559290" y="3397270"/>
            <a:ext cx="939820" cy="127010"/>
          </a:xfrm>
          <a:custGeom>
            <a:avLst/>
            <a:gdLst/>
            <a:ahLst/>
            <a:cxnLst/>
            <a:rect l="l" t="t" r="r" b="b"/>
            <a:pathLst>
              <a:path w="939820" h="127010">
                <a:moveTo>
                  <a:pt x="19020" y="63459"/>
                </a:moveTo>
                <a:lnTo>
                  <a:pt x="920709" y="63459"/>
                </a:lnTo>
                <a:moveTo>
                  <a:pt x="842620" y="106070"/>
                </a:moveTo>
                <a:lnTo>
                  <a:pt x="920709" y="63459"/>
                </a:lnTo>
                <a:lnTo>
                  <a:pt x="842620" y="20940"/>
                </a:lnTo>
              </a:path>
            </a:pathLst>
          </a:custGeom>
          <a:ln w="19050">
            <a:solidFill>
              <a:srgbClr val="16181B">
                <a:alpha val="18000"/>
              </a:srgbClr>
            </a:solidFill>
            <a:prstDash val="solid"/>
          </a:ln>
        </p:spPr>
      </p:sp>
      <p:sp>
        <p:nvSpPr>
          <p:cNvPr id="22" name="Text 16"/>
          <p:cNvSpPr/>
          <p:nvPr/>
        </p:nvSpPr>
        <p:spPr>
          <a:xfrm>
            <a:off x="2895630" y="4775180"/>
            <a:ext cx="2133570" cy="336591"/>
          </a:xfrm>
          <a:prstGeom prst="rect">
            <a:avLst/>
          </a:prstGeom>
          <a:noFill/>
          <a:ln/>
        </p:spPr>
        <p:txBody>
          <a:bodyPr wrap="square" lIns="0" tIns="0" rIns="0" bIns="0" rtlCol="0" anchor="t"/>
          <a:lstStyle/>
          <a:p>
            <a:pPr algn="ctr" indent="0" marL="0">
              <a:lnSpc>
                <a:spcPct val="100000"/>
              </a:lnSpc>
              <a:buNone/>
            </a:pPr>
            <a:r>
              <a:rPr lang="en-US" sz="2184" dirty="0">
                <a:solidFill>
                  <a:srgbClr val="16181B"/>
                </a:solidFill>
                <a:latin typeface="Instrument Serif" pitchFamily="34" charset="0"/>
                <a:ea typeface="Instrument Serif" pitchFamily="34" charset="-122"/>
                <a:cs typeface="Instrument Serif" pitchFamily="34" charset="-120"/>
              </a:rPr>
              <a:t>22%</a:t>
            </a:r>
            <a:endParaRPr lang="en-US" sz="2184" dirty="0"/>
          </a:p>
        </p:txBody>
      </p:sp>
      <p:sp>
        <p:nvSpPr>
          <p:cNvPr id="23" name="Text 17"/>
          <p:cNvSpPr/>
          <p:nvPr/>
        </p:nvSpPr>
        <p:spPr>
          <a:xfrm>
            <a:off x="2895630" y="5181630"/>
            <a:ext cx="2133570" cy="177759"/>
          </a:xfrm>
          <a:prstGeom prst="rect">
            <a:avLst/>
          </a:prstGeom>
          <a:noFill/>
          <a:ln/>
        </p:spPr>
        <p:txBody>
          <a:bodyPr wrap="square" lIns="0" tIns="0" rIns="0" bIns="0" rtlCol="0" anchor="t"/>
          <a:lstStyle/>
          <a:p>
            <a:pPr algn="ctr" indent="0" marL="0">
              <a:lnSpc>
                <a:spcPct val="140000"/>
              </a:lnSpc>
              <a:buNone/>
            </a:pPr>
            <a:r>
              <a:rPr lang="en-US" sz="850" dirty="0">
                <a:solidFill>
                  <a:srgbClr val="7C8188"/>
                </a:solidFill>
                <a:latin typeface="JetBrains Mono" pitchFamily="34" charset="0"/>
                <a:ea typeface="JetBrains Mono" pitchFamily="34" charset="-122"/>
                <a:cs typeface="JetBrains Mono" pitchFamily="34" charset="-120"/>
              </a:rPr>
              <a:t>dissolving</a:t>
            </a:r>
            <a:endParaRPr lang="en-US" sz="850" dirty="0"/>
          </a:p>
        </p:txBody>
      </p:sp>
      <p:sp>
        <p:nvSpPr>
          <p:cNvPr id="24" name="Text 18"/>
          <p:cNvSpPr/>
          <p:nvPr/>
        </p:nvSpPr>
        <p:spPr>
          <a:xfrm>
            <a:off x="3009930" y="5410230"/>
            <a:ext cx="1904970" cy="381030"/>
          </a:xfrm>
          <a:prstGeom prst="rect">
            <a:avLst/>
          </a:prstGeom>
          <a:noFill/>
          <a:ln/>
        </p:spPr>
        <p:txBody>
          <a:bodyPr wrap="square" lIns="0" tIns="0" rIns="0" bIns="0" rtlCol="0" anchor="t"/>
          <a:lstStyle/>
          <a:p>
            <a:pPr algn="ctr" indent="0" marL="0">
              <a:lnSpc>
                <a:spcPct val="140000"/>
              </a:lnSpc>
              <a:buNone/>
            </a:pPr>
            <a:r>
              <a:rPr lang="en-US" sz="1000" dirty="0">
                <a:solidFill>
                  <a:srgbClr val="4A4E55"/>
                </a:solidFill>
                <a:latin typeface="Inter" pitchFamily="34" charset="0"/>
                <a:ea typeface="Inter" pitchFamily="34" charset="-122"/>
                <a:cs typeface="Inter" pitchFamily="34" charset="-120"/>
              </a:rPr>
              <a:t>0:40 · one tablet in. The paddle turns.</a:t>
            </a:r>
            <a:endParaRPr lang="en-US" sz="1000" dirty="0"/>
          </a:p>
        </p:txBody>
      </p:sp>
      <p:sp>
        <p:nvSpPr>
          <p:cNvPr id="25" name="Shape 23"/>
          <p:cNvSpPr/>
          <p:nvPr/>
        </p:nvSpPr>
        <p:spPr>
          <a:xfrm>
            <a:off x="5619720" y="2286000"/>
            <a:ext cx="952530" cy="2349459"/>
          </a:xfrm>
          <a:prstGeom prst="roundRect">
            <a:avLst>
              <a:gd name="adj" fmla="val 49995"/>
            </a:avLst>
          </a:prstGeom>
          <a:solidFill>
            <a:srgbClr val="FFFFFF"/>
          </a:solidFill>
          <a:ln/>
        </p:spPr>
      </p:sp>
      <p:sp>
        <p:nvSpPr>
          <p:cNvPr id="26" name="Shape 24"/>
          <p:cNvSpPr/>
          <p:nvPr/>
        </p:nvSpPr>
        <p:spPr>
          <a:xfrm>
            <a:off x="5619720" y="2286000"/>
            <a:ext cx="952530" cy="2349459"/>
          </a:xfrm>
          <a:custGeom>
            <a:avLst/>
            <a:gdLst/>
            <a:ahLst/>
            <a:cxnLst/>
            <a:rect l="l" t="t" r="r" b="b"/>
            <a:pathLst>
              <a:path w="952530" h="2349459">
                <a:moveTo>
                  <a:pt x="952530" y="1104229"/>
                </a:moveTo>
                <a:lnTo>
                  <a:pt x="952530" y="1873240"/>
                </a:lnTo>
                <a:lnTo>
                  <a:pt x="948416" y="1935419"/>
                </a:lnTo>
                <a:lnTo>
                  <a:pt x="936254" y="1996501"/>
                </a:lnTo>
                <a:lnTo>
                  <a:pt x="916229" y="2055480"/>
                </a:lnTo>
                <a:lnTo>
                  <a:pt x="888705" y="2111350"/>
                </a:lnTo>
                <a:lnTo>
                  <a:pt x="854050" y="2163196"/>
                </a:lnTo>
                <a:lnTo>
                  <a:pt x="812993" y="2210013"/>
                </a:lnTo>
                <a:lnTo>
                  <a:pt x="766176" y="2251070"/>
                </a:lnTo>
                <a:lnTo>
                  <a:pt x="714421" y="2285726"/>
                </a:lnTo>
                <a:lnTo>
                  <a:pt x="658459" y="2313249"/>
                </a:lnTo>
                <a:lnTo>
                  <a:pt x="599481" y="2333274"/>
                </a:lnTo>
                <a:lnTo>
                  <a:pt x="538399" y="2345436"/>
                </a:lnTo>
                <a:lnTo>
                  <a:pt x="476220" y="2349459"/>
                </a:lnTo>
                <a:lnTo>
                  <a:pt x="414132" y="2345436"/>
                </a:lnTo>
                <a:lnTo>
                  <a:pt x="352958" y="2333274"/>
                </a:lnTo>
                <a:lnTo>
                  <a:pt x="293980" y="2313249"/>
                </a:lnTo>
                <a:lnTo>
                  <a:pt x="238110" y="2285726"/>
                </a:lnTo>
                <a:lnTo>
                  <a:pt x="186355" y="2251070"/>
                </a:lnTo>
                <a:lnTo>
                  <a:pt x="139446" y="2210013"/>
                </a:lnTo>
                <a:lnTo>
                  <a:pt x="98389" y="2163196"/>
                </a:lnTo>
                <a:lnTo>
                  <a:pt x="63825" y="2111350"/>
                </a:lnTo>
                <a:lnTo>
                  <a:pt x="36210" y="2055480"/>
                </a:lnTo>
                <a:lnTo>
                  <a:pt x="16185" y="1996501"/>
                </a:lnTo>
                <a:lnTo>
                  <a:pt x="4115" y="1935419"/>
                </a:lnTo>
                <a:lnTo>
                  <a:pt x="0" y="1873240"/>
                </a:lnTo>
                <a:lnTo>
                  <a:pt x="0" y="1104229"/>
                </a:lnTo>
                <a:close/>
              </a:path>
            </a:pathLst>
          </a:custGeom>
          <a:solidFill>
            <a:srgbClr val="4FB3FF"/>
          </a:solidFill>
          <a:ln/>
        </p:spPr>
      </p:sp>
      <p:sp>
        <p:nvSpPr>
          <p:cNvPr id="27" name="Shape 25"/>
          <p:cNvSpPr/>
          <p:nvPr/>
        </p:nvSpPr>
        <p:spPr>
          <a:xfrm>
            <a:off x="5619720" y="2286000"/>
            <a:ext cx="952530" cy="2349459"/>
          </a:xfrm>
          <a:prstGeom prst="roundRect">
            <a:avLst>
              <a:gd name="adj" fmla="val 49995"/>
            </a:avLst>
          </a:prstGeom>
          <a:ln w="31750">
            <a:solidFill>
              <a:srgbClr val="4FB3FF"/>
            </a:solidFill>
            <a:prstDash val="solid"/>
          </a:ln>
        </p:spPr>
      </p:sp>
      <p:sp>
        <p:nvSpPr>
          <p:cNvPr id="28" name="Shape 26"/>
          <p:cNvSpPr/>
          <p:nvPr/>
        </p:nvSpPr>
        <p:spPr>
          <a:xfrm>
            <a:off x="6692859" y="3397270"/>
            <a:ext cx="939820" cy="127010"/>
          </a:xfrm>
          <a:custGeom>
            <a:avLst/>
            <a:gdLst/>
            <a:ahLst/>
            <a:cxnLst/>
            <a:rect l="l" t="t" r="r" b="b"/>
            <a:pathLst>
              <a:path w="939820" h="127010">
                <a:moveTo>
                  <a:pt x="19020" y="63459"/>
                </a:moveTo>
                <a:lnTo>
                  <a:pt x="920709" y="63459"/>
                </a:lnTo>
                <a:moveTo>
                  <a:pt x="842620" y="106070"/>
                </a:moveTo>
                <a:lnTo>
                  <a:pt x="920709" y="63459"/>
                </a:lnTo>
                <a:lnTo>
                  <a:pt x="842620" y="20940"/>
                </a:lnTo>
              </a:path>
            </a:pathLst>
          </a:custGeom>
          <a:ln w="19050">
            <a:solidFill>
              <a:srgbClr val="16181B">
                <a:alpha val="18000"/>
              </a:srgbClr>
            </a:solidFill>
            <a:prstDash val="solid"/>
          </a:ln>
        </p:spPr>
      </p:sp>
      <p:sp>
        <p:nvSpPr>
          <p:cNvPr id="29" name="Text 21"/>
          <p:cNvSpPr/>
          <p:nvPr/>
        </p:nvSpPr>
        <p:spPr>
          <a:xfrm>
            <a:off x="5029200" y="4775180"/>
            <a:ext cx="2133570" cy="336591"/>
          </a:xfrm>
          <a:prstGeom prst="rect">
            <a:avLst/>
          </a:prstGeom>
          <a:noFill/>
          <a:ln/>
        </p:spPr>
        <p:txBody>
          <a:bodyPr wrap="square" lIns="0" tIns="0" rIns="0" bIns="0" rtlCol="0" anchor="t"/>
          <a:lstStyle/>
          <a:p>
            <a:pPr algn="ctr" indent="0" marL="0">
              <a:lnSpc>
                <a:spcPct val="100000"/>
              </a:lnSpc>
              <a:buNone/>
            </a:pPr>
            <a:r>
              <a:rPr lang="en-US" sz="2184" dirty="0">
                <a:solidFill>
                  <a:srgbClr val="16181B"/>
                </a:solidFill>
                <a:latin typeface="Instrument Serif" pitchFamily="34" charset="0"/>
                <a:ea typeface="Instrument Serif" pitchFamily="34" charset="-122"/>
                <a:cs typeface="Instrument Serif" pitchFamily="34" charset="-120"/>
              </a:rPr>
              <a:t>53%</a:t>
            </a:r>
            <a:endParaRPr lang="en-US" sz="2184" dirty="0"/>
          </a:p>
        </p:txBody>
      </p:sp>
      <p:sp>
        <p:nvSpPr>
          <p:cNvPr id="30" name="Text 22"/>
          <p:cNvSpPr/>
          <p:nvPr/>
        </p:nvSpPr>
        <p:spPr>
          <a:xfrm>
            <a:off x="5029200" y="5181630"/>
            <a:ext cx="2133570" cy="177759"/>
          </a:xfrm>
          <a:prstGeom prst="rect">
            <a:avLst/>
          </a:prstGeom>
          <a:noFill/>
          <a:ln/>
        </p:spPr>
        <p:txBody>
          <a:bodyPr wrap="square" lIns="0" tIns="0" rIns="0" bIns="0" rtlCol="0" anchor="t"/>
          <a:lstStyle/>
          <a:p>
            <a:pPr algn="ctr" indent="0" marL="0">
              <a:lnSpc>
                <a:spcPct val="140000"/>
              </a:lnSpc>
              <a:buNone/>
            </a:pPr>
            <a:r>
              <a:rPr lang="en-US" sz="850" dirty="0">
                <a:solidFill>
                  <a:srgbClr val="7C8188"/>
                </a:solidFill>
                <a:latin typeface="JetBrains Mono" pitchFamily="34" charset="0"/>
                <a:ea typeface="JetBrains Mono" pitchFamily="34" charset="-122"/>
                <a:cs typeface="JetBrains Mono" pitchFamily="34" charset="-120"/>
              </a:rPr>
              <a:t>dissolving</a:t>
            </a:r>
            <a:endParaRPr lang="en-US" sz="850" dirty="0"/>
          </a:p>
        </p:txBody>
      </p:sp>
      <p:sp>
        <p:nvSpPr>
          <p:cNvPr id="31" name="Text 23"/>
          <p:cNvSpPr/>
          <p:nvPr/>
        </p:nvSpPr>
        <p:spPr>
          <a:xfrm>
            <a:off x="5143500" y="5410230"/>
            <a:ext cx="1904970" cy="381030"/>
          </a:xfrm>
          <a:prstGeom prst="rect">
            <a:avLst/>
          </a:prstGeom>
          <a:noFill/>
          <a:ln/>
        </p:spPr>
        <p:txBody>
          <a:bodyPr wrap="square" lIns="0" tIns="0" rIns="0" bIns="0" rtlCol="0" anchor="t"/>
          <a:lstStyle/>
          <a:p>
            <a:pPr algn="ctr" indent="0" marL="0">
              <a:lnSpc>
                <a:spcPct val="140000"/>
              </a:lnSpc>
              <a:buNone/>
            </a:pPr>
            <a:r>
              <a:rPr lang="en-US" sz="1000" dirty="0">
                <a:solidFill>
                  <a:srgbClr val="4A4E55"/>
                </a:solidFill>
                <a:latin typeface="Inter" pitchFamily="34" charset="0"/>
                <a:ea typeface="Inter" pitchFamily="34" charset="-122"/>
                <a:cs typeface="Inter" pitchFamily="34" charset="-120"/>
              </a:rPr>
              <a:t>Blue light fades as the tablet dissolves.</a:t>
            </a:r>
            <a:endParaRPr lang="en-US" sz="1000" dirty="0"/>
          </a:p>
        </p:txBody>
      </p:sp>
      <p:sp>
        <p:nvSpPr>
          <p:cNvPr id="32" name="Shape 30"/>
          <p:cNvSpPr/>
          <p:nvPr/>
        </p:nvSpPr>
        <p:spPr>
          <a:xfrm>
            <a:off x="7753380" y="2286000"/>
            <a:ext cx="952530" cy="2349459"/>
          </a:xfrm>
          <a:prstGeom prst="roundRect">
            <a:avLst>
              <a:gd name="adj" fmla="val 49995"/>
            </a:avLst>
          </a:prstGeom>
          <a:solidFill>
            <a:srgbClr val="FFFFFF"/>
          </a:solidFill>
          <a:ln/>
        </p:spPr>
      </p:sp>
      <p:sp>
        <p:nvSpPr>
          <p:cNvPr id="33" name="Shape 31"/>
          <p:cNvSpPr/>
          <p:nvPr/>
        </p:nvSpPr>
        <p:spPr>
          <a:xfrm>
            <a:off x="7753380" y="2286000"/>
            <a:ext cx="952530" cy="2349459"/>
          </a:xfrm>
          <a:custGeom>
            <a:avLst/>
            <a:gdLst/>
            <a:ahLst/>
            <a:cxnLst/>
            <a:rect l="l" t="t" r="r" b="b"/>
            <a:pathLst>
              <a:path w="952530" h="2349459">
                <a:moveTo>
                  <a:pt x="0" y="476220"/>
                </a:moveTo>
                <a:lnTo>
                  <a:pt x="4115" y="414132"/>
                </a:lnTo>
                <a:lnTo>
                  <a:pt x="16185" y="352958"/>
                </a:lnTo>
                <a:lnTo>
                  <a:pt x="24414" y="328910"/>
                </a:lnTo>
                <a:lnTo>
                  <a:pt x="928116" y="328910"/>
                </a:lnTo>
                <a:lnTo>
                  <a:pt x="936254" y="352958"/>
                </a:lnTo>
                <a:lnTo>
                  <a:pt x="948416" y="414132"/>
                </a:lnTo>
                <a:lnTo>
                  <a:pt x="952530" y="476220"/>
                </a:lnTo>
                <a:lnTo>
                  <a:pt x="952530" y="1873240"/>
                </a:lnTo>
                <a:lnTo>
                  <a:pt x="948416" y="1935419"/>
                </a:lnTo>
                <a:lnTo>
                  <a:pt x="936254" y="1996501"/>
                </a:lnTo>
                <a:lnTo>
                  <a:pt x="916229" y="2055480"/>
                </a:lnTo>
                <a:lnTo>
                  <a:pt x="888705" y="2111350"/>
                </a:lnTo>
                <a:lnTo>
                  <a:pt x="854050" y="2163196"/>
                </a:lnTo>
                <a:lnTo>
                  <a:pt x="812993" y="2210013"/>
                </a:lnTo>
                <a:lnTo>
                  <a:pt x="766176" y="2251070"/>
                </a:lnTo>
                <a:lnTo>
                  <a:pt x="714421" y="2285726"/>
                </a:lnTo>
                <a:lnTo>
                  <a:pt x="658459" y="2313249"/>
                </a:lnTo>
                <a:lnTo>
                  <a:pt x="599481" y="2333274"/>
                </a:lnTo>
                <a:lnTo>
                  <a:pt x="538399" y="2345436"/>
                </a:lnTo>
                <a:lnTo>
                  <a:pt x="476220" y="2349459"/>
                </a:lnTo>
                <a:lnTo>
                  <a:pt x="414132" y="2345436"/>
                </a:lnTo>
                <a:lnTo>
                  <a:pt x="352958" y="2333274"/>
                </a:lnTo>
                <a:lnTo>
                  <a:pt x="293980" y="2313249"/>
                </a:lnTo>
                <a:lnTo>
                  <a:pt x="238110" y="2285726"/>
                </a:lnTo>
                <a:lnTo>
                  <a:pt x="186355" y="2251070"/>
                </a:lnTo>
                <a:lnTo>
                  <a:pt x="139446" y="2210013"/>
                </a:lnTo>
                <a:lnTo>
                  <a:pt x="98389" y="2163196"/>
                </a:lnTo>
                <a:lnTo>
                  <a:pt x="63825" y="2111350"/>
                </a:lnTo>
                <a:lnTo>
                  <a:pt x="36210" y="2055480"/>
                </a:lnTo>
                <a:lnTo>
                  <a:pt x="16185" y="1996501"/>
                </a:lnTo>
                <a:lnTo>
                  <a:pt x="4115" y="1935419"/>
                </a:lnTo>
                <a:lnTo>
                  <a:pt x="0" y="1873240"/>
                </a:lnTo>
                <a:close/>
              </a:path>
            </a:pathLst>
          </a:custGeom>
          <a:solidFill>
            <a:srgbClr val="4FB3FF"/>
          </a:solidFill>
          <a:ln/>
        </p:spPr>
      </p:sp>
      <p:sp>
        <p:nvSpPr>
          <p:cNvPr id="34" name="Shape 32"/>
          <p:cNvSpPr/>
          <p:nvPr/>
        </p:nvSpPr>
        <p:spPr>
          <a:xfrm>
            <a:off x="7753380" y="2286000"/>
            <a:ext cx="952530" cy="2349459"/>
          </a:xfrm>
          <a:prstGeom prst="roundRect">
            <a:avLst>
              <a:gd name="adj" fmla="val 49995"/>
            </a:avLst>
          </a:prstGeom>
          <a:ln w="31750">
            <a:solidFill>
              <a:srgbClr val="4FB3FF"/>
            </a:solidFill>
            <a:prstDash val="solid"/>
          </a:ln>
        </p:spPr>
      </p:sp>
      <p:sp>
        <p:nvSpPr>
          <p:cNvPr id="35" name="Shape 33"/>
          <p:cNvSpPr/>
          <p:nvPr/>
        </p:nvSpPr>
        <p:spPr>
          <a:xfrm>
            <a:off x="8826520" y="3397270"/>
            <a:ext cx="939820" cy="127010"/>
          </a:xfrm>
          <a:custGeom>
            <a:avLst/>
            <a:gdLst/>
            <a:ahLst/>
            <a:cxnLst/>
            <a:rect l="l" t="t" r="r" b="b"/>
            <a:pathLst>
              <a:path w="939820" h="127010">
                <a:moveTo>
                  <a:pt x="19020" y="63459"/>
                </a:moveTo>
                <a:lnTo>
                  <a:pt x="920709" y="63459"/>
                </a:lnTo>
                <a:moveTo>
                  <a:pt x="842620" y="106070"/>
                </a:moveTo>
                <a:lnTo>
                  <a:pt x="920709" y="63459"/>
                </a:lnTo>
                <a:lnTo>
                  <a:pt x="842620" y="20940"/>
                </a:lnTo>
              </a:path>
            </a:pathLst>
          </a:custGeom>
          <a:ln w="19050">
            <a:solidFill>
              <a:srgbClr val="16181B">
                <a:alpha val="18000"/>
              </a:srgbClr>
            </a:solidFill>
            <a:prstDash val="solid"/>
          </a:ln>
        </p:spPr>
      </p:sp>
      <p:sp>
        <p:nvSpPr>
          <p:cNvPr id="36" name="Text 26"/>
          <p:cNvSpPr/>
          <p:nvPr/>
        </p:nvSpPr>
        <p:spPr>
          <a:xfrm>
            <a:off x="7162770" y="4775180"/>
            <a:ext cx="2133570" cy="336591"/>
          </a:xfrm>
          <a:prstGeom prst="rect">
            <a:avLst/>
          </a:prstGeom>
          <a:noFill/>
          <a:ln/>
        </p:spPr>
        <p:txBody>
          <a:bodyPr wrap="square" lIns="0" tIns="0" rIns="0" bIns="0" rtlCol="0" anchor="t"/>
          <a:lstStyle/>
          <a:p>
            <a:pPr algn="ctr" indent="0" marL="0">
              <a:lnSpc>
                <a:spcPct val="100000"/>
              </a:lnSpc>
              <a:buNone/>
            </a:pPr>
            <a:r>
              <a:rPr lang="en-US" sz="2184" dirty="0">
                <a:solidFill>
                  <a:srgbClr val="16181B"/>
                </a:solidFill>
                <a:latin typeface="Instrument Serif" pitchFamily="34" charset="0"/>
                <a:ea typeface="Instrument Serif" pitchFamily="34" charset="-122"/>
                <a:cs typeface="Instrument Serif" pitchFamily="34" charset="-120"/>
              </a:rPr>
              <a:t>86%</a:t>
            </a:r>
            <a:endParaRPr lang="en-US" sz="2184" dirty="0"/>
          </a:p>
        </p:txBody>
      </p:sp>
      <p:sp>
        <p:nvSpPr>
          <p:cNvPr id="37" name="Text 27"/>
          <p:cNvSpPr/>
          <p:nvPr/>
        </p:nvSpPr>
        <p:spPr>
          <a:xfrm>
            <a:off x="7162770" y="5181630"/>
            <a:ext cx="2133570" cy="177759"/>
          </a:xfrm>
          <a:prstGeom prst="rect">
            <a:avLst/>
          </a:prstGeom>
          <a:noFill/>
          <a:ln/>
        </p:spPr>
        <p:txBody>
          <a:bodyPr wrap="square" lIns="0" tIns="0" rIns="0" bIns="0" rtlCol="0" anchor="t"/>
          <a:lstStyle/>
          <a:p>
            <a:pPr algn="ctr" indent="0" marL="0">
              <a:lnSpc>
                <a:spcPct val="140000"/>
              </a:lnSpc>
              <a:buNone/>
            </a:pPr>
            <a:r>
              <a:rPr lang="en-US" sz="850" dirty="0">
                <a:solidFill>
                  <a:srgbClr val="7C8188"/>
                </a:solidFill>
                <a:latin typeface="JetBrains Mono" pitchFamily="34" charset="0"/>
                <a:ea typeface="JetBrains Mono" pitchFamily="34" charset="-122"/>
                <a:cs typeface="JetBrains Mono" pitchFamily="34" charset="-120"/>
              </a:rPr>
              <a:t>settling</a:t>
            </a:r>
            <a:endParaRPr lang="en-US" sz="850" dirty="0"/>
          </a:p>
        </p:txBody>
      </p:sp>
      <p:sp>
        <p:nvSpPr>
          <p:cNvPr id="38" name="Text 28"/>
          <p:cNvSpPr/>
          <p:nvPr/>
        </p:nvSpPr>
        <p:spPr>
          <a:xfrm>
            <a:off x="7277070" y="5410230"/>
            <a:ext cx="1904970" cy="203180"/>
          </a:xfrm>
          <a:prstGeom prst="rect">
            <a:avLst/>
          </a:prstGeom>
          <a:noFill/>
          <a:ln/>
        </p:spPr>
        <p:txBody>
          <a:bodyPr wrap="square" lIns="0" tIns="0" rIns="0" bIns="0" rtlCol="0" anchor="t"/>
          <a:lstStyle/>
          <a:p>
            <a:pPr algn="ctr" indent="0" marL="0">
              <a:lnSpc>
                <a:spcPct val="140000"/>
              </a:lnSpc>
              <a:buNone/>
            </a:pPr>
            <a:r>
              <a:rPr lang="en-US" sz="1000" dirty="0">
                <a:solidFill>
                  <a:srgbClr val="4A4E55"/>
                </a:solidFill>
                <a:latin typeface="Inter" pitchFamily="34" charset="0"/>
                <a:ea typeface="Inter" pitchFamily="34" charset="-122"/>
                <a:cs typeface="Inter" pitchFamily="34" charset="-120"/>
              </a:rPr>
              <a:t>The curve starts to flatten.</a:t>
            </a:r>
            <a:endParaRPr lang="en-US" sz="1000" dirty="0"/>
          </a:p>
        </p:txBody>
      </p:sp>
      <p:sp>
        <p:nvSpPr>
          <p:cNvPr id="39" name="Shape 37"/>
          <p:cNvSpPr/>
          <p:nvPr/>
        </p:nvSpPr>
        <p:spPr>
          <a:xfrm>
            <a:off x="9886950" y="2286000"/>
            <a:ext cx="952530" cy="2349459"/>
          </a:xfrm>
          <a:prstGeom prst="roundRect">
            <a:avLst>
              <a:gd name="adj" fmla="val 49995"/>
            </a:avLst>
          </a:prstGeom>
          <a:solidFill>
            <a:srgbClr val="FFFFFF"/>
          </a:solidFill>
          <a:ln/>
        </p:spPr>
      </p:sp>
      <p:sp>
        <p:nvSpPr>
          <p:cNvPr id="40" name="Shape 38"/>
          <p:cNvSpPr/>
          <p:nvPr/>
        </p:nvSpPr>
        <p:spPr>
          <a:xfrm>
            <a:off x="9886950" y="2286000"/>
            <a:ext cx="952530" cy="2349459"/>
          </a:xfrm>
          <a:custGeom>
            <a:avLst/>
            <a:gdLst/>
            <a:ahLst/>
            <a:cxnLst/>
            <a:rect l="l" t="t" r="r" b="b"/>
            <a:pathLst>
              <a:path w="952530" h="2349459">
                <a:moveTo>
                  <a:pt x="0" y="476220"/>
                </a:moveTo>
                <a:lnTo>
                  <a:pt x="4115" y="414132"/>
                </a:lnTo>
                <a:lnTo>
                  <a:pt x="16185" y="352958"/>
                </a:lnTo>
                <a:lnTo>
                  <a:pt x="36210" y="293980"/>
                </a:lnTo>
                <a:lnTo>
                  <a:pt x="63825" y="238110"/>
                </a:lnTo>
                <a:lnTo>
                  <a:pt x="98389" y="186355"/>
                </a:lnTo>
                <a:lnTo>
                  <a:pt x="139446" y="139446"/>
                </a:lnTo>
                <a:lnTo>
                  <a:pt x="186355" y="98389"/>
                </a:lnTo>
                <a:lnTo>
                  <a:pt x="238110" y="63825"/>
                </a:lnTo>
                <a:lnTo>
                  <a:pt x="293980" y="36210"/>
                </a:lnTo>
                <a:lnTo>
                  <a:pt x="352958" y="16185"/>
                </a:lnTo>
                <a:lnTo>
                  <a:pt x="414132" y="4115"/>
                </a:lnTo>
                <a:lnTo>
                  <a:pt x="476220" y="0"/>
                </a:lnTo>
                <a:lnTo>
                  <a:pt x="538399" y="4115"/>
                </a:lnTo>
                <a:lnTo>
                  <a:pt x="599481" y="16185"/>
                </a:lnTo>
                <a:lnTo>
                  <a:pt x="658459" y="36210"/>
                </a:lnTo>
                <a:lnTo>
                  <a:pt x="714329" y="63825"/>
                </a:lnTo>
                <a:lnTo>
                  <a:pt x="766176" y="98389"/>
                </a:lnTo>
                <a:lnTo>
                  <a:pt x="812993" y="139446"/>
                </a:lnTo>
                <a:lnTo>
                  <a:pt x="854050" y="186355"/>
                </a:lnTo>
                <a:lnTo>
                  <a:pt x="888705" y="238110"/>
                </a:lnTo>
                <a:lnTo>
                  <a:pt x="916229" y="293980"/>
                </a:lnTo>
                <a:lnTo>
                  <a:pt x="936254" y="352958"/>
                </a:lnTo>
                <a:lnTo>
                  <a:pt x="948416" y="414132"/>
                </a:lnTo>
                <a:lnTo>
                  <a:pt x="952530" y="476220"/>
                </a:lnTo>
                <a:lnTo>
                  <a:pt x="952530" y="1873240"/>
                </a:lnTo>
                <a:lnTo>
                  <a:pt x="948416" y="1935419"/>
                </a:lnTo>
                <a:lnTo>
                  <a:pt x="936254" y="1996501"/>
                </a:lnTo>
                <a:lnTo>
                  <a:pt x="916229" y="2055480"/>
                </a:lnTo>
                <a:lnTo>
                  <a:pt x="888705" y="2111350"/>
                </a:lnTo>
                <a:lnTo>
                  <a:pt x="854050" y="2163196"/>
                </a:lnTo>
                <a:lnTo>
                  <a:pt x="812993" y="2210013"/>
                </a:lnTo>
                <a:lnTo>
                  <a:pt x="766176" y="2251070"/>
                </a:lnTo>
                <a:lnTo>
                  <a:pt x="714421" y="2285726"/>
                </a:lnTo>
                <a:lnTo>
                  <a:pt x="658459" y="2313249"/>
                </a:lnTo>
                <a:lnTo>
                  <a:pt x="599481" y="2333274"/>
                </a:lnTo>
                <a:lnTo>
                  <a:pt x="538399" y="2345436"/>
                </a:lnTo>
                <a:lnTo>
                  <a:pt x="476220" y="2349459"/>
                </a:lnTo>
                <a:lnTo>
                  <a:pt x="414132" y="2345436"/>
                </a:lnTo>
                <a:lnTo>
                  <a:pt x="352958" y="2333274"/>
                </a:lnTo>
                <a:lnTo>
                  <a:pt x="293980" y="2313249"/>
                </a:lnTo>
                <a:lnTo>
                  <a:pt x="238110" y="2285726"/>
                </a:lnTo>
                <a:lnTo>
                  <a:pt x="186355" y="2251070"/>
                </a:lnTo>
                <a:lnTo>
                  <a:pt x="139446" y="2210013"/>
                </a:lnTo>
                <a:lnTo>
                  <a:pt x="98389" y="2163196"/>
                </a:lnTo>
                <a:lnTo>
                  <a:pt x="63825" y="2111350"/>
                </a:lnTo>
                <a:lnTo>
                  <a:pt x="36210" y="2055480"/>
                </a:lnTo>
                <a:lnTo>
                  <a:pt x="16185" y="1996501"/>
                </a:lnTo>
                <a:lnTo>
                  <a:pt x="4115" y="1935419"/>
                </a:lnTo>
                <a:lnTo>
                  <a:pt x="0" y="1873240"/>
                </a:lnTo>
                <a:close/>
              </a:path>
            </a:pathLst>
          </a:custGeom>
          <a:solidFill>
            <a:srgbClr val="5FD39A"/>
          </a:solidFill>
          <a:ln/>
        </p:spPr>
      </p:sp>
      <p:sp>
        <p:nvSpPr>
          <p:cNvPr id="41" name="Shape 39"/>
          <p:cNvSpPr/>
          <p:nvPr/>
        </p:nvSpPr>
        <p:spPr>
          <a:xfrm>
            <a:off x="9886950" y="2286000"/>
            <a:ext cx="952530" cy="2349459"/>
          </a:xfrm>
          <a:prstGeom prst="roundRect">
            <a:avLst>
              <a:gd name="adj" fmla="val 49995"/>
            </a:avLst>
          </a:prstGeom>
          <a:ln w="31750">
            <a:solidFill>
              <a:srgbClr val="5FD39A"/>
            </a:solidFill>
            <a:prstDash val="solid"/>
          </a:ln>
        </p:spPr>
      </p:sp>
      <p:sp>
        <p:nvSpPr>
          <p:cNvPr id="42" name="Text 30"/>
          <p:cNvSpPr/>
          <p:nvPr/>
        </p:nvSpPr>
        <p:spPr>
          <a:xfrm>
            <a:off x="9296430" y="4775180"/>
            <a:ext cx="2133570" cy="336591"/>
          </a:xfrm>
          <a:prstGeom prst="rect">
            <a:avLst/>
          </a:prstGeom>
          <a:noFill/>
          <a:ln/>
        </p:spPr>
        <p:txBody>
          <a:bodyPr wrap="square" lIns="0" tIns="0" rIns="0" bIns="0" rtlCol="0" anchor="t"/>
          <a:lstStyle/>
          <a:p>
            <a:pPr algn="ctr" indent="0" marL="0">
              <a:lnSpc>
                <a:spcPct val="100000"/>
              </a:lnSpc>
              <a:buNone/>
            </a:pPr>
            <a:r>
              <a:rPr lang="en-US" sz="2184" dirty="0">
                <a:solidFill>
                  <a:srgbClr val="16181B"/>
                </a:solidFill>
                <a:latin typeface="Instrument Serif" pitchFamily="34" charset="0"/>
                <a:ea typeface="Instrument Serif" pitchFamily="34" charset="-122"/>
                <a:cs typeface="Instrument Serif" pitchFamily="34" charset="-120"/>
              </a:rPr>
              <a:t>100%</a:t>
            </a:r>
            <a:endParaRPr lang="en-US" sz="2184" dirty="0"/>
          </a:p>
        </p:txBody>
      </p:sp>
      <p:sp>
        <p:nvSpPr>
          <p:cNvPr id="43" name="Text 31"/>
          <p:cNvSpPr/>
          <p:nvPr/>
        </p:nvSpPr>
        <p:spPr>
          <a:xfrm>
            <a:off x="9296430" y="5181630"/>
            <a:ext cx="2133570" cy="177759"/>
          </a:xfrm>
          <a:prstGeom prst="rect">
            <a:avLst/>
          </a:prstGeom>
          <a:noFill/>
          <a:ln/>
        </p:spPr>
        <p:txBody>
          <a:bodyPr wrap="square" lIns="0" tIns="0" rIns="0" bIns="0" rtlCol="0" anchor="t"/>
          <a:lstStyle/>
          <a:p>
            <a:pPr algn="ctr" indent="0" marL="0">
              <a:lnSpc>
                <a:spcPct val="140000"/>
              </a:lnSpc>
              <a:buNone/>
            </a:pPr>
            <a:r>
              <a:rPr lang="en-US" sz="850" dirty="0">
                <a:solidFill>
                  <a:srgbClr val="7C8188"/>
                </a:solidFill>
                <a:latin typeface="JetBrains Mono" pitchFamily="34" charset="0"/>
                <a:ea typeface="JetBrains Mono" pitchFamily="34" charset="-122"/>
                <a:cs typeface="JetBrains Mono" pitchFamily="34" charset="-120"/>
              </a:rPr>
              <a:t>plateau</a:t>
            </a:r>
            <a:endParaRPr lang="en-US" sz="850" dirty="0"/>
          </a:p>
        </p:txBody>
      </p:sp>
      <p:sp>
        <p:nvSpPr>
          <p:cNvPr id="44" name="Text 32"/>
          <p:cNvSpPr/>
          <p:nvPr/>
        </p:nvSpPr>
        <p:spPr>
          <a:xfrm>
            <a:off x="9410730" y="5410230"/>
            <a:ext cx="1904970" cy="558790"/>
          </a:xfrm>
          <a:prstGeom prst="rect">
            <a:avLst/>
          </a:prstGeom>
          <a:noFill/>
          <a:ln/>
        </p:spPr>
        <p:txBody>
          <a:bodyPr wrap="square" lIns="0" tIns="0" rIns="0" bIns="0" rtlCol="0" anchor="t"/>
          <a:lstStyle/>
          <a:p>
            <a:pPr algn="ctr" indent="0" marL="0">
              <a:lnSpc>
                <a:spcPct val="140000"/>
              </a:lnSpc>
              <a:buNone/>
            </a:pPr>
            <a:r>
              <a:rPr lang="en-US" sz="1000" dirty="0">
                <a:solidFill>
                  <a:srgbClr val="4A4E55"/>
                </a:solidFill>
                <a:latin typeface="Inter" pitchFamily="34" charset="0"/>
                <a:ea typeface="Inter" pitchFamily="34" charset="-122"/>
                <a:cs typeface="Inter" pitchFamily="34" charset="-120"/>
              </a:rPr>
              <a:t>3:00 · seven rules, in order. The rule that fired is printed.</a:t>
            </a:r>
            <a:endParaRPr lang="en-US" sz="1000" dirty="0"/>
          </a:p>
        </p:txBody>
      </p:sp>
      <p:sp>
        <p:nvSpPr>
          <p:cNvPr id="45" name="Text 33"/>
          <p:cNvSpPr/>
          <p:nvPr/>
        </p:nvSpPr>
        <p:spPr>
          <a:xfrm>
            <a:off x="761970" y="6134070"/>
            <a:ext cx="10668030" cy="165141"/>
          </a:xfrm>
          <a:prstGeom prst="rect">
            <a:avLst/>
          </a:prstGeom>
          <a:noFill/>
          <a:ln/>
        </p:spPr>
        <p:txBody>
          <a:bodyPr wrap="square" lIns="0" tIns="0" rIns="0" bIns="0" rtlCol="0" anchor="t"/>
          <a:lstStyle/>
          <a:p>
            <a:pPr algn="l" indent="0" marL="0">
              <a:lnSpc>
                <a:spcPct val="140000"/>
              </a:lnSpc>
              <a:buNone/>
            </a:pPr>
            <a:r>
              <a:rPr lang="en-US" sz="800" dirty="0">
                <a:solidFill>
                  <a:srgbClr val="7C8188"/>
                </a:solidFill>
                <a:latin typeface="JetBrains Mono" pitchFamily="34" charset="0"/>
                <a:ea typeface="JetBrains Mono" pitchFamily="34" charset="-122"/>
                <a:cs typeface="JetBrains Mono" pitchFamily="34" charset="-120"/>
              </a:rPr>
              <a:t>Illustration · example levels; the app draws them live from the sensor stream.</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THREE ANSWERS</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07 / 21</a:t>
            </a:r>
            <a:endParaRPr lang="en-US" sz="900" dirty="0"/>
          </a:p>
        </p:txBody>
      </p:sp>
      <p:sp>
        <p:nvSpPr>
          <p:cNvPr id="8" name="Shape 6"/>
          <p:cNvSpPr/>
          <p:nvPr/>
        </p:nvSpPr>
        <p:spPr>
          <a:xfrm>
            <a:off x="761970" y="6413510"/>
            <a:ext cx="10668030" cy="12710"/>
          </a:xfrm>
          <a:prstGeom prst="rect">
            <a:avLst/>
          </a:prstGeom>
          <a:solidFill>
            <a:srgbClr val="16181B">
              <a:alpha val="10000"/>
            </a:srgbClr>
          </a:solidFill>
          <a:ln/>
        </p:spPr>
      </p:sp>
      <p:sp>
        <p:nvSpPr>
          <p:cNvPr id="9" name="Text 6"/>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0" name="Title"/>
          <p:cNvSpPr/>
          <p:nvPr/>
        </p:nvSpPr>
        <p:spPr>
          <a:xfrm>
            <a:off x="761970" y="888980"/>
            <a:ext cx="9525030" cy="501640"/>
          </a:xfrm>
          <a:prstGeom prst="rect">
            <a:avLst/>
          </a:prstGeom>
          <a:noFill/>
          <a:ln/>
        </p:spPr>
        <p:txBody>
          <a:bodyPr wrap="square" lIns="0" tIns="0" rIns="0" bIns="0" rtlCol="0" anchor="t"/>
          <a:lstStyle/>
          <a:p>
            <a:pPr algn="l" indent="0" marL="0">
              <a:lnSpc>
                <a:spcPct val="100000"/>
              </a:lnSpc>
              <a:buNone/>
            </a:pPr>
            <a:r>
              <a:rPr lang="en-US" sz="3276" spc="-49" kern="0" dirty="0">
                <a:solidFill>
                  <a:srgbClr val="16181B"/>
                </a:solidFill>
                <a:latin typeface="Instrument Serif" pitchFamily="34" charset="0"/>
                <a:ea typeface="Instrument Serif" pitchFamily="34" charset="-122"/>
                <a:cs typeface="Instrument Serif" pitchFamily="34" charset="-120"/>
              </a:rPr>
              <a:t>Three answers. </a:t>
            </a:r>
            <a:pPr algn="l" indent="0" marL="0">
              <a:lnSpc>
                <a:spcPct val="100000"/>
              </a:lnSpc>
              <a:buNone/>
            </a:pPr>
            <a:r>
              <a:rPr lang="en-US" sz="3276" i="1" spc="-49" kern="0" dirty="0">
                <a:solidFill>
                  <a:srgbClr val="16181B"/>
                </a:solidFill>
                <a:latin typeface="Instrument Serif" pitchFamily="34" charset="0"/>
                <a:ea typeface="Instrument Serif" pitchFamily="34" charset="-122"/>
                <a:cs typeface="Instrument Serif" pitchFamily="34" charset="-120"/>
              </a:rPr>
              <a:t>Never a guess.</a:t>
            </a:r>
            <a:endParaRPr lang="en-US" sz="3276" dirty="0"/>
          </a:p>
        </p:txBody>
      </p:sp>
      <p:sp>
        <p:nvSpPr>
          <p:cNvPr id="11" name="Text 8"/>
          <p:cNvSpPr/>
          <p:nvPr/>
        </p:nvSpPr>
        <p:spPr>
          <a:xfrm>
            <a:off x="761970" y="1524030"/>
            <a:ext cx="9525030" cy="254020"/>
          </a:xfrm>
          <a:prstGeom prst="rect">
            <a:avLst/>
          </a:prstGeom>
          <a:noFill/>
          <a:ln/>
        </p:spPr>
        <p:txBody>
          <a:bodyPr wrap="square" lIns="0" tIns="0" rIns="0" bIns="0" rtlCol="0" anchor="t"/>
          <a:lstStyle/>
          <a:p>
            <a:pPr algn="l" indent="0" marL="0">
              <a:lnSpc>
                <a:spcPct val="145000"/>
              </a:lnSpc>
              <a:buNone/>
            </a:pPr>
            <a:r>
              <a:rPr lang="en-US" sz="1200" dirty="0">
                <a:solidFill>
                  <a:srgbClr val="4A4E55"/>
                </a:solidFill>
                <a:latin typeface="Inter" pitchFamily="34" charset="0"/>
                <a:ea typeface="Inter" pitchFamily="34" charset="-122"/>
                <a:cs typeface="Inter" pitchFamily="34" charset="-120"/>
              </a:rPr>
              <a:t>Seven rules, checked in order. A model writes the plain-English “why”; it never sets the verdict.</a:t>
            </a:r>
            <a:endParaRPr lang="en-US" sz="1200" dirty="0"/>
          </a:p>
        </p:txBody>
      </p:sp>
      <p:sp>
        <p:nvSpPr>
          <p:cNvPr id="12" name="Shape 10"/>
          <p:cNvSpPr/>
          <p:nvPr/>
        </p:nvSpPr>
        <p:spPr>
          <a:xfrm>
            <a:off x="761970" y="1930390"/>
            <a:ext cx="812810" cy="279441"/>
          </a:xfrm>
          <a:prstGeom prst="roundRect">
            <a:avLst>
              <a:gd name="adj" fmla="val 50000"/>
            </a:avLst>
          </a:prstGeom>
          <a:solidFill>
            <a:srgbClr val="5FD39A">
              <a:alpha val="16000"/>
            </a:srgbClr>
          </a:solidFill>
          <a:ln/>
        </p:spPr>
      </p:sp>
      <p:sp>
        <p:nvSpPr>
          <p:cNvPr id="13" name="Shape 11"/>
          <p:cNvSpPr/>
          <p:nvPr/>
        </p:nvSpPr>
        <p:spPr>
          <a:xfrm>
            <a:off x="901690" y="2038380"/>
            <a:ext cx="69860" cy="69860"/>
          </a:xfrm>
          <a:prstGeom prst="ellipse">
            <a:avLst/>
          </a:prstGeom>
          <a:solidFill>
            <a:srgbClr val="5FD39A"/>
          </a:solidFill>
          <a:ln/>
        </p:spPr>
      </p:sp>
      <p:sp>
        <p:nvSpPr>
          <p:cNvPr id="14" name="Text 11"/>
          <p:cNvSpPr/>
          <p:nvPr/>
        </p:nvSpPr>
        <p:spPr>
          <a:xfrm>
            <a:off x="1028700" y="1986260"/>
            <a:ext cx="463509" cy="196870"/>
          </a:xfrm>
          <a:prstGeom prst="rect">
            <a:avLst/>
          </a:prstGeom>
          <a:noFill/>
          <a:ln/>
        </p:spPr>
        <p:txBody>
          <a:bodyPr wrap="square" lIns="0" tIns="0" rIns="0" bIns="0" rtlCol="0" anchor="t"/>
          <a:lstStyle/>
          <a:p>
            <a:pPr algn="l" indent="0" marL="0">
              <a:lnSpc>
                <a:spcPct val="120000"/>
              </a:lnSpc>
              <a:buNone/>
            </a:pPr>
            <a:r>
              <a:rPr lang="en-US" sz="1100" b="1" spc="66" kern="0" dirty="0">
                <a:solidFill>
                  <a:srgbClr val="16181B"/>
                </a:solidFill>
                <a:latin typeface="JetBrains Mono" pitchFamily="34" charset="0"/>
                <a:ea typeface="JetBrains Mono" pitchFamily="34" charset="-122"/>
                <a:cs typeface="JetBrains Mono" pitchFamily="34" charset="-120"/>
              </a:rPr>
              <a:t>PASS</a:t>
            </a:r>
            <a:endParaRPr lang="en-US" sz="1100" dirty="0"/>
          </a:p>
        </p:txBody>
      </p:sp>
      <p:sp>
        <p:nvSpPr>
          <p:cNvPr id="15" name="Text 12"/>
          <p:cNvSpPr/>
          <p:nvPr/>
        </p:nvSpPr>
        <p:spPr>
          <a:xfrm>
            <a:off x="761970" y="2324130"/>
            <a:ext cx="3174980" cy="400050"/>
          </a:xfrm>
          <a:prstGeom prst="rect">
            <a:avLst/>
          </a:prstGeom>
          <a:noFill/>
          <a:ln/>
        </p:spPr>
        <p:txBody>
          <a:bodyPr wrap="square" lIns="0" tIns="0" rIns="0" bIns="0" rtlCol="0" anchor="t"/>
          <a:lstStyle/>
          <a:p>
            <a:pPr algn="l" indent="0" marL="0">
              <a:lnSpc>
                <a:spcPct val="140000"/>
              </a:lnSpc>
              <a:buNone/>
            </a:pPr>
            <a:r>
              <a:rPr lang="en-US" sz="1050" dirty="0">
                <a:solidFill>
                  <a:srgbClr val="4A4E55"/>
                </a:solidFill>
                <a:latin typeface="Inter" pitchFamily="34" charset="0"/>
                <a:ea typeface="Inter" pitchFamily="34" charset="-122"/>
                <a:cs typeface="Inter" pitchFamily="34" charset="-120"/>
              </a:rPr>
              <a:t>Plateau in the reference band and the glow rose with it (P1).</a:t>
            </a:r>
            <a:endParaRPr lang="en-US" sz="1050" dirty="0"/>
          </a:p>
        </p:txBody>
      </p:sp>
      <p:sp>
        <p:nvSpPr>
          <p:cNvPr id="16" name="Shape 14"/>
          <p:cNvSpPr/>
          <p:nvPr/>
        </p:nvSpPr>
        <p:spPr>
          <a:xfrm>
            <a:off x="761970" y="2870210"/>
            <a:ext cx="2031980" cy="3251241"/>
          </a:xfrm>
          <a:prstGeom prst="roundRect">
            <a:avLst>
              <a:gd name="adj" fmla="val 13127"/>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17" name="Image 0" descr="Three answers: app-upgrade-b-evaluation-pass-390-390c">    </p:cNvPr>
          <p:cNvPicPr>
            <a:picLocks noChangeAspect="1"/>
          </p:cNvPicPr>
          <p:nvPr/>
        </p:nvPicPr>
        <p:blipFill>
          <a:blip r:embed="rId1"/>
          <a:stretch>
            <a:fillRect/>
          </a:stretch>
        </p:blipFill>
        <p:spPr>
          <a:xfrm>
            <a:off x="819120" y="2927360"/>
            <a:ext cx="1917680" cy="3136941"/>
          </a:xfrm>
          <a:prstGeom prst="rect">
            <a:avLst/>
          </a:prstGeom>
        </p:spPr>
      </p:pic>
      <p:sp>
        <p:nvSpPr>
          <p:cNvPr id="18" name="Shape 15"/>
          <p:cNvSpPr/>
          <p:nvPr/>
        </p:nvSpPr>
        <p:spPr>
          <a:xfrm>
            <a:off x="4381530" y="1930390"/>
            <a:ext cx="1276320" cy="279441"/>
          </a:xfrm>
          <a:prstGeom prst="roundRect">
            <a:avLst>
              <a:gd name="adj" fmla="val 50000"/>
            </a:avLst>
          </a:prstGeom>
          <a:solidFill>
            <a:srgbClr val="E09A3A">
              <a:alpha val="16000"/>
            </a:srgbClr>
          </a:solidFill>
          <a:ln/>
        </p:spPr>
      </p:sp>
      <p:sp>
        <p:nvSpPr>
          <p:cNvPr id="19" name="Shape 16"/>
          <p:cNvSpPr/>
          <p:nvPr/>
        </p:nvSpPr>
        <p:spPr>
          <a:xfrm>
            <a:off x="4521159" y="2038380"/>
            <a:ext cx="69860" cy="69860"/>
          </a:xfrm>
          <a:prstGeom prst="ellipse">
            <a:avLst/>
          </a:prstGeom>
          <a:solidFill>
            <a:srgbClr val="E09A3A"/>
          </a:solidFill>
          <a:ln/>
        </p:spPr>
      </p:sp>
      <p:sp>
        <p:nvSpPr>
          <p:cNvPr id="20" name="Text 17"/>
          <p:cNvSpPr/>
          <p:nvPr/>
        </p:nvSpPr>
        <p:spPr>
          <a:xfrm>
            <a:off x="4648170" y="1986260"/>
            <a:ext cx="927110" cy="196870"/>
          </a:xfrm>
          <a:prstGeom prst="rect">
            <a:avLst/>
          </a:prstGeom>
          <a:noFill/>
          <a:ln/>
        </p:spPr>
        <p:txBody>
          <a:bodyPr wrap="square" lIns="0" tIns="0" rIns="0" bIns="0" rtlCol="0" anchor="t"/>
          <a:lstStyle/>
          <a:p>
            <a:pPr algn="l" indent="0" marL="0">
              <a:lnSpc>
                <a:spcPct val="120000"/>
              </a:lnSpc>
              <a:buNone/>
            </a:pPr>
            <a:r>
              <a:rPr lang="en-US" sz="1100" b="1" spc="66" kern="0" dirty="0">
                <a:solidFill>
                  <a:srgbClr val="16181B"/>
                </a:solidFill>
                <a:latin typeface="JetBrains Mono" pitchFamily="34" charset="0"/>
                <a:ea typeface="JetBrains Mono" pitchFamily="34" charset="-122"/>
                <a:cs typeface="JetBrains Mono" pitchFamily="34" charset="-120"/>
              </a:rPr>
              <a:t>NEEDS LAB</a:t>
            </a:r>
            <a:endParaRPr lang="en-US" sz="1100" dirty="0"/>
          </a:p>
        </p:txBody>
      </p:sp>
      <p:sp>
        <p:nvSpPr>
          <p:cNvPr id="21" name="Text 18"/>
          <p:cNvSpPr/>
          <p:nvPr/>
        </p:nvSpPr>
        <p:spPr>
          <a:xfrm>
            <a:off x="4381530" y="2324130"/>
            <a:ext cx="3174980" cy="400050"/>
          </a:xfrm>
          <a:prstGeom prst="rect">
            <a:avLst/>
          </a:prstGeom>
          <a:noFill/>
          <a:ln/>
        </p:spPr>
        <p:txBody>
          <a:bodyPr wrap="square" lIns="0" tIns="0" rIns="0" bIns="0" rtlCol="0" anchor="t"/>
          <a:lstStyle/>
          <a:p>
            <a:pPr algn="l" indent="0" marL="0">
              <a:lnSpc>
                <a:spcPct val="140000"/>
              </a:lnSpc>
              <a:buNone/>
            </a:pPr>
            <a:r>
              <a:rPr lang="en-US" sz="1050" dirty="0">
                <a:solidFill>
                  <a:srgbClr val="4A4E55"/>
                </a:solidFill>
                <a:latin typeface="Inter" pitchFamily="34" charset="0"/>
                <a:ea typeface="Inter" pitchFamily="34" charset="-122"/>
                <a:cs typeface="Inter" pitchFamily="34" charset="-120"/>
              </a:rPr>
              <a:t>Light dropped with no glow, no plateau, or a plateau outside the band (N1–N3).</a:t>
            </a:r>
            <a:endParaRPr lang="en-US" sz="1050" dirty="0"/>
          </a:p>
        </p:txBody>
      </p:sp>
      <p:sp>
        <p:nvSpPr>
          <p:cNvPr id="22" name="Shape 19"/>
          <p:cNvSpPr/>
          <p:nvPr/>
        </p:nvSpPr>
        <p:spPr>
          <a:xfrm>
            <a:off x="4381530" y="2870210"/>
            <a:ext cx="2031980" cy="3251241"/>
          </a:xfrm>
          <a:prstGeom prst="roundRect">
            <a:avLst>
              <a:gd name="adj" fmla="val 13127"/>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23" name="Image 1" descr="Three answers: app-upgrade-b-evaluation-needslab-390-390c">    </p:cNvPr>
          <p:cNvPicPr>
            <a:picLocks noChangeAspect="1"/>
          </p:cNvPicPr>
          <p:nvPr/>
        </p:nvPicPr>
        <p:blipFill>
          <a:blip r:embed="rId2"/>
          <a:stretch>
            <a:fillRect/>
          </a:stretch>
        </p:blipFill>
        <p:spPr>
          <a:xfrm>
            <a:off x="4438680" y="2927360"/>
            <a:ext cx="1917680" cy="3136941"/>
          </a:xfrm>
          <a:prstGeom prst="rect">
            <a:avLst/>
          </a:prstGeom>
        </p:spPr>
      </p:pic>
      <p:sp>
        <p:nvSpPr>
          <p:cNvPr id="24" name="Shape 20"/>
          <p:cNvSpPr/>
          <p:nvPr/>
        </p:nvSpPr>
        <p:spPr>
          <a:xfrm>
            <a:off x="8001000" y="1930390"/>
            <a:ext cx="1924080" cy="279441"/>
          </a:xfrm>
          <a:prstGeom prst="roundRect">
            <a:avLst>
              <a:gd name="adj" fmla="val 50000"/>
            </a:avLst>
          </a:prstGeom>
          <a:solidFill>
            <a:srgbClr val="9AA0A6">
              <a:alpha val="18000"/>
            </a:srgbClr>
          </a:solidFill>
          <a:ln/>
        </p:spPr>
      </p:sp>
      <p:sp>
        <p:nvSpPr>
          <p:cNvPr id="25" name="Shape 21"/>
          <p:cNvSpPr/>
          <p:nvPr/>
        </p:nvSpPr>
        <p:spPr>
          <a:xfrm>
            <a:off x="8140720" y="2038380"/>
            <a:ext cx="69860" cy="69860"/>
          </a:xfrm>
          <a:prstGeom prst="ellipse">
            <a:avLst/>
          </a:prstGeom>
          <a:solidFill>
            <a:srgbClr val="9AA0A6"/>
          </a:solidFill>
          <a:ln/>
        </p:spPr>
      </p:sp>
      <p:sp>
        <p:nvSpPr>
          <p:cNvPr id="26" name="Text 23"/>
          <p:cNvSpPr/>
          <p:nvPr/>
        </p:nvSpPr>
        <p:spPr>
          <a:xfrm>
            <a:off x="8267730" y="1986260"/>
            <a:ext cx="1574780" cy="196870"/>
          </a:xfrm>
          <a:prstGeom prst="rect">
            <a:avLst/>
          </a:prstGeom>
          <a:noFill/>
          <a:ln/>
        </p:spPr>
        <p:txBody>
          <a:bodyPr wrap="square" lIns="0" tIns="0" rIns="0" bIns="0" rtlCol="0" anchor="t"/>
          <a:lstStyle/>
          <a:p>
            <a:pPr algn="l" indent="0" marL="0">
              <a:lnSpc>
                <a:spcPct val="120000"/>
              </a:lnSpc>
              <a:buNone/>
            </a:pPr>
            <a:r>
              <a:rPr lang="en-US" sz="1100" b="1" spc="66" kern="0" dirty="0">
                <a:solidFill>
                  <a:srgbClr val="16181B"/>
                </a:solidFill>
                <a:latin typeface="JetBrains Mono" pitchFamily="34" charset="0"/>
                <a:ea typeface="JetBrains Mono" pitchFamily="34" charset="-122"/>
                <a:cs typeface="JetBrains Mono" pitchFamily="34" charset="-120"/>
              </a:rPr>
              <a:t>UNABLE TO VERIFY</a:t>
            </a:r>
            <a:endParaRPr lang="en-US" sz="1100" dirty="0"/>
          </a:p>
        </p:txBody>
      </p:sp>
      <p:sp>
        <p:nvSpPr>
          <p:cNvPr id="27" name="Text 24"/>
          <p:cNvSpPr/>
          <p:nvPr/>
        </p:nvSpPr>
        <p:spPr>
          <a:xfrm>
            <a:off x="8001000" y="2324130"/>
            <a:ext cx="3174980" cy="400050"/>
          </a:xfrm>
          <a:prstGeom prst="rect">
            <a:avLst/>
          </a:prstGeom>
          <a:noFill/>
          <a:ln/>
        </p:spPr>
        <p:txBody>
          <a:bodyPr wrap="square" lIns="0" tIns="0" rIns="0" bIns="0" rtlCol="0" anchor="t"/>
          <a:lstStyle/>
          <a:p>
            <a:pPr algn="l" indent="0" marL="0">
              <a:lnSpc>
                <a:spcPct val="140000"/>
              </a:lnSpc>
              <a:buNone/>
            </a:pPr>
            <a:r>
              <a:rPr lang="en-US" sz="1050" dirty="0">
                <a:solidFill>
                  <a:srgbClr val="4A4E55"/>
                </a:solidFill>
                <a:latin typeface="Inter" pitchFamily="34" charset="0"/>
                <a:ea typeface="Inter" pitchFamily="34" charset="-122"/>
                <a:cs typeface="Inter" pitchFamily="34" charset="-120"/>
              </a:rPr>
              <a:t>No reference for this drug, a fault, or too little data (U1–U3).</a:t>
            </a:r>
            <a:endParaRPr lang="en-US" sz="1050" dirty="0"/>
          </a:p>
        </p:txBody>
      </p:sp>
      <p:sp>
        <p:nvSpPr>
          <p:cNvPr id="28" name="Shape 24"/>
          <p:cNvSpPr/>
          <p:nvPr/>
        </p:nvSpPr>
        <p:spPr>
          <a:xfrm>
            <a:off x="8001000" y="2870210"/>
            <a:ext cx="2031980" cy="3251241"/>
          </a:xfrm>
          <a:prstGeom prst="roundRect">
            <a:avLst>
              <a:gd name="adj" fmla="val 13127"/>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29" name="Image 2" descr="Three answers: app-pillmotion-eval-u1-phone-390c">    </p:cNvPr>
          <p:cNvPicPr>
            <a:picLocks noChangeAspect="1"/>
          </p:cNvPicPr>
          <p:nvPr/>
        </p:nvPicPr>
        <p:blipFill>
          <a:blip r:embed="rId3"/>
          <a:stretch>
            <a:fillRect/>
          </a:stretch>
        </p:blipFill>
        <p:spPr>
          <a:xfrm>
            <a:off x="8058150" y="2927360"/>
            <a:ext cx="1917680" cy="3136941"/>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CLINIC MODE · THE PAYMENT GATE</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08 / 21</a:t>
            </a:r>
            <a:endParaRPr lang="en-US" sz="900" dirty="0"/>
          </a:p>
        </p:txBody>
      </p:sp>
      <p:sp>
        <p:nvSpPr>
          <p:cNvPr id="8" name="Shape 6"/>
          <p:cNvSpPr/>
          <p:nvPr/>
        </p:nvSpPr>
        <p:spPr>
          <a:xfrm>
            <a:off x="761970" y="6413510"/>
            <a:ext cx="10668030" cy="12710"/>
          </a:xfrm>
          <a:prstGeom prst="rect">
            <a:avLst/>
          </a:prstGeom>
          <a:solidFill>
            <a:srgbClr val="16181B">
              <a:alpha val="10000"/>
            </a:srgbClr>
          </a:solidFill>
          <a:ln/>
        </p:spPr>
      </p:sp>
      <p:sp>
        <p:nvSpPr>
          <p:cNvPr id="9" name="Text 6"/>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0" name="Title"/>
          <p:cNvSpPr/>
          <p:nvPr/>
        </p:nvSpPr>
        <p:spPr>
          <a:xfrm>
            <a:off x="761970" y="952530"/>
            <a:ext cx="7937541" cy="552480"/>
          </a:xfrm>
          <a:prstGeom prst="rect">
            <a:avLst/>
          </a:prstGeom>
          <a:noFill/>
          <a:ln/>
        </p:spPr>
        <p:txBody>
          <a:bodyPr wrap="square" lIns="0" tIns="0" rIns="0" bIns="0" rtlCol="0" anchor="t"/>
          <a:lstStyle/>
          <a:p>
            <a:pPr algn="l" indent="0" marL="0">
              <a:lnSpc>
                <a:spcPct val="100000"/>
              </a:lnSpc>
              <a:buNone/>
            </a:pPr>
            <a:r>
              <a:rPr lang="en-US" sz="3588" spc="-54" kern="0" dirty="0">
                <a:solidFill>
                  <a:srgbClr val="16181B"/>
                </a:solidFill>
                <a:latin typeface="Instrument Serif" pitchFamily="34" charset="0"/>
                <a:ea typeface="Instrument Serif" pitchFamily="34" charset="-122"/>
                <a:cs typeface="Instrument Serif" pitchFamily="34" charset="-120"/>
              </a:rPr>
              <a:t>The verdict holds the payment.</a:t>
            </a:r>
            <a:endParaRPr lang="en-US" sz="3588" dirty="0"/>
          </a:p>
        </p:txBody>
      </p:sp>
      <p:sp>
        <p:nvSpPr>
          <p:cNvPr id="11" name="Shape 9"/>
          <p:cNvSpPr/>
          <p:nvPr/>
        </p:nvSpPr>
        <p:spPr>
          <a:xfrm>
            <a:off x="761970" y="1714500"/>
            <a:ext cx="1746230" cy="254020"/>
          </a:xfrm>
          <a:prstGeom prst="roundRect">
            <a:avLst>
              <a:gd name="adj" fmla="val 50000"/>
            </a:avLst>
          </a:prstGeom>
          <a:solidFill>
            <a:srgbClr val="E09A3A">
              <a:alpha val="16000"/>
            </a:srgbClr>
          </a:solidFill>
          <a:ln/>
        </p:spPr>
      </p:sp>
      <p:sp>
        <p:nvSpPr>
          <p:cNvPr id="12" name="Shape 10"/>
          <p:cNvSpPr/>
          <p:nvPr/>
        </p:nvSpPr>
        <p:spPr>
          <a:xfrm>
            <a:off x="888980" y="1809780"/>
            <a:ext cx="63459" cy="63459"/>
          </a:xfrm>
          <a:prstGeom prst="ellipse">
            <a:avLst/>
          </a:prstGeom>
          <a:solidFill>
            <a:srgbClr val="E09A3A"/>
          </a:solidFill>
          <a:ln/>
        </p:spPr>
      </p:sp>
      <p:sp>
        <p:nvSpPr>
          <p:cNvPr id="13" name="Text 10"/>
          <p:cNvSpPr/>
          <p:nvPr/>
        </p:nvSpPr>
        <p:spPr>
          <a:xfrm>
            <a:off x="1003280" y="1765341"/>
            <a:ext cx="1428750" cy="177759"/>
          </a:xfrm>
          <a:prstGeom prst="rect">
            <a:avLst/>
          </a:prstGeom>
          <a:noFill/>
          <a:ln/>
        </p:spPr>
        <p:txBody>
          <a:bodyPr wrap="square" lIns="0" tIns="0" rIns="0" bIns="0" rtlCol="0" anchor="t"/>
          <a:lstStyle/>
          <a:p>
            <a:pPr algn="l" indent="0" marL="0">
              <a:lnSpc>
                <a:spcPct val="120000"/>
              </a:lnSpc>
              <a:buNone/>
            </a:pPr>
            <a:r>
              <a:rPr lang="en-US" sz="1000" b="1" spc="60" kern="0" dirty="0">
                <a:solidFill>
                  <a:srgbClr val="16181B"/>
                </a:solidFill>
                <a:latin typeface="JetBrains Mono" pitchFamily="34" charset="0"/>
                <a:ea typeface="JetBrains Mono" pitchFamily="34" charset="-122"/>
                <a:cs typeface="JetBrains Mono" pitchFamily="34" charset="-120"/>
              </a:rPr>
              <a:t>SANDBOX · NESSIE</a:t>
            </a:r>
            <a:endParaRPr lang="en-US" sz="1000" dirty="0"/>
          </a:p>
        </p:txBody>
      </p:sp>
      <p:sp>
        <p:nvSpPr>
          <p:cNvPr id="14" name="Shape 12"/>
          <p:cNvSpPr/>
          <p:nvPr/>
        </p:nvSpPr>
        <p:spPr>
          <a:xfrm>
            <a:off x="2597170" y="1714500"/>
            <a:ext cx="2247870" cy="254020"/>
          </a:xfrm>
          <a:prstGeom prst="roundRect">
            <a:avLst>
              <a:gd name="adj" fmla="val 50000"/>
            </a:avLst>
          </a:prstGeom>
          <a:solidFill>
            <a:srgbClr val="7A5CFF">
              <a:alpha val="10000"/>
            </a:srgbClr>
          </a:solidFill>
          <a:ln/>
        </p:spPr>
      </p:sp>
      <p:sp>
        <p:nvSpPr>
          <p:cNvPr id="15" name="Shape 13"/>
          <p:cNvSpPr/>
          <p:nvPr/>
        </p:nvSpPr>
        <p:spPr>
          <a:xfrm>
            <a:off x="2724180" y="1809780"/>
            <a:ext cx="63459" cy="63459"/>
          </a:xfrm>
          <a:prstGeom prst="ellipse">
            <a:avLst/>
          </a:prstGeom>
          <a:solidFill>
            <a:srgbClr val="7A5CFF"/>
          </a:solidFill>
          <a:ln/>
        </p:spPr>
      </p:sp>
      <p:sp>
        <p:nvSpPr>
          <p:cNvPr id="16" name="Text 13"/>
          <p:cNvSpPr/>
          <p:nvPr/>
        </p:nvSpPr>
        <p:spPr>
          <a:xfrm>
            <a:off x="2838480" y="1765341"/>
            <a:ext cx="1930390" cy="177759"/>
          </a:xfrm>
          <a:prstGeom prst="rect">
            <a:avLst/>
          </a:prstGeom>
          <a:noFill/>
          <a:ln/>
        </p:spPr>
        <p:txBody>
          <a:bodyPr wrap="square" lIns="0" tIns="0" rIns="0" bIns="0" rtlCol="0" anchor="t"/>
          <a:lstStyle/>
          <a:p>
            <a:pPr algn="l" indent="0" marL="0">
              <a:lnSpc>
                <a:spcPct val="120000"/>
              </a:lnSpc>
              <a:buNone/>
            </a:pPr>
            <a:r>
              <a:rPr lang="en-US" sz="1000" b="1" spc="60" kern="0" dirty="0">
                <a:solidFill>
                  <a:srgbClr val="16181B"/>
                </a:solidFill>
                <a:latin typeface="JetBrains Mono" pitchFamily="34" charset="0"/>
                <a:ea typeface="JetBrains Mono" pitchFamily="34" charset="-122"/>
                <a:cs typeface="JetBrains Mono" pitchFamily="34" charset="-120"/>
              </a:rPr>
              <a:t>TESTNET · BASE SEPOLIA</a:t>
            </a:r>
            <a:endParaRPr lang="en-US" sz="1000" dirty="0"/>
          </a:p>
        </p:txBody>
      </p:sp>
      <p:sp>
        <p:nvSpPr>
          <p:cNvPr id="17" name="Text 14"/>
          <p:cNvSpPr/>
          <p:nvPr/>
        </p:nvSpPr>
        <p:spPr>
          <a:xfrm>
            <a:off x="761970" y="2158990"/>
            <a:ext cx="7492959" cy="514350"/>
          </a:xfrm>
          <a:prstGeom prst="rect">
            <a:avLst/>
          </a:prstGeom>
          <a:noFill/>
          <a:ln/>
        </p:spPr>
        <p:txBody>
          <a:bodyPr wrap="square" lIns="0" tIns="0" rIns="0" bIns="0" rtlCol="0" anchor="t"/>
          <a:lstStyle/>
          <a:p>
            <a:pPr algn="l" indent="0" marL="0">
              <a:lnSpc>
                <a:spcPct val="145000"/>
              </a:lnSpc>
              <a:buNone/>
            </a:pPr>
            <a:r>
              <a:rPr lang="en-US" sz="1300" dirty="0">
                <a:solidFill>
                  <a:srgbClr val="4A4E55"/>
                </a:solidFill>
                <a:latin typeface="Inter" pitchFamily="34" charset="0"/>
                <a:ea typeface="Inter" pitchFamily="34" charset="-122"/>
                <a:cs typeface="Inter" pitchFamily="34" charset="-120"/>
              </a:rPr>
              <a:t>A clinic samples one tablet from each delivery. The policy agent reads the verdict, the recall check and the spend cap, and proposes. Only a pharmacist’s tap releases money.</a:t>
            </a:r>
            <a:endParaRPr lang="en-US" sz="1300" dirty="0"/>
          </a:p>
        </p:txBody>
      </p:sp>
      <p:sp>
        <p:nvSpPr>
          <p:cNvPr id="18" name="Shape 16"/>
          <p:cNvSpPr/>
          <p:nvPr/>
        </p:nvSpPr>
        <p:spPr>
          <a:xfrm>
            <a:off x="761970" y="3111520"/>
            <a:ext cx="2031980" cy="1206459"/>
          </a:xfrm>
          <a:prstGeom prst="roundRect">
            <a:avLst>
              <a:gd name="adj" fmla="val 12635"/>
            </a:avLst>
          </a:prstGeom>
          <a:solidFill>
            <a:srgbClr val="FFFFFF"/>
          </a:solidFill>
          <a:ln w="12700">
            <a:solidFill>
              <a:srgbClr val="16181B">
                <a:alpha val="10000"/>
              </a:srgbClr>
            </a:solidFill>
            <a:prstDash val="solid"/>
          </a:ln>
        </p:spPr>
      </p:sp>
      <p:sp>
        <p:nvSpPr>
          <p:cNvPr id="19" name="Text 16"/>
          <p:cNvSpPr/>
          <p:nvPr/>
        </p:nvSpPr>
        <p:spPr>
          <a:xfrm>
            <a:off x="939820" y="3263859"/>
            <a:ext cx="1676370" cy="266730"/>
          </a:xfrm>
          <a:prstGeom prst="rect">
            <a:avLst/>
          </a:prstGeom>
          <a:noFill/>
          <a:ln/>
        </p:spPr>
        <p:txBody>
          <a:bodyPr wrap="square" lIns="0" tIns="0" rIns="0" bIns="0" rtlCol="0" anchor="t"/>
          <a:lstStyle/>
          <a:p>
            <a:pPr algn="l" indent="0" marL="0">
              <a:lnSpc>
                <a:spcPct val="120000"/>
              </a:lnSpc>
              <a:buNone/>
            </a:pPr>
            <a:r>
              <a:rPr lang="en-US" sz="1500" b="1" dirty="0">
                <a:solidFill>
                  <a:srgbClr val="16181B"/>
                </a:solidFill>
                <a:latin typeface="Inter" pitchFamily="34" charset="0"/>
                <a:ea typeface="Inter" pitchFamily="34" charset="-122"/>
                <a:cs typeface="Inter" pitchFamily="34" charset="-120"/>
              </a:rPr>
              <a:t>Clinic</a:t>
            </a:r>
            <a:endParaRPr lang="en-US" sz="1500" dirty="0"/>
          </a:p>
        </p:txBody>
      </p:sp>
      <p:sp>
        <p:nvSpPr>
          <p:cNvPr id="20" name="Text 17"/>
          <p:cNvSpPr/>
          <p:nvPr/>
        </p:nvSpPr>
        <p:spPr>
          <a:xfrm>
            <a:off x="939820" y="3543300"/>
            <a:ext cx="1676370" cy="177759"/>
          </a:xfrm>
          <a:prstGeom prst="rect">
            <a:avLst/>
          </a:prstGeom>
          <a:noFill/>
          <a:ln/>
        </p:spPr>
        <p:txBody>
          <a:bodyPr wrap="square" lIns="0" tIns="0" rIns="0" bIns="0" rtlCol="0" anchor="t"/>
          <a:lstStyle/>
          <a:p>
            <a:pPr algn="l" indent="0" marL="0">
              <a:lnSpc>
                <a:spcPct val="140000"/>
              </a:lnSpc>
              <a:buNone/>
            </a:pPr>
            <a:r>
              <a:rPr lang="en-US" sz="850" dirty="0">
                <a:solidFill>
                  <a:srgbClr val="7C8188"/>
                </a:solidFill>
                <a:latin typeface="JetBrains Mono" pitchFamily="34" charset="0"/>
                <a:ea typeface="JetBrains Mono" pitchFamily="34" charset="-122"/>
                <a:cs typeface="JetBrains Mono" pitchFamily="34" charset="-120"/>
              </a:rPr>
              <a:t>wallet · USDC on Base</a:t>
            </a:r>
            <a:endParaRPr lang="en-US" sz="850" dirty="0"/>
          </a:p>
        </p:txBody>
      </p:sp>
      <p:sp>
        <p:nvSpPr>
          <p:cNvPr id="21" name="Text 18"/>
          <p:cNvSpPr/>
          <p:nvPr/>
        </p:nvSpPr>
        <p:spPr>
          <a:xfrm>
            <a:off x="939820" y="3784610"/>
            <a:ext cx="1676370" cy="400050"/>
          </a:xfrm>
          <a:prstGeom prst="rect">
            <a:avLst/>
          </a:prstGeom>
          <a:noFill/>
          <a:ln/>
        </p:spPr>
        <p:txBody>
          <a:bodyPr wrap="square" lIns="0" tIns="0" rIns="0" bIns="0" rtlCol="0" anchor="t"/>
          <a:lstStyle/>
          <a:p>
            <a:pPr algn="l" indent="0" marL="0">
              <a:lnSpc>
                <a:spcPct val="140000"/>
              </a:lnSpc>
              <a:buNone/>
            </a:pPr>
            <a:r>
              <a:rPr lang="en-US" sz="1050" dirty="0">
                <a:solidFill>
                  <a:srgbClr val="4A4E55"/>
                </a:solidFill>
                <a:latin typeface="Inter" pitchFamily="34" charset="0"/>
                <a:ea typeface="Inter" pitchFamily="34" charset="-122"/>
                <a:cs typeface="Inter" pitchFamily="34" charset="-120"/>
              </a:rPr>
              <a:t>pays into escrow when the delivery is logged</a:t>
            </a:r>
            <a:endParaRPr lang="en-US" sz="1050" dirty="0"/>
          </a:p>
        </p:txBody>
      </p:sp>
      <p:sp>
        <p:nvSpPr>
          <p:cNvPr id="22" name="Shape 20"/>
          <p:cNvSpPr/>
          <p:nvPr/>
        </p:nvSpPr>
        <p:spPr>
          <a:xfrm>
            <a:off x="3619470" y="3111520"/>
            <a:ext cx="2158990" cy="1206459"/>
          </a:xfrm>
          <a:prstGeom prst="roundRect">
            <a:avLst>
              <a:gd name="adj" fmla="val 12635"/>
            </a:avLst>
          </a:prstGeom>
          <a:solidFill>
            <a:srgbClr val="4FB3FF">
              <a:alpha val="14000"/>
            </a:srgbClr>
          </a:solidFill>
          <a:ln w="12700">
            <a:solidFill>
              <a:srgbClr val="4FB3FF">
                <a:alpha val="40000"/>
              </a:srgbClr>
            </a:solidFill>
            <a:prstDash val="solid"/>
          </a:ln>
        </p:spPr>
      </p:sp>
      <p:sp>
        <p:nvSpPr>
          <p:cNvPr id="23" name="Text 20"/>
          <p:cNvSpPr/>
          <p:nvPr/>
        </p:nvSpPr>
        <p:spPr>
          <a:xfrm>
            <a:off x="3797320" y="3263859"/>
            <a:ext cx="1803380" cy="266730"/>
          </a:xfrm>
          <a:prstGeom prst="rect">
            <a:avLst/>
          </a:prstGeom>
          <a:noFill/>
          <a:ln/>
        </p:spPr>
        <p:txBody>
          <a:bodyPr wrap="square" lIns="0" tIns="0" rIns="0" bIns="0" rtlCol="0" anchor="t"/>
          <a:lstStyle/>
          <a:p>
            <a:pPr algn="l" indent="0" marL="0">
              <a:lnSpc>
                <a:spcPct val="120000"/>
              </a:lnSpc>
              <a:buNone/>
            </a:pPr>
            <a:r>
              <a:rPr lang="en-US" sz="1500" b="1" dirty="0">
                <a:solidFill>
                  <a:srgbClr val="16181B"/>
                </a:solidFill>
                <a:latin typeface="Inter" pitchFamily="34" charset="0"/>
                <a:ea typeface="Inter" pitchFamily="34" charset="-122"/>
                <a:cs typeface="Inter" pitchFamily="34" charset="-120"/>
              </a:rPr>
              <a:t>Escrow</a:t>
            </a:r>
            <a:endParaRPr lang="en-US" sz="1500" dirty="0"/>
          </a:p>
        </p:txBody>
      </p:sp>
      <p:sp>
        <p:nvSpPr>
          <p:cNvPr id="24" name="Text 21"/>
          <p:cNvSpPr/>
          <p:nvPr/>
        </p:nvSpPr>
        <p:spPr>
          <a:xfrm>
            <a:off x="3797320" y="3543300"/>
            <a:ext cx="1803380" cy="177759"/>
          </a:xfrm>
          <a:prstGeom prst="rect">
            <a:avLst/>
          </a:prstGeom>
          <a:noFill/>
          <a:ln/>
        </p:spPr>
        <p:txBody>
          <a:bodyPr wrap="square" lIns="0" tIns="0" rIns="0" bIns="0" rtlCol="0" anchor="t"/>
          <a:lstStyle/>
          <a:p>
            <a:pPr algn="l" indent="0" marL="0">
              <a:lnSpc>
                <a:spcPct val="140000"/>
              </a:lnSpc>
              <a:buNone/>
            </a:pPr>
            <a:r>
              <a:rPr lang="en-US" sz="850" dirty="0">
                <a:solidFill>
                  <a:srgbClr val="7C8188"/>
                </a:solidFill>
                <a:latin typeface="JetBrains Mono" pitchFamily="34" charset="0"/>
                <a:ea typeface="JetBrains Mono" pitchFamily="34" charset="-122"/>
                <a:cs typeface="JetBrains Mono" pitchFamily="34" charset="-120"/>
              </a:rPr>
              <a:t>Pill escrow</a:t>
            </a:r>
            <a:endParaRPr lang="en-US" sz="850" dirty="0"/>
          </a:p>
        </p:txBody>
      </p:sp>
      <p:sp>
        <p:nvSpPr>
          <p:cNvPr id="25" name="Text 22"/>
          <p:cNvSpPr/>
          <p:nvPr/>
        </p:nvSpPr>
        <p:spPr>
          <a:xfrm>
            <a:off x="3797320" y="3784610"/>
            <a:ext cx="1803380" cy="400050"/>
          </a:xfrm>
          <a:prstGeom prst="rect">
            <a:avLst/>
          </a:prstGeom>
          <a:noFill/>
          <a:ln/>
        </p:spPr>
        <p:txBody>
          <a:bodyPr wrap="square" lIns="0" tIns="0" rIns="0" bIns="0" rtlCol="0" anchor="t"/>
          <a:lstStyle/>
          <a:p>
            <a:pPr algn="l" indent="0" marL="0">
              <a:lnSpc>
                <a:spcPct val="140000"/>
              </a:lnSpc>
              <a:buNone/>
            </a:pPr>
            <a:r>
              <a:rPr lang="en-US" sz="1050" dirty="0">
                <a:solidFill>
                  <a:srgbClr val="4A4E55"/>
                </a:solidFill>
                <a:latin typeface="Inter" pitchFamily="34" charset="0"/>
                <a:ea typeface="Inter" pitchFamily="34" charset="-122"/>
                <a:cs typeface="Inter" pitchFamily="34" charset="-120"/>
              </a:rPr>
              <a:t>holds it until a PASS and a pharmacist’s tap</a:t>
            </a:r>
            <a:endParaRPr lang="en-US" sz="1050" dirty="0"/>
          </a:p>
        </p:txBody>
      </p:sp>
      <p:sp>
        <p:nvSpPr>
          <p:cNvPr id="26" name="Shape 24"/>
          <p:cNvSpPr/>
          <p:nvPr/>
        </p:nvSpPr>
        <p:spPr>
          <a:xfrm>
            <a:off x="6603980" y="3111520"/>
            <a:ext cx="2031980" cy="1206459"/>
          </a:xfrm>
          <a:prstGeom prst="roundRect">
            <a:avLst>
              <a:gd name="adj" fmla="val 12635"/>
            </a:avLst>
          </a:prstGeom>
          <a:solidFill>
            <a:srgbClr val="FFFFFF"/>
          </a:solidFill>
          <a:ln w="12700">
            <a:solidFill>
              <a:srgbClr val="16181B">
                <a:alpha val="10000"/>
              </a:srgbClr>
            </a:solidFill>
            <a:prstDash val="solid"/>
          </a:ln>
        </p:spPr>
      </p:sp>
      <p:sp>
        <p:nvSpPr>
          <p:cNvPr id="27" name="Text 24"/>
          <p:cNvSpPr/>
          <p:nvPr/>
        </p:nvSpPr>
        <p:spPr>
          <a:xfrm>
            <a:off x="6781830" y="3263859"/>
            <a:ext cx="1676370" cy="266730"/>
          </a:xfrm>
          <a:prstGeom prst="rect">
            <a:avLst/>
          </a:prstGeom>
          <a:noFill/>
          <a:ln/>
        </p:spPr>
        <p:txBody>
          <a:bodyPr wrap="square" lIns="0" tIns="0" rIns="0" bIns="0" rtlCol="0" anchor="t"/>
          <a:lstStyle/>
          <a:p>
            <a:pPr algn="l" indent="0" marL="0">
              <a:lnSpc>
                <a:spcPct val="120000"/>
              </a:lnSpc>
              <a:buNone/>
            </a:pPr>
            <a:r>
              <a:rPr lang="en-US" sz="1500" b="1" dirty="0">
                <a:solidFill>
                  <a:srgbClr val="16181B"/>
                </a:solidFill>
                <a:latin typeface="Inter" pitchFamily="34" charset="0"/>
                <a:ea typeface="Inter" pitchFamily="34" charset="-122"/>
                <a:cs typeface="Inter" pitchFamily="34" charset="-120"/>
              </a:rPr>
              <a:t>Supplier</a:t>
            </a:r>
            <a:endParaRPr lang="en-US" sz="1500" dirty="0"/>
          </a:p>
        </p:txBody>
      </p:sp>
      <p:sp>
        <p:nvSpPr>
          <p:cNvPr id="28" name="Text 25"/>
          <p:cNvSpPr/>
          <p:nvPr/>
        </p:nvSpPr>
        <p:spPr>
          <a:xfrm>
            <a:off x="6781830" y="3543300"/>
            <a:ext cx="1676370" cy="177759"/>
          </a:xfrm>
          <a:prstGeom prst="rect">
            <a:avLst/>
          </a:prstGeom>
          <a:noFill/>
          <a:ln/>
        </p:spPr>
        <p:txBody>
          <a:bodyPr wrap="square" lIns="0" tIns="0" rIns="0" bIns="0" rtlCol="0" anchor="t"/>
          <a:lstStyle/>
          <a:p>
            <a:pPr algn="l" indent="0" marL="0">
              <a:lnSpc>
                <a:spcPct val="140000"/>
              </a:lnSpc>
              <a:buNone/>
            </a:pPr>
            <a:r>
              <a:rPr lang="en-US" sz="850" dirty="0">
                <a:solidFill>
                  <a:srgbClr val="7C8188"/>
                </a:solidFill>
                <a:latin typeface="JetBrains Mono" pitchFamily="34" charset="0"/>
                <a:ea typeface="JetBrains Mono" pitchFamily="34" charset="-122"/>
                <a:cs typeface="JetBrains Mono" pitchFamily="34" charset="-120"/>
              </a:rPr>
              <a:t>wallet · USDC on Base</a:t>
            </a:r>
            <a:endParaRPr lang="en-US" sz="850" dirty="0"/>
          </a:p>
        </p:txBody>
      </p:sp>
      <p:sp>
        <p:nvSpPr>
          <p:cNvPr id="29" name="Text 26"/>
          <p:cNvSpPr/>
          <p:nvPr/>
        </p:nvSpPr>
        <p:spPr>
          <a:xfrm>
            <a:off x="6781830" y="3784610"/>
            <a:ext cx="1676370" cy="215890"/>
          </a:xfrm>
          <a:prstGeom prst="rect">
            <a:avLst/>
          </a:prstGeom>
          <a:noFill/>
          <a:ln/>
        </p:spPr>
        <p:txBody>
          <a:bodyPr wrap="square" lIns="0" tIns="0" rIns="0" bIns="0" rtlCol="0" anchor="t"/>
          <a:lstStyle/>
          <a:p>
            <a:pPr algn="l" indent="0" marL="0">
              <a:lnSpc>
                <a:spcPct val="140000"/>
              </a:lnSpc>
              <a:buNone/>
            </a:pPr>
            <a:r>
              <a:rPr lang="en-US" sz="1050" dirty="0">
                <a:solidFill>
                  <a:srgbClr val="4A4E55"/>
                </a:solidFill>
                <a:latin typeface="Inter" pitchFamily="34" charset="0"/>
                <a:ea typeface="Inter" pitchFamily="34" charset="-122"/>
                <a:cs typeface="Inter" pitchFamily="34" charset="-120"/>
              </a:rPr>
              <a:t>paid only on release</a:t>
            </a:r>
            <a:endParaRPr lang="en-US" sz="1050" dirty="0"/>
          </a:p>
        </p:txBody>
      </p:sp>
      <p:sp>
        <p:nvSpPr>
          <p:cNvPr id="30" name="Shape 28"/>
          <p:cNvSpPr/>
          <p:nvPr/>
        </p:nvSpPr>
        <p:spPr>
          <a:xfrm>
            <a:off x="2851191" y="3651291"/>
            <a:ext cx="711220" cy="127010"/>
          </a:xfrm>
          <a:custGeom>
            <a:avLst/>
            <a:gdLst/>
            <a:ahLst/>
            <a:cxnLst/>
            <a:rect l="l" t="t" r="r" b="b"/>
            <a:pathLst>
              <a:path w="711220" h="127010">
                <a:moveTo>
                  <a:pt x="19020" y="63459"/>
                </a:moveTo>
                <a:lnTo>
                  <a:pt x="692109" y="63459"/>
                </a:lnTo>
                <a:moveTo>
                  <a:pt x="614020" y="106070"/>
                </a:moveTo>
                <a:lnTo>
                  <a:pt x="692109" y="63459"/>
                </a:lnTo>
                <a:lnTo>
                  <a:pt x="614020" y="20940"/>
                </a:lnTo>
              </a:path>
            </a:pathLst>
          </a:custGeom>
          <a:ln w="19050">
            <a:solidFill>
              <a:srgbClr val="4FB3FF"/>
            </a:solidFill>
            <a:prstDash val="dash"/>
          </a:ln>
        </p:spPr>
      </p:sp>
      <p:sp>
        <p:nvSpPr>
          <p:cNvPr id="31" name="Shape 29"/>
          <p:cNvSpPr/>
          <p:nvPr/>
        </p:nvSpPr>
        <p:spPr>
          <a:xfrm>
            <a:off x="5835609" y="3651291"/>
            <a:ext cx="711220" cy="127010"/>
          </a:xfrm>
          <a:custGeom>
            <a:avLst/>
            <a:gdLst/>
            <a:ahLst/>
            <a:cxnLst/>
            <a:rect l="l" t="t" r="r" b="b"/>
            <a:pathLst>
              <a:path w="711220" h="127010">
                <a:moveTo>
                  <a:pt x="19020" y="63459"/>
                </a:moveTo>
                <a:lnTo>
                  <a:pt x="692109" y="63459"/>
                </a:lnTo>
                <a:moveTo>
                  <a:pt x="614020" y="106070"/>
                </a:moveTo>
                <a:lnTo>
                  <a:pt x="692109" y="63459"/>
                </a:lnTo>
                <a:lnTo>
                  <a:pt x="614020" y="20940"/>
                </a:lnTo>
              </a:path>
            </a:pathLst>
          </a:custGeom>
          <a:ln w="19050">
            <a:solidFill>
              <a:srgbClr val="4FB3FF"/>
            </a:solidFill>
            <a:prstDash val="solid"/>
          </a:ln>
        </p:spPr>
      </p:sp>
      <p:sp>
        <p:nvSpPr>
          <p:cNvPr id="32" name="Shape 30"/>
          <p:cNvSpPr/>
          <p:nvPr/>
        </p:nvSpPr>
        <p:spPr>
          <a:xfrm>
            <a:off x="761970" y="4635459"/>
            <a:ext cx="1904970" cy="254020"/>
          </a:xfrm>
          <a:prstGeom prst="roundRect">
            <a:avLst>
              <a:gd name="adj" fmla="val 50000"/>
            </a:avLst>
          </a:prstGeom>
          <a:solidFill>
            <a:srgbClr val="5FD39A">
              <a:alpha val="16000"/>
            </a:srgbClr>
          </a:solidFill>
          <a:ln/>
        </p:spPr>
      </p:sp>
      <p:sp>
        <p:nvSpPr>
          <p:cNvPr id="33" name="Shape 31"/>
          <p:cNvSpPr/>
          <p:nvPr/>
        </p:nvSpPr>
        <p:spPr>
          <a:xfrm>
            <a:off x="888980" y="4730740"/>
            <a:ext cx="63459" cy="63459"/>
          </a:xfrm>
          <a:prstGeom prst="ellipse">
            <a:avLst/>
          </a:prstGeom>
          <a:solidFill>
            <a:srgbClr val="5FD39A"/>
          </a:solidFill>
          <a:ln/>
        </p:spPr>
      </p:sp>
      <p:sp>
        <p:nvSpPr>
          <p:cNvPr id="34" name="Text 31"/>
          <p:cNvSpPr/>
          <p:nvPr/>
        </p:nvSpPr>
        <p:spPr>
          <a:xfrm>
            <a:off x="1003280" y="4686300"/>
            <a:ext cx="1587490" cy="177759"/>
          </a:xfrm>
          <a:prstGeom prst="rect">
            <a:avLst/>
          </a:prstGeom>
          <a:noFill/>
          <a:ln/>
        </p:spPr>
        <p:txBody>
          <a:bodyPr wrap="square" lIns="0" tIns="0" rIns="0" bIns="0" rtlCol="0" anchor="t"/>
          <a:lstStyle/>
          <a:p>
            <a:pPr algn="l" indent="0" marL="0">
              <a:lnSpc>
                <a:spcPct val="120000"/>
              </a:lnSpc>
              <a:buNone/>
            </a:pPr>
            <a:r>
              <a:rPr lang="en-US" sz="1000" b="1" spc="60" kern="0" dirty="0">
                <a:solidFill>
                  <a:srgbClr val="16181B"/>
                </a:solidFill>
                <a:latin typeface="JetBrains Mono" pitchFamily="34" charset="0"/>
                <a:ea typeface="JetBrains Mono" pitchFamily="34" charset="-122"/>
                <a:cs typeface="JetBrains Mono" pitchFamily="34" charset="-120"/>
              </a:rPr>
              <a:t>PASS</a:t>
            </a:r>
            <a:endParaRPr lang="en-US" sz="1000" dirty="0"/>
          </a:p>
        </p:txBody>
      </p:sp>
      <p:sp>
        <p:nvSpPr>
          <p:cNvPr id="35" name="Shape 33"/>
          <p:cNvSpPr/>
          <p:nvPr/>
        </p:nvSpPr>
        <p:spPr>
          <a:xfrm>
            <a:off x="2755910" y="4718030"/>
            <a:ext cx="495330" cy="88880"/>
          </a:xfrm>
          <a:custGeom>
            <a:avLst/>
            <a:gdLst/>
            <a:ahLst/>
            <a:cxnLst/>
            <a:rect l="l" t="t" r="r" b="b"/>
            <a:pathLst>
              <a:path w="495330" h="88880">
                <a:moveTo>
                  <a:pt x="12710" y="44440"/>
                </a:moveTo>
                <a:lnTo>
                  <a:pt x="482620" y="44440"/>
                </a:lnTo>
                <a:moveTo>
                  <a:pt x="426750" y="74889"/>
                </a:moveTo>
                <a:lnTo>
                  <a:pt x="482620" y="44440"/>
                </a:lnTo>
                <a:lnTo>
                  <a:pt x="426750" y="13990"/>
                </a:lnTo>
              </a:path>
            </a:pathLst>
          </a:custGeom>
          <a:ln w="12700">
            <a:solidFill>
              <a:srgbClr val="16181B">
                <a:alpha val="18000"/>
              </a:srgbClr>
            </a:solidFill>
            <a:prstDash val="solid"/>
          </a:ln>
        </p:spPr>
      </p:sp>
      <p:sp>
        <p:nvSpPr>
          <p:cNvPr id="36" name="Text 33"/>
          <p:cNvSpPr/>
          <p:nvPr/>
        </p:nvSpPr>
        <p:spPr>
          <a:xfrm>
            <a:off x="3352830" y="4660880"/>
            <a:ext cx="5333970" cy="228600"/>
          </a:xfrm>
          <a:prstGeom prst="rect">
            <a:avLst/>
          </a:prstGeom>
          <a:noFill/>
          <a:ln/>
        </p:spPr>
        <p:txBody>
          <a:bodyPr wrap="square" lIns="0" tIns="0" rIns="0" bIns="0" rtlCol="0" anchor="t"/>
          <a:lstStyle/>
          <a:p>
            <a:pPr algn="l" indent="0" marL="0">
              <a:lnSpc>
                <a:spcPct val="130000"/>
              </a:lnSpc>
              <a:buNone/>
            </a:pPr>
            <a:r>
              <a:rPr lang="en-US" sz="1200" dirty="0">
                <a:solidFill>
                  <a:srgbClr val="16181B"/>
                </a:solidFill>
                <a:latin typeface="Inter" pitchFamily="34" charset="0"/>
                <a:ea typeface="Inter" pitchFamily="34" charset="-122"/>
                <a:cs typeface="Inter" pitchFamily="34" charset="-120"/>
              </a:rPr>
              <a:t>+ the pharmacist’s tap → escrow pays the supplier (P1)</a:t>
            </a:r>
            <a:endParaRPr lang="en-US" sz="1200" dirty="0"/>
          </a:p>
        </p:txBody>
      </p:sp>
      <p:sp>
        <p:nvSpPr>
          <p:cNvPr id="37" name="Shape 35"/>
          <p:cNvSpPr/>
          <p:nvPr/>
        </p:nvSpPr>
        <p:spPr>
          <a:xfrm>
            <a:off x="761970" y="5105370"/>
            <a:ext cx="1904970" cy="254020"/>
          </a:xfrm>
          <a:prstGeom prst="roundRect">
            <a:avLst>
              <a:gd name="adj" fmla="val 50000"/>
            </a:avLst>
          </a:prstGeom>
          <a:solidFill>
            <a:srgbClr val="E09A3A">
              <a:alpha val="16000"/>
            </a:srgbClr>
          </a:solidFill>
          <a:ln/>
        </p:spPr>
      </p:sp>
      <p:sp>
        <p:nvSpPr>
          <p:cNvPr id="38" name="Shape 36"/>
          <p:cNvSpPr/>
          <p:nvPr/>
        </p:nvSpPr>
        <p:spPr>
          <a:xfrm>
            <a:off x="888980" y="5200650"/>
            <a:ext cx="63459" cy="63459"/>
          </a:xfrm>
          <a:prstGeom prst="ellipse">
            <a:avLst/>
          </a:prstGeom>
          <a:solidFill>
            <a:srgbClr val="E09A3A"/>
          </a:solidFill>
          <a:ln/>
        </p:spPr>
      </p:sp>
      <p:sp>
        <p:nvSpPr>
          <p:cNvPr id="39" name="Text 36"/>
          <p:cNvSpPr/>
          <p:nvPr/>
        </p:nvSpPr>
        <p:spPr>
          <a:xfrm>
            <a:off x="1003280" y="5156210"/>
            <a:ext cx="1587490" cy="177759"/>
          </a:xfrm>
          <a:prstGeom prst="rect">
            <a:avLst/>
          </a:prstGeom>
          <a:noFill/>
          <a:ln/>
        </p:spPr>
        <p:txBody>
          <a:bodyPr wrap="square" lIns="0" tIns="0" rIns="0" bIns="0" rtlCol="0" anchor="t"/>
          <a:lstStyle/>
          <a:p>
            <a:pPr algn="l" indent="0" marL="0">
              <a:lnSpc>
                <a:spcPct val="120000"/>
              </a:lnSpc>
              <a:buNone/>
            </a:pPr>
            <a:r>
              <a:rPr lang="en-US" sz="1000" b="1" spc="60" kern="0" dirty="0">
                <a:solidFill>
                  <a:srgbClr val="16181B"/>
                </a:solidFill>
                <a:latin typeface="JetBrains Mono" pitchFamily="34" charset="0"/>
                <a:ea typeface="JetBrains Mono" pitchFamily="34" charset="-122"/>
                <a:cs typeface="JetBrains Mono" pitchFamily="34" charset="-120"/>
              </a:rPr>
              <a:t>NEEDS LAB</a:t>
            </a:r>
            <a:endParaRPr lang="en-US" sz="1000" dirty="0"/>
          </a:p>
        </p:txBody>
      </p:sp>
      <p:sp>
        <p:nvSpPr>
          <p:cNvPr id="40" name="Shape 38"/>
          <p:cNvSpPr/>
          <p:nvPr/>
        </p:nvSpPr>
        <p:spPr>
          <a:xfrm>
            <a:off x="2755910" y="5187940"/>
            <a:ext cx="495330" cy="88880"/>
          </a:xfrm>
          <a:custGeom>
            <a:avLst/>
            <a:gdLst/>
            <a:ahLst/>
            <a:cxnLst/>
            <a:rect l="l" t="t" r="r" b="b"/>
            <a:pathLst>
              <a:path w="495330" h="88880">
                <a:moveTo>
                  <a:pt x="12710" y="44440"/>
                </a:moveTo>
                <a:lnTo>
                  <a:pt x="482620" y="44440"/>
                </a:lnTo>
                <a:moveTo>
                  <a:pt x="426750" y="74889"/>
                </a:moveTo>
                <a:lnTo>
                  <a:pt x="482620" y="44440"/>
                </a:lnTo>
                <a:lnTo>
                  <a:pt x="426750" y="13990"/>
                </a:lnTo>
              </a:path>
            </a:pathLst>
          </a:custGeom>
          <a:ln w="12700">
            <a:solidFill>
              <a:srgbClr val="16181B">
                <a:alpha val="18000"/>
              </a:srgbClr>
            </a:solidFill>
            <a:prstDash val="solid"/>
          </a:ln>
        </p:spPr>
      </p:sp>
      <p:sp>
        <p:nvSpPr>
          <p:cNvPr id="41" name="Text 38"/>
          <p:cNvSpPr/>
          <p:nvPr/>
        </p:nvSpPr>
        <p:spPr>
          <a:xfrm>
            <a:off x="3352830" y="5130790"/>
            <a:ext cx="5333970" cy="228600"/>
          </a:xfrm>
          <a:prstGeom prst="rect">
            <a:avLst/>
          </a:prstGeom>
          <a:noFill/>
          <a:ln/>
        </p:spPr>
        <p:txBody>
          <a:bodyPr wrap="square" lIns="0" tIns="0" rIns="0" bIns="0" rtlCol="0" anchor="t"/>
          <a:lstStyle/>
          <a:p>
            <a:pPr algn="l" indent="0" marL="0">
              <a:lnSpc>
                <a:spcPct val="130000"/>
              </a:lnSpc>
              <a:buNone/>
            </a:pPr>
            <a:r>
              <a:rPr lang="en-US" sz="1200" dirty="0">
                <a:solidFill>
                  <a:srgbClr val="16181B"/>
                </a:solidFill>
                <a:latin typeface="Inter" pitchFamily="34" charset="0"/>
                <a:ea typeface="Inter" pitchFamily="34" charset="-122"/>
                <a:cs typeface="Inter" pitchFamily="34" charset="-120"/>
              </a:rPr>
              <a:t>held; the lab referral is drafted with the curve (P2)</a:t>
            </a:r>
            <a:endParaRPr lang="en-US" sz="1200" dirty="0"/>
          </a:p>
        </p:txBody>
      </p:sp>
      <p:sp>
        <p:nvSpPr>
          <p:cNvPr id="42" name="Shape 40"/>
          <p:cNvSpPr/>
          <p:nvPr/>
        </p:nvSpPr>
        <p:spPr>
          <a:xfrm>
            <a:off x="761970" y="5575280"/>
            <a:ext cx="1904970" cy="254020"/>
          </a:xfrm>
          <a:prstGeom prst="roundRect">
            <a:avLst>
              <a:gd name="adj" fmla="val 50000"/>
            </a:avLst>
          </a:prstGeom>
          <a:solidFill>
            <a:srgbClr val="9AA0A6">
              <a:alpha val="18000"/>
            </a:srgbClr>
          </a:solidFill>
          <a:ln/>
        </p:spPr>
      </p:sp>
      <p:sp>
        <p:nvSpPr>
          <p:cNvPr id="43" name="Shape 41"/>
          <p:cNvSpPr/>
          <p:nvPr/>
        </p:nvSpPr>
        <p:spPr>
          <a:xfrm>
            <a:off x="888980" y="5670560"/>
            <a:ext cx="63459" cy="63459"/>
          </a:xfrm>
          <a:prstGeom prst="ellipse">
            <a:avLst/>
          </a:prstGeom>
          <a:solidFill>
            <a:srgbClr val="9AA0A6"/>
          </a:solidFill>
          <a:ln/>
        </p:spPr>
      </p:sp>
      <p:sp>
        <p:nvSpPr>
          <p:cNvPr id="44" name="Text 41"/>
          <p:cNvSpPr/>
          <p:nvPr/>
        </p:nvSpPr>
        <p:spPr>
          <a:xfrm>
            <a:off x="1003280" y="5626120"/>
            <a:ext cx="1587490" cy="177759"/>
          </a:xfrm>
          <a:prstGeom prst="rect">
            <a:avLst/>
          </a:prstGeom>
          <a:noFill/>
          <a:ln/>
        </p:spPr>
        <p:txBody>
          <a:bodyPr wrap="square" lIns="0" tIns="0" rIns="0" bIns="0" rtlCol="0" anchor="t"/>
          <a:lstStyle/>
          <a:p>
            <a:pPr algn="l" indent="0" marL="0">
              <a:lnSpc>
                <a:spcPct val="120000"/>
              </a:lnSpc>
              <a:buNone/>
            </a:pPr>
            <a:r>
              <a:rPr lang="en-US" sz="1000" b="1" spc="60" kern="0" dirty="0">
                <a:solidFill>
                  <a:srgbClr val="16181B"/>
                </a:solidFill>
                <a:latin typeface="JetBrains Mono" pitchFamily="34" charset="0"/>
                <a:ea typeface="JetBrains Mono" pitchFamily="34" charset="-122"/>
                <a:cs typeface="JetBrains Mono" pitchFamily="34" charset="-120"/>
              </a:rPr>
              <a:t>UNABLE TO VERIFY</a:t>
            </a:r>
            <a:endParaRPr lang="en-US" sz="1000" dirty="0"/>
          </a:p>
        </p:txBody>
      </p:sp>
      <p:sp>
        <p:nvSpPr>
          <p:cNvPr id="45" name="Shape 43"/>
          <p:cNvSpPr/>
          <p:nvPr/>
        </p:nvSpPr>
        <p:spPr>
          <a:xfrm>
            <a:off x="2755910" y="5657850"/>
            <a:ext cx="495330" cy="88880"/>
          </a:xfrm>
          <a:custGeom>
            <a:avLst/>
            <a:gdLst/>
            <a:ahLst/>
            <a:cxnLst/>
            <a:rect l="l" t="t" r="r" b="b"/>
            <a:pathLst>
              <a:path w="495330" h="88880">
                <a:moveTo>
                  <a:pt x="12710" y="44440"/>
                </a:moveTo>
                <a:lnTo>
                  <a:pt x="482620" y="44440"/>
                </a:lnTo>
                <a:moveTo>
                  <a:pt x="426750" y="74889"/>
                </a:moveTo>
                <a:lnTo>
                  <a:pt x="482620" y="44440"/>
                </a:lnTo>
                <a:lnTo>
                  <a:pt x="426750" y="13990"/>
                </a:lnTo>
              </a:path>
            </a:pathLst>
          </a:custGeom>
          <a:ln w="12700">
            <a:solidFill>
              <a:srgbClr val="16181B">
                <a:alpha val="18000"/>
              </a:srgbClr>
            </a:solidFill>
            <a:prstDash val="solid"/>
          </a:ln>
        </p:spPr>
      </p:sp>
      <p:sp>
        <p:nvSpPr>
          <p:cNvPr id="46" name="Text 43"/>
          <p:cNvSpPr/>
          <p:nvPr/>
        </p:nvSpPr>
        <p:spPr>
          <a:xfrm>
            <a:off x="3352830" y="5600700"/>
            <a:ext cx="5333970" cy="228600"/>
          </a:xfrm>
          <a:prstGeom prst="rect">
            <a:avLst/>
          </a:prstGeom>
          <a:noFill/>
          <a:ln/>
        </p:spPr>
        <p:txBody>
          <a:bodyPr wrap="square" lIns="0" tIns="0" rIns="0" bIns="0" rtlCol="0" anchor="t"/>
          <a:lstStyle/>
          <a:p>
            <a:pPr algn="l" indent="0" marL="0">
              <a:lnSpc>
                <a:spcPct val="130000"/>
              </a:lnSpc>
              <a:buNone/>
            </a:pPr>
            <a:r>
              <a:rPr lang="en-US" sz="1200" dirty="0">
                <a:solidFill>
                  <a:srgbClr val="16181B"/>
                </a:solidFill>
                <a:latin typeface="Inter" pitchFamily="34" charset="0"/>
                <a:ea typeface="Inter" pitchFamily="34" charset="-122"/>
                <a:cs typeface="Inter" pitchFamily="34" charset="-120"/>
              </a:rPr>
              <a:t>escalated to a person; no money moves (P3)</a:t>
            </a:r>
            <a:endParaRPr lang="en-US" sz="1200" dirty="0"/>
          </a:p>
        </p:txBody>
      </p:sp>
      <p:sp>
        <p:nvSpPr>
          <p:cNvPr id="47" name="Shape 45"/>
          <p:cNvSpPr/>
          <p:nvPr/>
        </p:nvSpPr>
        <p:spPr>
          <a:xfrm>
            <a:off x="9144000" y="952530"/>
            <a:ext cx="2286000" cy="5080041"/>
          </a:xfrm>
          <a:prstGeom prst="roundRect">
            <a:avLst>
              <a:gd name="adj" fmla="val 13056"/>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48" name="Image 0" descr="Clinic mode: app-upgrade-b-delivery-held-390-390c">    </p:cNvPr>
          <p:cNvPicPr>
            <a:picLocks noChangeAspect="1"/>
          </p:cNvPicPr>
          <p:nvPr/>
        </p:nvPicPr>
        <p:blipFill>
          <a:blip r:embed="rId1"/>
          <a:stretch>
            <a:fillRect/>
          </a:stretch>
        </p:blipFill>
        <p:spPr>
          <a:xfrm>
            <a:off x="9207459" y="1015990"/>
            <a:ext cx="2158990" cy="4953030"/>
          </a:xfrm>
          <a:prstGeom prst="rect">
            <a:avLst/>
          </a:prstGeom>
        </p:spPr>
      </p:pic>
      <p:sp>
        <p:nvSpPr>
          <p:cNvPr id="49" name="Text 46"/>
          <p:cNvSpPr/>
          <p:nvPr/>
        </p:nvSpPr>
        <p:spPr>
          <a:xfrm>
            <a:off x="9144000" y="6108741"/>
            <a:ext cx="2286000" cy="165141"/>
          </a:xfrm>
          <a:prstGeom prst="rect">
            <a:avLst/>
          </a:prstGeom>
          <a:noFill/>
          <a:ln/>
        </p:spPr>
        <p:txBody>
          <a:bodyPr wrap="square" lIns="0" tIns="0" rIns="0" bIns="0" rtlCol="0" anchor="t"/>
          <a:lstStyle/>
          <a:p>
            <a:pPr algn="ctr" indent="0" marL="0">
              <a:lnSpc>
                <a:spcPct val="140000"/>
              </a:lnSpc>
              <a:buNone/>
            </a:pPr>
            <a:r>
              <a:rPr lang="en-US" sz="800" dirty="0">
                <a:solidFill>
                  <a:srgbClr val="7C8188"/>
                </a:solidFill>
                <a:latin typeface="JetBrains Mono" pitchFamily="34" charset="0"/>
                <a:ea typeface="JetBrains Mono" pitchFamily="34" charset="-122"/>
                <a:cs typeface="JetBrains Mono" pitchFamily="34" charset="-120"/>
              </a:rPr>
              <a:t>app · delivery held under P2</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970" cy="6858000"/>
          </a:xfrm>
          <a:prstGeom prst="rect">
            <a:avLst/>
          </a:prstGeom>
          <a:solidFill>
            <a:srgbClr val="7A5CFF">
              <a:alpha val="10000"/>
            </a:srgbClr>
          </a:solidFill>
          <a:ln/>
        </p:spPr>
      </p:sp>
      <p:sp>
        <p:nvSpPr>
          <p:cNvPr id="3" name="Shape 1"/>
          <p:cNvSpPr/>
          <p:nvPr/>
        </p:nvSpPr>
        <p:spPr>
          <a:xfrm>
            <a:off x="761970" y="355610"/>
            <a:ext cx="325161" cy="142281"/>
          </a:xfrm>
          <a:prstGeom prst="roundRect">
            <a:avLst>
              <a:gd name="adj" fmla="val 50000"/>
            </a:avLst>
          </a:prstGeom>
          <a:solidFill>
            <a:srgbClr val="FFFFFF"/>
          </a:solidFill>
          <a:ln/>
        </p:spPr>
      </p:sp>
      <p:sp>
        <p:nvSpPr>
          <p:cNvPr id="4" name="Shape 2"/>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5" name="Shape 3"/>
          <p:cNvSpPr/>
          <p:nvPr/>
        </p:nvSpPr>
        <p:spPr>
          <a:xfrm>
            <a:off x="761970" y="355610"/>
            <a:ext cx="325161" cy="142281"/>
          </a:xfrm>
          <a:prstGeom prst="roundRect">
            <a:avLst>
              <a:gd name="adj" fmla="val 50000"/>
            </a:avLst>
          </a:prstGeom>
          <a:ln w="12700">
            <a:solidFill>
              <a:srgbClr val="16181B"/>
            </a:solidFill>
            <a:prstDash val="solid"/>
          </a:ln>
        </p:spPr>
      </p:sp>
      <p:sp>
        <p:nvSpPr>
          <p:cNvPr id="6" name="Text 3"/>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7" name="Text 4"/>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COINBASE · X402 · PAYMENT AGENTS</a:t>
            </a:r>
            <a:endParaRPr lang="en-US" sz="900" dirty="0"/>
          </a:p>
        </p:txBody>
      </p:sp>
      <p:sp>
        <p:nvSpPr>
          <p:cNvPr id="8" name="Text 5"/>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09 / 21</a:t>
            </a:r>
            <a:endParaRPr lang="en-US" sz="900" dirty="0"/>
          </a:p>
        </p:txBody>
      </p:sp>
      <p:sp>
        <p:nvSpPr>
          <p:cNvPr id="9" name="Shape 7"/>
          <p:cNvSpPr/>
          <p:nvPr/>
        </p:nvSpPr>
        <p:spPr>
          <a:xfrm>
            <a:off x="761970" y="6413510"/>
            <a:ext cx="10668030" cy="12710"/>
          </a:xfrm>
          <a:prstGeom prst="rect">
            <a:avLst/>
          </a:prstGeom>
          <a:solidFill>
            <a:srgbClr val="16181B">
              <a:alpha val="10000"/>
            </a:srgbClr>
          </a:solidFill>
          <a:ln/>
        </p:spPr>
      </p:sp>
      <p:sp>
        <p:nvSpPr>
          <p:cNvPr id="10" name="Text 7"/>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1" name="Title"/>
          <p:cNvSpPr/>
          <p:nvPr/>
        </p:nvSpPr>
        <p:spPr>
          <a:xfrm>
            <a:off x="761970" y="952530"/>
            <a:ext cx="7937541" cy="571500"/>
          </a:xfrm>
          <a:prstGeom prst="rect">
            <a:avLst/>
          </a:prstGeom>
          <a:noFill/>
          <a:ln/>
        </p:spPr>
        <p:txBody>
          <a:bodyPr wrap="square" lIns="0" tIns="0" rIns="0" bIns="0" rtlCol="0" anchor="t"/>
          <a:lstStyle/>
          <a:p>
            <a:pPr algn="l" indent="0" marL="0">
              <a:lnSpc>
                <a:spcPct val="100000"/>
              </a:lnSpc>
              <a:buNone/>
            </a:pPr>
            <a:r>
              <a:rPr lang="en-US" sz="3744" spc="-56" kern="0" dirty="0">
                <a:solidFill>
                  <a:srgbClr val="16181B"/>
                </a:solidFill>
                <a:latin typeface="Instrument Serif" pitchFamily="34" charset="0"/>
                <a:ea typeface="Instrument Serif" pitchFamily="34" charset="-122"/>
                <a:cs typeface="Instrument Serif" pitchFamily="34" charset="-120"/>
              </a:rPr>
              <a:t>The verdict is the invoice.</a:t>
            </a:r>
            <a:endParaRPr lang="en-US" sz="3744" dirty="0"/>
          </a:p>
        </p:txBody>
      </p:sp>
      <p:sp>
        <p:nvSpPr>
          <p:cNvPr id="12" name="Shape 10"/>
          <p:cNvSpPr/>
          <p:nvPr/>
        </p:nvSpPr>
        <p:spPr>
          <a:xfrm>
            <a:off x="761970" y="1790670"/>
            <a:ext cx="2247870" cy="254020"/>
          </a:xfrm>
          <a:prstGeom prst="roundRect">
            <a:avLst>
              <a:gd name="adj" fmla="val 50000"/>
            </a:avLst>
          </a:prstGeom>
          <a:solidFill>
            <a:srgbClr val="7A5CFF">
              <a:alpha val="16000"/>
            </a:srgbClr>
          </a:solidFill>
          <a:ln/>
        </p:spPr>
      </p:sp>
      <p:sp>
        <p:nvSpPr>
          <p:cNvPr id="13" name="Shape 11"/>
          <p:cNvSpPr/>
          <p:nvPr/>
        </p:nvSpPr>
        <p:spPr>
          <a:xfrm>
            <a:off x="888980" y="1885950"/>
            <a:ext cx="63459" cy="63459"/>
          </a:xfrm>
          <a:prstGeom prst="ellipse">
            <a:avLst/>
          </a:prstGeom>
          <a:solidFill>
            <a:srgbClr val="7A5CFF"/>
          </a:solidFill>
          <a:ln/>
        </p:spPr>
      </p:sp>
      <p:sp>
        <p:nvSpPr>
          <p:cNvPr id="14" name="Text 11"/>
          <p:cNvSpPr/>
          <p:nvPr/>
        </p:nvSpPr>
        <p:spPr>
          <a:xfrm>
            <a:off x="1003280" y="1841510"/>
            <a:ext cx="1930390" cy="177759"/>
          </a:xfrm>
          <a:prstGeom prst="rect">
            <a:avLst/>
          </a:prstGeom>
          <a:noFill/>
          <a:ln/>
        </p:spPr>
        <p:txBody>
          <a:bodyPr wrap="square" lIns="0" tIns="0" rIns="0" bIns="0" rtlCol="0" anchor="t"/>
          <a:lstStyle/>
          <a:p>
            <a:pPr algn="l" indent="0" marL="0">
              <a:lnSpc>
                <a:spcPct val="120000"/>
              </a:lnSpc>
              <a:buNone/>
            </a:pPr>
            <a:r>
              <a:rPr lang="en-US" sz="1000" b="1" spc="60" kern="0" dirty="0">
                <a:solidFill>
                  <a:srgbClr val="16181B"/>
                </a:solidFill>
                <a:latin typeface="JetBrains Mono" pitchFamily="34" charset="0"/>
                <a:ea typeface="JetBrains Mono" pitchFamily="34" charset="-122"/>
                <a:cs typeface="JetBrains Mono" pitchFamily="34" charset="-120"/>
              </a:rPr>
              <a:t>TESTNET · BASE SEPOLIA</a:t>
            </a:r>
            <a:endParaRPr lang="en-US" sz="1000" dirty="0"/>
          </a:p>
        </p:txBody>
      </p:sp>
      <p:sp>
        <p:nvSpPr>
          <p:cNvPr id="15" name="Shape 13"/>
          <p:cNvSpPr/>
          <p:nvPr/>
        </p:nvSpPr>
        <p:spPr>
          <a:xfrm>
            <a:off x="3098810" y="1790670"/>
            <a:ext cx="2038380" cy="254020"/>
          </a:xfrm>
          <a:prstGeom prst="roundRect">
            <a:avLst>
              <a:gd name="adj" fmla="val 50000"/>
            </a:avLst>
          </a:prstGeom>
          <a:solidFill>
            <a:srgbClr val="FFFFFF"/>
          </a:solidFill>
          <a:ln w="12700">
            <a:solidFill>
              <a:srgbClr val="16181B">
                <a:alpha val="18000"/>
              </a:srgbClr>
            </a:solidFill>
            <a:prstDash val="solid"/>
          </a:ln>
        </p:spPr>
      </p:sp>
      <p:sp>
        <p:nvSpPr>
          <p:cNvPr id="16" name="Text 13"/>
          <p:cNvSpPr/>
          <p:nvPr/>
        </p:nvSpPr>
        <p:spPr>
          <a:xfrm>
            <a:off x="3098810" y="1841510"/>
            <a:ext cx="2038380" cy="177759"/>
          </a:xfrm>
          <a:prstGeom prst="rect">
            <a:avLst/>
          </a:prstGeom>
          <a:noFill/>
          <a:ln/>
        </p:spPr>
        <p:txBody>
          <a:bodyPr wrap="square" lIns="0" tIns="0" rIns="0" bIns="0" rtlCol="0" anchor="t"/>
          <a:lstStyle/>
          <a:p>
            <a:pPr algn="ctr" indent="0" marL="0">
              <a:lnSpc>
                <a:spcPct val="120000"/>
              </a:lnSpc>
              <a:buNone/>
            </a:pPr>
            <a:r>
              <a:rPr lang="en-US" sz="1000" b="1" spc="60" kern="0" dirty="0">
                <a:solidFill>
                  <a:srgbClr val="16181B"/>
                </a:solidFill>
                <a:latin typeface="JetBrains Mono" pitchFamily="34" charset="0"/>
                <a:ea typeface="JetBrains Mono" pitchFamily="34" charset="-122"/>
                <a:cs typeface="JetBrains Mono" pitchFamily="34" charset="-120"/>
              </a:rPr>
              <a:t>0.05 USDC PER VERDICT</a:t>
            </a:r>
            <a:endParaRPr lang="en-US" sz="1000" dirty="0"/>
          </a:p>
        </p:txBody>
      </p:sp>
      <p:sp>
        <p:nvSpPr>
          <p:cNvPr id="17" name="Shape 15"/>
          <p:cNvSpPr/>
          <p:nvPr/>
        </p:nvSpPr>
        <p:spPr>
          <a:xfrm>
            <a:off x="761970" y="2413010"/>
            <a:ext cx="1714500" cy="1841510"/>
          </a:xfrm>
          <a:prstGeom prst="roundRect">
            <a:avLst>
              <a:gd name="adj" fmla="val 8891"/>
            </a:avLst>
          </a:prstGeom>
          <a:solidFill>
            <a:srgbClr val="FFFFFF"/>
          </a:solidFill>
          <a:ln w="12700">
            <a:solidFill>
              <a:srgbClr val="7A5CFF">
                <a:alpha val="30000"/>
              </a:srgbClr>
            </a:solidFill>
            <a:prstDash val="solid"/>
          </a:ln>
        </p:spPr>
      </p:sp>
      <p:sp>
        <p:nvSpPr>
          <p:cNvPr id="18" name="Shape 16"/>
          <p:cNvSpPr/>
          <p:nvPr/>
        </p:nvSpPr>
        <p:spPr>
          <a:xfrm>
            <a:off x="939820" y="2590770"/>
            <a:ext cx="304770" cy="38130"/>
          </a:xfrm>
          <a:prstGeom prst="roundRect">
            <a:avLst>
              <a:gd name="adj" fmla="val 49881"/>
            </a:avLst>
          </a:prstGeom>
          <a:solidFill>
            <a:srgbClr val="7A5CFF"/>
          </a:solidFill>
          <a:ln/>
        </p:spPr>
      </p:sp>
      <p:sp>
        <p:nvSpPr>
          <p:cNvPr id="19" name="Text 16"/>
          <p:cNvSpPr/>
          <p:nvPr/>
        </p:nvSpPr>
        <p:spPr>
          <a:xfrm>
            <a:off x="939820" y="2730490"/>
            <a:ext cx="1358890" cy="450891"/>
          </a:xfrm>
          <a:prstGeom prst="rect">
            <a:avLst/>
          </a:prstGeom>
          <a:noFill/>
          <a:ln/>
        </p:spPr>
        <p:txBody>
          <a:bodyPr wrap="square" lIns="0" tIns="0" rIns="0" bIns="0" rtlCol="0" anchor="t"/>
          <a:lstStyle/>
          <a:p>
            <a:pPr algn="l" indent="0" marL="0">
              <a:lnSpc>
                <a:spcPct val="110000"/>
              </a:lnSpc>
              <a:buNone/>
            </a:pPr>
            <a:r>
              <a:rPr lang="en-US" sz="2700" b="1" dirty="0">
                <a:solidFill>
                  <a:srgbClr val="16181B"/>
                </a:solidFill>
                <a:latin typeface="JetBrains Mono" pitchFamily="34" charset="0"/>
                <a:ea typeface="JetBrains Mono" pitchFamily="34" charset="-122"/>
                <a:cs typeface="JetBrains Mono" pitchFamily="34" charset="-120"/>
              </a:rPr>
              <a:t>402</a:t>
            </a:r>
            <a:endParaRPr lang="en-US" sz="2700" dirty="0"/>
          </a:p>
        </p:txBody>
      </p:sp>
      <p:sp>
        <p:nvSpPr>
          <p:cNvPr id="20" name="Text 17"/>
          <p:cNvSpPr/>
          <p:nvPr/>
        </p:nvSpPr>
        <p:spPr>
          <a:xfrm>
            <a:off x="939820" y="3251241"/>
            <a:ext cx="1358890" cy="704820"/>
          </a:xfrm>
          <a:prstGeom prst="rect">
            <a:avLst/>
          </a:prstGeom>
          <a:noFill/>
          <a:ln/>
        </p:spPr>
        <p:txBody>
          <a:bodyPr wrap="square" lIns="0" tIns="0" rIns="0" bIns="0" rtlCol="0" anchor="t"/>
          <a:lstStyle/>
          <a:p>
            <a:pPr algn="l" indent="0" marL="0">
              <a:lnSpc>
                <a:spcPct val="140000"/>
              </a:lnSpc>
              <a:buNone/>
            </a:pPr>
            <a:r>
              <a:rPr lang="en-US" sz="950" dirty="0">
                <a:solidFill>
                  <a:srgbClr val="4A4E55"/>
                </a:solidFill>
                <a:latin typeface="Inter" pitchFamily="34" charset="0"/>
                <a:ea typeface="Inter" pitchFamily="34" charset="-122"/>
                <a:cs typeface="Inter" pitchFamily="34" charset="-120"/>
              </a:rPr>
              <a:t>The server answers “Payment Required”: 0.05 USDC on Base Sepolia.</a:t>
            </a:r>
            <a:endParaRPr lang="en-US" sz="950" dirty="0"/>
          </a:p>
        </p:txBody>
      </p:sp>
      <p:sp>
        <p:nvSpPr>
          <p:cNvPr id="21" name="Shape 19"/>
          <p:cNvSpPr/>
          <p:nvPr/>
        </p:nvSpPr>
        <p:spPr>
          <a:xfrm>
            <a:off x="2508291" y="3282970"/>
            <a:ext cx="254020" cy="101590"/>
          </a:xfrm>
          <a:custGeom>
            <a:avLst/>
            <a:gdLst/>
            <a:ahLst/>
            <a:cxnLst/>
            <a:rect l="l" t="t" r="r" b="b"/>
            <a:pathLst>
              <a:path w="254020" h="101590">
                <a:moveTo>
                  <a:pt x="19020" y="50841"/>
                </a:moveTo>
                <a:lnTo>
                  <a:pt x="234909" y="50841"/>
                </a:lnTo>
                <a:moveTo>
                  <a:pt x="179040" y="81290"/>
                </a:moveTo>
                <a:lnTo>
                  <a:pt x="234909" y="50841"/>
                </a:lnTo>
                <a:lnTo>
                  <a:pt x="179040" y="20300"/>
                </a:lnTo>
              </a:path>
            </a:pathLst>
          </a:custGeom>
          <a:ln w="19050">
            <a:solidFill>
              <a:srgbClr val="7A5CFF"/>
            </a:solidFill>
            <a:prstDash val="solid"/>
          </a:ln>
        </p:spPr>
      </p:sp>
      <p:sp>
        <p:nvSpPr>
          <p:cNvPr id="22" name="Shape 20"/>
          <p:cNvSpPr/>
          <p:nvPr/>
        </p:nvSpPr>
        <p:spPr>
          <a:xfrm>
            <a:off x="2794041" y="2413010"/>
            <a:ext cx="1714500" cy="1841510"/>
          </a:xfrm>
          <a:prstGeom prst="roundRect">
            <a:avLst>
              <a:gd name="adj" fmla="val 8891"/>
            </a:avLst>
          </a:prstGeom>
          <a:solidFill>
            <a:srgbClr val="FFFFFF"/>
          </a:solidFill>
          <a:ln w="12700">
            <a:solidFill>
              <a:srgbClr val="7A5CFF">
                <a:alpha val="30000"/>
              </a:srgbClr>
            </a:solidFill>
            <a:prstDash val="solid"/>
          </a:ln>
        </p:spPr>
      </p:sp>
      <p:sp>
        <p:nvSpPr>
          <p:cNvPr id="23" name="Shape 21"/>
          <p:cNvSpPr/>
          <p:nvPr/>
        </p:nvSpPr>
        <p:spPr>
          <a:xfrm>
            <a:off x="2971800" y="2590770"/>
            <a:ext cx="304770" cy="38130"/>
          </a:xfrm>
          <a:prstGeom prst="roundRect">
            <a:avLst>
              <a:gd name="adj" fmla="val 49881"/>
            </a:avLst>
          </a:prstGeom>
          <a:solidFill>
            <a:srgbClr val="7A5CFF"/>
          </a:solidFill>
          <a:ln/>
        </p:spPr>
      </p:sp>
      <p:sp>
        <p:nvSpPr>
          <p:cNvPr id="24" name="Text 21"/>
          <p:cNvSpPr/>
          <p:nvPr/>
        </p:nvSpPr>
        <p:spPr>
          <a:xfrm>
            <a:off x="2971800" y="2730490"/>
            <a:ext cx="1358890" cy="450891"/>
          </a:xfrm>
          <a:prstGeom prst="rect">
            <a:avLst/>
          </a:prstGeom>
          <a:noFill/>
          <a:ln/>
        </p:spPr>
        <p:txBody>
          <a:bodyPr wrap="square" lIns="0" tIns="0" rIns="0" bIns="0" rtlCol="0" anchor="t"/>
          <a:lstStyle/>
          <a:p>
            <a:pPr algn="l" indent="0" marL="0">
              <a:lnSpc>
                <a:spcPct val="110000"/>
              </a:lnSpc>
              <a:buNone/>
            </a:pPr>
            <a:r>
              <a:rPr lang="en-US" sz="2700" b="1" dirty="0">
                <a:solidFill>
                  <a:srgbClr val="16181B"/>
                </a:solidFill>
                <a:latin typeface="JetBrains Mono" pitchFamily="34" charset="0"/>
                <a:ea typeface="JetBrains Mono" pitchFamily="34" charset="-122"/>
                <a:cs typeface="JetBrains Mono" pitchFamily="34" charset="-120"/>
              </a:rPr>
              <a:t>sign</a:t>
            </a:r>
            <a:endParaRPr lang="en-US" sz="2700" dirty="0"/>
          </a:p>
        </p:txBody>
      </p:sp>
      <p:sp>
        <p:nvSpPr>
          <p:cNvPr id="25" name="Text 22"/>
          <p:cNvSpPr/>
          <p:nvPr/>
        </p:nvSpPr>
        <p:spPr>
          <a:xfrm>
            <a:off x="2971800" y="3251241"/>
            <a:ext cx="1358890" cy="869960"/>
          </a:xfrm>
          <a:prstGeom prst="rect">
            <a:avLst/>
          </a:prstGeom>
          <a:noFill/>
          <a:ln/>
        </p:spPr>
        <p:txBody>
          <a:bodyPr wrap="square" lIns="0" tIns="0" rIns="0" bIns="0" rtlCol="0" anchor="t"/>
          <a:lstStyle/>
          <a:p>
            <a:pPr algn="l" indent="0" marL="0">
              <a:lnSpc>
                <a:spcPct val="140000"/>
              </a:lnSpc>
              <a:buNone/>
            </a:pPr>
            <a:r>
              <a:rPr lang="en-US" sz="950" dirty="0">
                <a:solidFill>
                  <a:srgbClr val="4A4E55"/>
                </a:solidFill>
                <a:latin typeface="Inter" pitchFamily="34" charset="0"/>
                <a:ea typeface="Inter" pitchFamily="34" charset="-122"/>
                <a:cs typeface="Inter" pitchFamily="34" charset="-120"/>
              </a:rPr>
              <a:t>The buyer’s wallet signs that exact payment; over its spend cap, it refuses.</a:t>
            </a:r>
            <a:endParaRPr lang="en-US" sz="950" dirty="0"/>
          </a:p>
        </p:txBody>
      </p:sp>
      <p:sp>
        <p:nvSpPr>
          <p:cNvPr id="26" name="Shape 24"/>
          <p:cNvSpPr/>
          <p:nvPr/>
        </p:nvSpPr>
        <p:spPr>
          <a:xfrm>
            <a:off x="4540270" y="3282970"/>
            <a:ext cx="254020" cy="101590"/>
          </a:xfrm>
          <a:custGeom>
            <a:avLst/>
            <a:gdLst/>
            <a:ahLst/>
            <a:cxnLst/>
            <a:rect l="l" t="t" r="r" b="b"/>
            <a:pathLst>
              <a:path w="254020" h="101590">
                <a:moveTo>
                  <a:pt x="19020" y="50841"/>
                </a:moveTo>
                <a:lnTo>
                  <a:pt x="234909" y="50841"/>
                </a:lnTo>
                <a:moveTo>
                  <a:pt x="179040" y="81290"/>
                </a:moveTo>
                <a:lnTo>
                  <a:pt x="234909" y="50841"/>
                </a:lnTo>
                <a:lnTo>
                  <a:pt x="179040" y="20300"/>
                </a:lnTo>
              </a:path>
            </a:pathLst>
          </a:custGeom>
          <a:ln w="19050">
            <a:solidFill>
              <a:srgbClr val="7A5CFF"/>
            </a:solidFill>
            <a:prstDash val="solid"/>
          </a:ln>
        </p:spPr>
      </p:sp>
      <p:sp>
        <p:nvSpPr>
          <p:cNvPr id="27" name="Shape 25"/>
          <p:cNvSpPr/>
          <p:nvPr/>
        </p:nvSpPr>
        <p:spPr>
          <a:xfrm>
            <a:off x="4826020" y="2413010"/>
            <a:ext cx="1714500" cy="1841510"/>
          </a:xfrm>
          <a:prstGeom prst="roundRect">
            <a:avLst>
              <a:gd name="adj" fmla="val 8891"/>
            </a:avLst>
          </a:prstGeom>
          <a:solidFill>
            <a:srgbClr val="FFFFFF"/>
          </a:solidFill>
          <a:ln w="12700">
            <a:solidFill>
              <a:srgbClr val="7A5CFF">
                <a:alpha val="30000"/>
              </a:srgbClr>
            </a:solidFill>
            <a:prstDash val="solid"/>
          </a:ln>
        </p:spPr>
      </p:sp>
      <p:sp>
        <p:nvSpPr>
          <p:cNvPr id="28" name="Shape 26"/>
          <p:cNvSpPr/>
          <p:nvPr/>
        </p:nvSpPr>
        <p:spPr>
          <a:xfrm>
            <a:off x="5003780" y="2590770"/>
            <a:ext cx="304770" cy="38130"/>
          </a:xfrm>
          <a:prstGeom prst="roundRect">
            <a:avLst>
              <a:gd name="adj" fmla="val 49881"/>
            </a:avLst>
          </a:prstGeom>
          <a:solidFill>
            <a:srgbClr val="7A5CFF"/>
          </a:solidFill>
          <a:ln/>
        </p:spPr>
      </p:sp>
      <p:sp>
        <p:nvSpPr>
          <p:cNvPr id="29" name="Text 26"/>
          <p:cNvSpPr/>
          <p:nvPr/>
        </p:nvSpPr>
        <p:spPr>
          <a:xfrm>
            <a:off x="5003780" y="2730490"/>
            <a:ext cx="1358890" cy="450891"/>
          </a:xfrm>
          <a:prstGeom prst="rect">
            <a:avLst/>
          </a:prstGeom>
          <a:noFill/>
          <a:ln/>
        </p:spPr>
        <p:txBody>
          <a:bodyPr wrap="square" lIns="0" tIns="0" rIns="0" bIns="0" rtlCol="0" anchor="t"/>
          <a:lstStyle/>
          <a:p>
            <a:pPr algn="l" indent="0" marL="0">
              <a:lnSpc>
                <a:spcPct val="110000"/>
              </a:lnSpc>
              <a:buNone/>
            </a:pPr>
            <a:r>
              <a:rPr lang="en-US" sz="2700" b="1" dirty="0">
                <a:solidFill>
                  <a:srgbClr val="16181B"/>
                </a:solidFill>
                <a:latin typeface="JetBrains Mono" pitchFamily="34" charset="0"/>
                <a:ea typeface="JetBrains Mono" pitchFamily="34" charset="-122"/>
                <a:cs typeface="JetBrains Mono" pitchFamily="34" charset="-120"/>
              </a:rPr>
              <a:t>settle</a:t>
            </a:r>
            <a:endParaRPr lang="en-US" sz="2700" dirty="0"/>
          </a:p>
        </p:txBody>
      </p:sp>
      <p:sp>
        <p:nvSpPr>
          <p:cNvPr id="30" name="Text 27"/>
          <p:cNvSpPr/>
          <p:nvPr/>
        </p:nvSpPr>
        <p:spPr>
          <a:xfrm>
            <a:off x="5003780" y="3251241"/>
            <a:ext cx="1358890" cy="704820"/>
          </a:xfrm>
          <a:prstGeom prst="rect">
            <a:avLst/>
          </a:prstGeom>
          <a:noFill/>
          <a:ln/>
        </p:spPr>
        <p:txBody>
          <a:bodyPr wrap="square" lIns="0" tIns="0" rIns="0" bIns="0" rtlCol="0" anchor="t"/>
          <a:lstStyle/>
          <a:p>
            <a:pPr algn="l" indent="0" marL="0">
              <a:lnSpc>
                <a:spcPct val="140000"/>
              </a:lnSpc>
              <a:buNone/>
            </a:pPr>
            <a:r>
              <a:rPr lang="en-US" sz="950" dirty="0">
                <a:solidFill>
                  <a:srgbClr val="4A4E55"/>
                </a:solidFill>
                <a:latin typeface="Inter" pitchFamily="34" charset="0"/>
                <a:ea typeface="Inter" pitchFamily="34" charset="-122"/>
                <a:cs typeface="Inter" pitchFamily="34" charset="-120"/>
              </a:rPr>
              <a:t>The facilitator settles it on Base Sepolia. TESTNET USDC only.</a:t>
            </a:r>
            <a:endParaRPr lang="en-US" sz="950" dirty="0"/>
          </a:p>
        </p:txBody>
      </p:sp>
      <p:sp>
        <p:nvSpPr>
          <p:cNvPr id="31" name="Shape 29"/>
          <p:cNvSpPr/>
          <p:nvPr/>
        </p:nvSpPr>
        <p:spPr>
          <a:xfrm>
            <a:off x="6572250" y="3282970"/>
            <a:ext cx="254020" cy="101590"/>
          </a:xfrm>
          <a:custGeom>
            <a:avLst/>
            <a:gdLst/>
            <a:ahLst/>
            <a:cxnLst/>
            <a:rect l="l" t="t" r="r" b="b"/>
            <a:pathLst>
              <a:path w="254020" h="101590">
                <a:moveTo>
                  <a:pt x="19020" y="50841"/>
                </a:moveTo>
                <a:lnTo>
                  <a:pt x="234909" y="50841"/>
                </a:lnTo>
                <a:moveTo>
                  <a:pt x="179040" y="81290"/>
                </a:moveTo>
                <a:lnTo>
                  <a:pt x="234909" y="50841"/>
                </a:lnTo>
                <a:lnTo>
                  <a:pt x="179040" y="20300"/>
                </a:lnTo>
              </a:path>
            </a:pathLst>
          </a:custGeom>
          <a:ln w="19050">
            <a:solidFill>
              <a:srgbClr val="7A5CFF"/>
            </a:solidFill>
            <a:prstDash val="solid"/>
          </a:ln>
        </p:spPr>
      </p:sp>
      <p:sp>
        <p:nvSpPr>
          <p:cNvPr id="32" name="Shape 30"/>
          <p:cNvSpPr/>
          <p:nvPr/>
        </p:nvSpPr>
        <p:spPr>
          <a:xfrm>
            <a:off x="6858000" y="2413010"/>
            <a:ext cx="1714500" cy="1841510"/>
          </a:xfrm>
          <a:prstGeom prst="roundRect">
            <a:avLst>
              <a:gd name="adj" fmla="val 8891"/>
            </a:avLst>
          </a:prstGeom>
          <a:solidFill>
            <a:srgbClr val="FFFFFF"/>
          </a:solidFill>
          <a:ln w="12700">
            <a:solidFill>
              <a:srgbClr val="7A5CFF">
                <a:alpha val="30000"/>
              </a:srgbClr>
            </a:solidFill>
            <a:prstDash val="solid"/>
          </a:ln>
        </p:spPr>
      </p:sp>
      <p:sp>
        <p:nvSpPr>
          <p:cNvPr id="33" name="Shape 31"/>
          <p:cNvSpPr/>
          <p:nvPr/>
        </p:nvSpPr>
        <p:spPr>
          <a:xfrm>
            <a:off x="7035759" y="2590770"/>
            <a:ext cx="304770" cy="38130"/>
          </a:xfrm>
          <a:prstGeom prst="roundRect">
            <a:avLst>
              <a:gd name="adj" fmla="val 49881"/>
            </a:avLst>
          </a:prstGeom>
          <a:solidFill>
            <a:srgbClr val="7A5CFF"/>
          </a:solidFill>
          <a:ln/>
        </p:spPr>
      </p:sp>
      <p:sp>
        <p:nvSpPr>
          <p:cNvPr id="34" name="Text 31"/>
          <p:cNvSpPr/>
          <p:nvPr/>
        </p:nvSpPr>
        <p:spPr>
          <a:xfrm>
            <a:off x="7035759" y="2730490"/>
            <a:ext cx="1358890" cy="450891"/>
          </a:xfrm>
          <a:prstGeom prst="rect">
            <a:avLst/>
          </a:prstGeom>
          <a:noFill/>
          <a:ln/>
        </p:spPr>
        <p:txBody>
          <a:bodyPr wrap="square" lIns="0" tIns="0" rIns="0" bIns="0" rtlCol="0" anchor="t"/>
          <a:lstStyle/>
          <a:p>
            <a:pPr algn="l" indent="0" marL="0">
              <a:lnSpc>
                <a:spcPct val="110000"/>
              </a:lnSpc>
              <a:buNone/>
            </a:pPr>
            <a:r>
              <a:rPr lang="en-US" sz="2700" b="1" dirty="0">
                <a:solidFill>
                  <a:srgbClr val="16181B"/>
                </a:solidFill>
                <a:latin typeface="JetBrains Mono" pitchFamily="34" charset="0"/>
                <a:ea typeface="JetBrains Mono" pitchFamily="34" charset="-122"/>
                <a:cs typeface="JetBrains Mono" pitchFamily="34" charset="-120"/>
              </a:rPr>
              <a:t>200</a:t>
            </a:r>
            <a:endParaRPr lang="en-US" sz="2700" dirty="0"/>
          </a:p>
        </p:txBody>
      </p:sp>
      <p:sp>
        <p:nvSpPr>
          <p:cNvPr id="35" name="Text 32"/>
          <p:cNvSpPr/>
          <p:nvPr/>
        </p:nvSpPr>
        <p:spPr>
          <a:xfrm>
            <a:off x="7035759" y="3251241"/>
            <a:ext cx="1358890" cy="704820"/>
          </a:xfrm>
          <a:prstGeom prst="rect">
            <a:avLst/>
          </a:prstGeom>
          <a:noFill/>
          <a:ln/>
        </p:spPr>
        <p:txBody>
          <a:bodyPr wrap="square" lIns="0" tIns="0" rIns="0" bIns="0" rtlCol="0" anchor="t"/>
          <a:lstStyle/>
          <a:p>
            <a:pPr algn="l" indent="0" marL="0">
              <a:lnSpc>
                <a:spcPct val="140000"/>
              </a:lnSpc>
              <a:buNone/>
            </a:pPr>
            <a:r>
              <a:rPr lang="en-US" sz="950" dirty="0">
                <a:solidFill>
                  <a:srgbClr val="4A4E55"/>
                </a:solidFill>
                <a:latin typeface="Inter" pitchFamily="34" charset="0"/>
                <a:ea typeface="Inter" pitchFamily="34" charset="-122"/>
                <a:cs typeface="Inter" pitchFamily="34" charset="-120"/>
              </a:rPr>
              <a:t>The server answers with the verdict and the rule id that fired.</a:t>
            </a:r>
            <a:endParaRPr lang="en-US" sz="950" dirty="0"/>
          </a:p>
        </p:txBody>
      </p:sp>
      <p:sp>
        <p:nvSpPr>
          <p:cNvPr id="36" name="Shape 34"/>
          <p:cNvSpPr/>
          <p:nvPr/>
        </p:nvSpPr>
        <p:spPr>
          <a:xfrm>
            <a:off x="761970" y="4610130"/>
            <a:ext cx="38130" cy="952530"/>
          </a:xfrm>
          <a:prstGeom prst="roundRect">
            <a:avLst>
              <a:gd name="adj" fmla="val 49881"/>
            </a:avLst>
          </a:prstGeom>
          <a:solidFill>
            <a:srgbClr val="7A5CFF"/>
          </a:solidFill>
          <a:ln/>
        </p:spPr>
      </p:sp>
      <p:sp>
        <p:nvSpPr>
          <p:cNvPr id="37" name="Text 34"/>
          <p:cNvSpPr/>
          <p:nvPr/>
        </p:nvSpPr>
        <p:spPr>
          <a:xfrm>
            <a:off x="939820" y="4610130"/>
            <a:ext cx="2286000" cy="184160"/>
          </a:xfrm>
          <a:prstGeom prst="rect">
            <a:avLst/>
          </a:prstGeom>
          <a:noFill/>
          <a:ln/>
        </p:spPr>
        <p:txBody>
          <a:bodyPr wrap="square" lIns="0" tIns="0" rIns="0" bIns="0" rtlCol="0" anchor="t"/>
          <a:lstStyle/>
          <a:p>
            <a:pPr algn="l" indent="0" marL="0">
              <a:lnSpc>
                <a:spcPct val="140000"/>
              </a:lnSpc>
              <a:buNone/>
            </a:pPr>
            <a:r>
              <a:rPr lang="en-US" sz="900" dirty="0">
                <a:solidFill>
                  <a:srgbClr val="4A4E55"/>
                </a:solidFill>
                <a:latin typeface="JetBrains Mono" pitchFamily="34" charset="0"/>
                <a:ea typeface="JetBrains Mono" pitchFamily="34" charset="-122"/>
                <a:cs typeface="JetBrains Mono" pitchFamily="34" charset="-120"/>
              </a:rPr>
              <a:t>01</a:t>
            </a:r>
            <a:endParaRPr lang="en-US" sz="900" dirty="0"/>
          </a:p>
        </p:txBody>
      </p:sp>
      <p:sp>
        <p:nvSpPr>
          <p:cNvPr id="38" name="Text 35"/>
          <p:cNvSpPr/>
          <p:nvPr/>
        </p:nvSpPr>
        <p:spPr>
          <a:xfrm>
            <a:off x="939820" y="4800600"/>
            <a:ext cx="2286000" cy="266730"/>
          </a:xfrm>
          <a:prstGeom prst="rect">
            <a:avLst/>
          </a:prstGeom>
          <a:noFill/>
          <a:ln/>
        </p:spPr>
        <p:txBody>
          <a:bodyPr wrap="square" lIns="0" tIns="0" rIns="0" bIns="0" rtlCol="0" anchor="t"/>
          <a:lstStyle/>
          <a:p>
            <a:pPr algn="l" indent="0" marL="0">
              <a:lnSpc>
                <a:spcPct val="120000"/>
              </a:lnSpc>
              <a:buNone/>
            </a:pPr>
            <a:r>
              <a:rPr lang="en-US" sz="1500" b="1" dirty="0">
                <a:solidFill>
                  <a:srgbClr val="16181B"/>
                </a:solidFill>
                <a:latin typeface="Inter" pitchFamily="34" charset="0"/>
                <a:ea typeface="Inter" pitchFamily="34" charset="-122"/>
                <a:cs typeface="Inter" pitchFamily="34" charset="-120"/>
              </a:rPr>
              <a:t>Pay</a:t>
            </a:r>
            <a:endParaRPr lang="en-US" sz="1500" dirty="0"/>
          </a:p>
        </p:txBody>
      </p:sp>
      <p:sp>
        <p:nvSpPr>
          <p:cNvPr id="39" name="Text 36"/>
          <p:cNvSpPr/>
          <p:nvPr/>
        </p:nvSpPr>
        <p:spPr>
          <a:xfrm>
            <a:off x="939820" y="5080041"/>
            <a:ext cx="2349459" cy="400050"/>
          </a:xfrm>
          <a:prstGeom prst="rect">
            <a:avLst/>
          </a:prstGeom>
          <a:noFill/>
          <a:ln/>
        </p:spPr>
        <p:txBody>
          <a:bodyPr wrap="square" lIns="0" tIns="0" rIns="0" bIns="0" rtlCol="0" anchor="t"/>
          <a:lstStyle/>
          <a:p>
            <a:pPr algn="l" indent="0" marL="0">
              <a:lnSpc>
                <a:spcPct val="140000"/>
              </a:lnSpc>
              <a:buNone/>
            </a:pPr>
            <a:r>
              <a:rPr lang="en-US" sz="1050" dirty="0">
                <a:solidFill>
                  <a:srgbClr val="4A4E55"/>
                </a:solidFill>
                <a:latin typeface="Inter" pitchFamily="34" charset="0"/>
                <a:ea typeface="Inter" pitchFamily="34" charset="-122"/>
                <a:cs typeface="Inter" pitchFamily="34" charset="-120"/>
              </a:rPr>
              <a:t>Escrow → supplier in USDC, only after PASS and a pharmacist’s tap.</a:t>
            </a:r>
            <a:endParaRPr lang="en-US" sz="1050" dirty="0"/>
          </a:p>
        </p:txBody>
      </p:sp>
      <p:sp>
        <p:nvSpPr>
          <p:cNvPr id="40" name="Shape 38"/>
          <p:cNvSpPr/>
          <p:nvPr/>
        </p:nvSpPr>
        <p:spPr>
          <a:xfrm>
            <a:off x="3492459" y="4610130"/>
            <a:ext cx="38130" cy="952530"/>
          </a:xfrm>
          <a:prstGeom prst="roundRect">
            <a:avLst>
              <a:gd name="adj" fmla="val 49881"/>
            </a:avLst>
          </a:prstGeom>
          <a:solidFill>
            <a:srgbClr val="7A5CFF"/>
          </a:solidFill>
          <a:ln/>
        </p:spPr>
      </p:sp>
      <p:sp>
        <p:nvSpPr>
          <p:cNvPr id="41" name="Text 38"/>
          <p:cNvSpPr/>
          <p:nvPr/>
        </p:nvSpPr>
        <p:spPr>
          <a:xfrm>
            <a:off x="3670310" y="4610130"/>
            <a:ext cx="2286000" cy="184160"/>
          </a:xfrm>
          <a:prstGeom prst="rect">
            <a:avLst/>
          </a:prstGeom>
          <a:noFill/>
          <a:ln/>
        </p:spPr>
        <p:txBody>
          <a:bodyPr wrap="square" lIns="0" tIns="0" rIns="0" bIns="0" rtlCol="0" anchor="t"/>
          <a:lstStyle/>
          <a:p>
            <a:pPr algn="l" indent="0" marL="0">
              <a:lnSpc>
                <a:spcPct val="140000"/>
              </a:lnSpc>
              <a:buNone/>
            </a:pPr>
            <a:r>
              <a:rPr lang="en-US" sz="900" dirty="0">
                <a:solidFill>
                  <a:srgbClr val="4A4E55"/>
                </a:solidFill>
                <a:latin typeface="JetBrains Mono" pitchFamily="34" charset="0"/>
                <a:ea typeface="JetBrains Mono" pitchFamily="34" charset="-122"/>
                <a:cs typeface="JetBrains Mono" pitchFamily="34" charset="-120"/>
              </a:rPr>
              <a:t>02</a:t>
            </a:r>
            <a:endParaRPr lang="en-US" sz="900" dirty="0"/>
          </a:p>
        </p:txBody>
      </p:sp>
      <p:sp>
        <p:nvSpPr>
          <p:cNvPr id="42" name="Text 39"/>
          <p:cNvSpPr/>
          <p:nvPr/>
        </p:nvSpPr>
        <p:spPr>
          <a:xfrm>
            <a:off x="3670310" y="4800600"/>
            <a:ext cx="2286000" cy="266730"/>
          </a:xfrm>
          <a:prstGeom prst="rect">
            <a:avLst/>
          </a:prstGeom>
          <a:noFill/>
          <a:ln/>
        </p:spPr>
        <p:txBody>
          <a:bodyPr wrap="square" lIns="0" tIns="0" rIns="0" bIns="0" rtlCol="0" anchor="t"/>
          <a:lstStyle/>
          <a:p>
            <a:pPr algn="l" indent="0" marL="0">
              <a:lnSpc>
                <a:spcPct val="120000"/>
              </a:lnSpc>
              <a:buNone/>
            </a:pPr>
            <a:r>
              <a:rPr lang="en-US" sz="1500" b="1" dirty="0">
                <a:solidFill>
                  <a:srgbClr val="16181B"/>
                </a:solidFill>
                <a:latin typeface="Inter" pitchFamily="34" charset="0"/>
                <a:ea typeface="Inter" pitchFamily="34" charset="-122"/>
                <a:cs typeface="Inter" pitchFamily="34" charset="-120"/>
              </a:rPr>
              <a:t>Buy</a:t>
            </a:r>
            <a:endParaRPr lang="en-US" sz="1500" dirty="0"/>
          </a:p>
        </p:txBody>
      </p:sp>
      <p:sp>
        <p:nvSpPr>
          <p:cNvPr id="43" name="Text 40"/>
          <p:cNvSpPr/>
          <p:nvPr/>
        </p:nvSpPr>
        <p:spPr>
          <a:xfrm>
            <a:off x="3670310" y="5080041"/>
            <a:ext cx="2349459" cy="590520"/>
          </a:xfrm>
          <a:prstGeom prst="rect">
            <a:avLst/>
          </a:prstGeom>
          <a:noFill/>
          <a:ln/>
        </p:spPr>
        <p:txBody>
          <a:bodyPr wrap="square" lIns="0" tIns="0" rIns="0" bIns="0" rtlCol="0" anchor="t"/>
          <a:lstStyle/>
          <a:p>
            <a:pPr algn="l" indent="0" marL="0">
              <a:lnSpc>
                <a:spcPct val="140000"/>
              </a:lnSpc>
              <a:buNone/>
            </a:pPr>
            <a:r>
              <a:rPr lang="en-US" sz="1050" dirty="0">
                <a:solidFill>
                  <a:srgbClr val="4A4E55"/>
                </a:solidFill>
                <a:latin typeface="Inter" pitchFamily="34" charset="0"/>
                <a:ea typeface="Inter" pitchFamily="34" charset="-122"/>
                <a:cs typeface="Inter" pitchFamily="34" charset="-120"/>
              </a:rPr>
              <a:t>No local reference? Buy a verdict from another station over x402, capped per day.</a:t>
            </a:r>
            <a:endParaRPr lang="en-US" sz="1050" dirty="0"/>
          </a:p>
        </p:txBody>
      </p:sp>
      <p:sp>
        <p:nvSpPr>
          <p:cNvPr id="44" name="Shape 42"/>
          <p:cNvSpPr/>
          <p:nvPr/>
        </p:nvSpPr>
        <p:spPr>
          <a:xfrm>
            <a:off x="6223041" y="4610130"/>
            <a:ext cx="38130" cy="952530"/>
          </a:xfrm>
          <a:prstGeom prst="roundRect">
            <a:avLst>
              <a:gd name="adj" fmla="val 49881"/>
            </a:avLst>
          </a:prstGeom>
          <a:solidFill>
            <a:srgbClr val="7A5CFF"/>
          </a:solidFill>
          <a:ln/>
        </p:spPr>
      </p:sp>
      <p:sp>
        <p:nvSpPr>
          <p:cNvPr id="45" name="Text 42"/>
          <p:cNvSpPr/>
          <p:nvPr/>
        </p:nvSpPr>
        <p:spPr>
          <a:xfrm>
            <a:off x="6400800" y="4610130"/>
            <a:ext cx="2286000" cy="184160"/>
          </a:xfrm>
          <a:prstGeom prst="rect">
            <a:avLst/>
          </a:prstGeom>
          <a:noFill/>
          <a:ln/>
        </p:spPr>
        <p:txBody>
          <a:bodyPr wrap="square" lIns="0" tIns="0" rIns="0" bIns="0" rtlCol="0" anchor="t"/>
          <a:lstStyle/>
          <a:p>
            <a:pPr algn="l" indent="0" marL="0">
              <a:lnSpc>
                <a:spcPct val="140000"/>
              </a:lnSpc>
              <a:buNone/>
            </a:pPr>
            <a:r>
              <a:rPr lang="en-US" sz="900" dirty="0">
                <a:solidFill>
                  <a:srgbClr val="4A4E55"/>
                </a:solidFill>
                <a:latin typeface="JetBrains Mono" pitchFamily="34" charset="0"/>
                <a:ea typeface="JetBrains Mono" pitchFamily="34" charset="-122"/>
                <a:cs typeface="JetBrains Mono" pitchFamily="34" charset="-120"/>
              </a:rPr>
              <a:t>03</a:t>
            </a:r>
            <a:endParaRPr lang="en-US" sz="900" dirty="0"/>
          </a:p>
        </p:txBody>
      </p:sp>
      <p:sp>
        <p:nvSpPr>
          <p:cNvPr id="46" name="Text 43"/>
          <p:cNvSpPr/>
          <p:nvPr/>
        </p:nvSpPr>
        <p:spPr>
          <a:xfrm>
            <a:off x="6400800" y="4800600"/>
            <a:ext cx="2286000" cy="266730"/>
          </a:xfrm>
          <a:prstGeom prst="rect">
            <a:avLst/>
          </a:prstGeom>
          <a:noFill/>
          <a:ln/>
        </p:spPr>
        <p:txBody>
          <a:bodyPr wrap="square" lIns="0" tIns="0" rIns="0" bIns="0" rtlCol="0" anchor="t"/>
          <a:lstStyle/>
          <a:p>
            <a:pPr algn="l" indent="0" marL="0">
              <a:lnSpc>
                <a:spcPct val="120000"/>
              </a:lnSpc>
              <a:buNone/>
            </a:pPr>
            <a:r>
              <a:rPr lang="en-US" sz="1500" b="1" dirty="0">
                <a:solidFill>
                  <a:srgbClr val="16181B"/>
                </a:solidFill>
                <a:latin typeface="Inter" pitchFamily="34" charset="0"/>
                <a:ea typeface="Inter" pitchFamily="34" charset="-122"/>
                <a:cs typeface="Inter" pitchFamily="34" charset="-120"/>
              </a:rPr>
              <a:t>Earn</a:t>
            </a:r>
            <a:endParaRPr lang="en-US" sz="1500" dirty="0"/>
          </a:p>
        </p:txBody>
      </p:sp>
      <p:sp>
        <p:nvSpPr>
          <p:cNvPr id="47" name="Text 44"/>
          <p:cNvSpPr/>
          <p:nvPr/>
        </p:nvSpPr>
        <p:spPr>
          <a:xfrm>
            <a:off x="6400800" y="5080041"/>
            <a:ext cx="2349459" cy="400050"/>
          </a:xfrm>
          <a:prstGeom prst="rect">
            <a:avLst/>
          </a:prstGeom>
          <a:noFill/>
          <a:ln/>
        </p:spPr>
        <p:txBody>
          <a:bodyPr wrap="square" lIns="0" tIns="0" rIns="0" bIns="0" rtlCol="0" anchor="t"/>
          <a:lstStyle/>
          <a:p>
            <a:pPr algn="l" indent="0" marL="0">
              <a:lnSpc>
                <a:spcPct val="140000"/>
              </a:lnSpc>
              <a:buNone/>
            </a:pPr>
            <a:r>
              <a:rPr lang="en-US" sz="1050" dirty="0">
                <a:solidFill>
                  <a:srgbClr val="4A4E55"/>
                </a:solidFill>
                <a:latin typeface="Inter" pitchFamily="34" charset="0"/>
                <a:ea typeface="Inter" pitchFamily="34" charset="-122"/>
                <a:cs typeface="Inter" pitchFamily="34" charset="-120"/>
              </a:rPr>
              <a:t>Every station can sell /verify to other clinics.</a:t>
            </a:r>
            <a:endParaRPr lang="en-US" sz="1050" dirty="0"/>
          </a:p>
        </p:txBody>
      </p:sp>
      <p:sp>
        <p:nvSpPr>
          <p:cNvPr id="48" name="Shape 46"/>
          <p:cNvSpPr/>
          <p:nvPr/>
        </p:nvSpPr>
        <p:spPr>
          <a:xfrm>
            <a:off x="9207459" y="952530"/>
            <a:ext cx="2222541" cy="5080041"/>
          </a:xfrm>
          <a:prstGeom prst="roundRect">
            <a:avLst>
              <a:gd name="adj" fmla="val 13141"/>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49" name="Image 0" descr="Coinbase: app-upgrade-b-verify-390-390c">    </p:cNvPr>
          <p:cNvPicPr>
            <a:picLocks noChangeAspect="1"/>
          </p:cNvPicPr>
          <p:nvPr/>
        </p:nvPicPr>
        <p:blipFill>
          <a:blip r:embed="rId1"/>
          <a:stretch>
            <a:fillRect/>
          </a:stretch>
        </p:blipFill>
        <p:spPr>
          <a:xfrm>
            <a:off x="9271010" y="1015990"/>
            <a:ext cx="2095530" cy="4953030"/>
          </a:xfrm>
          <a:prstGeom prst="rect">
            <a:avLst/>
          </a:prstGeom>
        </p:spPr>
      </p:pic>
      <p:sp>
        <p:nvSpPr>
          <p:cNvPr id="50" name="Text 47"/>
          <p:cNvSpPr/>
          <p:nvPr/>
        </p:nvSpPr>
        <p:spPr>
          <a:xfrm>
            <a:off x="9207459" y="6108741"/>
            <a:ext cx="2222541" cy="165141"/>
          </a:xfrm>
          <a:prstGeom prst="rect">
            <a:avLst/>
          </a:prstGeom>
          <a:noFill/>
          <a:ln/>
        </p:spPr>
        <p:txBody>
          <a:bodyPr wrap="square" lIns="0" tIns="0" rIns="0" bIns="0" rtlCol="0" anchor="t"/>
          <a:lstStyle/>
          <a:p>
            <a:pPr algn="ctr" indent="0" marL="0">
              <a:lnSpc>
                <a:spcPct val="140000"/>
              </a:lnSpc>
              <a:buNone/>
            </a:pPr>
            <a:r>
              <a:rPr lang="en-US" sz="800" dirty="0">
                <a:solidFill>
                  <a:srgbClr val="7C8188"/>
                </a:solidFill>
                <a:latin typeface="JetBrains Mono" pitchFamily="34" charset="0"/>
                <a:ea typeface="JetBrains Mono" pitchFamily="34" charset="-122"/>
                <a:cs typeface="JetBrains Mono" pitchFamily="34" charset="-120"/>
              </a:rPr>
              <a:t>app · /verify over x402</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THE APP</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10 / 21</a:t>
            </a:r>
            <a:endParaRPr lang="en-US" sz="900" dirty="0"/>
          </a:p>
        </p:txBody>
      </p:sp>
      <p:sp>
        <p:nvSpPr>
          <p:cNvPr id="8" name="Title"/>
          <p:cNvSpPr/>
          <p:nvPr/>
        </p:nvSpPr>
        <p:spPr>
          <a:xfrm>
            <a:off x="761970" y="812810"/>
            <a:ext cx="6985010" cy="374630"/>
          </a:xfrm>
          <a:prstGeom prst="rect">
            <a:avLst/>
          </a:prstGeom>
          <a:noFill/>
          <a:ln/>
        </p:spPr>
        <p:txBody>
          <a:bodyPr wrap="square" lIns="0" tIns="0" rIns="0" bIns="0" rtlCol="0" anchor="t"/>
          <a:lstStyle/>
          <a:p>
            <a:pPr algn="l" indent="0" marL="0">
              <a:lnSpc>
                <a:spcPct val="100000"/>
              </a:lnSpc>
              <a:buNone/>
            </a:pPr>
            <a:r>
              <a:rPr lang="en-US" sz="2432" spc="-36" kern="0" dirty="0">
                <a:solidFill>
                  <a:srgbClr val="16181B"/>
                </a:solidFill>
                <a:latin typeface="Instrument Serif" pitchFamily="34" charset="0"/>
                <a:ea typeface="Instrument Serif" pitchFamily="34" charset="-122"/>
                <a:cs typeface="Instrument Serif" pitchFamily="34" charset="-120"/>
              </a:rPr>
              <a:t>One app: the touchscreen and the phone.</a:t>
            </a:r>
            <a:endParaRPr lang="en-US" sz="2432" dirty="0"/>
          </a:p>
        </p:txBody>
      </p:sp>
      <p:sp>
        <p:nvSpPr>
          <p:cNvPr id="9" name="Text 6"/>
          <p:cNvSpPr/>
          <p:nvPr/>
        </p:nvSpPr>
        <p:spPr>
          <a:xfrm>
            <a:off x="7937541" y="812810"/>
            <a:ext cx="3492459" cy="533370"/>
          </a:xfrm>
          <a:prstGeom prst="rect">
            <a:avLst/>
          </a:prstGeom>
          <a:noFill/>
          <a:ln/>
        </p:spPr>
        <p:txBody>
          <a:bodyPr wrap="square" lIns="0" tIns="0" rIns="0" bIns="0" rtlCol="0" anchor="t"/>
          <a:lstStyle/>
          <a:p>
            <a:pPr algn="l" indent="0" marL="0">
              <a:lnSpc>
                <a:spcPct val="140000"/>
              </a:lnSpc>
              <a:buNone/>
            </a:pPr>
            <a:r>
              <a:rPr lang="en-US" sz="950" dirty="0">
                <a:solidFill>
                  <a:srgbClr val="4A4E55"/>
                </a:solidFill>
                <a:latin typeface="Inter" pitchFamily="34" charset="0"/>
                <a:ea typeface="Inter" pitchFamily="34" charset="-122"/>
                <a:cs typeface="Inter" pitchFamily="34" charset="-120"/>
              </a:rPr>
              <a:t>20 routes in React. All 303 app screenshots go into the Design file, one frame each, labelled with their route. These twelve are the newest pass.</a:t>
            </a:r>
            <a:endParaRPr lang="en-US" sz="950" dirty="0"/>
          </a:p>
        </p:txBody>
      </p:sp>
      <p:sp>
        <p:nvSpPr>
          <p:cNvPr id="10" name="Shape 8"/>
          <p:cNvSpPr/>
          <p:nvPr/>
        </p:nvSpPr>
        <p:spPr>
          <a:xfrm>
            <a:off x="761970" y="1498610"/>
            <a:ext cx="1612910" cy="2235159"/>
          </a:xfrm>
          <a:prstGeom prst="roundRect">
            <a:avLst>
              <a:gd name="adj" fmla="val 12994"/>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11" name="Image 0" descr="App screens: app-upgrade-a-onboarding-390-390c">    </p:cNvPr>
          <p:cNvPicPr>
            <a:picLocks noChangeAspect="1"/>
          </p:cNvPicPr>
          <p:nvPr/>
        </p:nvPicPr>
        <p:blipFill>
          <a:blip r:embed="rId1"/>
          <a:stretch>
            <a:fillRect/>
          </a:stretch>
        </p:blipFill>
        <p:spPr>
          <a:xfrm>
            <a:off x="806409" y="1543050"/>
            <a:ext cx="1524030" cy="2146280"/>
          </a:xfrm>
          <a:prstGeom prst="rect">
            <a:avLst/>
          </a:prstGeom>
        </p:spPr>
      </p:pic>
      <p:sp>
        <p:nvSpPr>
          <p:cNvPr id="12" name="Text 9"/>
          <p:cNvSpPr/>
          <p:nvPr/>
        </p:nvSpPr>
        <p:spPr>
          <a:xfrm>
            <a:off x="761970" y="3797320"/>
            <a:ext cx="1612910" cy="165141"/>
          </a:xfrm>
          <a:prstGeom prst="rect">
            <a:avLst/>
          </a:prstGeom>
          <a:noFill/>
          <a:ln/>
        </p:spPr>
        <p:txBody>
          <a:bodyPr wrap="square" lIns="0" tIns="0" rIns="0" bIns="0" rtlCol="0" anchor="t"/>
          <a:lstStyle/>
          <a:p>
            <a:pPr algn="ctr" indent="0" marL="0">
              <a:lnSpc>
                <a:spcPct val="140000"/>
              </a:lnSpc>
              <a:buNone/>
            </a:pPr>
            <a:r>
              <a:rPr lang="en-US" sz="800" dirty="0">
                <a:solidFill>
                  <a:srgbClr val="4A4E55"/>
                </a:solidFill>
                <a:latin typeface="JetBrains Mono" pitchFamily="34" charset="0"/>
                <a:ea typeface="JetBrains Mono" pitchFamily="34" charset="-122"/>
                <a:cs typeface="JetBrains Mono" pitchFamily="34" charset="-120"/>
              </a:rPr>
              <a:t>welcome</a:t>
            </a:r>
            <a:endParaRPr lang="en-US" sz="800" dirty="0"/>
          </a:p>
        </p:txBody>
      </p:sp>
      <p:sp>
        <p:nvSpPr>
          <p:cNvPr id="13" name="Shape 10"/>
          <p:cNvSpPr/>
          <p:nvPr/>
        </p:nvSpPr>
        <p:spPr>
          <a:xfrm>
            <a:off x="2571750" y="1498610"/>
            <a:ext cx="1612910" cy="2235159"/>
          </a:xfrm>
          <a:prstGeom prst="roundRect">
            <a:avLst>
              <a:gd name="adj" fmla="val 12994"/>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14" name="Image 1" descr="App screens: app-upgrade-b-bottle-390-390c">    </p:cNvPr>
          <p:cNvPicPr>
            <a:picLocks noChangeAspect="1"/>
          </p:cNvPicPr>
          <p:nvPr/>
        </p:nvPicPr>
        <p:blipFill>
          <a:blip r:embed="rId2"/>
          <a:stretch>
            <a:fillRect/>
          </a:stretch>
        </p:blipFill>
        <p:spPr>
          <a:xfrm>
            <a:off x="2616190" y="1543050"/>
            <a:ext cx="1524030" cy="2146280"/>
          </a:xfrm>
          <a:prstGeom prst="rect">
            <a:avLst/>
          </a:prstGeom>
        </p:spPr>
      </p:pic>
      <p:sp>
        <p:nvSpPr>
          <p:cNvPr id="15" name="Text 12"/>
          <p:cNvSpPr/>
          <p:nvPr/>
        </p:nvSpPr>
        <p:spPr>
          <a:xfrm>
            <a:off x="2571750" y="3797320"/>
            <a:ext cx="1612910" cy="165141"/>
          </a:xfrm>
          <a:prstGeom prst="rect">
            <a:avLst/>
          </a:prstGeom>
          <a:noFill/>
          <a:ln/>
        </p:spPr>
        <p:txBody>
          <a:bodyPr wrap="square" lIns="0" tIns="0" rIns="0" bIns="0" rtlCol="0" anchor="t"/>
          <a:lstStyle/>
          <a:p>
            <a:pPr algn="ctr" indent="0" marL="0">
              <a:lnSpc>
                <a:spcPct val="140000"/>
              </a:lnSpc>
              <a:buNone/>
            </a:pPr>
            <a:r>
              <a:rPr lang="en-US" sz="800" dirty="0">
                <a:solidFill>
                  <a:srgbClr val="4A4E55"/>
                </a:solidFill>
                <a:latin typeface="JetBrains Mono" pitchFamily="34" charset="0"/>
                <a:ea typeface="JetBrains Mono" pitchFamily="34" charset="-122"/>
                <a:cs typeface="JetBrains Mono" pitchFamily="34" charset="-120"/>
              </a:rPr>
              <a:t>bottle</a:t>
            </a:r>
            <a:endParaRPr lang="en-US" sz="800" dirty="0"/>
          </a:p>
        </p:txBody>
      </p:sp>
      <p:sp>
        <p:nvSpPr>
          <p:cNvPr id="16" name="Shape 12"/>
          <p:cNvSpPr/>
          <p:nvPr/>
        </p:nvSpPr>
        <p:spPr>
          <a:xfrm>
            <a:off x="4381530" y="1498610"/>
            <a:ext cx="1612910" cy="2235159"/>
          </a:xfrm>
          <a:prstGeom prst="roundRect">
            <a:avLst>
              <a:gd name="adj" fmla="val 12994"/>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17" name="Image 2" descr="App screens: app-upgrade-b-place-390-390c">    </p:cNvPr>
          <p:cNvPicPr>
            <a:picLocks noChangeAspect="1"/>
          </p:cNvPicPr>
          <p:nvPr/>
        </p:nvPicPr>
        <p:blipFill>
          <a:blip r:embed="rId3"/>
          <a:stretch>
            <a:fillRect/>
          </a:stretch>
        </p:blipFill>
        <p:spPr>
          <a:xfrm>
            <a:off x="4425970" y="1543050"/>
            <a:ext cx="1524030" cy="2146280"/>
          </a:xfrm>
          <a:prstGeom prst="rect">
            <a:avLst/>
          </a:prstGeom>
        </p:spPr>
      </p:pic>
      <p:sp>
        <p:nvSpPr>
          <p:cNvPr id="18" name="Text 15"/>
          <p:cNvSpPr/>
          <p:nvPr/>
        </p:nvSpPr>
        <p:spPr>
          <a:xfrm>
            <a:off x="4381530" y="3797320"/>
            <a:ext cx="1612910" cy="165141"/>
          </a:xfrm>
          <a:prstGeom prst="rect">
            <a:avLst/>
          </a:prstGeom>
          <a:noFill/>
          <a:ln/>
        </p:spPr>
        <p:txBody>
          <a:bodyPr wrap="square" lIns="0" tIns="0" rIns="0" bIns="0" rtlCol="0" anchor="t"/>
          <a:lstStyle/>
          <a:p>
            <a:pPr algn="ctr" indent="0" marL="0">
              <a:lnSpc>
                <a:spcPct val="140000"/>
              </a:lnSpc>
              <a:buNone/>
            </a:pPr>
            <a:r>
              <a:rPr lang="en-US" sz="800" dirty="0">
                <a:solidFill>
                  <a:srgbClr val="4A4E55"/>
                </a:solidFill>
                <a:latin typeface="JetBrains Mono" pitchFamily="34" charset="0"/>
                <a:ea typeface="JetBrains Mono" pitchFamily="34" charset="-122"/>
                <a:cs typeface="JetBrains Mono" pitchFamily="34" charset="-120"/>
              </a:rPr>
              <a:t>place</a:t>
            </a:r>
            <a:endParaRPr lang="en-US" sz="800" dirty="0"/>
          </a:p>
        </p:txBody>
      </p:sp>
      <p:sp>
        <p:nvSpPr>
          <p:cNvPr id="19" name="Shape 14"/>
          <p:cNvSpPr/>
          <p:nvPr/>
        </p:nvSpPr>
        <p:spPr>
          <a:xfrm>
            <a:off x="6191220" y="1498610"/>
            <a:ext cx="1612910" cy="2235159"/>
          </a:xfrm>
          <a:prstGeom prst="roundRect">
            <a:avLst>
              <a:gd name="adj" fmla="val 12994"/>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20" name="Image 3" descr="App screens: app-upgrade-b-run-390-390c">    </p:cNvPr>
          <p:cNvPicPr>
            <a:picLocks noChangeAspect="1"/>
          </p:cNvPicPr>
          <p:nvPr/>
        </p:nvPicPr>
        <p:blipFill>
          <a:blip r:embed="rId4"/>
          <a:stretch>
            <a:fillRect/>
          </a:stretch>
        </p:blipFill>
        <p:spPr>
          <a:xfrm>
            <a:off x="6235659" y="1543050"/>
            <a:ext cx="1524030" cy="2146280"/>
          </a:xfrm>
          <a:prstGeom prst="rect">
            <a:avLst/>
          </a:prstGeom>
        </p:spPr>
      </p:pic>
      <p:sp>
        <p:nvSpPr>
          <p:cNvPr id="21" name="Text 18"/>
          <p:cNvSpPr/>
          <p:nvPr/>
        </p:nvSpPr>
        <p:spPr>
          <a:xfrm>
            <a:off x="6191220" y="3797320"/>
            <a:ext cx="1612910" cy="165141"/>
          </a:xfrm>
          <a:prstGeom prst="rect">
            <a:avLst/>
          </a:prstGeom>
          <a:noFill/>
          <a:ln/>
        </p:spPr>
        <p:txBody>
          <a:bodyPr wrap="square" lIns="0" tIns="0" rIns="0" bIns="0" rtlCol="0" anchor="t"/>
          <a:lstStyle/>
          <a:p>
            <a:pPr algn="ctr" indent="0" marL="0">
              <a:lnSpc>
                <a:spcPct val="140000"/>
              </a:lnSpc>
              <a:buNone/>
            </a:pPr>
            <a:r>
              <a:rPr lang="en-US" sz="800" dirty="0">
                <a:solidFill>
                  <a:srgbClr val="4A4E55"/>
                </a:solidFill>
                <a:latin typeface="JetBrains Mono" pitchFamily="34" charset="0"/>
                <a:ea typeface="JetBrains Mono" pitchFamily="34" charset="-122"/>
                <a:cs typeface="JetBrains Mono" pitchFamily="34" charset="-120"/>
              </a:rPr>
              <a:t>run</a:t>
            </a:r>
            <a:endParaRPr lang="en-US" sz="800" dirty="0"/>
          </a:p>
        </p:txBody>
      </p:sp>
      <p:sp>
        <p:nvSpPr>
          <p:cNvPr id="22" name="Shape 16"/>
          <p:cNvSpPr/>
          <p:nvPr/>
        </p:nvSpPr>
        <p:spPr>
          <a:xfrm>
            <a:off x="8001000" y="1498610"/>
            <a:ext cx="1612910" cy="2235159"/>
          </a:xfrm>
          <a:prstGeom prst="roundRect">
            <a:avLst>
              <a:gd name="adj" fmla="val 12994"/>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23" name="Image 4" descr="App screens: app-upgrade-b-evaluation-pass-390-390c">    </p:cNvPr>
          <p:cNvPicPr>
            <a:picLocks noChangeAspect="1"/>
          </p:cNvPicPr>
          <p:nvPr/>
        </p:nvPicPr>
        <p:blipFill>
          <a:blip r:embed="rId5"/>
          <a:stretch>
            <a:fillRect/>
          </a:stretch>
        </p:blipFill>
        <p:spPr>
          <a:xfrm>
            <a:off x="8045440" y="1543050"/>
            <a:ext cx="1524030" cy="2146280"/>
          </a:xfrm>
          <a:prstGeom prst="rect">
            <a:avLst/>
          </a:prstGeom>
        </p:spPr>
      </p:pic>
      <p:sp>
        <p:nvSpPr>
          <p:cNvPr id="24" name="Text 21"/>
          <p:cNvSpPr/>
          <p:nvPr/>
        </p:nvSpPr>
        <p:spPr>
          <a:xfrm>
            <a:off x="8001000" y="3797320"/>
            <a:ext cx="1612910" cy="165141"/>
          </a:xfrm>
          <a:prstGeom prst="rect">
            <a:avLst/>
          </a:prstGeom>
          <a:noFill/>
          <a:ln/>
        </p:spPr>
        <p:txBody>
          <a:bodyPr wrap="square" lIns="0" tIns="0" rIns="0" bIns="0" rtlCol="0" anchor="t"/>
          <a:lstStyle/>
          <a:p>
            <a:pPr algn="ctr" indent="0" marL="0">
              <a:lnSpc>
                <a:spcPct val="140000"/>
              </a:lnSpc>
              <a:buNone/>
            </a:pPr>
            <a:r>
              <a:rPr lang="en-US" sz="800" dirty="0">
                <a:solidFill>
                  <a:srgbClr val="4A4E55"/>
                </a:solidFill>
                <a:latin typeface="JetBrains Mono" pitchFamily="34" charset="0"/>
                <a:ea typeface="JetBrains Mono" pitchFamily="34" charset="-122"/>
                <a:cs typeface="JetBrains Mono" pitchFamily="34" charset="-120"/>
              </a:rPr>
              <a:t>PASS</a:t>
            </a:r>
            <a:endParaRPr lang="en-US" sz="800" dirty="0"/>
          </a:p>
        </p:txBody>
      </p:sp>
      <p:sp>
        <p:nvSpPr>
          <p:cNvPr id="25" name="Shape 18"/>
          <p:cNvSpPr/>
          <p:nvPr/>
        </p:nvSpPr>
        <p:spPr>
          <a:xfrm>
            <a:off x="9810780" y="1498610"/>
            <a:ext cx="1612910" cy="2235159"/>
          </a:xfrm>
          <a:prstGeom prst="roundRect">
            <a:avLst>
              <a:gd name="adj" fmla="val 12994"/>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26" name="Image 5" descr="App screens: app-upgrade-b-evaluation-needslab-390-390c">    </p:cNvPr>
          <p:cNvPicPr>
            <a:picLocks noChangeAspect="1"/>
          </p:cNvPicPr>
          <p:nvPr/>
        </p:nvPicPr>
        <p:blipFill>
          <a:blip r:embed="rId6"/>
          <a:stretch>
            <a:fillRect/>
          </a:stretch>
        </p:blipFill>
        <p:spPr>
          <a:xfrm>
            <a:off x="9855220" y="1543050"/>
            <a:ext cx="1524030" cy="2146280"/>
          </a:xfrm>
          <a:prstGeom prst="rect">
            <a:avLst/>
          </a:prstGeom>
        </p:spPr>
      </p:pic>
      <p:sp>
        <p:nvSpPr>
          <p:cNvPr id="27" name="Text 24"/>
          <p:cNvSpPr/>
          <p:nvPr/>
        </p:nvSpPr>
        <p:spPr>
          <a:xfrm>
            <a:off x="9810780" y="3797320"/>
            <a:ext cx="1612910" cy="165141"/>
          </a:xfrm>
          <a:prstGeom prst="rect">
            <a:avLst/>
          </a:prstGeom>
          <a:noFill/>
          <a:ln/>
        </p:spPr>
        <p:txBody>
          <a:bodyPr wrap="square" lIns="0" tIns="0" rIns="0" bIns="0" rtlCol="0" anchor="t"/>
          <a:lstStyle/>
          <a:p>
            <a:pPr algn="ctr" indent="0" marL="0">
              <a:lnSpc>
                <a:spcPct val="140000"/>
              </a:lnSpc>
              <a:buNone/>
            </a:pPr>
            <a:r>
              <a:rPr lang="en-US" sz="800" dirty="0">
                <a:solidFill>
                  <a:srgbClr val="4A4E55"/>
                </a:solidFill>
                <a:latin typeface="JetBrains Mono" pitchFamily="34" charset="0"/>
                <a:ea typeface="JetBrains Mono" pitchFamily="34" charset="-122"/>
                <a:cs typeface="JetBrains Mono" pitchFamily="34" charset="-120"/>
              </a:rPr>
              <a:t>NEEDS LAB</a:t>
            </a:r>
            <a:endParaRPr lang="en-US" sz="800" dirty="0"/>
          </a:p>
        </p:txBody>
      </p:sp>
      <p:sp>
        <p:nvSpPr>
          <p:cNvPr id="28" name="Shape 20"/>
          <p:cNvSpPr/>
          <p:nvPr/>
        </p:nvSpPr>
        <p:spPr>
          <a:xfrm>
            <a:off x="761970" y="4102090"/>
            <a:ext cx="1612910" cy="2235159"/>
          </a:xfrm>
          <a:prstGeom prst="roundRect">
            <a:avLst>
              <a:gd name="adj" fmla="val 12994"/>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29" name="Image 6" descr="App screens: app-upgrade-b-delivery-held-policy-390-390c">    </p:cNvPr>
          <p:cNvPicPr>
            <a:picLocks noChangeAspect="1"/>
          </p:cNvPicPr>
          <p:nvPr/>
        </p:nvPicPr>
        <p:blipFill>
          <a:blip r:embed="rId7"/>
          <a:stretch>
            <a:fillRect/>
          </a:stretch>
        </p:blipFill>
        <p:spPr>
          <a:xfrm>
            <a:off x="806409" y="4146530"/>
            <a:ext cx="1524030" cy="2146280"/>
          </a:xfrm>
          <a:prstGeom prst="rect">
            <a:avLst/>
          </a:prstGeom>
        </p:spPr>
      </p:pic>
      <p:sp>
        <p:nvSpPr>
          <p:cNvPr id="30" name="Text 27"/>
          <p:cNvSpPr/>
          <p:nvPr/>
        </p:nvSpPr>
        <p:spPr>
          <a:xfrm>
            <a:off x="761970" y="6400800"/>
            <a:ext cx="1612910" cy="165141"/>
          </a:xfrm>
          <a:prstGeom prst="rect">
            <a:avLst/>
          </a:prstGeom>
          <a:noFill/>
          <a:ln/>
        </p:spPr>
        <p:txBody>
          <a:bodyPr wrap="square" lIns="0" tIns="0" rIns="0" bIns="0" rtlCol="0" anchor="t"/>
          <a:lstStyle/>
          <a:p>
            <a:pPr algn="ctr" indent="0" marL="0">
              <a:lnSpc>
                <a:spcPct val="140000"/>
              </a:lnSpc>
              <a:buNone/>
            </a:pPr>
            <a:r>
              <a:rPr lang="en-US" sz="800" dirty="0">
                <a:solidFill>
                  <a:srgbClr val="4A4E55"/>
                </a:solidFill>
                <a:latin typeface="JetBrains Mono" pitchFamily="34" charset="0"/>
                <a:ea typeface="JetBrains Mono" pitchFamily="34" charset="-122"/>
                <a:cs typeface="JetBrains Mono" pitchFamily="34" charset="-120"/>
              </a:rPr>
              <a:t>held · P2</a:t>
            </a:r>
            <a:endParaRPr lang="en-US" sz="800" dirty="0"/>
          </a:p>
        </p:txBody>
      </p:sp>
      <p:sp>
        <p:nvSpPr>
          <p:cNvPr id="31" name="Shape 22"/>
          <p:cNvSpPr/>
          <p:nvPr/>
        </p:nvSpPr>
        <p:spPr>
          <a:xfrm>
            <a:off x="2571750" y="4102090"/>
            <a:ext cx="1612910" cy="2235159"/>
          </a:xfrm>
          <a:prstGeom prst="roundRect">
            <a:avLst>
              <a:gd name="adj" fmla="val 12994"/>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32" name="Image 7" descr="App screens: app-upgrade-b-delivery-released-390-390c">    </p:cNvPr>
          <p:cNvPicPr>
            <a:picLocks noChangeAspect="1"/>
          </p:cNvPicPr>
          <p:nvPr/>
        </p:nvPicPr>
        <p:blipFill>
          <a:blip r:embed="rId8"/>
          <a:stretch>
            <a:fillRect/>
          </a:stretch>
        </p:blipFill>
        <p:spPr>
          <a:xfrm>
            <a:off x="2616190" y="4146530"/>
            <a:ext cx="1524030" cy="2146280"/>
          </a:xfrm>
          <a:prstGeom prst="rect">
            <a:avLst/>
          </a:prstGeom>
        </p:spPr>
      </p:pic>
      <p:sp>
        <p:nvSpPr>
          <p:cNvPr id="33" name="Text 30"/>
          <p:cNvSpPr/>
          <p:nvPr/>
        </p:nvSpPr>
        <p:spPr>
          <a:xfrm>
            <a:off x="2571750" y="6400800"/>
            <a:ext cx="1612910" cy="165141"/>
          </a:xfrm>
          <a:prstGeom prst="rect">
            <a:avLst/>
          </a:prstGeom>
          <a:noFill/>
          <a:ln/>
        </p:spPr>
        <p:txBody>
          <a:bodyPr wrap="square" lIns="0" tIns="0" rIns="0" bIns="0" rtlCol="0" anchor="t"/>
          <a:lstStyle/>
          <a:p>
            <a:pPr algn="ctr" indent="0" marL="0">
              <a:lnSpc>
                <a:spcPct val="140000"/>
              </a:lnSpc>
              <a:buNone/>
            </a:pPr>
            <a:r>
              <a:rPr lang="en-US" sz="800" dirty="0">
                <a:solidFill>
                  <a:srgbClr val="4A4E55"/>
                </a:solidFill>
                <a:latin typeface="JetBrains Mono" pitchFamily="34" charset="0"/>
                <a:ea typeface="JetBrains Mono" pitchFamily="34" charset="-122"/>
                <a:cs typeface="JetBrains Mono" pitchFamily="34" charset="-120"/>
              </a:rPr>
              <a:t>released</a:t>
            </a:r>
            <a:endParaRPr lang="en-US" sz="800" dirty="0"/>
          </a:p>
        </p:txBody>
      </p:sp>
      <p:sp>
        <p:nvSpPr>
          <p:cNvPr id="34" name="Shape 24"/>
          <p:cNvSpPr/>
          <p:nvPr/>
        </p:nvSpPr>
        <p:spPr>
          <a:xfrm>
            <a:off x="4381530" y="4102090"/>
            <a:ext cx="1612910" cy="2235159"/>
          </a:xfrm>
          <a:prstGeom prst="roundRect">
            <a:avLst>
              <a:gd name="adj" fmla="val 12994"/>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35" name="Image 8" descr="App screens: app-upgrade-b-verify-390-390c">    </p:cNvPr>
          <p:cNvPicPr>
            <a:picLocks noChangeAspect="1"/>
          </p:cNvPicPr>
          <p:nvPr/>
        </p:nvPicPr>
        <p:blipFill>
          <a:blip r:embed="rId9"/>
          <a:stretch>
            <a:fillRect/>
          </a:stretch>
        </p:blipFill>
        <p:spPr>
          <a:xfrm>
            <a:off x="4425970" y="4146530"/>
            <a:ext cx="1524030" cy="2146280"/>
          </a:xfrm>
          <a:prstGeom prst="rect">
            <a:avLst/>
          </a:prstGeom>
        </p:spPr>
      </p:pic>
      <p:sp>
        <p:nvSpPr>
          <p:cNvPr id="36" name="Text 33"/>
          <p:cNvSpPr/>
          <p:nvPr/>
        </p:nvSpPr>
        <p:spPr>
          <a:xfrm>
            <a:off x="4381530" y="6400800"/>
            <a:ext cx="1612910" cy="165141"/>
          </a:xfrm>
          <a:prstGeom prst="rect">
            <a:avLst/>
          </a:prstGeom>
          <a:noFill/>
          <a:ln/>
        </p:spPr>
        <p:txBody>
          <a:bodyPr wrap="square" lIns="0" tIns="0" rIns="0" bIns="0" rtlCol="0" anchor="t"/>
          <a:lstStyle/>
          <a:p>
            <a:pPr algn="ctr" indent="0" marL="0">
              <a:lnSpc>
                <a:spcPct val="140000"/>
              </a:lnSpc>
              <a:buNone/>
            </a:pPr>
            <a:r>
              <a:rPr lang="en-US" sz="800" dirty="0">
                <a:solidFill>
                  <a:srgbClr val="4A4E55"/>
                </a:solidFill>
                <a:latin typeface="JetBrains Mono" pitchFamily="34" charset="0"/>
                <a:ea typeface="JetBrains Mono" pitchFamily="34" charset="-122"/>
                <a:cs typeface="JetBrains Mono" pitchFamily="34" charset="-120"/>
              </a:rPr>
              <a:t>/verify · x402</a:t>
            </a:r>
            <a:endParaRPr lang="en-US" sz="800" dirty="0"/>
          </a:p>
        </p:txBody>
      </p:sp>
      <p:sp>
        <p:nvSpPr>
          <p:cNvPr id="37" name="Shape 26"/>
          <p:cNvSpPr/>
          <p:nvPr/>
        </p:nvSpPr>
        <p:spPr>
          <a:xfrm>
            <a:off x="6191220" y="4102090"/>
            <a:ext cx="1612910" cy="2235159"/>
          </a:xfrm>
          <a:prstGeom prst="roundRect">
            <a:avLst>
              <a:gd name="adj" fmla="val 12994"/>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38" name="Image 9" descr="App screens: app-upgrade-a-home-390-390c">    </p:cNvPr>
          <p:cNvPicPr>
            <a:picLocks noChangeAspect="1"/>
          </p:cNvPicPr>
          <p:nvPr/>
        </p:nvPicPr>
        <p:blipFill>
          <a:blip r:embed="rId10"/>
          <a:stretch>
            <a:fillRect/>
          </a:stretch>
        </p:blipFill>
        <p:spPr>
          <a:xfrm>
            <a:off x="6235659" y="4146530"/>
            <a:ext cx="1524030" cy="2146280"/>
          </a:xfrm>
          <a:prstGeom prst="rect">
            <a:avLst/>
          </a:prstGeom>
        </p:spPr>
      </p:pic>
      <p:sp>
        <p:nvSpPr>
          <p:cNvPr id="39" name="Text 36"/>
          <p:cNvSpPr/>
          <p:nvPr/>
        </p:nvSpPr>
        <p:spPr>
          <a:xfrm>
            <a:off x="6191220" y="6400800"/>
            <a:ext cx="1612910" cy="165141"/>
          </a:xfrm>
          <a:prstGeom prst="rect">
            <a:avLst/>
          </a:prstGeom>
          <a:noFill/>
          <a:ln/>
        </p:spPr>
        <p:txBody>
          <a:bodyPr wrap="square" lIns="0" tIns="0" rIns="0" bIns="0" rtlCol="0" anchor="t"/>
          <a:lstStyle/>
          <a:p>
            <a:pPr algn="ctr" indent="0" marL="0">
              <a:lnSpc>
                <a:spcPct val="140000"/>
              </a:lnSpc>
              <a:buNone/>
            </a:pPr>
            <a:r>
              <a:rPr lang="en-US" sz="800" dirty="0">
                <a:solidFill>
                  <a:srgbClr val="4A4E55"/>
                </a:solidFill>
                <a:latin typeface="JetBrains Mono" pitchFamily="34" charset="0"/>
                <a:ea typeface="JetBrains Mono" pitchFamily="34" charset="-122"/>
                <a:cs typeface="JetBrains Mono" pitchFamily="34" charset="-120"/>
              </a:rPr>
              <a:t>home</a:t>
            </a:r>
            <a:endParaRPr lang="en-US" sz="800" dirty="0"/>
          </a:p>
        </p:txBody>
      </p:sp>
      <p:sp>
        <p:nvSpPr>
          <p:cNvPr id="40" name="Shape 28"/>
          <p:cNvSpPr/>
          <p:nvPr/>
        </p:nvSpPr>
        <p:spPr>
          <a:xfrm>
            <a:off x="8001000" y="4102090"/>
            <a:ext cx="1612910" cy="2235159"/>
          </a:xfrm>
          <a:prstGeom prst="roundRect">
            <a:avLst>
              <a:gd name="adj" fmla="val 12994"/>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41" name="Image 10" descr="App screens: app-upgrade-a-medicines-390-390c">    </p:cNvPr>
          <p:cNvPicPr>
            <a:picLocks noChangeAspect="1"/>
          </p:cNvPicPr>
          <p:nvPr/>
        </p:nvPicPr>
        <p:blipFill>
          <a:blip r:embed="rId11"/>
          <a:stretch>
            <a:fillRect/>
          </a:stretch>
        </p:blipFill>
        <p:spPr>
          <a:xfrm>
            <a:off x="8045440" y="4146530"/>
            <a:ext cx="1524030" cy="2146280"/>
          </a:xfrm>
          <a:prstGeom prst="rect">
            <a:avLst/>
          </a:prstGeom>
        </p:spPr>
      </p:pic>
      <p:sp>
        <p:nvSpPr>
          <p:cNvPr id="42" name="Text 39"/>
          <p:cNvSpPr/>
          <p:nvPr/>
        </p:nvSpPr>
        <p:spPr>
          <a:xfrm>
            <a:off x="8001000" y="6400800"/>
            <a:ext cx="1612910" cy="165141"/>
          </a:xfrm>
          <a:prstGeom prst="rect">
            <a:avLst/>
          </a:prstGeom>
          <a:noFill/>
          <a:ln/>
        </p:spPr>
        <p:txBody>
          <a:bodyPr wrap="square" lIns="0" tIns="0" rIns="0" bIns="0" rtlCol="0" anchor="t"/>
          <a:lstStyle/>
          <a:p>
            <a:pPr algn="ctr" indent="0" marL="0">
              <a:lnSpc>
                <a:spcPct val="140000"/>
              </a:lnSpc>
              <a:buNone/>
            </a:pPr>
            <a:r>
              <a:rPr lang="en-US" sz="800" dirty="0">
                <a:solidFill>
                  <a:srgbClr val="4A4E55"/>
                </a:solidFill>
                <a:latin typeface="JetBrains Mono" pitchFamily="34" charset="0"/>
                <a:ea typeface="JetBrains Mono" pitchFamily="34" charset="-122"/>
                <a:cs typeface="JetBrains Mono" pitchFamily="34" charset="-120"/>
              </a:rPr>
              <a:t>medicines</a:t>
            </a:r>
            <a:endParaRPr lang="en-US" sz="800" dirty="0"/>
          </a:p>
        </p:txBody>
      </p:sp>
      <p:sp>
        <p:nvSpPr>
          <p:cNvPr id="43" name="Shape 30"/>
          <p:cNvSpPr/>
          <p:nvPr/>
        </p:nvSpPr>
        <p:spPr>
          <a:xfrm>
            <a:off x="9810780" y="4102090"/>
            <a:ext cx="1612910" cy="2235159"/>
          </a:xfrm>
          <a:prstGeom prst="roundRect">
            <a:avLst>
              <a:gd name="adj" fmla="val 12994"/>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44" name="Image 11" descr="App screens: app-upgrade-b-ask-390-390c">    </p:cNvPr>
          <p:cNvPicPr>
            <a:picLocks noChangeAspect="1"/>
          </p:cNvPicPr>
          <p:nvPr/>
        </p:nvPicPr>
        <p:blipFill>
          <a:blip r:embed="rId12"/>
          <a:stretch>
            <a:fillRect/>
          </a:stretch>
        </p:blipFill>
        <p:spPr>
          <a:xfrm>
            <a:off x="9855220" y="4146530"/>
            <a:ext cx="1524030" cy="2146280"/>
          </a:xfrm>
          <a:prstGeom prst="rect">
            <a:avLst/>
          </a:prstGeom>
        </p:spPr>
      </p:pic>
      <p:sp>
        <p:nvSpPr>
          <p:cNvPr id="45" name="Text 42"/>
          <p:cNvSpPr/>
          <p:nvPr/>
        </p:nvSpPr>
        <p:spPr>
          <a:xfrm>
            <a:off x="9810780" y="6400800"/>
            <a:ext cx="1612910" cy="165141"/>
          </a:xfrm>
          <a:prstGeom prst="rect">
            <a:avLst/>
          </a:prstGeom>
          <a:noFill/>
          <a:ln/>
        </p:spPr>
        <p:txBody>
          <a:bodyPr wrap="square" lIns="0" tIns="0" rIns="0" bIns="0" rtlCol="0" anchor="t"/>
          <a:lstStyle/>
          <a:p>
            <a:pPr algn="ctr" indent="0" marL="0">
              <a:lnSpc>
                <a:spcPct val="140000"/>
              </a:lnSpc>
              <a:buNone/>
            </a:pPr>
            <a:r>
              <a:rPr lang="en-US" sz="800" dirty="0">
                <a:solidFill>
                  <a:srgbClr val="4A4E55"/>
                </a:solidFill>
                <a:latin typeface="JetBrains Mono" pitchFamily="34" charset="0"/>
                <a:ea typeface="JetBrains Mono" pitchFamily="34" charset="-122"/>
                <a:cs typeface="JetBrains Mono" pitchFamily="34" charset="-120"/>
              </a:rPr>
              <a:t>ask</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THE RUN, PHASE BY PHASE</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11 / 21</a:t>
            </a:r>
            <a:endParaRPr lang="en-US" sz="900" dirty="0"/>
          </a:p>
        </p:txBody>
      </p:sp>
      <p:sp>
        <p:nvSpPr>
          <p:cNvPr id="8" name="Shape 6"/>
          <p:cNvSpPr/>
          <p:nvPr/>
        </p:nvSpPr>
        <p:spPr>
          <a:xfrm>
            <a:off x="761970" y="6413510"/>
            <a:ext cx="10668030" cy="12710"/>
          </a:xfrm>
          <a:prstGeom prst="rect">
            <a:avLst/>
          </a:prstGeom>
          <a:solidFill>
            <a:srgbClr val="16181B">
              <a:alpha val="10000"/>
            </a:srgbClr>
          </a:solidFill>
          <a:ln/>
        </p:spPr>
      </p:sp>
      <p:sp>
        <p:nvSpPr>
          <p:cNvPr id="9" name="Text 6"/>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0" name="Title"/>
          <p:cNvSpPr/>
          <p:nvPr/>
        </p:nvSpPr>
        <p:spPr>
          <a:xfrm>
            <a:off x="761970" y="812810"/>
            <a:ext cx="6349959" cy="431780"/>
          </a:xfrm>
          <a:prstGeom prst="rect">
            <a:avLst/>
          </a:prstGeom>
          <a:noFill/>
          <a:ln/>
        </p:spPr>
        <p:txBody>
          <a:bodyPr wrap="square" lIns="0" tIns="0" rIns="0" bIns="0" rtlCol="0" anchor="t"/>
          <a:lstStyle/>
          <a:p>
            <a:pPr algn="l" indent="0" marL="0">
              <a:lnSpc>
                <a:spcPct val="100000"/>
              </a:lnSpc>
              <a:buNone/>
            </a:pPr>
            <a:r>
              <a:rPr lang="en-US" sz="2808" spc="-42" kern="0" dirty="0">
                <a:solidFill>
                  <a:srgbClr val="16181B"/>
                </a:solidFill>
                <a:latin typeface="Instrument Serif" pitchFamily="34" charset="0"/>
                <a:ea typeface="Instrument Serif" pitchFamily="34" charset="-122"/>
                <a:cs typeface="Instrument Serif" pitchFamily="34" charset="-120"/>
              </a:rPr>
              <a:t>Six phases, one run.</a:t>
            </a:r>
            <a:endParaRPr lang="en-US" sz="2808" dirty="0"/>
          </a:p>
        </p:txBody>
      </p:sp>
      <p:sp>
        <p:nvSpPr>
          <p:cNvPr id="11" name="Text 8"/>
          <p:cNvSpPr/>
          <p:nvPr/>
        </p:nvSpPr>
        <p:spPr>
          <a:xfrm>
            <a:off x="7492959" y="838230"/>
            <a:ext cx="3937041" cy="533370"/>
          </a:xfrm>
          <a:prstGeom prst="rect">
            <a:avLst/>
          </a:prstGeom>
          <a:noFill/>
          <a:ln/>
        </p:spPr>
        <p:txBody>
          <a:bodyPr wrap="square" lIns="0" tIns="0" rIns="0" bIns="0" rtlCol="0" anchor="t"/>
          <a:lstStyle/>
          <a:p>
            <a:pPr algn="l" indent="0" marL="0">
              <a:lnSpc>
                <a:spcPct val="140000"/>
              </a:lnSpc>
              <a:buNone/>
            </a:pPr>
            <a:r>
              <a:rPr lang="en-US" sz="950" dirty="0">
                <a:solidFill>
                  <a:srgbClr val="4A4E55"/>
                </a:solidFill>
                <a:latin typeface="Inter" pitchFamily="34" charset="0"/>
                <a:ea typeface="Inter" pitchFamily="34" charset="-122"/>
                <a:cs typeface="Inter" pitchFamily="34" charset="-120"/>
              </a:rPr>
              <a:t>The app follows the station’s own state machine. Each phase has its own time, its own look and its own check; a failed check stops the run and says why.</a:t>
            </a:r>
            <a:endParaRPr lang="en-US" sz="950" dirty="0"/>
          </a:p>
        </p:txBody>
      </p:sp>
      <p:sp>
        <p:nvSpPr>
          <p:cNvPr id="12" name="Shape 10"/>
          <p:cNvSpPr/>
          <p:nvPr/>
        </p:nvSpPr>
        <p:spPr>
          <a:xfrm>
            <a:off x="838230" y="1885950"/>
            <a:ext cx="8966241" cy="12710"/>
          </a:xfrm>
          <a:prstGeom prst="rect">
            <a:avLst/>
          </a:prstGeom>
          <a:solidFill>
            <a:srgbClr val="16181B">
              <a:alpha val="18000"/>
            </a:srgbClr>
          </a:solidFill>
          <a:ln/>
        </p:spPr>
      </p:sp>
      <p:sp>
        <p:nvSpPr>
          <p:cNvPr id="13" name="Shape 11"/>
          <p:cNvSpPr/>
          <p:nvPr/>
        </p:nvSpPr>
        <p:spPr>
          <a:xfrm>
            <a:off x="761970" y="1816090"/>
            <a:ext cx="152430" cy="152430"/>
          </a:xfrm>
          <a:prstGeom prst="ellipse">
            <a:avLst/>
          </a:prstGeom>
          <a:solidFill>
            <a:srgbClr val="0E1216"/>
          </a:solidFill>
          <a:ln w="25400">
            <a:solidFill>
              <a:srgbClr val="FFFFFF"/>
            </a:solidFill>
            <a:prstDash val="solid"/>
          </a:ln>
        </p:spPr>
      </p:sp>
      <p:sp>
        <p:nvSpPr>
          <p:cNvPr id="14" name="Text 11"/>
          <p:cNvSpPr/>
          <p:nvPr/>
        </p:nvSpPr>
        <p:spPr>
          <a:xfrm>
            <a:off x="1015990" y="1822491"/>
            <a:ext cx="1270010" cy="165141"/>
          </a:xfrm>
          <a:prstGeom prst="rect">
            <a:avLst/>
          </a:prstGeom>
          <a:noFill/>
          <a:ln/>
        </p:spPr>
        <p:txBody>
          <a:bodyPr wrap="square" lIns="0" tIns="0" rIns="0" bIns="0" rtlCol="0" anchor="t"/>
          <a:lstStyle/>
          <a:p>
            <a:pPr algn="l" indent="0" marL="0">
              <a:lnSpc>
                <a:spcPct val="130000"/>
              </a:lnSpc>
              <a:buNone/>
            </a:pPr>
            <a:r>
              <a:rPr lang="en-US" sz="850" spc="85" kern="0" dirty="0">
                <a:solidFill>
                  <a:srgbClr val="7C8188"/>
                </a:solidFill>
                <a:latin typeface="JetBrains Mono" pitchFamily="34" charset="0"/>
                <a:ea typeface="JetBrains Mono" pitchFamily="34" charset="-122"/>
                <a:cs typeface="JetBrains Mono" pitchFamily="34" charset="-120"/>
              </a:rPr>
              <a:t>01</a:t>
            </a:r>
            <a:endParaRPr lang="en-US" sz="850" dirty="0"/>
          </a:p>
        </p:txBody>
      </p:sp>
      <p:sp>
        <p:nvSpPr>
          <p:cNvPr id="15" name="Text 12"/>
          <p:cNvSpPr/>
          <p:nvPr/>
        </p:nvSpPr>
        <p:spPr>
          <a:xfrm>
            <a:off x="761970" y="2120859"/>
            <a:ext cx="162562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Lights off</a:t>
            </a:r>
            <a:endParaRPr lang="en-US" sz="1350" dirty="0"/>
          </a:p>
        </p:txBody>
      </p:sp>
      <p:sp>
        <p:nvSpPr>
          <p:cNvPr id="16" name="Shape 14"/>
          <p:cNvSpPr/>
          <p:nvPr/>
        </p:nvSpPr>
        <p:spPr>
          <a:xfrm>
            <a:off x="761970" y="2400300"/>
            <a:ext cx="425470" cy="203180"/>
          </a:xfrm>
          <a:prstGeom prst="roundRect">
            <a:avLst>
              <a:gd name="adj" fmla="val 50000"/>
            </a:avLst>
          </a:prstGeom>
          <a:solidFill>
            <a:srgbClr val="9AA0A6">
              <a:alpha val="18000"/>
            </a:srgbClr>
          </a:solidFill>
          <a:ln/>
        </p:spPr>
      </p:sp>
      <p:sp>
        <p:nvSpPr>
          <p:cNvPr id="17" name="Text 14"/>
          <p:cNvSpPr/>
          <p:nvPr/>
        </p:nvSpPr>
        <p:spPr>
          <a:xfrm>
            <a:off x="761970" y="2440899"/>
            <a:ext cx="425470" cy="146030"/>
          </a:xfrm>
          <a:prstGeom prst="rect">
            <a:avLst/>
          </a:prstGeom>
          <a:noFill/>
          <a:ln/>
        </p:spPr>
        <p:txBody>
          <a:bodyPr wrap="square" lIns="0" tIns="0" rIns="0" bIns="0" rtlCol="0" anchor="t"/>
          <a:lstStyle/>
          <a:p>
            <a:pPr algn="ctr" indent="0" marL="0">
              <a:lnSpc>
                <a:spcPct val="120000"/>
              </a:lnSpc>
              <a:buNone/>
            </a:pPr>
            <a:r>
              <a:rPr lang="en-US" sz="800" b="1" spc="48" kern="0" dirty="0">
                <a:solidFill>
                  <a:srgbClr val="16181B"/>
                </a:solidFill>
                <a:latin typeface="JetBrains Mono" pitchFamily="34" charset="0"/>
                <a:ea typeface="JetBrains Mono" pitchFamily="34" charset="-122"/>
                <a:cs typeface="JetBrains Mono" pitchFamily="34" charset="-120"/>
              </a:rPr>
              <a:t>3 s</a:t>
            </a:r>
            <a:endParaRPr lang="en-US" sz="800" dirty="0"/>
          </a:p>
        </p:txBody>
      </p:sp>
      <p:sp>
        <p:nvSpPr>
          <p:cNvPr id="18" name="Text 15"/>
          <p:cNvSpPr/>
          <p:nvPr/>
        </p:nvSpPr>
        <p:spPr>
          <a:xfrm>
            <a:off x="761970" y="2717780"/>
            <a:ext cx="1625620" cy="628650"/>
          </a:xfrm>
          <a:prstGeom prst="rect">
            <a:avLst/>
          </a:prstGeom>
          <a:noFill/>
          <a:ln/>
        </p:spPr>
        <p:txBody>
          <a:bodyPr wrap="square" lIns="0" tIns="0" rIns="0" bIns="0" rtlCol="0" anchor="t"/>
          <a:lstStyle/>
          <a:p>
            <a:pPr algn="l" indent="0" marL="0">
              <a:lnSpc>
                <a:spcPct val="140000"/>
              </a:lnSpc>
              <a:buNone/>
            </a:pPr>
            <a:r>
              <a:rPr lang="en-US" sz="850" dirty="0">
                <a:solidFill>
                  <a:srgbClr val="4A4E55"/>
                </a:solidFill>
                <a:latin typeface="Inter" pitchFamily="34" charset="0"/>
                <a:ea typeface="Inter" pitchFamily="34" charset="-122"/>
                <a:cs typeface="Inter" pitchFamily="34" charset="-120"/>
              </a:rPr>
              <a:t>LEDs off. The box must read dark; a light leak means the lid is open, and the run stops.</a:t>
            </a:r>
            <a:endParaRPr lang="en-US" sz="850" dirty="0"/>
          </a:p>
        </p:txBody>
      </p:sp>
      <p:sp>
        <p:nvSpPr>
          <p:cNvPr id="19" name="Shape 17"/>
          <p:cNvSpPr/>
          <p:nvPr/>
        </p:nvSpPr>
        <p:spPr>
          <a:xfrm>
            <a:off x="761970" y="3429000"/>
            <a:ext cx="1460480" cy="2603480"/>
          </a:xfrm>
          <a:prstGeom prst="roundRect">
            <a:avLst>
              <a:gd name="adj" fmla="val 13042"/>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20" name="Image 0" descr="Six phases: app-phases-02-dark-390-320c">    </p:cNvPr>
          <p:cNvPicPr>
            <a:picLocks noChangeAspect="1"/>
          </p:cNvPicPr>
          <p:nvPr/>
        </p:nvPicPr>
        <p:blipFill>
          <a:blip r:embed="rId1"/>
          <a:stretch>
            <a:fillRect/>
          </a:stretch>
        </p:blipFill>
        <p:spPr>
          <a:xfrm>
            <a:off x="800100" y="3467130"/>
            <a:ext cx="1384310" cy="2527310"/>
          </a:xfrm>
          <a:prstGeom prst="rect">
            <a:avLst/>
          </a:prstGeom>
        </p:spPr>
      </p:pic>
      <p:sp>
        <p:nvSpPr>
          <p:cNvPr id="21" name="Shape 18"/>
          <p:cNvSpPr/>
          <p:nvPr/>
        </p:nvSpPr>
        <p:spPr>
          <a:xfrm>
            <a:off x="2540020" y="1816090"/>
            <a:ext cx="152430" cy="152430"/>
          </a:xfrm>
          <a:prstGeom prst="ellipse">
            <a:avLst/>
          </a:prstGeom>
          <a:solidFill>
            <a:srgbClr val="4FB3FF"/>
          </a:solidFill>
          <a:ln w="25400">
            <a:solidFill>
              <a:srgbClr val="FFFFFF"/>
            </a:solidFill>
            <a:prstDash val="solid"/>
          </a:ln>
        </p:spPr>
      </p:sp>
      <p:sp>
        <p:nvSpPr>
          <p:cNvPr id="22" name="Text 19"/>
          <p:cNvSpPr/>
          <p:nvPr/>
        </p:nvSpPr>
        <p:spPr>
          <a:xfrm>
            <a:off x="2794041" y="1822491"/>
            <a:ext cx="1270010" cy="165141"/>
          </a:xfrm>
          <a:prstGeom prst="rect">
            <a:avLst/>
          </a:prstGeom>
          <a:noFill/>
          <a:ln/>
        </p:spPr>
        <p:txBody>
          <a:bodyPr wrap="square" lIns="0" tIns="0" rIns="0" bIns="0" rtlCol="0" anchor="t"/>
          <a:lstStyle/>
          <a:p>
            <a:pPr algn="l" indent="0" marL="0">
              <a:lnSpc>
                <a:spcPct val="130000"/>
              </a:lnSpc>
              <a:buNone/>
            </a:pPr>
            <a:r>
              <a:rPr lang="en-US" sz="850" spc="85" kern="0" dirty="0">
                <a:solidFill>
                  <a:srgbClr val="7C8188"/>
                </a:solidFill>
                <a:latin typeface="JetBrains Mono" pitchFamily="34" charset="0"/>
                <a:ea typeface="JetBrains Mono" pitchFamily="34" charset="-122"/>
                <a:cs typeface="JetBrains Mono" pitchFamily="34" charset="-120"/>
              </a:rPr>
              <a:t>02</a:t>
            </a:r>
            <a:endParaRPr lang="en-US" sz="850" dirty="0"/>
          </a:p>
        </p:txBody>
      </p:sp>
      <p:sp>
        <p:nvSpPr>
          <p:cNvPr id="23" name="Text 20"/>
          <p:cNvSpPr/>
          <p:nvPr/>
        </p:nvSpPr>
        <p:spPr>
          <a:xfrm>
            <a:off x="2540020" y="2120859"/>
            <a:ext cx="162562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Clear water</a:t>
            </a:r>
            <a:endParaRPr lang="en-US" sz="1350" dirty="0"/>
          </a:p>
        </p:txBody>
      </p:sp>
      <p:sp>
        <p:nvSpPr>
          <p:cNvPr id="24" name="Shape 21"/>
          <p:cNvSpPr/>
          <p:nvPr/>
        </p:nvSpPr>
        <p:spPr>
          <a:xfrm>
            <a:off x="2540020" y="2400300"/>
            <a:ext cx="488930" cy="203180"/>
          </a:xfrm>
          <a:prstGeom prst="roundRect">
            <a:avLst>
              <a:gd name="adj" fmla="val 50000"/>
            </a:avLst>
          </a:prstGeom>
          <a:solidFill>
            <a:srgbClr val="4FB3FF">
              <a:alpha val="14000"/>
            </a:srgbClr>
          </a:solidFill>
          <a:ln/>
        </p:spPr>
      </p:sp>
      <p:sp>
        <p:nvSpPr>
          <p:cNvPr id="25" name="Text 22"/>
          <p:cNvSpPr/>
          <p:nvPr/>
        </p:nvSpPr>
        <p:spPr>
          <a:xfrm>
            <a:off x="2540020" y="2440899"/>
            <a:ext cx="488930" cy="146030"/>
          </a:xfrm>
          <a:prstGeom prst="rect">
            <a:avLst/>
          </a:prstGeom>
          <a:noFill/>
          <a:ln/>
        </p:spPr>
        <p:txBody>
          <a:bodyPr wrap="square" lIns="0" tIns="0" rIns="0" bIns="0" rtlCol="0" anchor="t"/>
          <a:lstStyle/>
          <a:p>
            <a:pPr algn="ctr" indent="0" marL="0">
              <a:lnSpc>
                <a:spcPct val="120000"/>
              </a:lnSpc>
              <a:buNone/>
            </a:pPr>
            <a:r>
              <a:rPr lang="en-US" sz="800" b="1" spc="48" kern="0" dirty="0">
                <a:solidFill>
                  <a:srgbClr val="16181B"/>
                </a:solidFill>
                <a:latin typeface="JetBrains Mono" pitchFamily="34" charset="0"/>
                <a:ea typeface="JetBrains Mono" pitchFamily="34" charset="-122"/>
                <a:cs typeface="JetBrains Mono" pitchFamily="34" charset="-120"/>
              </a:rPr>
              <a:t>10 s</a:t>
            </a:r>
            <a:endParaRPr lang="en-US" sz="800" dirty="0"/>
          </a:p>
        </p:txBody>
      </p:sp>
      <p:sp>
        <p:nvSpPr>
          <p:cNvPr id="26" name="Text 23"/>
          <p:cNvSpPr/>
          <p:nvPr/>
        </p:nvSpPr>
        <p:spPr>
          <a:xfrm>
            <a:off x="2540020" y="2717780"/>
            <a:ext cx="1625620" cy="628650"/>
          </a:xfrm>
          <a:prstGeom prst="rect">
            <a:avLst/>
          </a:prstGeom>
          <a:noFill/>
          <a:ln/>
        </p:spPr>
        <p:txBody>
          <a:bodyPr wrap="square" lIns="0" tIns="0" rIns="0" bIns="0" rtlCol="0" anchor="t"/>
          <a:lstStyle/>
          <a:p>
            <a:pPr algn="l" indent="0" marL="0">
              <a:lnSpc>
                <a:spcPct val="140000"/>
              </a:lnSpc>
              <a:buNone/>
            </a:pPr>
            <a:r>
              <a:rPr lang="en-US" sz="850" dirty="0">
                <a:solidFill>
                  <a:srgbClr val="4A4E55"/>
                </a:solidFill>
                <a:latin typeface="Inter" pitchFamily="34" charset="0"/>
                <a:ea typeface="Inter" pitchFamily="34" charset="-122"/>
                <a:cs typeface="Inter" pitchFamily="34" charset="-120"/>
              </a:rPr>
              <a:t>Plain water, paddle on. The blank must hold steady (CV under 2 %) or it retries, up to 3 times.</a:t>
            </a:r>
            <a:endParaRPr lang="en-US" sz="850" dirty="0"/>
          </a:p>
        </p:txBody>
      </p:sp>
      <p:sp>
        <p:nvSpPr>
          <p:cNvPr id="27" name="Shape 24"/>
          <p:cNvSpPr/>
          <p:nvPr/>
        </p:nvSpPr>
        <p:spPr>
          <a:xfrm>
            <a:off x="2540020" y="3429000"/>
            <a:ext cx="1460480" cy="2603480"/>
          </a:xfrm>
          <a:prstGeom prst="roundRect">
            <a:avLst>
              <a:gd name="adj" fmla="val 13042"/>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28" name="Image 1" descr="Six phases: app-phases-03-water-390-320c">    </p:cNvPr>
          <p:cNvPicPr>
            <a:picLocks noChangeAspect="1"/>
          </p:cNvPicPr>
          <p:nvPr/>
        </p:nvPicPr>
        <p:blipFill>
          <a:blip r:embed="rId2"/>
          <a:stretch>
            <a:fillRect/>
          </a:stretch>
        </p:blipFill>
        <p:spPr>
          <a:xfrm>
            <a:off x="2578059" y="3467130"/>
            <a:ext cx="1384310" cy="2527310"/>
          </a:xfrm>
          <a:prstGeom prst="rect">
            <a:avLst/>
          </a:prstGeom>
        </p:spPr>
      </p:pic>
      <p:sp>
        <p:nvSpPr>
          <p:cNvPr id="29" name="Shape 25"/>
          <p:cNvSpPr/>
          <p:nvPr/>
        </p:nvSpPr>
        <p:spPr>
          <a:xfrm>
            <a:off x="4317980" y="1816090"/>
            <a:ext cx="152430" cy="152430"/>
          </a:xfrm>
          <a:prstGeom prst="ellipse">
            <a:avLst/>
          </a:prstGeom>
          <a:solidFill>
            <a:srgbClr val="7A5CFF"/>
          </a:solidFill>
          <a:ln w="25400">
            <a:solidFill>
              <a:srgbClr val="FFFFFF"/>
            </a:solidFill>
            <a:prstDash val="solid"/>
          </a:ln>
        </p:spPr>
      </p:sp>
      <p:sp>
        <p:nvSpPr>
          <p:cNvPr id="30" name="Text 27"/>
          <p:cNvSpPr/>
          <p:nvPr/>
        </p:nvSpPr>
        <p:spPr>
          <a:xfrm>
            <a:off x="4572000" y="1822491"/>
            <a:ext cx="1270010" cy="165141"/>
          </a:xfrm>
          <a:prstGeom prst="rect">
            <a:avLst/>
          </a:prstGeom>
          <a:noFill/>
          <a:ln/>
        </p:spPr>
        <p:txBody>
          <a:bodyPr wrap="square" lIns="0" tIns="0" rIns="0" bIns="0" rtlCol="0" anchor="t"/>
          <a:lstStyle/>
          <a:p>
            <a:pPr algn="l" indent="0" marL="0">
              <a:lnSpc>
                <a:spcPct val="130000"/>
              </a:lnSpc>
              <a:buNone/>
            </a:pPr>
            <a:r>
              <a:rPr lang="en-US" sz="850" spc="85" kern="0" dirty="0">
                <a:solidFill>
                  <a:srgbClr val="7C8188"/>
                </a:solidFill>
                <a:latin typeface="JetBrains Mono" pitchFamily="34" charset="0"/>
                <a:ea typeface="JetBrains Mono" pitchFamily="34" charset="-122"/>
                <a:cs typeface="JetBrains Mono" pitchFamily="34" charset="-120"/>
              </a:rPr>
              <a:t>03</a:t>
            </a:r>
            <a:endParaRPr lang="en-US" sz="850" dirty="0"/>
          </a:p>
        </p:txBody>
      </p:sp>
      <p:sp>
        <p:nvSpPr>
          <p:cNvPr id="31" name="Text 28"/>
          <p:cNvSpPr/>
          <p:nvPr/>
        </p:nvSpPr>
        <p:spPr>
          <a:xfrm>
            <a:off x="4317980" y="2120859"/>
            <a:ext cx="162562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Drop the tablet</a:t>
            </a:r>
            <a:endParaRPr lang="en-US" sz="1350" dirty="0"/>
          </a:p>
        </p:txBody>
      </p:sp>
      <p:sp>
        <p:nvSpPr>
          <p:cNvPr id="32" name="Shape 28"/>
          <p:cNvSpPr/>
          <p:nvPr/>
        </p:nvSpPr>
        <p:spPr>
          <a:xfrm>
            <a:off x="4317980" y="2400300"/>
            <a:ext cx="628650" cy="203180"/>
          </a:xfrm>
          <a:prstGeom prst="roundRect">
            <a:avLst>
              <a:gd name="adj" fmla="val 50000"/>
            </a:avLst>
          </a:prstGeom>
          <a:solidFill>
            <a:srgbClr val="7A5CFF">
              <a:alpha val="10000"/>
            </a:srgbClr>
          </a:solidFill>
          <a:ln/>
        </p:spPr>
      </p:sp>
      <p:sp>
        <p:nvSpPr>
          <p:cNvPr id="33" name="Text 30"/>
          <p:cNvSpPr/>
          <p:nvPr/>
        </p:nvSpPr>
        <p:spPr>
          <a:xfrm>
            <a:off x="4317980" y="2440899"/>
            <a:ext cx="628650" cy="146030"/>
          </a:xfrm>
          <a:prstGeom prst="rect">
            <a:avLst/>
          </a:prstGeom>
          <a:noFill/>
          <a:ln/>
        </p:spPr>
        <p:txBody>
          <a:bodyPr wrap="square" lIns="0" tIns="0" rIns="0" bIns="0" rtlCol="0" anchor="t"/>
          <a:lstStyle/>
          <a:p>
            <a:pPr algn="ctr" indent="0" marL="0">
              <a:lnSpc>
                <a:spcPct val="120000"/>
              </a:lnSpc>
              <a:buNone/>
            </a:pPr>
            <a:r>
              <a:rPr lang="en-US" sz="800" b="1" spc="48" kern="0" dirty="0">
                <a:solidFill>
                  <a:srgbClr val="16181B"/>
                </a:solidFill>
                <a:latin typeface="JetBrains Mono" pitchFamily="34" charset="0"/>
                <a:ea typeface="JetBrains Mono" pitchFamily="34" charset="-122"/>
                <a:cs typeface="JetBrains Mono" pitchFamily="34" charset="-120"/>
              </a:rPr>
              <a:t>≤ 30 s</a:t>
            </a:r>
            <a:endParaRPr lang="en-US" sz="800" dirty="0"/>
          </a:p>
        </p:txBody>
      </p:sp>
      <p:sp>
        <p:nvSpPr>
          <p:cNvPr id="34" name="Text 31"/>
          <p:cNvSpPr/>
          <p:nvPr/>
        </p:nvSpPr>
        <p:spPr>
          <a:xfrm>
            <a:off x="4317980" y="2717780"/>
            <a:ext cx="1625620" cy="476220"/>
          </a:xfrm>
          <a:prstGeom prst="rect">
            <a:avLst/>
          </a:prstGeom>
          <a:noFill/>
          <a:ln/>
        </p:spPr>
        <p:txBody>
          <a:bodyPr wrap="square" lIns="0" tIns="0" rIns="0" bIns="0" rtlCol="0" anchor="t"/>
          <a:lstStyle/>
          <a:p>
            <a:pPr algn="l" indent="0" marL="0">
              <a:lnSpc>
                <a:spcPct val="140000"/>
              </a:lnSpc>
              <a:buNone/>
            </a:pPr>
            <a:r>
              <a:rPr lang="en-US" sz="850" dirty="0">
                <a:solidFill>
                  <a:srgbClr val="4A4E55"/>
                </a:solidFill>
                <a:latin typeface="Inter" pitchFamily="34" charset="0"/>
                <a:ea typeface="Inter" pitchFamily="34" charset="-122"/>
                <a:cs typeface="Inter" pitchFamily="34" charset="-120"/>
              </a:rPr>
              <a:t>It waits for the inline reading to fall 6 %. After 30 s the screen prompts.</a:t>
            </a:r>
            <a:endParaRPr lang="en-US" sz="850" dirty="0"/>
          </a:p>
        </p:txBody>
      </p:sp>
      <p:sp>
        <p:nvSpPr>
          <p:cNvPr id="35" name="Shape 31"/>
          <p:cNvSpPr/>
          <p:nvPr/>
        </p:nvSpPr>
        <p:spPr>
          <a:xfrm>
            <a:off x="4317980" y="3429000"/>
            <a:ext cx="1460480" cy="2603480"/>
          </a:xfrm>
          <a:prstGeom prst="roundRect">
            <a:avLst>
              <a:gd name="adj" fmla="val 13042"/>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36" name="Image 2" descr="Six phases: app-phases-04-drop-390-320c">    </p:cNvPr>
          <p:cNvPicPr>
            <a:picLocks noChangeAspect="1"/>
          </p:cNvPicPr>
          <p:nvPr/>
        </p:nvPicPr>
        <p:blipFill>
          <a:blip r:embed="rId3"/>
          <a:stretch>
            <a:fillRect/>
          </a:stretch>
        </p:blipFill>
        <p:spPr>
          <a:xfrm>
            <a:off x="4356110" y="3467130"/>
            <a:ext cx="1384310" cy="2527310"/>
          </a:xfrm>
          <a:prstGeom prst="rect">
            <a:avLst/>
          </a:prstGeom>
        </p:spPr>
      </p:pic>
      <p:sp>
        <p:nvSpPr>
          <p:cNvPr id="37" name="Shape 32"/>
          <p:cNvSpPr/>
          <p:nvPr/>
        </p:nvSpPr>
        <p:spPr>
          <a:xfrm>
            <a:off x="6096030" y="1816090"/>
            <a:ext cx="152430" cy="152430"/>
          </a:xfrm>
          <a:prstGeom prst="ellipse">
            <a:avLst/>
          </a:prstGeom>
          <a:solidFill>
            <a:srgbClr val="2A8FE0"/>
          </a:solidFill>
          <a:ln w="25400">
            <a:solidFill>
              <a:srgbClr val="FFFFFF"/>
            </a:solidFill>
            <a:prstDash val="solid"/>
          </a:ln>
        </p:spPr>
      </p:sp>
      <p:sp>
        <p:nvSpPr>
          <p:cNvPr id="38" name="Text 35"/>
          <p:cNvSpPr/>
          <p:nvPr/>
        </p:nvSpPr>
        <p:spPr>
          <a:xfrm>
            <a:off x="6349959" y="1822491"/>
            <a:ext cx="1270010" cy="165141"/>
          </a:xfrm>
          <a:prstGeom prst="rect">
            <a:avLst/>
          </a:prstGeom>
          <a:noFill/>
          <a:ln/>
        </p:spPr>
        <p:txBody>
          <a:bodyPr wrap="square" lIns="0" tIns="0" rIns="0" bIns="0" rtlCol="0" anchor="t"/>
          <a:lstStyle/>
          <a:p>
            <a:pPr algn="l" indent="0" marL="0">
              <a:lnSpc>
                <a:spcPct val="130000"/>
              </a:lnSpc>
              <a:buNone/>
            </a:pPr>
            <a:r>
              <a:rPr lang="en-US" sz="850" spc="85" kern="0" dirty="0">
                <a:solidFill>
                  <a:srgbClr val="7C8188"/>
                </a:solidFill>
                <a:latin typeface="JetBrains Mono" pitchFamily="34" charset="0"/>
                <a:ea typeface="JetBrains Mono" pitchFamily="34" charset="-122"/>
                <a:cs typeface="JetBrains Mono" pitchFamily="34" charset="-120"/>
              </a:rPr>
              <a:t>04</a:t>
            </a:r>
            <a:endParaRPr lang="en-US" sz="850" dirty="0"/>
          </a:p>
        </p:txBody>
      </p:sp>
      <p:sp>
        <p:nvSpPr>
          <p:cNvPr id="39" name="Text 36"/>
          <p:cNvSpPr/>
          <p:nvPr/>
        </p:nvSpPr>
        <p:spPr>
          <a:xfrm>
            <a:off x="6096030" y="2120859"/>
            <a:ext cx="162562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Dissolving</a:t>
            </a:r>
            <a:endParaRPr lang="en-US" sz="1350" dirty="0"/>
          </a:p>
        </p:txBody>
      </p:sp>
      <p:sp>
        <p:nvSpPr>
          <p:cNvPr id="40" name="Shape 35"/>
          <p:cNvSpPr/>
          <p:nvPr/>
        </p:nvSpPr>
        <p:spPr>
          <a:xfrm>
            <a:off x="6096030" y="2400300"/>
            <a:ext cx="692109" cy="203180"/>
          </a:xfrm>
          <a:prstGeom prst="roundRect">
            <a:avLst>
              <a:gd name="adj" fmla="val 50000"/>
            </a:avLst>
          </a:prstGeom>
          <a:solidFill>
            <a:srgbClr val="4FB3FF">
              <a:alpha val="14000"/>
            </a:srgbClr>
          </a:solidFill>
          <a:ln/>
        </p:spPr>
      </p:sp>
      <p:sp>
        <p:nvSpPr>
          <p:cNvPr id="41" name="Text 38"/>
          <p:cNvSpPr/>
          <p:nvPr/>
        </p:nvSpPr>
        <p:spPr>
          <a:xfrm>
            <a:off x="6096030" y="2440899"/>
            <a:ext cx="692109" cy="146030"/>
          </a:xfrm>
          <a:prstGeom prst="rect">
            <a:avLst/>
          </a:prstGeom>
          <a:noFill/>
          <a:ln/>
        </p:spPr>
        <p:txBody>
          <a:bodyPr wrap="square" lIns="0" tIns="0" rIns="0" bIns="0" rtlCol="0" anchor="t"/>
          <a:lstStyle/>
          <a:p>
            <a:pPr algn="ctr" indent="0" marL="0">
              <a:lnSpc>
                <a:spcPct val="120000"/>
              </a:lnSpc>
              <a:buNone/>
            </a:pPr>
            <a:r>
              <a:rPr lang="en-US" sz="800" b="1" spc="48" kern="0" dirty="0">
                <a:solidFill>
                  <a:srgbClr val="16181B"/>
                </a:solidFill>
                <a:latin typeface="JetBrains Mono" pitchFamily="34" charset="0"/>
                <a:ea typeface="JetBrains Mono" pitchFamily="34" charset="-122"/>
                <a:cs typeface="JetBrains Mono" pitchFamily="34" charset="-120"/>
              </a:rPr>
              <a:t>1–2 min</a:t>
            </a:r>
            <a:endParaRPr lang="en-US" sz="800" dirty="0"/>
          </a:p>
        </p:txBody>
      </p:sp>
      <p:sp>
        <p:nvSpPr>
          <p:cNvPr id="42" name="Text 39"/>
          <p:cNvSpPr/>
          <p:nvPr/>
        </p:nvSpPr>
        <p:spPr>
          <a:xfrm>
            <a:off x="6096030" y="2717780"/>
            <a:ext cx="1625620" cy="628650"/>
          </a:xfrm>
          <a:prstGeom prst="rect">
            <a:avLst/>
          </a:prstGeom>
          <a:noFill/>
          <a:ln/>
        </p:spPr>
        <p:txBody>
          <a:bodyPr wrap="square" lIns="0" tIns="0" rIns="0" bIns="0" rtlCol="0" anchor="t"/>
          <a:lstStyle/>
          <a:p>
            <a:pPr algn="l" indent="0" marL="0">
              <a:lnSpc>
                <a:spcPct val="140000"/>
              </a:lnSpc>
              <a:buNone/>
            </a:pPr>
            <a:r>
              <a:rPr lang="en-US" sz="850" dirty="0">
                <a:solidFill>
                  <a:srgbClr val="4A4E55"/>
                </a:solidFill>
                <a:latin typeface="Inter" pitchFamily="34" charset="0"/>
                <a:ea typeface="Inter" pitchFamily="34" charset="-122"/>
                <a:cs typeface="Inter" pitchFamily="34" charset="-120"/>
              </a:rPr>
              <a:t>The pill fills, the curve falls, the glow rises. Glow flat while blue falls: the amber moment.</a:t>
            </a:r>
            <a:endParaRPr lang="en-US" sz="850" dirty="0"/>
          </a:p>
        </p:txBody>
      </p:sp>
      <p:sp>
        <p:nvSpPr>
          <p:cNvPr id="43" name="Shape 38"/>
          <p:cNvSpPr/>
          <p:nvPr/>
        </p:nvSpPr>
        <p:spPr>
          <a:xfrm>
            <a:off x="6096030" y="3429000"/>
            <a:ext cx="1460480" cy="2603480"/>
          </a:xfrm>
          <a:prstGeom prst="roundRect">
            <a:avLst>
              <a:gd name="adj" fmla="val 13042"/>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44" name="Image 3" descr="Six phases: app-phases-05-dissolving-390-320c">    </p:cNvPr>
          <p:cNvPicPr>
            <a:picLocks noChangeAspect="1"/>
          </p:cNvPicPr>
          <p:nvPr/>
        </p:nvPicPr>
        <p:blipFill>
          <a:blip r:embed="rId4"/>
          <a:stretch>
            <a:fillRect/>
          </a:stretch>
        </p:blipFill>
        <p:spPr>
          <a:xfrm>
            <a:off x="6134070" y="3467130"/>
            <a:ext cx="1384310" cy="2527310"/>
          </a:xfrm>
          <a:prstGeom prst="rect">
            <a:avLst/>
          </a:prstGeom>
        </p:spPr>
      </p:pic>
      <p:sp>
        <p:nvSpPr>
          <p:cNvPr id="45" name="Shape 39"/>
          <p:cNvSpPr/>
          <p:nvPr/>
        </p:nvSpPr>
        <p:spPr>
          <a:xfrm>
            <a:off x="7873990" y="1816090"/>
            <a:ext cx="152430" cy="152430"/>
          </a:xfrm>
          <a:prstGeom prst="ellipse">
            <a:avLst/>
          </a:prstGeom>
          <a:solidFill>
            <a:srgbClr val="9AA0A6"/>
          </a:solidFill>
          <a:ln w="25400">
            <a:solidFill>
              <a:srgbClr val="FFFFFF"/>
            </a:solidFill>
            <a:prstDash val="solid"/>
          </a:ln>
        </p:spPr>
      </p:sp>
      <p:sp>
        <p:nvSpPr>
          <p:cNvPr id="46" name="Text 43"/>
          <p:cNvSpPr/>
          <p:nvPr/>
        </p:nvSpPr>
        <p:spPr>
          <a:xfrm>
            <a:off x="8128010" y="1822491"/>
            <a:ext cx="1270010" cy="165141"/>
          </a:xfrm>
          <a:prstGeom prst="rect">
            <a:avLst/>
          </a:prstGeom>
          <a:noFill/>
          <a:ln/>
        </p:spPr>
        <p:txBody>
          <a:bodyPr wrap="square" lIns="0" tIns="0" rIns="0" bIns="0" rtlCol="0" anchor="t"/>
          <a:lstStyle/>
          <a:p>
            <a:pPr algn="l" indent="0" marL="0">
              <a:lnSpc>
                <a:spcPct val="130000"/>
              </a:lnSpc>
              <a:buNone/>
            </a:pPr>
            <a:r>
              <a:rPr lang="en-US" sz="850" spc="85" kern="0" dirty="0">
                <a:solidFill>
                  <a:srgbClr val="7C8188"/>
                </a:solidFill>
                <a:latin typeface="JetBrains Mono" pitchFamily="34" charset="0"/>
                <a:ea typeface="JetBrains Mono" pitchFamily="34" charset="-122"/>
                <a:cs typeface="JetBrains Mono" pitchFamily="34" charset="-120"/>
              </a:rPr>
              <a:t>05</a:t>
            </a:r>
            <a:endParaRPr lang="en-US" sz="850" dirty="0"/>
          </a:p>
        </p:txBody>
      </p:sp>
      <p:sp>
        <p:nvSpPr>
          <p:cNvPr id="47" name="Text 44"/>
          <p:cNvSpPr/>
          <p:nvPr/>
        </p:nvSpPr>
        <p:spPr>
          <a:xfrm>
            <a:off x="7873990" y="2120859"/>
            <a:ext cx="162562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Settling</a:t>
            </a:r>
            <a:endParaRPr lang="en-US" sz="1350" dirty="0"/>
          </a:p>
        </p:txBody>
      </p:sp>
      <p:sp>
        <p:nvSpPr>
          <p:cNvPr id="48" name="Shape 42"/>
          <p:cNvSpPr/>
          <p:nvPr/>
        </p:nvSpPr>
        <p:spPr>
          <a:xfrm>
            <a:off x="7873990" y="2400300"/>
            <a:ext cx="958840" cy="203180"/>
          </a:xfrm>
          <a:prstGeom prst="roundRect">
            <a:avLst>
              <a:gd name="adj" fmla="val 50000"/>
            </a:avLst>
          </a:prstGeom>
          <a:solidFill>
            <a:srgbClr val="9AA0A6">
              <a:alpha val="18000"/>
            </a:srgbClr>
          </a:solidFill>
          <a:ln/>
        </p:spPr>
      </p:sp>
      <p:sp>
        <p:nvSpPr>
          <p:cNvPr id="49" name="Text 46"/>
          <p:cNvSpPr/>
          <p:nvPr/>
        </p:nvSpPr>
        <p:spPr>
          <a:xfrm>
            <a:off x="7873990" y="2440899"/>
            <a:ext cx="958840" cy="146030"/>
          </a:xfrm>
          <a:prstGeom prst="rect">
            <a:avLst/>
          </a:prstGeom>
          <a:noFill/>
          <a:ln/>
        </p:spPr>
        <p:txBody>
          <a:bodyPr wrap="square" lIns="0" tIns="0" rIns="0" bIns="0" rtlCol="0" anchor="t"/>
          <a:lstStyle/>
          <a:p>
            <a:pPr algn="ctr" indent="0" marL="0">
              <a:lnSpc>
                <a:spcPct val="120000"/>
              </a:lnSpc>
              <a:buNone/>
            </a:pPr>
            <a:r>
              <a:rPr lang="en-US" sz="800" b="1" spc="48" kern="0" dirty="0">
                <a:solidFill>
                  <a:srgbClr val="16181B"/>
                </a:solidFill>
                <a:latin typeface="JetBrains Mono" pitchFamily="34" charset="0"/>
                <a:ea typeface="JetBrains Mono" pitchFamily="34" charset="-122"/>
                <a:cs typeface="JetBrains Mono" pitchFamily="34" charset="-120"/>
              </a:rPr>
              <a:t>20 s window</a:t>
            </a:r>
            <a:endParaRPr lang="en-US" sz="800" dirty="0"/>
          </a:p>
        </p:txBody>
      </p:sp>
      <p:sp>
        <p:nvSpPr>
          <p:cNvPr id="50" name="Text 47"/>
          <p:cNvSpPr/>
          <p:nvPr/>
        </p:nvSpPr>
        <p:spPr>
          <a:xfrm>
            <a:off x="7873990" y="2717780"/>
            <a:ext cx="1625620" cy="476220"/>
          </a:xfrm>
          <a:prstGeom prst="rect">
            <a:avLst/>
          </a:prstGeom>
          <a:noFill/>
          <a:ln/>
        </p:spPr>
        <p:txBody>
          <a:bodyPr wrap="square" lIns="0" tIns="0" rIns="0" bIns="0" rtlCol="0" anchor="t"/>
          <a:lstStyle/>
          <a:p>
            <a:pPr algn="l" indent="0" marL="0">
              <a:lnSpc>
                <a:spcPct val="140000"/>
              </a:lnSpc>
              <a:buNone/>
            </a:pPr>
            <a:r>
              <a:rPr lang="en-US" sz="850" dirty="0">
                <a:solidFill>
                  <a:srgbClr val="4A4E55"/>
                </a:solidFill>
                <a:latin typeface="Inter" pitchFamily="34" charset="0"/>
                <a:ea typeface="Inter" pitchFamily="34" charset="-122"/>
                <a:cs typeface="Inter" pitchFamily="34" charset="-120"/>
              </a:rPr>
              <a:t>Flat for 20 s (|dA/dt| &lt; ε) means plateau. No plateau by 180 s: timeout.</a:t>
            </a:r>
            <a:endParaRPr lang="en-US" sz="850" dirty="0"/>
          </a:p>
        </p:txBody>
      </p:sp>
      <p:sp>
        <p:nvSpPr>
          <p:cNvPr id="51" name="Shape 45"/>
          <p:cNvSpPr/>
          <p:nvPr/>
        </p:nvSpPr>
        <p:spPr>
          <a:xfrm>
            <a:off x="7873990" y="3429000"/>
            <a:ext cx="1460480" cy="2603480"/>
          </a:xfrm>
          <a:prstGeom prst="roundRect">
            <a:avLst>
              <a:gd name="adj" fmla="val 13042"/>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52" name="Image 4" descr="Six phases: app-phases-06-settling-390-320c">    </p:cNvPr>
          <p:cNvPicPr>
            <a:picLocks noChangeAspect="1"/>
          </p:cNvPicPr>
          <p:nvPr/>
        </p:nvPicPr>
        <p:blipFill>
          <a:blip r:embed="rId5"/>
          <a:stretch>
            <a:fillRect/>
          </a:stretch>
        </p:blipFill>
        <p:spPr>
          <a:xfrm>
            <a:off x="7912120" y="3467130"/>
            <a:ext cx="1384310" cy="2527310"/>
          </a:xfrm>
          <a:prstGeom prst="rect">
            <a:avLst/>
          </a:prstGeom>
        </p:spPr>
      </p:pic>
      <p:sp>
        <p:nvSpPr>
          <p:cNvPr id="53" name="Shape 46"/>
          <p:cNvSpPr/>
          <p:nvPr/>
        </p:nvSpPr>
        <p:spPr>
          <a:xfrm>
            <a:off x="9652041" y="1816090"/>
            <a:ext cx="152430" cy="152430"/>
          </a:xfrm>
          <a:prstGeom prst="ellipse">
            <a:avLst/>
          </a:prstGeom>
          <a:solidFill>
            <a:srgbClr val="5FD39A"/>
          </a:solidFill>
          <a:ln w="25400">
            <a:solidFill>
              <a:srgbClr val="FFFFFF"/>
            </a:solidFill>
            <a:prstDash val="solid"/>
          </a:ln>
        </p:spPr>
      </p:sp>
      <p:sp>
        <p:nvSpPr>
          <p:cNvPr id="54" name="Text 51"/>
          <p:cNvSpPr/>
          <p:nvPr/>
        </p:nvSpPr>
        <p:spPr>
          <a:xfrm>
            <a:off x="9905970" y="1822491"/>
            <a:ext cx="1270010" cy="165141"/>
          </a:xfrm>
          <a:prstGeom prst="rect">
            <a:avLst/>
          </a:prstGeom>
          <a:noFill/>
          <a:ln/>
        </p:spPr>
        <p:txBody>
          <a:bodyPr wrap="square" lIns="0" tIns="0" rIns="0" bIns="0" rtlCol="0" anchor="t"/>
          <a:lstStyle/>
          <a:p>
            <a:pPr algn="l" indent="0" marL="0">
              <a:lnSpc>
                <a:spcPct val="130000"/>
              </a:lnSpc>
              <a:buNone/>
            </a:pPr>
            <a:r>
              <a:rPr lang="en-US" sz="850" spc="85" kern="0" dirty="0">
                <a:solidFill>
                  <a:srgbClr val="7C8188"/>
                </a:solidFill>
                <a:latin typeface="JetBrains Mono" pitchFamily="34" charset="0"/>
                <a:ea typeface="JetBrains Mono" pitchFamily="34" charset="-122"/>
                <a:cs typeface="JetBrains Mono" pitchFamily="34" charset="-120"/>
              </a:rPr>
              <a:t>06</a:t>
            </a:r>
            <a:endParaRPr lang="en-US" sz="850" dirty="0"/>
          </a:p>
        </p:txBody>
      </p:sp>
      <p:sp>
        <p:nvSpPr>
          <p:cNvPr id="55" name="Text 52"/>
          <p:cNvSpPr/>
          <p:nvPr/>
        </p:nvSpPr>
        <p:spPr>
          <a:xfrm>
            <a:off x="9652041" y="2120859"/>
            <a:ext cx="162562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Verdict</a:t>
            </a:r>
            <a:endParaRPr lang="en-US" sz="1350" dirty="0"/>
          </a:p>
        </p:txBody>
      </p:sp>
      <p:sp>
        <p:nvSpPr>
          <p:cNvPr id="56" name="Shape 49"/>
          <p:cNvSpPr/>
          <p:nvPr/>
        </p:nvSpPr>
        <p:spPr>
          <a:xfrm>
            <a:off x="9652041" y="2400300"/>
            <a:ext cx="692109" cy="203180"/>
          </a:xfrm>
          <a:prstGeom prst="roundRect">
            <a:avLst>
              <a:gd name="adj" fmla="val 50000"/>
            </a:avLst>
          </a:prstGeom>
          <a:solidFill>
            <a:srgbClr val="5FD39A">
              <a:alpha val="16000"/>
            </a:srgbClr>
          </a:solidFill>
          <a:ln/>
        </p:spPr>
      </p:sp>
      <p:sp>
        <p:nvSpPr>
          <p:cNvPr id="57" name="Text 54"/>
          <p:cNvSpPr/>
          <p:nvPr/>
        </p:nvSpPr>
        <p:spPr>
          <a:xfrm>
            <a:off x="9652041" y="2440899"/>
            <a:ext cx="692109" cy="146030"/>
          </a:xfrm>
          <a:prstGeom prst="rect">
            <a:avLst/>
          </a:prstGeom>
          <a:noFill/>
          <a:ln/>
        </p:spPr>
        <p:txBody>
          <a:bodyPr wrap="square" lIns="0" tIns="0" rIns="0" bIns="0" rtlCol="0" anchor="t"/>
          <a:lstStyle/>
          <a:p>
            <a:pPr algn="ctr" indent="0" marL="0">
              <a:lnSpc>
                <a:spcPct val="120000"/>
              </a:lnSpc>
              <a:buNone/>
            </a:pPr>
            <a:r>
              <a:rPr lang="en-US" sz="800" b="1" spc="48" kern="0" dirty="0">
                <a:solidFill>
                  <a:srgbClr val="16181B"/>
                </a:solidFill>
                <a:latin typeface="JetBrains Mono" pitchFamily="34" charset="0"/>
                <a:ea typeface="JetBrains Mono" pitchFamily="34" charset="-122"/>
                <a:cs typeface="JetBrains Mono" pitchFamily="34" charset="-120"/>
              </a:rPr>
              <a:t>7 rules</a:t>
            </a:r>
            <a:endParaRPr lang="en-US" sz="800" dirty="0"/>
          </a:p>
        </p:txBody>
      </p:sp>
      <p:sp>
        <p:nvSpPr>
          <p:cNvPr id="58" name="Text 55"/>
          <p:cNvSpPr/>
          <p:nvPr/>
        </p:nvSpPr>
        <p:spPr>
          <a:xfrm>
            <a:off x="9652041" y="2717780"/>
            <a:ext cx="1625620" cy="476220"/>
          </a:xfrm>
          <a:prstGeom prst="rect">
            <a:avLst/>
          </a:prstGeom>
          <a:noFill/>
          <a:ln/>
        </p:spPr>
        <p:txBody>
          <a:bodyPr wrap="square" lIns="0" tIns="0" rIns="0" bIns="0" rtlCol="0" anchor="t"/>
          <a:lstStyle/>
          <a:p>
            <a:pPr algn="l" indent="0" marL="0">
              <a:lnSpc>
                <a:spcPct val="140000"/>
              </a:lnSpc>
              <a:buNone/>
            </a:pPr>
            <a:r>
              <a:rPr lang="en-US" sz="850" dirty="0">
                <a:solidFill>
                  <a:srgbClr val="4A4E55"/>
                </a:solidFill>
                <a:latin typeface="Inter" pitchFamily="34" charset="0"/>
                <a:ea typeface="Inter" pitchFamily="34" charset="-122"/>
                <a:cs typeface="Inter" pitchFamily="34" charset="-120"/>
              </a:rPr>
              <a:t>Seven rules, in order. The rule that fired is printed with the word.</a:t>
            </a:r>
            <a:endParaRPr lang="en-US" sz="850" dirty="0"/>
          </a:p>
        </p:txBody>
      </p:sp>
      <p:sp>
        <p:nvSpPr>
          <p:cNvPr id="59" name="Shape 52"/>
          <p:cNvSpPr/>
          <p:nvPr/>
        </p:nvSpPr>
        <p:spPr>
          <a:xfrm>
            <a:off x="9652041" y="3429000"/>
            <a:ext cx="1460480" cy="2603480"/>
          </a:xfrm>
          <a:prstGeom prst="roundRect">
            <a:avLst>
              <a:gd name="adj" fmla="val 13042"/>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60" name="Image 5" descr="Six phases: app-phases-07-verdict-390-320c">    </p:cNvPr>
          <p:cNvPicPr>
            <a:picLocks noChangeAspect="1"/>
          </p:cNvPicPr>
          <p:nvPr/>
        </p:nvPicPr>
        <p:blipFill>
          <a:blip r:embed="rId6"/>
          <a:stretch>
            <a:fillRect/>
          </a:stretch>
        </p:blipFill>
        <p:spPr>
          <a:xfrm>
            <a:off x="9690080" y="3467130"/>
            <a:ext cx="1384310" cy="252731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GEMINI CHECKS THE SENSOR</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12 / 21</a:t>
            </a:r>
            <a:endParaRPr lang="en-US" sz="900" dirty="0"/>
          </a:p>
        </p:txBody>
      </p:sp>
      <p:sp>
        <p:nvSpPr>
          <p:cNvPr id="8" name="Shape 6"/>
          <p:cNvSpPr/>
          <p:nvPr/>
        </p:nvSpPr>
        <p:spPr>
          <a:xfrm>
            <a:off x="761970" y="6413510"/>
            <a:ext cx="10668030" cy="12710"/>
          </a:xfrm>
          <a:prstGeom prst="rect">
            <a:avLst/>
          </a:prstGeom>
          <a:solidFill>
            <a:srgbClr val="16181B">
              <a:alpha val="10000"/>
            </a:srgbClr>
          </a:solidFill>
          <a:ln/>
        </p:spPr>
      </p:sp>
      <p:sp>
        <p:nvSpPr>
          <p:cNvPr id="9" name="Text 6"/>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0" name="Title"/>
          <p:cNvSpPr/>
          <p:nvPr/>
        </p:nvSpPr>
        <p:spPr>
          <a:xfrm>
            <a:off x="761970" y="812810"/>
            <a:ext cx="4317980" cy="787390"/>
          </a:xfrm>
          <a:prstGeom prst="rect">
            <a:avLst/>
          </a:prstGeom>
          <a:noFill/>
          <a:ln/>
        </p:spPr>
        <p:txBody>
          <a:bodyPr wrap="square" lIns="0" tIns="0" rIns="0" bIns="0" rtlCol="0" anchor="t"/>
          <a:lstStyle/>
          <a:p>
            <a:pPr algn="l" indent="0" marL="0">
              <a:lnSpc>
                <a:spcPct val="100000"/>
              </a:lnSpc>
              <a:buNone/>
            </a:pPr>
            <a:r>
              <a:rPr lang="en-US" sz="2808" spc="-42" kern="0" dirty="0">
                <a:solidFill>
                  <a:srgbClr val="16181B"/>
                </a:solidFill>
                <a:latin typeface="Instrument Serif" pitchFamily="34" charset="0"/>
                <a:ea typeface="Instrument Serif" pitchFamily="34" charset="-122"/>
                <a:cs typeface="Instrument Serif" pitchFamily="34" charset="-120"/>
              </a:rPr>
              <a:t>Gemini checks what the sensor says.</a:t>
            </a:r>
            <a:endParaRPr lang="en-US" sz="2808" dirty="0"/>
          </a:p>
        </p:txBody>
      </p:sp>
      <p:sp>
        <p:nvSpPr>
          <p:cNvPr id="11" name="Text 8"/>
          <p:cNvSpPr/>
          <p:nvPr/>
        </p:nvSpPr>
        <p:spPr>
          <a:xfrm>
            <a:off x="761970" y="1904970"/>
            <a:ext cx="4063959" cy="609630"/>
          </a:xfrm>
          <a:prstGeom prst="rect">
            <a:avLst/>
          </a:prstGeom>
          <a:noFill/>
          <a:ln/>
        </p:spPr>
        <p:txBody>
          <a:bodyPr wrap="square" lIns="0" tIns="0" rIns="0" bIns="0" rtlCol="0" anchor="t"/>
          <a:lstStyle/>
          <a:p>
            <a:pPr algn="l" indent="0" marL="0">
              <a:lnSpc>
                <a:spcPct val="145000"/>
              </a:lnSpc>
              <a:buNone/>
            </a:pPr>
            <a:r>
              <a:rPr lang="en-US" sz="1050" dirty="0">
                <a:solidFill>
                  <a:srgbClr val="4A4E55"/>
                </a:solidFill>
                <a:latin typeface="Inter" pitchFamily="34" charset="0"/>
                <a:ea typeface="Inter" pitchFamily="34" charset="-122"/>
                <a:cs typeface="Inter" pitchFamily="34" charset="-120"/>
              </a:rPr>
              <a:t>After the run, Gemini reads the label, looks at the cup and checks for a recall, then compares that with the sensor. Six steps, each logged with its own time.</a:t>
            </a:r>
            <a:endParaRPr lang="en-US" sz="1050" dirty="0"/>
          </a:p>
        </p:txBody>
      </p:sp>
      <p:sp>
        <p:nvSpPr>
          <p:cNvPr id="12" name="Shape 10"/>
          <p:cNvSpPr/>
          <p:nvPr/>
        </p:nvSpPr>
        <p:spPr>
          <a:xfrm>
            <a:off x="761970" y="2984510"/>
            <a:ext cx="228600" cy="228600"/>
          </a:xfrm>
          <a:prstGeom prst="ellipse">
            <a:avLst/>
          </a:prstGeom>
          <a:solidFill>
            <a:srgbClr val="4FB3FF">
              <a:alpha val="14000"/>
            </a:srgbClr>
          </a:solidFill>
          <a:ln/>
        </p:spPr>
      </p:sp>
      <p:sp>
        <p:nvSpPr>
          <p:cNvPr id="13" name="Text 10"/>
          <p:cNvSpPr/>
          <p:nvPr/>
        </p:nvSpPr>
        <p:spPr>
          <a:xfrm>
            <a:off x="761970" y="3028950"/>
            <a:ext cx="228600" cy="165141"/>
          </a:xfrm>
          <a:prstGeom prst="rect">
            <a:avLst/>
          </a:prstGeom>
          <a:noFill/>
          <a:ln/>
        </p:spPr>
        <p:txBody>
          <a:bodyPr wrap="square" lIns="0" tIns="0" rIns="0" bIns="0" rtlCol="0" anchor="t"/>
          <a:lstStyle/>
          <a:p>
            <a:pPr algn="ctr" indent="0" marL="0">
              <a:lnSpc>
                <a:spcPct val="130000"/>
              </a:lnSpc>
              <a:buNone/>
            </a:pPr>
            <a:r>
              <a:rPr lang="en-US" sz="850" b="1" dirty="0">
                <a:solidFill>
                  <a:srgbClr val="16181B"/>
                </a:solidFill>
                <a:latin typeface="JetBrains Mono" pitchFamily="34" charset="0"/>
                <a:ea typeface="JetBrains Mono" pitchFamily="34" charset="-122"/>
                <a:cs typeface="JetBrains Mono" pitchFamily="34" charset="-120"/>
              </a:rPr>
              <a:t>1</a:t>
            </a:r>
            <a:endParaRPr lang="en-US" sz="850" dirty="0"/>
          </a:p>
        </p:txBody>
      </p:sp>
      <p:sp>
        <p:nvSpPr>
          <p:cNvPr id="14" name="Text 11"/>
          <p:cNvSpPr/>
          <p:nvPr/>
        </p:nvSpPr>
        <p:spPr>
          <a:xfrm>
            <a:off x="1104870" y="3003530"/>
            <a:ext cx="2540020" cy="215890"/>
          </a:xfrm>
          <a:prstGeom prst="rect">
            <a:avLst/>
          </a:prstGeom>
          <a:noFill/>
          <a:ln/>
        </p:spPr>
        <p:txBody>
          <a:bodyPr wrap="square" lIns="0" tIns="0" rIns="0" bIns="0" rtlCol="0" anchor="t"/>
          <a:lstStyle/>
          <a:p>
            <a:pPr algn="l" indent="0" marL="0">
              <a:lnSpc>
                <a:spcPct val="140000"/>
              </a:lnSpc>
              <a:buNone/>
            </a:pPr>
            <a:r>
              <a:rPr lang="en-US" sz="1050" b="1" dirty="0">
                <a:solidFill>
                  <a:srgbClr val="16181B"/>
                </a:solidFill>
                <a:latin typeface="Inter" pitchFamily="34" charset="0"/>
                <a:ea typeface="Inter" pitchFamily="34" charset="-122"/>
                <a:cs typeface="Inter" pitchFamily="34" charset="-120"/>
              </a:rPr>
              <a:t>Read the label</a:t>
            </a:r>
            <a:endParaRPr lang="en-US" sz="1050" dirty="0"/>
          </a:p>
        </p:txBody>
      </p:sp>
      <p:sp>
        <p:nvSpPr>
          <p:cNvPr id="15" name="Text 12"/>
          <p:cNvSpPr/>
          <p:nvPr/>
        </p:nvSpPr>
        <p:spPr>
          <a:xfrm>
            <a:off x="3556010" y="3035259"/>
            <a:ext cx="1270010" cy="152430"/>
          </a:xfrm>
          <a:prstGeom prst="rect">
            <a:avLst/>
          </a:prstGeom>
          <a:noFill/>
          <a:ln/>
        </p:spPr>
        <p:txBody>
          <a:bodyPr wrap="square" lIns="0" tIns="0" rIns="0" bIns="0" rtlCol="0" anchor="t"/>
          <a:lstStyle/>
          <a:p>
            <a:pPr algn="r" indent="0" marL="0">
              <a:lnSpc>
                <a:spcPct val="130000"/>
              </a:lnSpc>
              <a:buNone/>
            </a:pPr>
            <a:r>
              <a:rPr lang="en-US" sz="800" dirty="0">
                <a:solidFill>
                  <a:srgbClr val="7C8188"/>
                </a:solidFill>
                <a:latin typeface="JetBrains Mono" pitchFamily="34" charset="0"/>
                <a:ea typeface="JetBrains Mono" pitchFamily="34" charset="-122"/>
                <a:cs typeface="JetBrains Mono" pitchFamily="34" charset="-120"/>
              </a:rPr>
              <a:t>gemini vision</a:t>
            </a:r>
            <a:endParaRPr lang="en-US" sz="800" dirty="0"/>
          </a:p>
        </p:txBody>
      </p:sp>
      <p:sp>
        <p:nvSpPr>
          <p:cNvPr id="16" name="Shape 14"/>
          <p:cNvSpPr/>
          <p:nvPr/>
        </p:nvSpPr>
        <p:spPr>
          <a:xfrm>
            <a:off x="761970" y="3340120"/>
            <a:ext cx="228600" cy="228600"/>
          </a:xfrm>
          <a:prstGeom prst="ellipse">
            <a:avLst/>
          </a:prstGeom>
          <a:solidFill>
            <a:srgbClr val="4FB3FF">
              <a:alpha val="14000"/>
            </a:srgbClr>
          </a:solidFill>
          <a:ln/>
        </p:spPr>
      </p:sp>
      <p:sp>
        <p:nvSpPr>
          <p:cNvPr id="17" name="Text 14"/>
          <p:cNvSpPr/>
          <p:nvPr/>
        </p:nvSpPr>
        <p:spPr>
          <a:xfrm>
            <a:off x="761970" y="3384560"/>
            <a:ext cx="228600" cy="165141"/>
          </a:xfrm>
          <a:prstGeom prst="rect">
            <a:avLst/>
          </a:prstGeom>
          <a:noFill/>
          <a:ln/>
        </p:spPr>
        <p:txBody>
          <a:bodyPr wrap="square" lIns="0" tIns="0" rIns="0" bIns="0" rtlCol="0" anchor="t"/>
          <a:lstStyle/>
          <a:p>
            <a:pPr algn="ctr" indent="0" marL="0">
              <a:lnSpc>
                <a:spcPct val="130000"/>
              </a:lnSpc>
              <a:buNone/>
            </a:pPr>
            <a:r>
              <a:rPr lang="en-US" sz="850" b="1" dirty="0">
                <a:solidFill>
                  <a:srgbClr val="16181B"/>
                </a:solidFill>
                <a:latin typeface="JetBrains Mono" pitchFamily="34" charset="0"/>
                <a:ea typeface="JetBrains Mono" pitchFamily="34" charset="-122"/>
                <a:cs typeface="JetBrains Mono" pitchFamily="34" charset="-120"/>
              </a:rPr>
              <a:t>2</a:t>
            </a:r>
            <a:endParaRPr lang="en-US" sz="850" dirty="0"/>
          </a:p>
        </p:txBody>
      </p:sp>
      <p:sp>
        <p:nvSpPr>
          <p:cNvPr id="18" name="Text 15"/>
          <p:cNvSpPr/>
          <p:nvPr/>
        </p:nvSpPr>
        <p:spPr>
          <a:xfrm>
            <a:off x="1104870" y="3359140"/>
            <a:ext cx="2540020" cy="215890"/>
          </a:xfrm>
          <a:prstGeom prst="rect">
            <a:avLst/>
          </a:prstGeom>
          <a:noFill/>
          <a:ln/>
        </p:spPr>
        <p:txBody>
          <a:bodyPr wrap="square" lIns="0" tIns="0" rIns="0" bIns="0" rtlCol="0" anchor="t"/>
          <a:lstStyle/>
          <a:p>
            <a:pPr algn="l" indent="0" marL="0">
              <a:lnSpc>
                <a:spcPct val="140000"/>
              </a:lnSpc>
              <a:buNone/>
            </a:pPr>
            <a:r>
              <a:rPr lang="en-US" sz="1050" b="1" dirty="0">
                <a:solidFill>
                  <a:srgbClr val="16181B"/>
                </a:solidFill>
                <a:latin typeface="Inter" pitchFamily="34" charset="0"/>
                <a:ea typeface="Inter" pitchFamily="34" charset="-122"/>
                <a:cs typeface="Inter" pitchFamily="34" charset="-120"/>
              </a:rPr>
              <a:t>Look at the cup</a:t>
            </a:r>
            <a:endParaRPr lang="en-US" sz="1050" dirty="0"/>
          </a:p>
        </p:txBody>
      </p:sp>
      <p:sp>
        <p:nvSpPr>
          <p:cNvPr id="19" name="Text 16"/>
          <p:cNvSpPr/>
          <p:nvPr/>
        </p:nvSpPr>
        <p:spPr>
          <a:xfrm>
            <a:off x="3556010" y="3390870"/>
            <a:ext cx="1270010" cy="152430"/>
          </a:xfrm>
          <a:prstGeom prst="rect">
            <a:avLst/>
          </a:prstGeom>
          <a:noFill/>
          <a:ln/>
        </p:spPr>
        <p:txBody>
          <a:bodyPr wrap="square" lIns="0" tIns="0" rIns="0" bIns="0" rtlCol="0" anchor="t"/>
          <a:lstStyle/>
          <a:p>
            <a:pPr algn="r" indent="0" marL="0">
              <a:lnSpc>
                <a:spcPct val="130000"/>
              </a:lnSpc>
              <a:buNone/>
            </a:pPr>
            <a:r>
              <a:rPr lang="en-US" sz="800" dirty="0">
                <a:solidFill>
                  <a:srgbClr val="7C8188"/>
                </a:solidFill>
                <a:latin typeface="JetBrains Mono" pitchFamily="34" charset="0"/>
                <a:ea typeface="JetBrains Mono" pitchFamily="34" charset="-122"/>
                <a:cs typeface="JetBrains Mono" pitchFamily="34" charset="-120"/>
              </a:rPr>
              <a:t>gemini vision</a:t>
            </a:r>
            <a:endParaRPr lang="en-US" sz="800" dirty="0"/>
          </a:p>
        </p:txBody>
      </p:sp>
      <p:sp>
        <p:nvSpPr>
          <p:cNvPr id="20" name="Shape 18"/>
          <p:cNvSpPr/>
          <p:nvPr/>
        </p:nvSpPr>
        <p:spPr>
          <a:xfrm>
            <a:off x="761970" y="3695730"/>
            <a:ext cx="228600" cy="228600"/>
          </a:xfrm>
          <a:prstGeom prst="ellipse">
            <a:avLst/>
          </a:prstGeom>
          <a:solidFill>
            <a:srgbClr val="4FB3FF">
              <a:alpha val="14000"/>
            </a:srgbClr>
          </a:solidFill>
          <a:ln/>
        </p:spPr>
      </p:sp>
      <p:sp>
        <p:nvSpPr>
          <p:cNvPr id="21" name="Text 18"/>
          <p:cNvSpPr/>
          <p:nvPr/>
        </p:nvSpPr>
        <p:spPr>
          <a:xfrm>
            <a:off x="761970" y="3740170"/>
            <a:ext cx="228600" cy="165141"/>
          </a:xfrm>
          <a:prstGeom prst="rect">
            <a:avLst/>
          </a:prstGeom>
          <a:noFill/>
          <a:ln/>
        </p:spPr>
        <p:txBody>
          <a:bodyPr wrap="square" lIns="0" tIns="0" rIns="0" bIns="0" rtlCol="0" anchor="t"/>
          <a:lstStyle/>
          <a:p>
            <a:pPr algn="ctr" indent="0" marL="0">
              <a:lnSpc>
                <a:spcPct val="130000"/>
              </a:lnSpc>
              <a:buNone/>
            </a:pPr>
            <a:r>
              <a:rPr lang="en-US" sz="850" b="1" dirty="0">
                <a:solidFill>
                  <a:srgbClr val="16181B"/>
                </a:solidFill>
                <a:latin typeface="JetBrains Mono" pitchFamily="34" charset="0"/>
                <a:ea typeface="JetBrains Mono" pitchFamily="34" charset="-122"/>
                <a:cs typeface="JetBrains Mono" pitchFamily="34" charset="-120"/>
              </a:rPr>
              <a:t>3</a:t>
            </a:r>
            <a:endParaRPr lang="en-US" sz="850" dirty="0"/>
          </a:p>
        </p:txBody>
      </p:sp>
      <p:sp>
        <p:nvSpPr>
          <p:cNvPr id="22" name="Text 19"/>
          <p:cNvSpPr/>
          <p:nvPr/>
        </p:nvSpPr>
        <p:spPr>
          <a:xfrm>
            <a:off x="1104870" y="3714750"/>
            <a:ext cx="2540020" cy="215890"/>
          </a:xfrm>
          <a:prstGeom prst="rect">
            <a:avLst/>
          </a:prstGeom>
          <a:noFill/>
          <a:ln/>
        </p:spPr>
        <p:txBody>
          <a:bodyPr wrap="square" lIns="0" tIns="0" rIns="0" bIns="0" rtlCol="0" anchor="t"/>
          <a:lstStyle/>
          <a:p>
            <a:pPr algn="l" indent="0" marL="0">
              <a:lnSpc>
                <a:spcPct val="140000"/>
              </a:lnSpc>
              <a:buNone/>
            </a:pPr>
            <a:r>
              <a:rPr lang="en-US" sz="1050" b="1" dirty="0">
                <a:solidFill>
                  <a:srgbClr val="16181B"/>
                </a:solidFill>
                <a:latin typeface="Inter" pitchFamily="34" charset="0"/>
                <a:ea typeface="Inter" pitchFamily="34" charset="-122"/>
                <a:cs typeface="Inter" pitchFamily="34" charset="-120"/>
              </a:rPr>
              <a:t>Check for a recall</a:t>
            </a:r>
            <a:endParaRPr lang="en-US" sz="1050" dirty="0"/>
          </a:p>
        </p:txBody>
      </p:sp>
      <p:sp>
        <p:nvSpPr>
          <p:cNvPr id="23" name="Text 20"/>
          <p:cNvSpPr/>
          <p:nvPr/>
        </p:nvSpPr>
        <p:spPr>
          <a:xfrm>
            <a:off x="3556010" y="3746480"/>
            <a:ext cx="1270010" cy="152430"/>
          </a:xfrm>
          <a:prstGeom prst="rect">
            <a:avLst/>
          </a:prstGeom>
          <a:noFill/>
          <a:ln/>
        </p:spPr>
        <p:txBody>
          <a:bodyPr wrap="square" lIns="0" tIns="0" rIns="0" bIns="0" rtlCol="0" anchor="t"/>
          <a:lstStyle/>
          <a:p>
            <a:pPr algn="r" indent="0" marL="0">
              <a:lnSpc>
                <a:spcPct val="130000"/>
              </a:lnSpc>
              <a:buNone/>
            </a:pPr>
            <a:r>
              <a:rPr lang="en-US" sz="800" dirty="0">
                <a:solidFill>
                  <a:srgbClr val="7C8188"/>
                </a:solidFill>
                <a:latin typeface="JetBrains Mono" pitchFamily="34" charset="0"/>
                <a:ea typeface="JetBrains Mono" pitchFamily="34" charset="-122"/>
                <a:cs typeface="JetBrains Mono" pitchFamily="34" charset="-120"/>
              </a:rPr>
              <a:t>openFDA</a:t>
            </a:r>
            <a:endParaRPr lang="en-US" sz="800" dirty="0"/>
          </a:p>
        </p:txBody>
      </p:sp>
      <p:sp>
        <p:nvSpPr>
          <p:cNvPr id="24" name="Shape 22"/>
          <p:cNvSpPr/>
          <p:nvPr/>
        </p:nvSpPr>
        <p:spPr>
          <a:xfrm>
            <a:off x="761970" y="4051341"/>
            <a:ext cx="228600" cy="228600"/>
          </a:xfrm>
          <a:prstGeom prst="ellipse">
            <a:avLst/>
          </a:prstGeom>
          <a:solidFill>
            <a:srgbClr val="4FB3FF">
              <a:alpha val="14000"/>
            </a:srgbClr>
          </a:solidFill>
          <a:ln/>
        </p:spPr>
      </p:sp>
      <p:sp>
        <p:nvSpPr>
          <p:cNvPr id="25" name="Text 22"/>
          <p:cNvSpPr/>
          <p:nvPr/>
        </p:nvSpPr>
        <p:spPr>
          <a:xfrm>
            <a:off x="761970" y="4095780"/>
            <a:ext cx="228600" cy="165141"/>
          </a:xfrm>
          <a:prstGeom prst="rect">
            <a:avLst/>
          </a:prstGeom>
          <a:noFill/>
          <a:ln/>
        </p:spPr>
        <p:txBody>
          <a:bodyPr wrap="square" lIns="0" tIns="0" rIns="0" bIns="0" rtlCol="0" anchor="t"/>
          <a:lstStyle/>
          <a:p>
            <a:pPr algn="ctr" indent="0" marL="0">
              <a:lnSpc>
                <a:spcPct val="130000"/>
              </a:lnSpc>
              <a:buNone/>
            </a:pPr>
            <a:r>
              <a:rPr lang="en-US" sz="850" b="1" dirty="0">
                <a:solidFill>
                  <a:srgbClr val="16181B"/>
                </a:solidFill>
                <a:latin typeface="JetBrains Mono" pitchFamily="34" charset="0"/>
                <a:ea typeface="JetBrains Mono" pitchFamily="34" charset="-122"/>
                <a:cs typeface="JetBrains Mono" pitchFamily="34" charset="-120"/>
              </a:rPr>
              <a:t>4</a:t>
            </a:r>
            <a:endParaRPr lang="en-US" sz="850" dirty="0"/>
          </a:p>
        </p:txBody>
      </p:sp>
      <p:sp>
        <p:nvSpPr>
          <p:cNvPr id="26" name="Text 23"/>
          <p:cNvSpPr/>
          <p:nvPr/>
        </p:nvSpPr>
        <p:spPr>
          <a:xfrm>
            <a:off x="1104870" y="4070360"/>
            <a:ext cx="2540020" cy="215890"/>
          </a:xfrm>
          <a:prstGeom prst="rect">
            <a:avLst/>
          </a:prstGeom>
          <a:noFill/>
          <a:ln/>
        </p:spPr>
        <p:txBody>
          <a:bodyPr wrap="square" lIns="0" tIns="0" rIns="0" bIns="0" rtlCol="0" anchor="t"/>
          <a:lstStyle/>
          <a:p>
            <a:pPr algn="l" indent="0" marL="0">
              <a:lnSpc>
                <a:spcPct val="140000"/>
              </a:lnSpc>
              <a:buNone/>
            </a:pPr>
            <a:r>
              <a:rPr lang="en-US" sz="1050" b="1" dirty="0">
                <a:solidFill>
                  <a:srgbClr val="16181B"/>
                </a:solidFill>
                <a:latin typeface="Inter" pitchFamily="34" charset="0"/>
                <a:ea typeface="Inter" pitchFamily="34" charset="-122"/>
                <a:cs typeface="Inter" pitchFamily="34" charset="-120"/>
              </a:rPr>
              <a:t>Check expiry, drug and lot</a:t>
            </a:r>
            <a:endParaRPr lang="en-US" sz="1050" dirty="0"/>
          </a:p>
        </p:txBody>
      </p:sp>
      <p:sp>
        <p:nvSpPr>
          <p:cNvPr id="27" name="Text 24"/>
          <p:cNvSpPr/>
          <p:nvPr/>
        </p:nvSpPr>
        <p:spPr>
          <a:xfrm>
            <a:off x="3556010" y="4102090"/>
            <a:ext cx="1270010" cy="152430"/>
          </a:xfrm>
          <a:prstGeom prst="rect">
            <a:avLst/>
          </a:prstGeom>
          <a:noFill/>
          <a:ln/>
        </p:spPr>
        <p:txBody>
          <a:bodyPr wrap="square" lIns="0" tIns="0" rIns="0" bIns="0" rtlCol="0" anchor="t"/>
          <a:lstStyle/>
          <a:p>
            <a:pPr algn="r" indent="0" marL="0">
              <a:lnSpc>
                <a:spcPct val="130000"/>
              </a:lnSpc>
              <a:buNone/>
            </a:pPr>
            <a:r>
              <a:rPr lang="en-US" sz="800" dirty="0">
                <a:solidFill>
                  <a:srgbClr val="7C8188"/>
                </a:solidFill>
                <a:latin typeface="JetBrains Mono" pitchFamily="34" charset="0"/>
                <a:ea typeface="JetBrains Mono" pitchFamily="34" charset="-122"/>
                <a:cs typeface="JetBrains Mono" pitchFamily="34" charset="-120"/>
              </a:rPr>
              <a:t>code</a:t>
            </a:r>
            <a:endParaRPr lang="en-US" sz="800" dirty="0"/>
          </a:p>
        </p:txBody>
      </p:sp>
      <p:sp>
        <p:nvSpPr>
          <p:cNvPr id="28" name="Shape 26"/>
          <p:cNvSpPr/>
          <p:nvPr/>
        </p:nvSpPr>
        <p:spPr>
          <a:xfrm>
            <a:off x="761970" y="4406859"/>
            <a:ext cx="228600" cy="228600"/>
          </a:xfrm>
          <a:prstGeom prst="ellipse">
            <a:avLst/>
          </a:prstGeom>
          <a:solidFill>
            <a:srgbClr val="4FB3FF">
              <a:alpha val="14000"/>
            </a:srgbClr>
          </a:solidFill>
          <a:ln/>
        </p:spPr>
      </p:sp>
      <p:sp>
        <p:nvSpPr>
          <p:cNvPr id="29" name="Text 26"/>
          <p:cNvSpPr/>
          <p:nvPr/>
        </p:nvSpPr>
        <p:spPr>
          <a:xfrm>
            <a:off x="761970" y="4451391"/>
            <a:ext cx="228600" cy="165141"/>
          </a:xfrm>
          <a:prstGeom prst="rect">
            <a:avLst/>
          </a:prstGeom>
          <a:noFill/>
          <a:ln/>
        </p:spPr>
        <p:txBody>
          <a:bodyPr wrap="square" lIns="0" tIns="0" rIns="0" bIns="0" rtlCol="0" anchor="t"/>
          <a:lstStyle/>
          <a:p>
            <a:pPr algn="ctr" indent="0" marL="0">
              <a:lnSpc>
                <a:spcPct val="130000"/>
              </a:lnSpc>
              <a:buNone/>
            </a:pPr>
            <a:r>
              <a:rPr lang="en-US" sz="850" b="1" dirty="0">
                <a:solidFill>
                  <a:srgbClr val="16181B"/>
                </a:solidFill>
                <a:latin typeface="JetBrains Mono" pitchFamily="34" charset="0"/>
                <a:ea typeface="JetBrains Mono" pitchFamily="34" charset="-122"/>
                <a:cs typeface="JetBrains Mono" pitchFamily="34" charset="-120"/>
              </a:rPr>
              <a:t>5</a:t>
            </a:r>
            <a:endParaRPr lang="en-US" sz="850" dirty="0"/>
          </a:p>
        </p:txBody>
      </p:sp>
      <p:sp>
        <p:nvSpPr>
          <p:cNvPr id="30" name="Text 27"/>
          <p:cNvSpPr/>
          <p:nvPr/>
        </p:nvSpPr>
        <p:spPr>
          <a:xfrm>
            <a:off x="1104870" y="4425970"/>
            <a:ext cx="2540020" cy="215890"/>
          </a:xfrm>
          <a:prstGeom prst="rect">
            <a:avLst/>
          </a:prstGeom>
          <a:noFill/>
          <a:ln/>
        </p:spPr>
        <p:txBody>
          <a:bodyPr wrap="square" lIns="0" tIns="0" rIns="0" bIns="0" rtlCol="0" anchor="t"/>
          <a:lstStyle/>
          <a:p>
            <a:pPr algn="l" indent="0" marL="0">
              <a:lnSpc>
                <a:spcPct val="140000"/>
              </a:lnSpc>
              <a:buNone/>
            </a:pPr>
            <a:r>
              <a:rPr lang="en-US" sz="1050" b="1" dirty="0">
                <a:solidFill>
                  <a:srgbClr val="16181B"/>
                </a:solidFill>
                <a:latin typeface="Inter" pitchFamily="34" charset="0"/>
                <a:ea typeface="Inter" pitchFamily="34" charset="-122"/>
                <a:cs typeface="Inter" pitchFamily="34" charset="-120"/>
              </a:rPr>
              <a:t>Compare with the sensor</a:t>
            </a:r>
            <a:endParaRPr lang="en-US" sz="1050" dirty="0"/>
          </a:p>
        </p:txBody>
      </p:sp>
      <p:sp>
        <p:nvSpPr>
          <p:cNvPr id="31" name="Text 28"/>
          <p:cNvSpPr/>
          <p:nvPr/>
        </p:nvSpPr>
        <p:spPr>
          <a:xfrm>
            <a:off x="3556010" y="4457700"/>
            <a:ext cx="1270010" cy="152430"/>
          </a:xfrm>
          <a:prstGeom prst="rect">
            <a:avLst/>
          </a:prstGeom>
          <a:noFill/>
          <a:ln/>
        </p:spPr>
        <p:txBody>
          <a:bodyPr wrap="square" lIns="0" tIns="0" rIns="0" bIns="0" rtlCol="0" anchor="t"/>
          <a:lstStyle/>
          <a:p>
            <a:pPr algn="r" indent="0" marL="0">
              <a:lnSpc>
                <a:spcPct val="130000"/>
              </a:lnSpc>
              <a:buNone/>
            </a:pPr>
            <a:r>
              <a:rPr lang="en-US" sz="800" dirty="0">
                <a:solidFill>
                  <a:srgbClr val="7C8188"/>
                </a:solidFill>
                <a:latin typeface="JetBrains Mono" pitchFamily="34" charset="0"/>
                <a:ea typeface="JetBrains Mono" pitchFamily="34" charset="-122"/>
                <a:cs typeface="JetBrains Mono" pitchFamily="34" charset="-120"/>
              </a:rPr>
              <a:t>code</a:t>
            </a:r>
            <a:endParaRPr lang="en-US" sz="800" dirty="0"/>
          </a:p>
        </p:txBody>
      </p:sp>
      <p:sp>
        <p:nvSpPr>
          <p:cNvPr id="32" name="Shape 30"/>
          <p:cNvSpPr/>
          <p:nvPr/>
        </p:nvSpPr>
        <p:spPr>
          <a:xfrm>
            <a:off x="761970" y="4762470"/>
            <a:ext cx="228600" cy="228600"/>
          </a:xfrm>
          <a:prstGeom prst="ellipse">
            <a:avLst/>
          </a:prstGeom>
          <a:solidFill>
            <a:srgbClr val="4FB3FF">
              <a:alpha val="14000"/>
            </a:srgbClr>
          </a:solidFill>
          <a:ln/>
        </p:spPr>
      </p:sp>
      <p:sp>
        <p:nvSpPr>
          <p:cNvPr id="33" name="Text 30"/>
          <p:cNvSpPr/>
          <p:nvPr/>
        </p:nvSpPr>
        <p:spPr>
          <a:xfrm>
            <a:off x="761970" y="4806909"/>
            <a:ext cx="228600" cy="165141"/>
          </a:xfrm>
          <a:prstGeom prst="rect">
            <a:avLst/>
          </a:prstGeom>
          <a:noFill/>
          <a:ln/>
        </p:spPr>
        <p:txBody>
          <a:bodyPr wrap="square" lIns="0" tIns="0" rIns="0" bIns="0" rtlCol="0" anchor="t"/>
          <a:lstStyle/>
          <a:p>
            <a:pPr algn="ctr" indent="0" marL="0">
              <a:lnSpc>
                <a:spcPct val="130000"/>
              </a:lnSpc>
              <a:buNone/>
            </a:pPr>
            <a:r>
              <a:rPr lang="en-US" sz="850" b="1" dirty="0">
                <a:solidFill>
                  <a:srgbClr val="16181B"/>
                </a:solidFill>
                <a:latin typeface="JetBrains Mono" pitchFamily="34" charset="0"/>
                <a:ea typeface="JetBrains Mono" pitchFamily="34" charset="-122"/>
                <a:cs typeface="JetBrains Mono" pitchFamily="34" charset="-120"/>
              </a:rPr>
              <a:t>6</a:t>
            </a:r>
            <a:endParaRPr lang="en-US" sz="850" dirty="0"/>
          </a:p>
        </p:txBody>
      </p:sp>
      <p:sp>
        <p:nvSpPr>
          <p:cNvPr id="34" name="Text 31"/>
          <p:cNvSpPr/>
          <p:nvPr/>
        </p:nvSpPr>
        <p:spPr>
          <a:xfrm>
            <a:off x="1104870" y="4781580"/>
            <a:ext cx="2540020" cy="215890"/>
          </a:xfrm>
          <a:prstGeom prst="rect">
            <a:avLst/>
          </a:prstGeom>
          <a:noFill/>
          <a:ln/>
        </p:spPr>
        <p:txBody>
          <a:bodyPr wrap="square" lIns="0" tIns="0" rIns="0" bIns="0" rtlCol="0" anchor="t"/>
          <a:lstStyle/>
          <a:p>
            <a:pPr algn="l" indent="0" marL="0">
              <a:lnSpc>
                <a:spcPct val="140000"/>
              </a:lnSpc>
              <a:buNone/>
            </a:pPr>
            <a:r>
              <a:rPr lang="en-US" sz="1050" b="1" dirty="0">
                <a:solidFill>
                  <a:srgbClr val="16181B"/>
                </a:solidFill>
                <a:latin typeface="Inter" pitchFamily="34" charset="0"/>
                <a:ea typeface="Inter" pitchFamily="34" charset="-122"/>
                <a:cs typeface="Inter" pitchFamily="34" charset="-120"/>
              </a:rPr>
              <a:t>Say it in plain words</a:t>
            </a:r>
            <a:endParaRPr lang="en-US" sz="1050" dirty="0"/>
          </a:p>
        </p:txBody>
      </p:sp>
      <p:sp>
        <p:nvSpPr>
          <p:cNvPr id="35" name="Text 32"/>
          <p:cNvSpPr/>
          <p:nvPr/>
        </p:nvSpPr>
        <p:spPr>
          <a:xfrm>
            <a:off x="3556010" y="4813310"/>
            <a:ext cx="1270010" cy="152430"/>
          </a:xfrm>
          <a:prstGeom prst="rect">
            <a:avLst/>
          </a:prstGeom>
          <a:noFill/>
          <a:ln/>
        </p:spPr>
        <p:txBody>
          <a:bodyPr wrap="square" lIns="0" tIns="0" rIns="0" bIns="0" rtlCol="0" anchor="t"/>
          <a:lstStyle/>
          <a:p>
            <a:pPr algn="r" indent="0" marL="0">
              <a:lnSpc>
                <a:spcPct val="130000"/>
              </a:lnSpc>
              <a:buNone/>
            </a:pPr>
            <a:r>
              <a:rPr lang="en-US" sz="800" dirty="0">
                <a:solidFill>
                  <a:srgbClr val="7C8188"/>
                </a:solidFill>
                <a:latin typeface="JetBrains Mono" pitchFamily="34" charset="0"/>
                <a:ea typeface="JetBrains Mono" pitchFamily="34" charset="-122"/>
                <a:cs typeface="JetBrains Mono" pitchFamily="34" charset="-120"/>
              </a:rPr>
              <a:t>gemini · filtered</a:t>
            </a:r>
            <a:endParaRPr lang="en-US" sz="800" dirty="0"/>
          </a:p>
        </p:txBody>
      </p:sp>
      <p:sp>
        <p:nvSpPr>
          <p:cNvPr id="36" name="Shape 34"/>
          <p:cNvSpPr/>
          <p:nvPr/>
        </p:nvSpPr>
        <p:spPr>
          <a:xfrm>
            <a:off x="761970" y="5270510"/>
            <a:ext cx="4063959" cy="761970"/>
          </a:xfrm>
          <a:prstGeom prst="roundRect">
            <a:avLst>
              <a:gd name="adj" fmla="val 23329"/>
            </a:avLst>
          </a:prstGeom>
          <a:solidFill>
            <a:srgbClr val="5FD39A">
              <a:alpha val="16000"/>
            </a:srgbClr>
          </a:solidFill>
          <a:ln w="12700">
            <a:solidFill>
              <a:srgbClr val="5FD39A">
                <a:alpha val="45000"/>
              </a:srgbClr>
            </a:solidFill>
            <a:prstDash val="solid"/>
          </a:ln>
        </p:spPr>
      </p:sp>
      <p:sp>
        <p:nvSpPr>
          <p:cNvPr id="37" name="Text 34"/>
          <p:cNvSpPr/>
          <p:nvPr/>
        </p:nvSpPr>
        <p:spPr>
          <a:xfrm>
            <a:off x="939820" y="5410230"/>
            <a:ext cx="3708441" cy="381030"/>
          </a:xfrm>
          <a:prstGeom prst="rect">
            <a:avLst/>
          </a:prstGeom>
          <a:noFill/>
          <a:ln/>
        </p:spPr>
        <p:txBody>
          <a:bodyPr wrap="square" lIns="0" tIns="0" rIns="0" bIns="0" rtlCol="0" anchor="t"/>
          <a:lstStyle/>
          <a:p>
            <a:pPr algn="l" indent="0" marL="0">
              <a:lnSpc>
                <a:spcPct val="140000"/>
              </a:lnSpc>
              <a:buNone/>
            </a:pPr>
            <a:r>
              <a:rPr lang="en-US" sz="1000" dirty="0">
                <a:solidFill>
                  <a:srgbClr val="16181B"/>
                </a:solidFill>
                <a:latin typeface="Inter" pitchFamily="34" charset="0"/>
                <a:ea typeface="Inter" pitchFamily="34" charset="-122"/>
                <a:cs typeface="Inter" pitchFamily="34" charset="-120"/>
              </a:rPr>
              <a:t>The sensor decides. The checker explains and never changes the word. A pharmacist or doctor decides.</a:t>
            </a:r>
            <a:endParaRPr lang="en-US" sz="1000" dirty="0"/>
          </a:p>
        </p:txBody>
      </p:sp>
      <p:sp>
        <p:nvSpPr>
          <p:cNvPr id="38" name="Shape 36"/>
          <p:cNvSpPr/>
          <p:nvPr/>
        </p:nvSpPr>
        <p:spPr>
          <a:xfrm>
            <a:off x="5206959" y="1244590"/>
            <a:ext cx="1904970" cy="4063959"/>
          </a:xfrm>
          <a:prstGeom prst="roundRect">
            <a:avLst>
              <a:gd name="adj" fmla="val 12999"/>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39" name="Image 0" descr="Gemini checker: app-gemini-checker-steps-390-340c">    </p:cNvPr>
          <p:cNvPicPr>
            <a:picLocks noChangeAspect="1"/>
          </p:cNvPicPr>
          <p:nvPr/>
        </p:nvPicPr>
        <p:blipFill>
          <a:blip r:embed="rId1"/>
          <a:stretch>
            <a:fillRect/>
          </a:stretch>
        </p:blipFill>
        <p:spPr>
          <a:xfrm>
            <a:off x="5257800" y="1295430"/>
            <a:ext cx="1803380" cy="3962370"/>
          </a:xfrm>
          <a:prstGeom prst="rect">
            <a:avLst/>
          </a:prstGeom>
        </p:spPr>
      </p:pic>
      <p:sp>
        <p:nvSpPr>
          <p:cNvPr id="40" name="Text 37"/>
          <p:cNvSpPr/>
          <p:nvPr/>
        </p:nvSpPr>
        <p:spPr>
          <a:xfrm>
            <a:off x="5206959" y="5410230"/>
            <a:ext cx="1904970" cy="165141"/>
          </a:xfrm>
          <a:prstGeom prst="rect">
            <a:avLst/>
          </a:prstGeom>
          <a:noFill/>
          <a:ln/>
        </p:spPr>
        <p:txBody>
          <a:bodyPr wrap="square" lIns="0" tIns="0" rIns="0" bIns="0" rtlCol="0" anchor="t"/>
          <a:lstStyle/>
          <a:p>
            <a:pPr algn="ctr" indent="0" marL="0">
              <a:lnSpc>
                <a:spcPct val="140000"/>
              </a:lnSpc>
              <a:buNone/>
            </a:pPr>
            <a:r>
              <a:rPr lang="en-US" sz="800" dirty="0">
                <a:solidFill>
                  <a:srgbClr val="4A4E55"/>
                </a:solidFill>
                <a:latin typeface="JetBrains Mono" pitchFamily="34" charset="0"/>
                <a:ea typeface="JetBrains Mono" pitchFamily="34" charset="-122"/>
                <a:cs typeface="JetBrains Mono" pitchFamily="34" charset="-120"/>
              </a:rPr>
              <a:t>Checker · the step log</a:t>
            </a:r>
            <a:endParaRPr lang="en-US" sz="800" dirty="0"/>
          </a:p>
        </p:txBody>
      </p:sp>
      <p:sp>
        <p:nvSpPr>
          <p:cNvPr id="41" name="Shape 38"/>
          <p:cNvSpPr/>
          <p:nvPr/>
        </p:nvSpPr>
        <p:spPr>
          <a:xfrm>
            <a:off x="7302490" y="1244590"/>
            <a:ext cx="1904970" cy="4063959"/>
          </a:xfrm>
          <a:prstGeom prst="roundRect">
            <a:avLst>
              <a:gd name="adj" fmla="val 12999"/>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42" name="Image 1" descr="Gemini checker: app-gemini-checker-report-390-340c">    </p:cNvPr>
          <p:cNvPicPr>
            <a:picLocks noChangeAspect="1"/>
          </p:cNvPicPr>
          <p:nvPr/>
        </p:nvPicPr>
        <p:blipFill>
          <a:blip r:embed="rId2"/>
          <a:stretch>
            <a:fillRect/>
          </a:stretch>
        </p:blipFill>
        <p:spPr>
          <a:xfrm>
            <a:off x="7353330" y="1295430"/>
            <a:ext cx="1803380" cy="3962370"/>
          </a:xfrm>
          <a:prstGeom prst="rect">
            <a:avLst/>
          </a:prstGeom>
        </p:spPr>
      </p:pic>
      <p:sp>
        <p:nvSpPr>
          <p:cNvPr id="43" name="Text 40"/>
          <p:cNvSpPr/>
          <p:nvPr/>
        </p:nvSpPr>
        <p:spPr>
          <a:xfrm>
            <a:off x="7302490" y="5410230"/>
            <a:ext cx="1904970" cy="165141"/>
          </a:xfrm>
          <a:prstGeom prst="rect">
            <a:avLst/>
          </a:prstGeom>
          <a:noFill/>
          <a:ln/>
        </p:spPr>
        <p:txBody>
          <a:bodyPr wrap="square" lIns="0" tIns="0" rIns="0" bIns="0" rtlCol="0" anchor="t"/>
          <a:lstStyle/>
          <a:p>
            <a:pPr algn="ctr" indent="0" marL="0">
              <a:lnSpc>
                <a:spcPct val="140000"/>
              </a:lnSpc>
              <a:buNone/>
            </a:pPr>
            <a:r>
              <a:rPr lang="en-US" sz="800" dirty="0">
                <a:solidFill>
                  <a:srgbClr val="4A4E55"/>
                </a:solidFill>
                <a:latin typeface="JetBrains Mono" pitchFamily="34" charset="0"/>
                <a:ea typeface="JetBrains Mono" pitchFamily="34" charset="-122"/>
                <a:cs typeface="JetBrains Mono" pitchFamily="34" charset="-120"/>
              </a:rPr>
              <a:t>Checker · the report</a:t>
            </a:r>
            <a:endParaRPr lang="en-US" sz="800" dirty="0"/>
          </a:p>
        </p:txBody>
      </p:sp>
      <p:sp>
        <p:nvSpPr>
          <p:cNvPr id="44" name="Shape 40"/>
          <p:cNvSpPr/>
          <p:nvPr/>
        </p:nvSpPr>
        <p:spPr>
          <a:xfrm>
            <a:off x="9398020" y="1244590"/>
            <a:ext cx="1904970" cy="4063959"/>
          </a:xfrm>
          <a:prstGeom prst="roundRect">
            <a:avLst>
              <a:gd name="adj" fmla="val 12999"/>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pic>
        <p:nvPicPr>
          <p:cNvPr id="45" name="Image 2" descr="Gemini checker: app-gemini-follower-open-390-340c">    </p:cNvPr>
          <p:cNvPicPr>
            <a:picLocks noChangeAspect="1"/>
          </p:cNvPicPr>
          <p:nvPr/>
        </p:nvPicPr>
        <p:blipFill>
          <a:blip r:embed="rId3"/>
          <a:stretch>
            <a:fillRect/>
          </a:stretch>
        </p:blipFill>
        <p:spPr>
          <a:xfrm>
            <a:off x="9448770" y="1295430"/>
            <a:ext cx="1803380" cy="3962370"/>
          </a:xfrm>
          <a:prstGeom prst="rect">
            <a:avLst/>
          </a:prstGeom>
        </p:spPr>
      </p:pic>
      <p:sp>
        <p:nvSpPr>
          <p:cNvPr id="46" name="Text 43"/>
          <p:cNvSpPr/>
          <p:nvPr/>
        </p:nvSpPr>
        <p:spPr>
          <a:xfrm>
            <a:off x="9398020" y="5410230"/>
            <a:ext cx="1904970" cy="165141"/>
          </a:xfrm>
          <a:prstGeom prst="rect">
            <a:avLst/>
          </a:prstGeom>
          <a:noFill/>
          <a:ln/>
        </p:spPr>
        <p:txBody>
          <a:bodyPr wrap="square" lIns="0" tIns="0" rIns="0" bIns="0" rtlCol="0" anchor="t"/>
          <a:lstStyle/>
          <a:p>
            <a:pPr algn="ctr" indent="0" marL="0">
              <a:lnSpc>
                <a:spcPct val="140000"/>
              </a:lnSpc>
              <a:buNone/>
            </a:pPr>
            <a:r>
              <a:rPr lang="en-US" sz="800" dirty="0">
                <a:solidFill>
                  <a:srgbClr val="4A4E55"/>
                </a:solidFill>
                <a:latin typeface="JetBrains Mono" pitchFamily="34" charset="0"/>
                <a:ea typeface="JetBrains Mono" pitchFamily="34" charset="-122"/>
                <a:cs typeface="JetBrains Mono" pitchFamily="34" charset="-120"/>
              </a:rPr>
              <a:t>Follower · on every screen</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THE WEBSITE</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13 / 21</a:t>
            </a:r>
            <a:endParaRPr lang="en-US" sz="900" dirty="0"/>
          </a:p>
        </p:txBody>
      </p:sp>
      <p:sp>
        <p:nvSpPr>
          <p:cNvPr id="8" name="Shape 6"/>
          <p:cNvSpPr/>
          <p:nvPr/>
        </p:nvSpPr>
        <p:spPr>
          <a:xfrm>
            <a:off x="761970" y="6413510"/>
            <a:ext cx="10668030" cy="12710"/>
          </a:xfrm>
          <a:prstGeom prst="rect">
            <a:avLst/>
          </a:prstGeom>
          <a:solidFill>
            <a:srgbClr val="16181B">
              <a:alpha val="10000"/>
            </a:srgbClr>
          </a:solidFill>
          <a:ln/>
        </p:spPr>
      </p:sp>
      <p:sp>
        <p:nvSpPr>
          <p:cNvPr id="9" name="Text 6"/>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0" name="Title"/>
          <p:cNvSpPr/>
          <p:nvPr/>
        </p:nvSpPr>
        <p:spPr>
          <a:xfrm>
            <a:off x="761970" y="952530"/>
            <a:ext cx="6349959" cy="476220"/>
          </a:xfrm>
          <a:prstGeom prst="rect">
            <a:avLst/>
          </a:prstGeom>
          <a:noFill/>
          <a:ln/>
        </p:spPr>
        <p:txBody>
          <a:bodyPr wrap="square" lIns="0" tIns="0" rIns="0" bIns="0" rtlCol="0" anchor="t"/>
          <a:lstStyle/>
          <a:p>
            <a:pPr algn="l" indent="0" marL="0">
              <a:lnSpc>
                <a:spcPct val="100000"/>
              </a:lnSpc>
              <a:buNone/>
            </a:pPr>
            <a:r>
              <a:rPr lang="en-US" sz="3120" spc="-47" kern="0" dirty="0">
                <a:solidFill>
                  <a:srgbClr val="16181B"/>
                </a:solidFill>
                <a:latin typeface="Instrument Serif" pitchFamily="34" charset="0"/>
                <a:ea typeface="Instrument Serif" pitchFamily="34" charset="-122"/>
                <a:cs typeface="Instrument Serif" pitchFamily="34" charset="-120"/>
              </a:rPr>
              <a:t>pill-site.vercel.app</a:t>
            </a:r>
            <a:endParaRPr lang="en-US" sz="3120" dirty="0"/>
          </a:p>
        </p:txBody>
      </p:sp>
      <p:sp>
        <p:nvSpPr>
          <p:cNvPr id="11" name="Text 8"/>
          <p:cNvSpPr/>
          <p:nvPr/>
        </p:nvSpPr>
        <p:spPr>
          <a:xfrm>
            <a:off x="761970" y="1625620"/>
            <a:ext cx="10159990" cy="495330"/>
          </a:xfrm>
          <a:prstGeom prst="rect">
            <a:avLst/>
          </a:prstGeom>
          <a:noFill/>
          <a:ln/>
        </p:spPr>
        <p:txBody>
          <a:bodyPr wrap="square" lIns="0" tIns="0" rIns="0" bIns="0" rtlCol="0" anchor="t"/>
          <a:lstStyle/>
          <a:p>
            <a:pPr algn="l" indent="0" marL="0">
              <a:lnSpc>
                <a:spcPct val="145000"/>
              </a:lnSpc>
              <a:buNone/>
            </a:pPr>
            <a:r>
              <a:rPr lang="en-US" sz="1250" dirty="0">
                <a:solidFill>
                  <a:srgbClr val="4A4E55"/>
                </a:solidFill>
                <a:latin typeface="Inter" pitchFamily="34" charset="0"/>
                <a:ea typeface="Inter" pitchFamily="34" charset="-122"/>
                <a:cs typeface="Inter" pitchFamily="34" charset="-120"/>
              </a:rPr>
              <a:t>Built code-first (Vite + anime.js) after a 16-persona panel scored a plain, honest page 8.0 against a copied storytelling site at 3.7. Words stay ink; colour lives in backgrounds and lines.</a:t>
            </a:r>
            <a:endParaRPr lang="en-US" sz="1250" dirty="0"/>
          </a:p>
        </p:txBody>
      </p:sp>
      <p:sp>
        <p:nvSpPr>
          <p:cNvPr id="12" name="Shape 10"/>
          <p:cNvSpPr/>
          <p:nvPr/>
        </p:nvSpPr>
        <p:spPr>
          <a:xfrm>
            <a:off x="761970" y="2286000"/>
            <a:ext cx="5460980" cy="3530590"/>
          </a:xfrm>
          <a:prstGeom prst="roundRect">
            <a:avLst>
              <a:gd name="adj" fmla="val 3957"/>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sp>
        <p:nvSpPr>
          <p:cNvPr id="13" name="Shape 11"/>
          <p:cNvSpPr/>
          <p:nvPr/>
        </p:nvSpPr>
        <p:spPr>
          <a:xfrm>
            <a:off x="901690" y="2381280"/>
            <a:ext cx="88880" cy="88880"/>
          </a:xfrm>
          <a:prstGeom prst="ellipse">
            <a:avLst/>
          </a:prstGeom>
          <a:solidFill>
            <a:srgbClr val="FF6159"/>
          </a:solidFill>
          <a:ln/>
        </p:spPr>
      </p:sp>
      <p:sp>
        <p:nvSpPr>
          <p:cNvPr id="14" name="Shape 12"/>
          <p:cNvSpPr/>
          <p:nvPr/>
        </p:nvSpPr>
        <p:spPr>
          <a:xfrm>
            <a:off x="1054120" y="2381280"/>
            <a:ext cx="88880" cy="88880"/>
          </a:xfrm>
          <a:prstGeom prst="ellipse">
            <a:avLst/>
          </a:prstGeom>
          <a:solidFill>
            <a:srgbClr val="FFBD2E"/>
          </a:solidFill>
          <a:ln/>
        </p:spPr>
      </p:sp>
      <p:sp>
        <p:nvSpPr>
          <p:cNvPr id="15" name="Shape 13"/>
          <p:cNvSpPr/>
          <p:nvPr/>
        </p:nvSpPr>
        <p:spPr>
          <a:xfrm>
            <a:off x="1206459" y="2381280"/>
            <a:ext cx="88880" cy="88880"/>
          </a:xfrm>
          <a:prstGeom prst="ellipse">
            <a:avLst/>
          </a:prstGeom>
          <a:solidFill>
            <a:srgbClr val="28C941"/>
          </a:solidFill>
          <a:ln/>
        </p:spPr>
      </p:sp>
      <p:pic>
        <p:nvPicPr>
          <p:cNvPr id="16" name="Image 0" descr="Website: figma-art-site-hero-1100">    </p:cNvPr>
          <p:cNvPicPr>
            <a:picLocks noChangeAspect="1"/>
          </p:cNvPicPr>
          <p:nvPr/>
        </p:nvPicPr>
        <p:blipFill>
          <a:blip r:embed="rId1"/>
          <a:stretch>
            <a:fillRect/>
          </a:stretch>
        </p:blipFill>
        <p:spPr>
          <a:xfrm>
            <a:off x="774680" y="2565441"/>
            <a:ext cx="5435559" cy="3238530"/>
          </a:xfrm>
          <a:prstGeom prst="rect">
            <a:avLst/>
          </a:prstGeom>
        </p:spPr>
      </p:pic>
      <p:sp>
        <p:nvSpPr>
          <p:cNvPr id="17" name="Text 14"/>
          <p:cNvSpPr/>
          <p:nvPr/>
        </p:nvSpPr>
        <p:spPr>
          <a:xfrm>
            <a:off x="761970" y="5880141"/>
            <a:ext cx="5460980" cy="177759"/>
          </a:xfrm>
          <a:prstGeom prst="rect">
            <a:avLst/>
          </a:prstGeom>
          <a:noFill/>
          <a:ln/>
        </p:spPr>
        <p:txBody>
          <a:bodyPr wrap="square" lIns="0" tIns="0" rIns="0" bIns="0" rtlCol="0" anchor="t"/>
          <a:lstStyle/>
          <a:p>
            <a:pPr algn="l" indent="0" marL="0">
              <a:lnSpc>
                <a:spcPct val="140000"/>
              </a:lnSpc>
              <a:buNone/>
            </a:pPr>
            <a:r>
              <a:rPr lang="en-US" sz="850" dirty="0">
                <a:solidFill>
                  <a:srgbClr val="7C8188"/>
                </a:solidFill>
                <a:latin typeface="JetBrains Mono" pitchFamily="34" charset="0"/>
                <a:ea typeface="JetBrains Mono" pitchFamily="34" charset="-122"/>
                <a:cs typeface="JetBrains Mono" pitchFamily="34" charset="-120"/>
              </a:rPr>
              <a:t>Hero · the binary pill, drawn in characters by pill.js</a:t>
            </a:r>
            <a:endParaRPr lang="en-US" sz="850" dirty="0"/>
          </a:p>
        </p:txBody>
      </p:sp>
      <p:sp>
        <p:nvSpPr>
          <p:cNvPr id="18" name="Shape 15"/>
          <p:cNvSpPr/>
          <p:nvPr/>
        </p:nvSpPr>
        <p:spPr>
          <a:xfrm>
            <a:off x="6413510" y="2286000"/>
            <a:ext cx="5016490" cy="1689080"/>
          </a:xfrm>
          <a:prstGeom prst="roundRect">
            <a:avLst>
              <a:gd name="adj" fmla="val 8272"/>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sp>
        <p:nvSpPr>
          <p:cNvPr id="19" name="Shape 16"/>
          <p:cNvSpPr/>
          <p:nvPr/>
        </p:nvSpPr>
        <p:spPr>
          <a:xfrm>
            <a:off x="6553230" y="2381280"/>
            <a:ext cx="88880" cy="88880"/>
          </a:xfrm>
          <a:prstGeom prst="ellipse">
            <a:avLst/>
          </a:prstGeom>
          <a:solidFill>
            <a:srgbClr val="FF6159"/>
          </a:solidFill>
          <a:ln/>
        </p:spPr>
      </p:sp>
      <p:sp>
        <p:nvSpPr>
          <p:cNvPr id="20" name="Shape 17"/>
          <p:cNvSpPr/>
          <p:nvPr/>
        </p:nvSpPr>
        <p:spPr>
          <a:xfrm>
            <a:off x="6705570" y="2381280"/>
            <a:ext cx="88880" cy="88880"/>
          </a:xfrm>
          <a:prstGeom prst="ellipse">
            <a:avLst/>
          </a:prstGeom>
          <a:solidFill>
            <a:srgbClr val="FFBD2E"/>
          </a:solidFill>
          <a:ln/>
        </p:spPr>
      </p:sp>
      <p:sp>
        <p:nvSpPr>
          <p:cNvPr id="21" name="Shape 18"/>
          <p:cNvSpPr/>
          <p:nvPr/>
        </p:nvSpPr>
        <p:spPr>
          <a:xfrm>
            <a:off x="6858000" y="2381280"/>
            <a:ext cx="88880" cy="88880"/>
          </a:xfrm>
          <a:prstGeom prst="ellipse">
            <a:avLst/>
          </a:prstGeom>
          <a:solidFill>
            <a:srgbClr val="28C941"/>
          </a:solidFill>
          <a:ln/>
        </p:spPr>
      </p:sp>
      <p:pic>
        <p:nvPicPr>
          <p:cNvPr id="22" name="Image 1" descr="Website: figma-art-site-verdicts-900">    </p:cNvPr>
          <p:cNvPicPr>
            <a:picLocks noChangeAspect="1"/>
          </p:cNvPicPr>
          <p:nvPr/>
        </p:nvPicPr>
        <p:blipFill>
          <a:blip r:embed="rId2"/>
          <a:stretch>
            <a:fillRect/>
          </a:stretch>
        </p:blipFill>
        <p:spPr>
          <a:xfrm>
            <a:off x="6426220" y="2565441"/>
            <a:ext cx="4991070" cy="1397020"/>
          </a:xfrm>
          <a:prstGeom prst="rect">
            <a:avLst/>
          </a:prstGeom>
        </p:spPr>
      </p:pic>
      <p:sp>
        <p:nvSpPr>
          <p:cNvPr id="23" name="Text 20"/>
          <p:cNvSpPr/>
          <p:nvPr/>
        </p:nvSpPr>
        <p:spPr>
          <a:xfrm>
            <a:off x="6413510" y="4038630"/>
            <a:ext cx="5016490" cy="177759"/>
          </a:xfrm>
          <a:prstGeom prst="rect">
            <a:avLst/>
          </a:prstGeom>
          <a:noFill/>
          <a:ln/>
        </p:spPr>
        <p:txBody>
          <a:bodyPr wrap="square" lIns="0" tIns="0" rIns="0" bIns="0" rtlCol="0" anchor="t"/>
          <a:lstStyle/>
          <a:p>
            <a:pPr algn="l" indent="0" marL="0">
              <a:lnSpc>
                <a:spcPct val="140000"/>
              </a:lnSpc>
              <a:buNone/>
            </a:pPr>
            <a:r>
              <a:rPr lang="en-US" sz="850" dirty="0">
                <a:solidFill>
                  <a:srgbClr val="7C8188"/>
                </a:solidFill>
                <a:latin typeface="JetBrains Mono" pitchFamily="34" charset="0"/>
                <a:ea typeface="JetBrains Mono" pitchFamily="34" charset="-122"/>
                <a:cs typeface="JetBrains Mono" pitchFamily="34" charset="-120"/>
              </a:rPr>
              <a:t>Fig 3 · three answers, the same screen as the app</a:t>
            </a:r>
            <a:endParaRPr lang="en-US" sz="850" dirty="0"/>
          </a:p>
        </p:txBody>
      </p:sp>
      <p:sp>
        <p:nvSpPr>
          <p:cNvPr id="24" name="Shape 20"/>
          <p:cNvSpPr/>
          <p:nvPr/>
        </p:nvSpPr>
        <p:spPr>
          <a:xfrm>
            <a:off x="6413510" y="4292559"/>
            <a:ext cx="5016490" cy="1524030"/>
          </a:xfrm>
          <a:prstGeom prst="roundRect">
            <a:avLst>
              <a:gd name="adj" fmla="val 9168"/>
            </a:avLst>
          </a:prstGeom>
          <a:solidFill>
            <a:srgbClr val="FFFFFF"/>
          </a:solidFill>
          <a:ln w="12700">
            <a:solidFill>
              <a:srgbClr val="16181B">
                <a:alpha val="18000"/>
              </a:srgbClr>
            </a:solidFill>
            <a:prstDash val="solid"/>
          </a:ln>
          <a:effectLst>
            <a:outerShdw sx="100000" sy="100000" kx="0" ky="0" algn="bl" rotWithShape="0" blurRad="304800" dist="152400" dir="5400000">
              <a:srgbClr val="16181B">
                <a:alpha val="22000"/>
              </a:srgbClr>
            </a:outerShdw>
          </a:effectLst>
        </p:spPr>
      </p:sp>
      <p:sp>
        <p:nvSpPr>
          <p:cNvPr id="25" name="Shape 21"/>
          <p:cNvSpPr/>
          <p:nvPr/>
        </p:nvSpPr>
        <p:spPr>
          <a:xfrm>
            <a:off x="6553230" y="4387840"/>
            <a:ext cx="88880" cy="88880"/>
          </a:xfrm>
          <a:prstGeom prst="ellipse">
            <a:avLst/>
          </a:prstGeom>
          <a:solidFill>
            <a:srgbClr val="FF6159"/>
          </a:solidFill>
          <a:ln/>
        </p:spPr>
      </p:sp>
      <p:sp>
        <p:nvSpPr>
          <p:cNvPr id="26" name="Shape 22"/>
          <p:cNvSpPr/>
          <p:nvPr/>
        </p:nvSpPr>
        <p:spPr>
          <a:xfrm>
            <a:off x="6705570" y="4387840"/>
            <a:ext cx="88880" cy="88880"/>
          </a:xfrm>
          <a:prstGeom prst="ellipse">
            <a:avLst/>
          </a:prstGeom>
          <a:solidFill>
            <a:srgbClr val="FFBD2E"/>
          </a:solidFill>
          <a:ln/>
        </p:spPr>
      </p:sp>
      <p:sp>
        <p:nvSpPr>
          <p:cNvPr id="27" name="Shape 23"/>
          <p:cNvSpPr/>
          <p:nvPr/>
        </p:nvSpPr>
        <p:spPr>
          <a:xfrm>
            <a:off x="6858000" y="4387840"/>
            <a:ext cx="88880" cy="88880"/>
          </a:xfrm>
          <a:prstGeom prst="ellipse">
            <a:avLst/>
          </a:prstGeom>
          <a:solidFill>
            <a:srgbClr val="28C941"/>
          </a:solidFill>
          <a:ln/>
        </p:spPr>
      </p:sp>
      <p:pic>
        <p:nvPicPr>
          <p:cNvPr id="28" name="Image 2" descr="Website: figma-art-site-payments-900">    </p:cNvPr>
          <p:cNvPicPr>
            <a:picLocks noChangeAspect="1"/>
          </p:cNvPicPr>
          <p:nvPr/>
        </p:nvPicPr>
        <p:blipFill>
          <a:blip r:embed="rId3"/>
          <a:stretch>
            <a:fillRect/>
          </a:stretch>
        </p:blipFill>
        <p:spPr>
          <a:xfrm>
            <a:off x="6426220" y="4572000"/>
            <a:ext cx="4991070" cy="1231880"/>
          </a:xfrm>
          <a:prstGeom prst="rect">
            <a:avLst/>
          </a:prstGeom>
        </p:spPr>
      </p:pic>
      <p:sp>
        <p:nvSpPr>
          <p:cNvPr id="29" name="Text 26"/>
          <p:cNvSpPr/>
          <p:nvPr/>
        </p:nvSpPr>
        <p:spPr>
          <a:xfrm>
            <a:off x="6413510" y="5880141"/>
            <a:ext cx="5016490" cy="177759"/>
          </a:xfrm>
          <a:prstGeom prst="rect">
            <a:avLst/>
          </a:prstGeom>
          <a:noFill/>
          <a:ln/>
        </p:spPr>
        <p:txBody>
          <a:bodyPr wrap="square" lIns="0" tIns="0" rIns="0" bIns="0" rtlCol="0" anchor="t"/>
          <a:lstStyle/>
          <a:p>
            <a:pPr algn="l" indent="0" marL="0">
              <a:lnSpc>
                <a:spcPct val="140000"/>
              </a:lnSpc>
              <a:buNone/>
            </a:pPr>
            <a:r>
              <a:rPr lang="en-US" sz="850" dirty="0">
                <a:solidFill>
                  <a:srgbClr val="7C8188"/>
                </a:solidFill>
                <a:latin typeface="JetBrains Mono" pitchFamily="34" charset="0"/>
                <a:ea typeface="JetBrains Mono" pitchFamily="34" charset="-122"/>
                <a:cs typeface="JetBrains Mono" pitchFamily="34" charset="-120"/>
              </a:rPr>
              <a:t>Payments · the verdict is the invoice</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WORKFLOW · IDEA TO DEMO</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14 / 21</a:t>
            </a:r>
            <a:endParaRPr lang="en-US" sz="900" dirty="0"/>
          </a:p>
        </p:txBody>
      </p:sp>
      <p:sp>
        <p:nvSpPr>
          <p:cNvPr id="8" name="Shape 6"/>
          <p:cNvSpPr/>
          <p:nvPr/>
        </p:nvSpPr>
        <p:spPr>
          <a:xfrm>
            <a:off x="761970" y="6413510"/>
            <a:ext cx="10668030" cy="12710"/>
          </a:xfrm>
          <a:prstGeom prst="rect">
            <a:avLst/>
          </a:prstGeom>
          <a:solidFill>
            <a:srgbClr val="16181B">
              <a:alpha val="10000"/>
            </a:srgbClr>
          </a:solidFill>
          <a:ln/>
        </p:spPr>
      </p:sp>
      <p:sp>
        <p:nvSpPr>
          <p:cNvPr id="9" name="Text 6"/>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0" name="Title"/>
          <p:cNvSpPr/>
          <p:nvPr/>
        </p:nvSpPr>
        <p:spPr>
          <a:xfrm>
            <a:off x="761970" y="952530"/>
            <a:ext cx="9525030" cy="527060"/>
          </a:xfrm>
          <a:prstGeom prst="rect">
            <a:avLst/>
          </a:prstGeom>
          <a:noFill/>
          <a:ln/>
        </p:spPr>
        <p:txBody>
          <a:bodyPr wrap="square" lIns="0" tIns="0" rIns="0" bIns="0" rtlCol="0" anchor="t"/>
          <a:lstStyle/>
          <a:p>
            <a:pPr algn="l" indent="0" marL="0">
              <a:lnSpc>
                <a:spcPct val="100000"/>
              </a:lnSpc>
              <a:buNone/>
            </a:pPr>
            <a:r>
              <a:rPr lang="en-US" sz="3432" spc="-51" kern="0" dirty="0">
                <a:solidFill>
                  <a:srgbClr val="16181B"/>
                </a:solidFill>
                <a:latin typeface="Instrument Serif" pitchFamily="34" charset="0"/>
                <a:ea typeface="Instrument Serif" pitchFamily="34" charset="-122"/>
                <a:cs typeface="Instrument Serif" pitchFamily="34" charset="-120"/>
              </a:rPr>
              <a:t>Code first, then Figma from the code.</a:t>
            </a:r>
            <a:endParaRPr lang="en-US" sz="3432" dirty="0"/>
          </a:p>
        </p:txBody>
      </p:sp>
      <p:sp>
        <p:nvSpPr>
          <p:cNvPr id="11" name="Shape 9"/>
          <p:cNvSpPr/>
          <p:nvPr/>
        </p:nvSpPr>
        <p:spPr>
          <a:xfrm>
            <a:off x="908091" y="2324130"/>
            <a:ext cx="10414010" cy="127010"/>
          </a:xfrm>
          <a:custGeom>
            <a:avLst/>
            <a:gdLst/>
            <a:ahLst/>
            <a:cxnLst/>
            <a:rect l="l" t="t" r="r" b="b"/>
            <a:pathLst>
              <a:path w="10414010" h="127010">
                <a:moveTo>
                  <a:pt x="19020" y="63459"/>
                </a:moveTo>
                <a:lnTo>
                  <a:pt x="10394991" y="63459"/>
                </a:lnTo>
                <a:moveTo>
                  <a:pt x="10316809" y="106070"/>
                </a:moveTo>
                <a:lnTo>
                  <a:pt x="10394991" y="63459"/>
                </a:lnTo>
                <a:lnTo>
                  <a:pt x="10316809" y="20940"/>
                </a:lnTo>
              </a:path>
            </a:pathLst>
          </a:custGeom>
          <a:ln w="19050">
            <a:solidFill>
              <a:srgbClr val="4FB3FF"/>
            </a:solidFill>
            <a:prstDash val="solid"/>
          </a:ln>
        </p:spPr>
      </p:sp>
      <p:sp>
        <p:nvSpPr>
          <p:cNvPr id="12" name="Text 9"/>
          <p:cNvSpPr/>
          <p:nvPr/>
        </p:nvSpPr>
        <p:spPr>
          <a:xfrm>
            <a:off x="10287000" y="2095530"/>
            <a:ext cx="1015990" cy="177759"/>
          </a:xfrm>
          <a:prstGeom prst="rect">
            <a:avLst/>
          </a:prstGeom>
          <a:noFill/>
          <a:ln/>
        </p:spPr>
        <p:txBody>
          <a:bodyPr wrap="square" lIns="0" tIns="0" rIns="0" bIns="0" rtlCol="0" anchor="t"/>
          <a:lstStyle/>
          <a:p>
            <a:pPr algn="r" indent="0" marL="0">
              <a:lnSpc>
                <a:spcPct val="140000"/>
              </a:lnSpc>
              <a:buNone/>
            </a:pPr>
            <a:r>
              <a:rPr lang="en-US" sz="850" dirty="0">
                <a:solidFill>
                  <a:srgbClr val="4A4E55"/>
                </a:solidFill>
                <a:latin typeface="JetBrains Mono" pitchFamily="34" charset="0"/>
                <a:ea typeface="JetBrains Mono" pitchFamily="34" charset="-122"/>
                <a:cs typeface="JetBrains Mono" pitchFamily="34" charset="-120"/>
              </a:rPr>
              <a:t>demo</a:t>
            </a:r>
            <a:endParaRPr lang="en-US" sz="850" dirty="0"/>
          </a:p>
        </p:txBody>
      </p:sp>
      <p:sp>
        <p:nvSpPr>
          <p:cNvPr id="13" name="Shape 11"/>
          <p:cNvSpPr/>
          <p:nvPr/>
        </p:nvSpPr>
        <p:spPr>
          <a:xfrm>
            <a:off x="761970" y="2222541"/>
            <a:ext cx="330190" cy="330190"/>
          </a:xfrm>
          <a:prstGeom prst="ellipse">
            <a:avLst/>
          </a:prstGeom>
          <a:solidFill>
            <a:srgbClr val="FFFFFF"/>
          </a:solidFill>
          <a:ln w="25400">
            <a:solidFill>
              <a:srgbClr val="4FB3FF"/>
            </a:solidFill>
            <a:prstDash val="solid"/>
          </a:ln>
        </p:spPr>
      </p:sp>
      <p:sp>
        <p:nvSpPr>
          <p:cNvPr id="14" name="Text 11"/>
          <p:cNvSpPr/>
          <p:nvPr/>
        </p:nvSpPr>
        <p:spPr>
          <a:xfrm>
            <a:off x="761970" y="2692359"/>
            <a:ext cx="1904970" cy="184160"/>
          </a:xfrm>
          <a:prstGeom prst="rect">
            <a:avLst/>
          </a:prstGeom>
          <a:noFill/>
          <a:ln/>
        </p:spPr>
        <p:txBody>
          <a:bodyPr wrap="square" lIns="0" tIns="0" rIns="0" bIns="0" rtlCol="0" anchor="t"/>
          <a:lstStyle/>
          <a:p>
            <a:pPr algn="l" indent="0" marL="0">
              <a:lnSpc>
                <a:spcPct val="140000"/>
              </a:lnSpc>
              <a:buNone/>
            </a:pPr>
            <a:r>
              <a:rPr lang="en-US" sz="900" dirty="0">
                <a:solidFill>
                  <a:srgbClr val="4A4E55"/>
                </a:solidFill>
                <a:latin typeface="JetBrains Mono" pitchFamily="34" charset="0"/>
                <a:ea typeface="JetBrains Mono" pitchFamily="34" charset="-122"/>
                <a:cs typeface="JetBrains Mono" pitchFamily="34" charset="-120"/>
              </a:rPr>
              <a:t>01</a:t>
            </a:r>
            <a:endParaRPr lang="en-US" sz="900" dirty="0"/>
          </a:p>
        </p:txBody>
      </p:sp>
      <p:sp>
        <p:nvSpPr>
          <p:cNvPr id="15" name="Text 12"/>
          <p:cNvSpPr/>
          <p:nvPr/>
        </p:nvSpPr>
        <p:spPr>
          <a:xfrm>
            <a:off x="761970" y="2870210"/>
            <a:ext cx="2540020" cy="285750"/>
          </a:xfrm>
          <a:prstGeom prst="rect">
            <a:avLst/>
          </a:prstGeom>
          <a:noFill/>
          <a:ln/>
        </p:spPr>
        <p:txBody>
          <a:bodyPr wrap="square" lIns="0" tIns="0" rIns="0" bIns="0" rtlCol="0" anchor="t"/>
          <a:lstStyle/>
          <a:p>
            <a:pPr algn="l" indent="0" marL="0">
              <a:lnSpc>
                <a:spcPct val="100000"/>
              </a:lnSpc>
              <a:buNone/>
            </a:pPr>
            <a:r>
              <a:rPr lang="en-US" sz="1872" dirty="0">
                <a:solidFill>
                  <a:srgbClr val="16181B"/>
                </a:solidFill>
                <a:latin typeface="Instrument Serif" pitchFamily="34" charset="0"/>
                <a:ea typeface="Instrument Serif" pitchFamily="34" charset="-122"/>
                <a:cs typeface="Instrument Serif" pitchFamily="34" charset="-120"/>
              </a:rPr>
              <a:t>Ideation</a:t>
            </a:r>
            <a:endParaRPr lang="en-US" sz="1872" dirty="0"/>
          </a:p>
        </p:txBody>
      </p:sp>
      <p:sp>
        <p:nvSpPr>
          <p:cNvPr id="16" name="Text 13"/>
          <p:cNvSpPr/>
          <p:nvPr/>
        </p:nvSpPr>
        <p:spPr>
          <a:xfrm>
            <a:off x="761970" y="3289280"/>
            <a:ext cx="1904970" cy="133320"/>
          </a:xfrm>
          <a:prstGeom prst="rect">
            <a:avLst/>
          </a:prstGeom>
          <a:noFill/>
          <a:ln/>
        </p:spPr>
        <p:txBody>
          <a:bodyPr wrap="square" lIns="0" tIns="0" rIns="0" bIns="0" rtlCol="0" anchor="t"/>
          <a:lstStyle/>
          <a:p>
            <a:pPr algn="l" indent="0" marL="0">
              <a:lnSpc>
                <a:spcPct val="120000"/>
              </a:lnSpc>
              <a:buNone/>
            </a:pPr>
            <a:r>
              <a:rPr lang="en-US" sz="750" spc="105" kern="0" dirty="0">
                <a:solidFill>
                  <a:srgbClr val="7C8188"/>
                </a:solidFill>
                <a:latin typeface="JetBrains Mono" pitchFamily="34" charset="0"/>
                <a:ea typeface="JetBrains Mono" pitchFamily="34" charset="-122"/>
                <a:cs typeface="JetBrains Mono" pitchFamily="34" charset="-120"/>
              </a:rPr>
              <a:t>CODE</a:t>
            </a:r>
            <a:endParaRPr lang="en-US" sz="750" dirty="0"/>
          </a:p>
        </p:txBody>
      </p:sp>
      <p:sp>
        <p:nvSpPr>
          <p:cNvPr id="17" name="Shape 15"/>
          <p:cNvSpPr/>
          <p:nvPr/>
        </p:nvSpPr>
        <p:spPr>
          <a:xfrm>
            <a:off x="761970" y="3454420"/>
            <a:ext cx="1447770" cy="215890"/>
          </a:xfrm>
          <a:prstGeom prst="roundRect">
            <a:avLst>
              <a:gd name="adj" fmla="val 50021"/>
            </a:avLst>
          </a:prstGeom>
          <a:solidFill>
            <a:srgbClr val="FFFFFF"/>
          </a:solidFill>
          <a:ln w="12700">
            <a:solidFill>
              <a:srgbClr val="16181B">
                <a:alpha val="18000"/>
              </a:srgbClr>
            </a:solidFill>
            <a:prstDash val="solid"/>
          </a:ln>
        </p:spPr>
      </p:sp>
      <p:sp>
        <p:nvSpPr>
          <p:cNvPr id="18" name="Text 15"/>
          <p:cNvSpPr/>
          <p:nvPr/>
        </p:nvSpPr>
        <p:spPr>
          <a:xfrm>
            <a:off x="761970" y="3497580"/>
            <a:ext cx="1447770" cy="152430"/>
          </a:xfrm>
          <a:prstGeom prst="rect">
            <a:avLst/>
          </a:prstGeom>
          <a:noFill/>
          <a:ln/>
        </p:spPr>
        <p:txBody>
          <a:bodyPr wrap="square" lIns="0" tIns="0" rIns="0" bIns="0" rtlCol="0" anchor="t"/>
          <a:lstStyle/>
          <a:p>
            <a:pPr algn="ctr" indent="0" marL="0">
              <a:lnSpc>
                <a:spcPct val="120000"/>
              </a:lnSpc>
              <a:buNone/>
            </a:pPr>
            <a:r>
              <a:rPr lang="en-US" sz="850" b="1" spc="51" kern="0" dirty="0">
                <a:solidFill>
                  <a:srgbClr val="16181B"/>
                </a:solidFill>
                <a:latin typeface="JetBrains Mono" pitchFamily="34" charset="0"/>
                <a:ea typeface="JetBrains Mono" pitchFamily="34" charset="-122"/>
                <a:cs typeface="JetBrains Mono" pitchFamily="34" charset="-120"/>
              </a:rPr>
              <a:t>AI persona panels</a:t>
            </a:r>
            <a:endParaRPr lang="en-US" sz="850" dirty="0"/>
          </a:p>
        </p:txBody>
      </p:sp>
      <p:sp>
        <p:nvSpPr>
          <p:cNvPr id="19" name="Shape 17"/>
          <p:cNvSpPr/>
          <p:nvPr/>
        </p:nvSpPr>
        <p:spPr>
          <a:xfrm>
            <a:off x="761970" y="3771900"/>
            <a:ext cx="1092159" cy="215890"/>
          </a:xfrm>
          <a:prstGeom prst="roundRect">
            <a:avLst>
              <a:gd name="adj" fmla="val 50021"/>
            </a:avLst>
          </a:prstGeom>
          <a:solidFill>
            <a:srgbClr val="FFFFFF"/>
          </a:solidFill>
          <a:ln w="12700">
            <a:solidFill>
              <a:srgbClr val="16181B">
                <a:alpha val="18000"/>
              </a:srgbClr>
            </a:solidFill>
            <a:prstDash val="solid"/>
          </a:ln>
        </p:spPr>
      </p:sp>
      <p:sp>
        <p:nvSpPr>
          <p:cNvPr id="20" name="Text 17"/>
          <p:cNvSpPr/>
          <p:nvPr/>
        </p:nvSpPr>
        <p:spPr>
          <a:xfrm>
            <a:off x="761970" y="3815060"/>
            <a:ext cx="1092159" cy="152430"/>
          </a:xfrm>
          <a:prstGeom prst="rect">
            <a:avLst/>
          </a:prstGeom>
          <a:noFill/>
          <a:ln/>
        </p:spPr>
        <p:txBody>
          <a:bodyPr wrap="square" lIns="0" tIns="0" rIns="0" bIns="0" rtlCol="0" anchor="t"/>
          <a:lstStyle/>
          <a:p>
            <a:pPr algn="ctr" indent="0" marL="0">
              <a:lnSpc>
                <a:spcPct val="120000"/>
              </a:lnSpc>
              <a:buNone/>
            </a:pPr>
            <a:r>
              <a:rPr lang="en-US" sz="850" b="1" spc="51" kern="0" dirty="0">
                <a:solidFill>
                  <a:srgbClr val="16181B"/>
                </a:solidFill>
                <a:latin typeface="JetBrains Mono" pitchFamily="34" charset="0"/>
                <a:ea typeface="JetBrains Mono" pitchFamily="34" charset="-122"/>
                <a:cs typeface="JetBrains Mono" pitchFamily="34" charset="-120"/>
              </a:rPr>
              <a:t>Web research</a:t>
            </a:r>
            <a:endParaRPr lang="en-US" sz="850" dirty="0"/>
          </a:p>
        </p:txBody>
      </p:sp>
      <p:sp>
        <p:nvSpPr>
          <p:cNvPr id="21" name="Text 18"/>
          <p:cNvSpPr/>
          <p:nvPr/>
        </p:nvSpPr>
        <p:spPr>
          <a:xfrm>
            <a:off x="761970" y="4343400"/>
            <a:ext cx="1904970" cy="133320"/>
          </a:xfrm>
          <a:prstGeom prst="rect">
            <a:avLst/>
          </a:prstGeom>
          <a:noFill/>
          <a:ln/>
        </p:spPr>
        <p:txBody>
          <a:bodyPr wrap="square" lIns="0" tIns="0" rIns="0" bIns="0" rtlCol="0" anchor="t"/>
          <a:lstStyle/>
          <a:p>
            <a:pPr algn="l" indent="0" marL="0">
              <a:lnSpc>
                <a:spcPct val="120000"/>
              </a:lnSpc>
              <a:buNone/>
            </a:pPr>
            <a:r>
              <a:rPr lang="en-US" sz="750" spc="105" kern="0" dirty="0">
                <a:solidFill>
                  <a:srgbClr val="7C8188"/>
                </a:solidFill>
                <a:latin typeface="JetBrains Mono" pitchFamily="34" charset="0"/>
                <a:ea typeface="JetBrains Mono" pitchFamily="34" charset="-122"/>
                <a:cs typeface="JetBrains Mono" pitchFamily="34" charset="-120"/>
              </a:rPr>
              <a:t>FIGMA</a:t>
            </a:r>
            <a:endParaRPr lang="en-US" sz="750" dirty="0"/>
          </a:p>
        </p:txBody>
      </p:sp>
      <p:sp>
        <p:nvSpPr>
          <p:cNvPr id="22" name="Shape 20"/>
          <p:cNvSpPr/>
          <p:nvPr/>
        </p:nvSpPr>
        <p:spPr>
          <a:xfrm>
            <a:off x="761970" y="4533870"/>
            <a:ext cx="1200150" cy="215890"/>
          </a:xfrm>
          <a:prstGeom prst="roundRect">
            <a:avLst>
              <a:gd name="adj" fmla="val 50021"/>
            </a:avLst>
          </a:prstGeom>
          <a:solidFill>
            <a:srgbClr val="7A5CFF">
              <a:alpha val="10000"/>
            </a:srgbClr>
          </a:solidFill>
          <a:ln/>
        </p:spPr>
      </p:sp>
      <p:sp>
        <p:nvSpPr>
          <p:cNvPr id="23" name="Shape 21"/>
          <p:cNvSpPr/>
          <p:nvPr/>
        </p:nvSpPr>
        <p:spPr>
          <a:xfrm>
            <a:off x="869960" y="4616440"/>
            <a:ext cx="57150" cy="57150"/>
          </a:xfrm>
          <a:prstGeom prst="ellipse">
            <a:avLst/>
          </a:prstGeom>
          <a:solidFill>
            <a:srgbClr val="7A5CFF"/>
          </a:solidFill>
          <a:ln/>
        </p:spPr>
      </p:sp>
      <p:sp>
        <p:nvSpPr>
          <p:cNvPr id="24" name="Text 21"/>
          <p:cNvSpPr/>
          <p:nvPr/>
        </p:nvSpPr>
        <p:spPr>
          <a:xfrm>
            <a:off x="971550" y="4577121"/>
            <a:ext cx="927110" cy="152430"/>
          </a:xfrm>
          <a:prstGeom prst="rect">
            <a:avLst/>
          </a:prstGeom>
          <a:noFill/>
          <a:ln/>
        </p:spPr>
        <p:txBody>
          <a:bodyPr wrap="square" lIns="0" tIns="0" rIns="0" bIns="0" rtlCol="0" anchor="t"/>
          <a:lstStyle/>
          <a:p>
            <a:pPr algn="l" indent="0" marL="0">
              <a:lnSpc>
                <a:spcPct val="120000"/>
              </a:lnSpc>
              <a:buNone/>
            </a:pPr>
            <a:r>
              <a:rPr lang="en-US" sz="850" b="1" spc="51" kern="0" dirty="0">
                <a:solidFill>
                  <a:srgbClr val="16181B"/>
                </a:solidFill>
                <a:latin typeface="JetBrains Mono" pitchFamily="34" charset="0"/>
                <a:ea typeface="JetBrains Mono" pitchFamily="34" charset="-122"/>
                <a:cs typeface="JetBrains Mono" pitchFamily="34" charset="-120"/>
              </a:rPr>
              <a:t>FigJam board</a:t>
            </a:r>
            <a:endParaRPr lang="en-US" sz="850" dirty="0"/>
          </a:p>
        </p:txBody>
      </p:sp>
      <p:sp>
        <p:nvSpPr>
          <p:cNvPr id="25" name="Text 22"/>
          <p:cNvSpPr/>
          <p:nvPr/>
        </p:nvSpPr>
        <p:spPr>
          <a:xfrm>
            <a:off x="761970" y="4940320"/>
            <a:ext cx="2540020" cy="184160"/>
          </a:xfrm>
          <a:prstGeom prst="rect">
            <a:avLst/>
          </a:prstGeom>
          <a:noFill/>
          <a:ln/>
        </p:spPr>
        <p:txBody>
          <a:bodyPr wrap="square" lIns="0" tIns="0" rIns="0" bIns="0" rtlCol="0" anchor="t"/>
          <a:lstStyle/>
          <a:p>
            <a:pPr algn="l" indent="0" marL="0">
              <a:lnSpc>
                <a:spcPct val="140000"/>
              </a:lnSpc>
              <a:buNone/>
            </a:pPr>
            <a:r>
              <a:rPr lang="en-US" sz="900" dirty="0">
                <a:solidFill>
                  <a:srgbClr val="16181B"/>
                </a:solidFill>
                <a:latin typeface="JetBrains Mono" pitchFamily="34" charset="0"/>
                <a:ea typeface="JetBrains Mono" pitchFamily="34" charset="-122"/>
                <a:cs typeface="JetBrains Mono" pitchFamily="34" charset="-120"/>
              </a:rPr>
              <a:t>≈255 min · 4/5</a:t>
            </a:r>
            <a:endParaRPr lang="en-US" sz="900" dirty="0"/>
          </a:p>
        </p:txBody>
      </p:sp>
      <p:sp>
        <p:nvSpPr>
          <p:cNvPr id="26" name="Shape 24"/>
          <p:cNvSpPr/>
          <p:nvPr/>
        </p:nvSpPr>
        <p:spPr>
          <a:xfrm>
            <a:off x="761970" y="5143500"/>
            <a:ext cx="1339870" cy="190470"/>
          </a:xfrm>
          <a:prstGeom prst="roundRect">
            <a:avLst>
              <a:gd name="adj" fmla="val 50024"/>
            </a:avLst>
          </a:prstGeom>
          <a:solidFill>
            <a:srgbClr val="9AA0A6">
              <a:alpha val="18000"/>
            </a:srgbClr>
          </a:solidFill>
          <a:ln/>
        </p:spPr>
      </p:sp>
      <p:sp>
        <p:nvSpPr>
          <p:cNvPr id="27" name="Text 24"/>
          <p:cNvSpPr/>
          <p:nvPr/>
        </p:nvSpPr>
        <p:spPr>
          <a:xfrm>
            <a:off x="761970" y="5181630"/>
            <a:ext cx="1339870" cy="133320"/>
          </a:xfrm>
          <a:prstGeom prst="rect">
            <a:avLst/>
          </a:prstGeom>
          <a:noFill/>
          <a:ln/>
        </p:spPr>
        <p:txBody>
          <a:bodyPr wrap="square" lIns="0" tIns="0" rIns="0" bIns="0" rtlCol="0" anchor="t"/>
          <a:lstStyle/>
          <a:p>
            <a:pPr algn="ctr" indent="0" marL="0">
              <a:lnSpc>
                <a:spcPct val="120000"/>
              </a:lnSpc>
              <a:buNone/>
            </a:pPr>
            <a:r>
              <a:rPr lang="en-US" sz="750" b="1" spc="45" kern="0" dirty="0">
                <a:solidFill>
                  <a:srgbClr val="16181B"/>
                </a:solidFill>
                <a:latin typeface="JetBrains Mono" pitchFamily="34" charset="0"/>
                <a:ea typeface="JetBrains Mono" pitchFamily="34" charset="-122"/>
                <a:cs typeface="JetBrains Mono" pitchFamily="34" charset="-120"/>
              </a:rPr>
              <a:t>FIGMA STEP PENDING</a:t>
            </a:r>
            <a:endParaRPr lang="en-US" sz="750" dirty="0"/>
          </a:p>
        </p:txBody>
      </p:sp>
      <p:sp>
        <p:nvSpPr>
          <p:cNvPr id="28" name="Shape 26"/>
          <p:cNvSpPr/>
          <p:nvPr/>
        </p:nvSpPr>
        <p:spPr>
          <a:xfrm>
            <a:off x="3556010" y="2222541"/>
            <a:ext cx="330190" cy="330190"/>
          </a:xfrm>
          <a:prstGeom prst="ellipse">
            <a:avLst/>
          </a:prstGeom>
          <a:solidFill>
            <a:srgbClr val="FFFFFF"/>
          </a:solidFill>
          <a:ln w="25400">
            <a:solidFill>
              <a:srgbClr val="4FB3FF"/>
            </a:solidFill>
            <a:prstDash val="solid"/>
          </a:ln>
        </p:spPr>
      </p:sp>
      <p:sp>
        <p:nvSpPr>
          <p:cNvPr id="29" name="Text 26"/>
          <p:cNvSpPr/>
          <p:nvPr/>
        </p:nvSpPr>
        <p:spPr>
          <a:xfrm>
            <a:off x="3556010" y="2692359"/>
            <a:ext cx="1904970" cy="184160"/>
          </a:xfrm>
          <a:prstGeom prst="rect">
            <a:avLst/>
          </a:prstGeom>
          <a:noFill/>
          <a:ln/>
        </p:spPr>
        <p:txBody>
          <a:bodyPr wrap="square" lIns="0" tIns="0" rIns="0" bIns="0" rtlCol="0" anchor="t"/>
          <a:lstStyle/>
          <a:p>
            <a:pPr algn="l" indent="0" marL="0">
              <a:lnSpc>
                <a:spcPct val="140000"/>
              </a:lnSpc>
              <a:buNone/>
            </a:pPr>
            <a:r>
              <a:rPr lang="en-US" sz="900" dirty="0">
                <a:solidFill>
                  <a:srgbClr val="4A4E55"/>
                </a:solidFill>
                <a:latin typeface="JetBrains Mono" pitchFamily="34" charset="0"/>
                <a:ea typeface="JetBrains Mono" pitchFamily="34" charset="-122"/>
                <a:cs typeface="JetBrains Mono" pitchFamily="34" charset="-120"/>
              </a:rPr>
              <a:t>02</a:t>
            </a:r>
            <a:endParaRPr lang="en-US" sz="900" dirty="0"/>
          </a:p>
        </p:txBody>
      </p:sp>
      <p:sp>
        <p:nvSpPr>
          <p:cNvPr id="30" name="Text 27"/>
          <p:cNvSpPr/>
          <p:nvPr/>
        </p:nvSpPr>
        <p:spPr>
          <a:xfrm>
            <a:off x="3556010" y="2870210"/>
            <a:ext cx="2540020" cy="285750"/>
          </a:xfrm>
          <a:prstGeom prst="rect">
            <a:avLst/>
          </a:prstGeom>
          <a:noFill/>
          <a:ln/>
        </p:spPr>
        <p:txBody>
          <a:bodyPr wrap="square" lIns="0" tIns="0" rIns="0" bIns="0" rtlCol="0" anchor="t"/>
          <a:lstStyle/>
          <a:p>
            <a:pPr algn="l" indent="0" marL="0">
              <a:lnSpc>
                <a:spcPct val="100000"/>
              </a:lnSpc>
              <a:buNone/>
            </a:pPr>
            <a:r>
              <a:rPr lang="en-US" sz="1872" dirty="0">
                <a:solidFill>
                  <a:srgbClr val="16181B"/>
                </a:solidFill>
                <a:latin typeface="Instrument Serif" pitchFamily="34" charset="0"/>
                <a:ea typeface="Instrument Serif" pitchFamily="34" charset="-122"/>
                <a:cs typeface="Instrument Serif" pitchFamily="34" charset="-120"/>
              </a:rPr>
              <a:t>Prototyping</a:t>
            </a:r>
            <a:endParaRPr lang="en-US" sz="1872" dirty="0"/>
          </a:p>
        </p:txBody>
      </p:sp>
      <p:sp>
        <p:nvSpPr>
          <p:cNvPr id="31" name="Text 28"/>
          <p:cNvSpPr/>
          <p:nvPr/>
        </p:nvSpPr>
        <p:spPr>
          <a:xfrm>
            <a:off x="3556010" y="3289280"/>
            <a:ext cx="1904970" cy="133320"/>
          </a:xfrm>
          <a:prstGeom prst="rect">
            <a:avLst/>
          </a:prstGeom>
          <a:noFill/>
          <a:ln/>
        </p:spPr>
        <p:txBody>
          <a:bodyPr wrap="square" lIns="0" tIns="0" rIns="0" bIns="0" rtlCol="0" anchor="t"/>
          <a:lstStyle/>
          <a:p>
            <a:pPr algn="l" indent="0" marL="0">
              <a:lnSpc>
                <a:spcPct val="120000"/>
              </a:lnSpc>
              <a:buNone/>
            </a:pPr>
            <a:r>
              <a:rPr lang="en-US" sz="750" spc="105" kern="0" dirty="0">
                <a:solidFill>
                  <a:srgbClr val="7C8188"/>
                </a:solidFill>
                <a:latin typeface="JetBrains Mono" pitchFamily="34" charset="0"/>
                <a:ea typeface="JetBrains Mono" pitchFamily="34" charset="-122"/>
                <a:cs typeface="JetBrains Mono" pitchFamily="34" charset="-120"/>
              </a:rPr>
              <a:t>CODE</a:t>
            </a:r>
            <a:endParaRPr lang="en-US" sz="750" dirty="0"/>
          </a:p>
        </p:txBody>
      </p:sp>
      <p:sp>
        <p:nvSpPr>
          <p:cNvPr id="32" name="Shape 30"/>
          <p:cNvSpPr/>
          <p:nvPr/>
        </p:nvSpPr>
        <p:spPr>
          <a:xfrm>
            <a:off x="3556010" y="3454420"/>
            <a:ext cx="1377909" cy="215890"/>
          </a:xfrm>
          <a:prstGeom prst="roundRect">
            <a:avLst>
              <a:gd name="adj" fmla="val 50021"/>
            </a:avLst>
          </a:prstGeom>
          <a:solidFill>
            <a:srgbClr val="FFFFFF"/>
          </a:solidFill>
          <a:ln w="12700">
            <a:solidFill>
              <a:srgbClr val="16181B">
                <a:alpha val="18000"/>
              </a:srgbClr>
            </a:solidFill>
            <a:prstDash val="solid"/>
          </a:ln>
        </p:spPr>
      </p:sp>
      <p:sp>
        <p:nvSpPr>
          <p:cNvPr id="33" name="Text 30"/>
          <p:cNvSpPr/>
          <p:nvPr/>
        </p:nvSpPr>
        <p:spPr>
          <a:xfrm>
            <a:off x="3556010" y="3497580"/>
            <a:ext cx="1377909" cy="152430"/>
          </a:xfrm>
          <a:prstGeom prst="rect">
            <a:avLst/>
          </a:prstGeom>
          <a:noFill/>
          <a:ln/>
        </p:spPr>
        <p:txBody>
          <a:bodyPr wrap="square" lIns="0" tIns="0" rIns="0" bIns="0" rtlCol="0" anchor="t"/>
          <a:lstStyle/>
          <a:p>
            <a:pPr algn="ctr" indent="0" marL="0">
              <a:lnSpc>
                <a:spcPct val="120000"/>
              </a:lnSpc>
              <a:buNone/>
            </a:pPr>
            <a:r>
              <a:rPr lang="en-US" sz="850" b="1" spc="51" kern="0" dirty="0">
                <a:solidFill>
                  <a:srgbClr val="16181B"/>
                </a:solidFill>
                <a:latin typeface="JetBrains Mono" pitchFamily="34" charset="0"/>
                <a:ea typeface="JetBrains Mono" pitchFamily="34" charset="-122"/>
                <a:cs typeface="JetBrains Mono" pitchFamily="34" charset="-120"/>
              </a:rPr>
              <a:t>binary-pill.html</a:t>
            </a:r>
            <a:endParaRPr lang="en-US" sz="850" dirty="0"/>
          </a:p>
        </p:txBody>
      </p:sp>
      <p:sp>
        <p:nvSpPr>
          <p:cNvPr id="34" name="Shape 32"/>
          <p:cNvSpPr/>
          <p:nvPr/>
        </p:nvSpPr>
        <p:spPr>
          <a:xfrm>
            <a:off x="3556010" y="3771900"/>
            <a:ext cx="1447770" cy="215890"/>
          </a:xfrm>
          <a:prstGeom prst="roundRect">
            <a:avLst>
              <a:gd name="adj" fmla="val 50021"/>
            </a:avLst>
          </a:prstGeom>
          <a:solidFill>
            <a:srgbClr val="FFFFFF"/>
          </a:solidFill>
          <a:ln w="12700">
            <a:solidFill>
              <a:srgbClr val="16181B">
                <a:alpha val="18000"/>
              </a:srgbClr>
            </a:solidFill>
            <a:prstDash val="solid"/>
          </a:ln>
        </p:spPr>
      </p:sp>
      <p:sp>
        <p:nvSpPr>
          <p:cNvPr id="35" name="Text 32"/>
          <p:cNvSpPr/>
          <p:nvPr/>
        </p:nvSpPr>
        <p:spPr>
          <a:xfrm>
            <a:off x="3556010" y="3815060"/>
            <a:ext cx="1447770" cy="152430"/>
          </a:xfrm>
          <a:prstGeom prst="rect">
            <a:avLst/>
          </a:prstGeom>
          <a:noFill/>
          <a:ln/>
        </p:spPr>
        <p:txBody>
          <a:bodyPr wrap="square" lIns="0" tIns="0" rIns="0" bIns="0" rtlCol="0" anchor="t"/>
          <a:lstStyle/>
          <a:p>
            <a:pPr algn="ctr" indent="0" marL="0">
              <a:lnSpc>
                <a:spcPct val="120000"/>
              </a:lnSpc>
              <a:buNone/>
            </a:pPr>
            <a:r>
              <a:rPr lang="en-US" sz="850" b="1" spc="51" kern="0" dirty="0">
                <a:solidFill>
                  <a:srgbClr val="16181B"/>
                </a:solidFill>
                <a:latin typeface="JetBrains Mono" pitchFamily="34" charset="0"/>
                <a:ea typeface="JetBrains Mono" pitchFamily="34" charset="-122"/>
                <a:cs typeface="JetBrains Mono" pitchFamily="34" charset="-120"/>
              </a:rPr>
              <a:t>Phone mock (Vite)</a:t>
            </a:r>
            <a:endParaRPr lang="en-US" sz="850" dirty="0"/>
          </a:p>
        </p:txBody>
      </p:sp>
      <p:sp>
        <p:nvSpPr>
          <p:cNvPr id="36" name="Text 33"/>
          <p:cNvSpPr/>
          <p:nvPr/>
        </p:nvSpPr>
        <p:spPr>
          <a:xfrm>
            <a:off x="3556010" y="4343400"/>
            <a:ext cx="1904970" cy="133320"/>
          </a:xfrm>
          <a:prstGeom prst="rect">
            <a:avLst/>
          </a:prstGeom>
          <a:noFill/>
          <a:ln/>
        </p:spPr>
        <p:txBody>
          <a:bodyPr wrap="square" lIns="0" tIns="0" rIns="0" bIns="0" rtlCol="0" anchor="t"/>
          <a:lstStyle/>
          <a:p>
            <a:pPr algn="l" indent="0" marL="0">
              <a:lnSpc>
                <a:spcPct val="120000"/>
              </a:lnSpc>
              <a:buNone/>
            </a:pPr>
            <a:r>
              <a:rPr lang="en-US" sz="750" spc="105" kern="0" dirty="0">
                <a:solidFill>
                  <a:srgbClr val="7C8188"/>
                </a:solidFill>
                <a:latin typeface="JetBrains Mono" pitchFamily="34" charset="0"/>
                <a:ea typeface="JetBrains Mono" pitchFamily="34" charset="-122"/>
                <a:cs typeface="JetBrains Mono" pitchFamily="34" charset="-120"/>
              </a:rPr>
              <a:t>FIGMA</a:t>
            </a:r>
            <a:endParaRPr lang="en-US" sz="750" dirty="0"/>
          </a:p>
        </p:txBody>
      </p:sp>
      <p:sp>
        <p:nvSpPr>
          <p:cNvPr id="37" name="Shape 35"/>
          <p:cNvSpPr/>
          <p:nvPr/>
        </p:nvSpPr>
        <p:spPr>
          <a:xfrm>
            <a:off x="3556010" y="4533870"/>
            <a:ext cx="1555760" cy="215890"/>
          </a:xfrm>
          <a:prstGeom prst="roundRect">
            <a:avLst>
              <a:gd name="adj" fmla="val 50021"/>
            </a:avLst>
          </a:prstGeom>
          <a:solidFill>
            <a:srgbClr val="7A5CFF">
              <a:alpha val="10000"/>
            </a:srgbClr>
          </a:solidFill>
          <a:ln/>
        </p:spPr>
      </p:sp>
      <p:sp>
        <p:nvSpPr>
          <p:cNvPr id="38" name="Shape 36"/>
          <p:cNvSpPr/>
          <p:nvPr/>
        </p:nvSpPr>
        <p:spPr>
          <a:xfrm>
            <a:off x="3663909" y="4616440"/>
            <a:ext cx="57150" cy="57150"/>
          </a:xfrm>
          <a:prstGeom prst="ellipse">
            <a:avLst/>
          </a:prstGeom>
          <a:solidFill>
            <a:srgbClr val="7A5CFF"/>
          </a:solidFill>
          <a:ln/>
        </p:spPr>
      </p:sp>
      <p:sp>
        <p:nvSpPr>
          <p:cNvPr id="39" name="Text 36"/>
          <p:cNvSpPr/>
          <p:nvPr/>
        </p:nvSpPr>
        <p:spPr>
          <a:xfrm>
            <a:off x="3765591" y="4577121"/>
            <a:ext cx="1282720" cy="152430"/>
          </a:xfrm>
          <a:prstGeom prst="rect">
            <a:avLst/>
          </a:prstGeom>
          <a:noFill/>
          <a:ln/>
        </p:spPr>
        <p:txBody>
          <a:bodyPr wrap="square" lIns="0" tIns="0" rIns="0" bIns="0" rtlCol="0" anchor="t"/>
          <a:lstStyle/>
          <a:p>
            <a:pPr algn="l" indent="0" marL="0">
              <a:lnSpc>
                <a:spcPct val="120000"/>
              </a:lnSpc>
              <a:buNone/>
            </a:pPr>
            <a:r>
              <a:rPr lang="en-US" sz="850" b="1" spc="51" kern="0" dirty="0">
                <a:solidFill>
                  <a:srgbClr val="16181B"/>
                </a:solidFill>
                <a:latin typeface="JetBrains Mono" pitchFamily="34" charset="0"/>
                <a:ea typeface="JetBrains Mono" pitchFamily="34" charset="-122"/>
                <a:cs typeface="JetBrains Mono" pitchFamily="34" charset="-120"/>
              </a:rPr>
              <a:t>Figma Make prompt</a:t>
            </a:r>
            <a:endParaRPr lang="en-US" sz="850" dirty="0"/>
          </a:p>
        </p:txBody>
      </p:sp>
      <p:sp>
        <p:nvSpPr>
          <p:cNvPr id="40" name="Text 37"/>
          <p:cNvSpPr/>
          <p:nvPr/>
        </p:nvSpPr>
        <p:spPr>
          <a:xfrm>
            <a:off x="3556010" y="4940320"/>
            <a:ext cx="2540020" cy="184160"/>
          </a:xfrm>
          <a:prstGeom prst="rect">
            <a:avLst/>
          </a:prstGeom>
          <a:noFill/>
          <a:ln/>
        </p:spPr>
        <p:txBody>
          <a:bodyPr wrap="square" lIns="0" tIns="0" rIns="0" bIns="0" rtlCol="0" anchor="t"/>
          <a:lstStyle/>
          <a:p>
            <a:pPr algn="l" indent="0" marL="0">
              <a:lnSpc>
                <a:spcPct val="140000"/>
              </a:lnSpc>
              <a:buNone/>
            </a:pPr>
            <a:r>
              <a:rPr lang="en-US" sz="900" dirty="0">
                <a:solidFill>
                  <a:srgbClr val="16181B"/>
                </a:solidFill>
                <a:latin typeface="JetBrains Mono" pitchFamily="34" charset="0"/>
                <a:ea typeface="JetBrains Mono" pitchFamily="34" charset="-122"/>
                <a:cs typeface="JetBrains Mono" pitchFamily="34" charset="-120"/>
              </a:rPr>
              <a:t>≈65 min · 3/5</a:t>
            </a:r>
            <a:endParaRPr lang="en-US" sz="900" dirty="0"/>
          </a:p>
        </p:txBody>
      </p:sp>
      <p:sp>
        <p:nvSpPr>
          <p:cNvPr id="41" name="Shape 39"/>
          <p:cNvSpPr/>
          <p:nvPr/>
        </p:nvSpPr>
        <p:spPr>
          <a:xfrm>
            <a:off x="3556010" y="5143500"/>
            <a:ext cx="1339870" cy="190470"/>
          </a:xfrm>
          <a:prstGeom prst="roundRect">
            <a:avLst>
              <a:gd name="adj" fmla="val 50024"/>
            </a:avLst>
          </a:prstGeom>
          <a:solidFill>
            <a:srgbClr val="9AA0A6">
              <a:alpha val="18000"/>
            </a:srgbClr>
          </a:solidFill>
          <a:ln/>
        </p:spPr>
      </p:sp>
      <p:sp>
        <p:nvSpPr>
          <p:cNvPr id="42" name="Text 39"/>
          <p:cNvSpPr/>
          <p:nvPr/>
        </p:nvSpPr>
        <p:spPr>
          <a:xfrm>
            <a:off x="3556010" y="5181630"/>
            <a:ext cx="1339870" cy="133320"/>
          </a:xfrm>
          <a:prstGeom prst="rect">
            <a:avLst/>
          </a:prstGeom>
          <a:noFill/>
          <a:ln/>
        </p:spPr>
        <p:txBody>
          <a:bodyPr wrap="square" lIns="0" tIns="0" rIns="0" bIns="0" rtlCol="0" anchor="t"/>
          <a:lstStyle/>
          <a:p>
            <a:pPr algn="ctr" indent="0" marL="0">
              <a:lnSpc>
                <a:spcPct val="120000"/>
              </a:lnSpc>
              <a:buNone/>
            </a:pPr>
            <a:r>
              <a:rPr lang="en-US" sz="750" b="1" spc="45" kern="0" dirty="0">
                <a:solidFill>
                  <a:srgbClr val="16181B"/>
                </a:solidFill>
                <a:latin typeface="JetBrains Mono" pitchFamily="34" charset="0"/>
                <a:ea typeface="JetBrains Mono" pitchFamily="34" charset="-122"/>
                <a:cs typeface="JetBrains Mono" pitchFamily="34" charset="-120"/>
              </a:rPr>
              <a:t>FIGMA STEP PENDING</a:t>
            </a:r>
            <a:endParaRPr lang="en-US" sz="750" dirty="0"/>
          </a:p>
        </p:txBody>
      </p:sp>
      <p:sp>
        <p:nvSpPr>
          <p:cNvPr id="43" name="Shape 41"/>
          <p:cNvSpPr/>
          <p:nvPr/>
        </p:nvSpPr>
        <p:spPr>
          <a:xfrm>
            <a:off x="6349959" y="2222541"/>
            <a:ext cx="330190" cy="330190"/>
          </a:xfrm>
          <a:prstGeom prst="ellipse">
            <a:avLst/>
          </a:prstGeom>
          <a:solidFill>
            <a:srgbClr val="FFFFFF"/>
          </a:solidFill>
          <a:ln w="25400">
            <a:solidFill>
              <a:srgbClr val="4FB3FF"/>
            </a:solidFill>
            <a:prstDash val="solid"/>
          </a:ln>
        </p:spPr>
      </p:sp>
      <p:sp>
        <p:nvSpPr>
          <p:cNvPr id="44" name="Text 41"/>
          <p:cNvSpPr/>
          <p:nvPr/>
        </p:nvSpPr>
        <p:spPr>
          <a:xfrm>
            <a:off x="6349959" y="2692359"/>
            <a:ext cx="1904970" cy="184160"/>
          </a:xfrm>
          <a:prstGeom prst="rect">
            <a:avLst/>
          </a:prstGeom>
          <a:noFill/>
          <a:ln/>
        </p:spPr>
        <p:txBody>
          <a:bodyPr wrap="square" lIns="0" tIns="0" rIns="0" bIns="0" rtlCol="0" anchor="t"/>
          <a:lstStyle/>
          <a:p>
            <a:pPr algn="l" indent="0" marL="0">
              <a:lnSpc>
                <a:spcPct val="140000"/>
              </a:lnSpc>
              <a:buNone/>
            </a:pPr>
            <a:r>
              <a:rPr lang="en-US" sz="900" dirty="0">
                <a:solidFill>
                  <a:srgbClr val="4A4E55"/>
                </a:solidFill>
                <a:latin typeface="JetBrains Mono" pitchFamily="34" charset="0"/>
                <a:ea typeface="JetBrains Mono" pitchFamily="34" charset="-122"/>
                <a:cs typeface="JetBrains Mono" pitchFamily="34" charset="-120"/>
              </a:rPr>
              <a:t>03</a:t>
            </a:r>
            <a:endParaRPr lang="en-US" sz="900" dirty="0"/>
          </a:p>
        </p:txBody>
      </p:sp>
      <p:sp>
        <p:nvSpPr>
          <p:cNvPr id="45" name="Text 42"/>
          <p:cNvSpPr/>
          <p:nvPr/>
        </p:nvSpPr>
        <p:spPr>
          <a:xfrm>
            <a:off x="6349959" y="2870210"/>
            <a:ext cx="2540020" cy="285750"/>
          </a:xfrm>
          <a:prstGeom prst="rect">
            <a:avLst/>
          </a:prstGeom>
          <a:noFill/>
          <a:ln/>
        </p:spPr>
        <p:txBody>
          <a:bodyPr wrap="square" lIns="0" tIns="0" rIns="0" bIns="0" rtlCol="0" anchor="t"/>
          <a:lstStyle/>
          <a:p>
            <a:pPr algn="l" indent="0" marL="0">
              <a:lnSpc>
                <a:spcPct val="100000"/>
              </a:lnSpc>
              <a:buNone/>
            </a:pPr>
            <a:r>
              <a:rPr lang="en-US" sz="1872" dirty="0">
                <a:solidFill>
                  <a:srgbClr val="16181B"/>
                </a:solidFill>
                <a:latin typeface="Instrument Serif" pitchFamily="34" charset="0"/>
                <a:ea typeface="Instrument Serif" pitchFamily="34" charset="-122"/>
                <a:cs typeface="Instrument Serif" pitchFamily="34" charset="-120"/>
              </a:rPr>
              <a:t>Handoff</a:t>
            </a:r>
            <a:endParaRPr lang="en-US" sz="1872" dirty="0"/>
          </a:p>
        </p:txBody>
      </p:sp>
      <p:sp>
        <p:nvSpPr>
          <p:cNvPr id="46" name="Text 43"/>
          <p:cNvSpPr/>
          <p:nvPr/>
        </p:nvSpPr>
        <p:spPr>
          <a:xfrm>
            <a:off x="6349959" y="3289280"/>
            <a:ext cx="1904970" cy="133320"/>
          </a:xfrm>
          <a:prstGeom prst="rect">
            <a:avLst/>
          </a:prstGeom>
          <a:noFill/>
          <a:ln/>
        </p:spPr>
        <p:txBody>
          <a:bodyPr wrap="square" lIns="0" tIns="0" rIns="0" bIns="0" rtlCol="0" anchor="t"/>
          <a:lstStyle/>
          <a:p>
            <a:pPr algn="l" indent="0" marL="0">
              <a:lnSpc>
                <a:spcPct val="120000"/>
              </a:lnSpc>
              <a:buNone/>
            </a:pPr>
            <a:r>
              <a:rPr lang="en-US" sz="750" spc="105" kern="0" dirty="0">
                <a:solidFill>
                  <a:srgbClr val="7C8188"/>
                </a:solidFill>
                <a:latin typeface="JetBrains Mono" pitchFamily="34" charset="0"/>
                <a:ea typeface="JetBrains Mono" pitchFamily="34" charset="-122"/>
                <a:cs typeface="JetBrains Mono" pitchFamily="34" charset="-120"/>
              </a:rPr>
              <a:t>CODE</a:t>
            </a:r>
            <a:endParaRPr lang="en-US" sz="750" dirty="0"/>
          </a:p>
        </p:txBody>
      </p:sp>
      <p:sp>
        <p:nvSpPr>
          <p:cNvPr id="47" name="Shape 45"/>
          <p:cNvSpPr/>
          <p:nvPr/>
        </p:nvSpPr>
        <p:spPr>
          <a:xfrm>
            <a:off x="6349959" y="3454420"/>
            <a:ext cx="1517630" cy="215890"/>
          </a:xfrm>
          <a:prstGeom prst="roundRect">
            <a:avLst>
              <a:gd name="adj" fmla="val 50021"/>
            </a:avLst>
          </a:prstGeom>
          <a:solidFill>
            <a:srgbClr val="FFFFFF"/>
          </a:solidFill>
          <a:ln w="12700">
            <a:solidFill>
              <a:srgbClr val="16181B">
                <a:alpha val="18000"/>
              </a:srgbClr>
            </a:solidFill>
            <a:prstDash val="solid"/>
          </a:ln>
        </p:spPr>
      </p:sp>
      <p:sp>
        <p:nvSpPr>
          <p:cNvPr id="48" name="Text 45"/>
          <p:cNvSpPr/>
          <p:nvPr/>
        </p:nvSpPr>
        <p:spPr>
          <a:xfrm>
            <a:off x="6349959" y="3497580"/>
            <a:ext cx="1517630" cy="152430"/>
          </a:xfrm>
          <a:prstGeom prst="rect">
            <a:avLst/>
          </a:prstGeom>
          <a:noFill/>
          <a:ln/>
        </p:spPr>
        <p:txBody>
          <a:bodyPr wrap="square" lIns="0" tIns="0" rIns="0" bIns="0" rtlCol="0" anchor="t"/>
          <a:lstStyle/>
          <a:p>
            <a:pPr algn="ctr" indent="0" marL="0">
              <a:lnSpc>
                <a:spcPct val="120000"/>
              </a:lnSpc>
              <a:buNone/>
            </a:pPr>
            <a:r>
              <a:rPr lang="en-US" sz="850" b="1" spc="51" kern="0" dirty="0">
                <a:solidFill>
                  <a:srgbClr val="16181B"/>
                </a:solidFill>
                <a:latin typeface="JetBrains Mono" pitchFamily="34" charset="0"/>
                <a:ea typeface="JetBrains Mono" pitchFamily="34" charset="-122"/>
                <a:cs typeface="JetBrains Mono" pitchFamily="34" charset="-120"/>
              </a:rPr>
              <a:t>CSS :root, by hand</a:t>
            </a:r>
            <a:endParaRPr lang="en-US" sz="850" dirty="0"/>
          </a:p>
        </p:txBody>
      </p:sp>
      <p:sp>
        <p:nvSpPr>
          <p:cNvPr id="49" name="Text 46"/>
          <p:cNvSpPr/>
          <p:nvPr/>
        </p:nvSpPr>
        <p:spPr>
          <a:xfrm>
            <a:off x="6349959" y="4025920"/>
            <a:ext cx="1904970" cy="133320"/>
          </a:xfrm>
          <a:prstGeom prst="rect">
            <a:avLst/>
          </a:prstGeom>
          <a:noFill/>
          <a:ln/>
        </p:spPr>
        <p:txBody>
          <a:bodyPr wrap="square" lIns="0" tIns="0" rIns="0" bIns="0" rtlCol="0" anchor="t"/>
          <a:lstStyle/>
          <a:p>
            <a:pPr algn="l" indent="0" marL="0">
              <a:lnSpc>
                <a:spcPct val="120000"/>
              </a:lnSpc>
              <a:buNone/>
            </a:pPr>
            <a:r>
              <a:rPr lang="en-US" sz="750" spc="105" kern="0" dirty="0">
                <a:solidFill>
                  <a:srgbClr val="7C8188"/>
                </a:solidFill>
                <a:latin typeface="JetBrains Mono" pitchFamily="34" charset="0"/>
                <a:ea typeface="JetBrains Mono" pitchFamily="34" charset="-122"/>
                <a:cs typeface="JetBrains Mono" pitchFamily="34" charset="-120"/>
              </a:rPr>
              <a:t>FIGMA</a:t>
            </a:r>
            <a:endParaRPr lang="en-US" sz="750" dirty="0"/>
          </a:p>
        </p:txBody>
      </p:sp>
      <p:sp>
        <p:nvSpPr>
          <p:cNvPr id="50" name="Shape 48"/>
          <p:cNvSpPr/>
          <p:nvPr/>
        </p:nvSpPr>
        <p:spPr>
          <a:xfrm>
            <a:off x="6349959" y="4216390"/>
            <a:ext cx="1625620" cy="215890"/>
          </a:xfrm>
          <a:prstGeom prst="roundRect">
            <a:avLst>
              <a:gd name="adj" fmla="val 50021"/>
            </a:avLst>
          </a:prstGeom>
          <a:solidFill>
            <a:srgbClr val="7A5CFF">
              <a:alpha val="10000"/>
            </a:srgbClr>
          </a:solidFill>
          <a:ln/>
        </p:spPr>
      </p:sp>
      <p:sp>
        <p:nvSpPr>
          <p:cNvPr id="51" name="Shape 49"/>
          <p:cNvSpPr/>
          <p:nvPr/>
        </p:nvSpPr>
        <p:spPr>
          <a:xfrm>
            <a:off x="6457950" y="4298960"/>
            <a:ext cx="57150" cy="57150"/>
          </a:xfrm>
          <a:prstGeom prst="ellipse">
            <a:avLst/>
          </a:prstGeom>
          <a:solidFill>
            <a:srgbClr val="7A5CFF"/>
          </a:solidFill>
          <a:ln/>
        </p:spPr>
      </p:sp>
      <p:sp>
        <p:nvSpPr>
          <p:cNvPr id="52" name="Text 49"/>
          <p:cNvSpPr/>
          <p:nvPr/>
        </p:nvSpPr>
        <p:spPr>
          <a:xfrm>
            <a:off x="6559540" y="4259550"/>
            <a:ext cx="1352580" cy="152430"/>
          </a:xfrm>
          <a:prstGeom prst="rect">
            <a:avLst/>
          </a:prstGeom>
          <a:noFill/>
          <a:ln/>
        </p:spPr>
        <p:txBody>
          <a:bodyPr wrap="square" lIns="0" tIns="0" rIns="0" bIns="0" rtlCol="0" anchor="t"/>
          <a:lstStyle/>
          <a:p>
            <a:pPr algn="l" indent="0" marL="0">
              <a:lnSpc>
                <a:spcPct val="120000"/>
              </a:lnSpc>
              <a:buNone/>
            </a:pPr>
            <a:r>
              <a:rPr lang="en-US" sz="850" b="1" spc="51" kern="0" dirty="0">
                <a:solidFill>
                  <a:srgbClr val="16181B"/>
                </a:solidFill>
                <a:latin typeface="JetBrains Mono" pitchFamily="34" charset="0"/>
                <a:ea typeface="JetBrains Mono" pitchFamily="34" charset="-122"/>
                <a:cs typeface="JetBrains Mono" pitchFamily="34" charset="-120"/>
              </a:rPr>
              <a:t>Styles + variables</a:t>
            </a:r>
            <a:endParaRPr lang="en-US" sz="850" dirty="0"/>
          </a:p>
        </p:txBody>
      </p:sp>
      <p:sp>
        <p:nvSpPr>
          <p:cNvPr id="53" name="Shape 51"/>
          <p:cNvSpPr/>
          <p:nvPr/>
        </p:nvSpPr>
        <p:spPr>
          <a:xfrm>
            <a:off x="6349959" y="4533870"/>
            <a:ext cx="1339870" cy="215890"/>
          </a:xfrm>
          <a:prstGeom prst="roundRect">
            <a:avLst>
              <a:gd name="adj" fmla="val 50021"/>
            </a:avLst>
          </a:prstGeom>
          <a:solidFill>
            <a:srgbClr val="7A5CFF">
              <a:alpha val="10000"/>
            </a:srgbClr>
          </a:solidFill>
          <a:ln/>
        </p:spPr>
      </p:sp>
      <p:sp>
        <p:nvSpPr>
          <p:cNvPr id="54" name="Shape 52"/>
          <p:cNvSpPr/>
          <p:nvPr/>
        </p:nvSpPr>
        <p:spPr>
          <a:xfrm>
            <a:off x="6457950" y="4616440"/>
            <a:ext cx="57150" cy="57150"/>
          </a:xfrm>
          <a:prstGeom prst="ellipse">
            <a:avLst/>
          </a:prstGeom>
          <a:solidFill>
            <a:srgbClr val="7A5CFF"/>
          </a:solidFill>
          <a:ln/>
        </p:spPr>
      </p:sp>
      <p:sp>
        <p:nvSpPr>
          <p:cNvPr id="55" name="Text 52"/>
          <p:cNvSpPr/>
          <p:nvPr/>
        </p:nvSpPr>
        <p:spPr>
          <a:xfrm>
            <a:off x="6559540" y="4577121"/>
            <a:ext cx="1066830" cy="152430"/>
          </a:xfrm>
          <a:prstGeom prst="rect">
            <a:avLst/>
          </a:prstGeom>
          <a:noFill/>
          <a:ln/>
        </p:spPr>
        <p:txBody>
          <a:bodyPr wrap="square" lIns="0" tIns="0" rIns="0" bIns="0" rtlCol="0" anchor="t"/>
          <a:lstStyle/>
          <a:p>
            <a:pPr algn="l" indent="0" marL="0">
              <a:lnSpc>
                <a:spcPct val="120000"/>
              </a:lnSpc>
              <a:buNone/>
            </a:pPr>
            <a:r>
              <a:rPr lang="en-US" sz="850" b="1" spc="51" kern="0" dirty="0">
                <a:solidFill>
                  <a:srgbClr val="16181B"/>
                </a:solidFill>
                <a:latin typeface="JetBrains Mono" pitchFamily="34" charset="0"/>
                <a:ea typeface="JetBrains Mono" pitchFamily="34" charset="-122"/>
                <a:cs typeface="JetBrains Mono" pitchFamily="34" charset="-120"/>
              </a:rPr>
              <a:t>Composio → CSS</a:t>
            </a:r>
            <a:endParaRPr lang="en-US" sz="850" dirty="0"/>
          </a:p>
        </p:txBody>
      </p:sp>
      <p:sp>
        <p:nvSpPr>
          <p:cNvPr id="56" name="Text 53"/>
          <p:cNvSpPr/>
          <p:nvPr/>
        </p:nvSpPr>
        <p:spPr>
          <a:xfrm>
            <a:off x="6349959" y="4940320"/>
            <a:ext cx="2540020" cy="184160"/>
          </a:xfrm>
          <a:prstGeom prst="rect">
            <a:avLst/>
          </a:prstGeom>
          <a:noFill/>
          <a:ln/>
        </p:spPr>
        <p:txBody>
          <a:bodyPr wrap="square" lIns="0" tIns="0" rIns="0" bIns="0" rtlCol="0" anchor="t"/>
          <a:lstStyle/>
          <a:p>
            <a:pPr algn="l" indent="0" marL="0">
              <a:lnSpc>
                <a:spcPct val="140000"/>
              </a:lnSpc>
              <a:buNone/>
            </a:pPr>
            <a:r>
              <a:rPr lang="en-US" sz="900" dirty="0">
                <a:solidFill>
                  <a:srgbClr val="16181B"/>
                </a:solidFill>
                <a:latin typeface="JetBrains Mono" pitchFamily="34" charset="0"/>
                <a:ea typeface="JetBrains Mono" pitchFamily="34" charset="-122"/>
                <a:cs typeface="JetBrains Mono" pitchFamily="34" charset="-120"/>
              </a:rPr>
              <a:t>≈7 min · 2/5</a:t>
            </a:r>
            <a:endParaRPr lang="en-US" sz="900" dirty="0"/>
          </a:p>
        </p:txBody>
      </p:sp>
      <p:sp>
        <p:nvSpPr>
          <p:cNvPr id="57" name="Shape 55"/>
          <p:cNvSpPr/>
          <p:nvPr/>
        </p:nvSpPr>
        <p:spPr>
          <a:xfrm>
            <a:off x="6349959" y="5143500"/>
            <a:ext cx="1339870" cy="190470"/>
          </a:xfrm>
          <a:prstGeom prst="roundRect">
            <a:avLst>
              <a:gd name="adj" fmla="val 50024"/>
            </a:avLst>
          </a:prstGeom>
          <a:solidFill>
            <a:srgbClr val="9AA0A6">
              <a:alpha val="18000"/>
            </a:srgbClr>
          </a:solidFill>
          <a:ln/>
        </p:spPr>
      </p:sp>
      <p:sp>
        <p:nvSpPr>
          <p:cNvPr id="58" name="Text 55"/>
          <p:cNvSpPr/>
          <p:nvPr/>
        </p:nvSpPr>
        <p:spPr>
          <a:xfrm>
            <a:off x="6349959" y="5181630"/>
            <a:ext cx="1339870" cy="133320"/>
          </a:xfrm>
          <a:prstGeom prst="rect">
            <a:avLst/>
          </a:prstGeom>
          <a:noFill/>
          <a:ln/>
        </p:spPr>
        <p:txBody>
          <a:bodyPr wrap="square" lIns="0" tIns="0" rIns="0" bIns="0" rtlCol="0" anchor="t"/>
          <a:lstStyle/>
          <a:p>
            <a:pPr algn="ctr" indent="0" marL="0">
              <a:lnSpc>
                <a:spcPct val="120000"/>
              </a:lnSpc>
              <a:buNone/>
            </a:pPr>
            <a:r>
              <a:rPr lang="en-US" sz="750" b="1" spc="45" kern="0" dirty="0">
                <a:solidFill>
                  <a:srgbClr val="16181B"/>
                </a:solidFill>
                <a:latin typeface="JetBrains Mono" pitchFamily="34" charset="0"/>
                <a:ea typeface="JetBrains Mono" pitchFamily="34" charset="-122"/>
                <a:cs typeface="JetBrains Mono" pitchFamily="34" charset="-120"/>
              </a:rPr>
              <a:t>FIGMA STEP PENDING</a:t>
            </a:r>
            <a:endParaRPr lang="en-US" sz="750" dirty="0"/>
          </a:p>
        </p:txBody>
      </p:sp>
      <p:sp>
        <p:nvSpPr>
          <p:cNvPr id="59" name="Shape 57"/>
          <p:cNvSpPr/>
          <p:nvPr/>
        </p:nvSpPr>
        <p:spPr>
          <a:xfrm>
            <a:off x="9144000" y="2222541"/>
            <a:ext cx="330190" cy="330190"/>
          </a:xfrm>
          <a:prstGeom prst="ellipse">
            <a:avLst/>
          </a:prstGeom>
          <a:solidFill>
            <a:srgbClr val="4FB3FF"/>
          </a:solidFill>
          <a:ln w="25400">
            <a:solidFill>
              <a:srgbClr val="4FB3FF"/>
            </a:solidFill>
            <a:prstDash val="solid"/>
          </a:ln>
        </p:spPr>
      </p:sp>
      <p:sp>
        <p:nvSpPr>
          <p:cNvPr id="60" name="Text 57"/>
          <p:cNvSpPr/>
          <p:nvPr/>
        </p:nvSpPr>
        <p:spPr>
          <a:xfrm>
            <a:off x="9144000" y="2692359"/>
            <a:ext cx="1904970" cy="184160"/>
          </a:xfrm>
          <a:prstGeom prst="rect">
            <a:avLst/>
          </a:prstGeom>
          <a:noFill/>
          <a:ln/>
        </p:spPr>
        <p:txBody>
          <a:bodyPr wrap="square" lIns="0" tIns="0" rIns="0" bIns="0" rtlCol="0" anchor="t"/>
          <a:lstStyle/>
          <a:p>
            <a:pPr algn="l" indent="0" marL="0">
              <a:lnSpc>
                <a:spcPct val="140000"/>
              </a:lnSpc>
              <a:buNone/>
            </a:pPr>
            <a:r>
              <a:rPr lang="en-US" sz="900" dirty="0">
                <a:solidFill>
                  <a:srgbClr val="4A4E55"/>
                </a:solidFill>
                <a:latin typeface="JetBrains Mono" pitchFamily="34" charset="0"/>
                <a:ea typeface="JetBrains Mono" pitchFamily="34" charset="-122"/>
                <a:cs typeface="JetBrains Mono" pitchFamily="34" charset="-120"/>
              </a:rPr>
              <a:t>04</a:t>
            </a:r>
            <a:endParaRPr lang="en-US" sz="900" dirty="0"/>
          </a:p>
        </p:txBody>
      </p:sp>
      <p:sp>
        <p:nvSpPr>
          <p:cNvPr id="61" name="Text 58"/>
          <p:cNvSpPr/>
          <p:nvPr/>
        </p:nvSpPr>
        <p:spPr>
          <a:xfrm>
            <a:off x="9144000" y="2870210"/>
            <a:ext cx="2540020" cy="285750"/>
          </a:xfrm>
          <a:prstGeom prst="rect">
            <a:avLst/>
          </a:prstGeom>
          <a:noFill/>
          <a:ln/>
        </p:spPr>
        <p:txBody>
          <a:bodyPr wrap="square" lIns="0" tIns="0" rIns="0" bIns="0" rtlCol="0" anchor="t"/>
          <a:lstStyle/>
          <a:p>
            <a:pPr algn="l" indent="0" marL="0">
              <a:lnSpc>
                <a:spcPct val="100000"/>
              </a:lnSpc>
              <a:buNone/>
            </a:pPr>
            <a:r>
              <a:rPr lang="en-US" sz="1872" dirty="0">
                <a:solidFill>
                  <a:srgbClr val="16181B"/>
                </a:solidFill>
                <a:latin typeface="Instrument Serif" pitchFamily="34" charset="0"/>
                <a:ea typeface="Instrument Serif" pitchFamily="34" charset="-122"/>
                <a:cs typeface="Instrument Serif" pitchFamily="34" charset="-120"/>
              </a:rPr>
              <a:t>Code generation</a:t>
            </a:r>
            <a:endParaRPr lang="en-US" sz="1872" dirty="0"/>
          </a:p>
        </p:txBody>
      </p:sp>
      <p:sp>
        <p:nvSpPr>
          <p:cNvPr id="62" name="Text 59"/>
          <p:cNvSpPr/>
          <p:nvPr/>
        </p:nvSpPr>
        <p:spPr>
          <a:xfrm>
            <a:off x="9144000" y="3289280"/>
            <a:ext cx="1904970" cy="133320"/>
          </a:xfrm>
          <a:prstGeom prst="rect">
            <a:avLst/>
          </a:prstGeom>
          <a:noFill/>
          <a:ln/>
        </p:spPr>
        <p:txBody>
          <a:bodyPr wrap="square" lIns="0" tIns="0" rIns="0" bIns="0" rtlCol="0" anchor="t"/>
          <a:lstStyle/>
          <a:p>
            <a:pPr algn="l" indent="0" marL="0">
              <a:lnSpc>
                <a:spcPct val="120000"/>
              </a:lnSpc>
              <a:buNone/>
            </a:pPr>
            <a:r>
              <a:rPr lang="en-US" sz="750" spc="105" kern="0" dirty="0">
                <a:solidFill>
                  <a:srgbClr val="7C8188"/>
                </a:solidFill>
                <a:latin typeface="JetBrains Mono" pitchFamily="34" charset="0"/>
                <a:ea typeface="JetBrains Mono" pitchFamily="34" charset="-122"/>
                <a:cs typeface="JetBrains Mono" pitchFamily="34" charset="-120"/>
              </a:rPr>
              <a:t>CODE</a:t>
            </a:r>
            <a:endParaRPr lang="en-US" sz="750" dirty="0"/>
          </a:p>
        </p:txBody>
      </p:sp>
      <p:sp>
        <p:nvSpPr>
          <p:cNvPr id="63" name="Shape 61"/>
          <p:cNvSpPr/>
          <p:nvPr/>
        </p:nvSpPr>
        <p:spPr>
          <a:xfrm>
            <a:off x="9144000" y="3454420"/>
            <a:ext cx="1949409" cy="215890"/>
          </a:xfrm>
          <a:prstGeom prst="roundRect">
            <a:avLst>
              <a:gd name="adj" fmla="val 50021"/>
            </a:avLst>
          </a:prstGeom>
          <a:solidFill>
            <a:srgbClr val="FFFFFF"/>
          </a:solidFill>
          <a:ln w="12700">
            <a:solidFill>
              <a:srgbClr val="16181B">
                <a:alpha val="18000"/>
              </a:srgbClr>
            </a:solidFill>
            <a:prstDash val="solid"/>
          </a:ln>
        </p:spPr>
      </p:sp>
      <p:sp>
        <p:nvSpPr>
          <p:cNvPr id="64" name="Text 61"/>
          <p:cNvSpPr/>
          <p:nvPr/>
        </p:nvSpPr>
        <p:spPr>
          <a:xfrm>
            <a:off x="9144000" y="3497580"/>
            <a:ext cx="1949409" cy="152430"/>
          </a:xfrm>
          <a:prstGeom prst="rect">
            <a:avLst/>
          </a:prstGeom>
          <a:noFill/>
          <a:ln/>
        </p:spPr>
        <p:txBody>
          <a:bodyPr wrap="square" lIns="0" tIns="0" rIns="0" bIns="0" rtlCol="0" anchor="t"/>
          <a:lstStyle/>
          <a:p>
            <a:pPr algn="ctr" indent="0" marL="0">
              <a:lnSpc>
                <a:spcPct val="120000"/>
              </a:lnSpc>
              <a:buNone/>
            </a:pPr>
            <a:r>
              <a:rPr lang="en-US" sz="850" b="1" spc="51" kern="0" dirty="0">
                <a:solidFill>
                  <a:srgbClr val="16181B"/>
                </a:solidFill>
                <a:latin typeface="JetBrains Mono" pitchFamily="34" charset="0"/>
                <a:ea typeface="JetBrains Mono" pitchFamily="34" charset="-122"/>
                <a:cs typeface="JetBrains Mono" pitchFamily="34" charset="-120"/>
              </a:rPr>
              <a:t>Claude Code + 3 builders</a:t>
            </a:r>
            <a:endParaRPr lang="en-US" sz="850" dirty="0"/>
          </a:p>
        </p:txBody>
      </p:sp>
      <p:sp>
        <p:nvSpPr>
          <p:cNvPr id="65" name="Text 62"/>
          <p:cNvSpPr/>
          <p:nvPr/>
        </p:nvSpPr>
        <p:spPr>
          <a:xfrm>
            <a:off x="9144000" y="4025920"/>
            <a:ext cx="1904970" cy="133320"/>
          </a:xfrm>
          <a:prstGeom prst="rect">
            <a:avLst/>
          </a:prstGeom>
          <a:noFill/>
          <a:ln/>
        </p:spPr>
        <p:txBody>
          <a:bodyPr wrap="square" lIns="0" tIns="0" rIns="0" bIns="0" rtlCol="0" anchor="t"/>
          <a:lstStyle/>
          <a:p>
            <a:pPr algn="l" indent="0" marL="0">
              <a:lnSpc>
                <a:spcPct val="120000"/>
              </a:lnSpc>
              <a:buNone/>
            </a:pPr>
            <a:r>
              <a:rPr lang="en-US" sz="750" spc="105" kern="0" dirty="0">
                <a:solidFill>
                  <a:srgbClr val="7C8188"/>
                </a:solidFill>
                <a:latin typeface="JetBrains Mono" pitchFamily="34" charset="0"/>
                <a:ea typeface="JetBrains Mono" pitchFamily="34" charset="-122"/>
                <a:cs typeface="JetBrains Mono" pitchFamily="34" charset="-120"/>
              </a:rPr>
              <a:t>FIGMA</a:t>
            </a:r>
            <a:endParaRPr lang="en-US" sz="750" dirty="0"/>
          </a:p>
        </p:txBody>
      </p:sp>
      <p:sp>
        <p:nvSpPr>
          <p:cNvPr id="66" name="Shape 64"/>
          <p:cNvSpPr/>
          <p:nvPr/>
        </p:nvSpPr>
        <p:spPr>
          <a:xfrm>
            <a:off x="9144000" y="4216390"/>
            <a:ext cx="1701790" cy="215890"/>
          </a:xfrm>
          <a:prstGeom prst="roundRect">
            <a:avLst>
              <a:gd name="adj" fmla="val 50021"/>
            </a:avLst>
          </a:prstGeom>
          <a:solidFill>
            <a:srgbClr val="7A5CFF">
              <a:alpha val="10000"/>
            </a:srgbClr>
          </a:solidFill>
          <a:ln/>
        </p:spPr>
      </p:sp>
      <p:sp>
        <p:nvSpPr>
          <p:cNvPr id="67" name="Shape 65"/>
          <p:cNvSpPr/>
          <p:nvPr/>
        </p:nvSpPr>
        <p:spPr>
          <a:xfrm>
            <a:off x="9251991" y="4298960"/>
            <a:ext cx="57150" cy="57150"/>
          </a:xfrm>
          <a:prstGeom prst="ellipse">
            <a:avLst/>
          </a:prstGeom>
          <a:solidFill>
            <a:srgbClr val="7A5CFF"/>
          </a:solidFill>
          <a:ln/>
        </p:spPr>
      </p:sp>
      <p:sp>
        <p:nvSpPr>
          <p:cNvPr id="68" name="Text 65"/>
          <p:cNvSpPr/>
          <p:nvPr/>
        </p:nvSpPr>
        <p:spPr>
          <a:xfrm>
            <a:off x="9353580" y="4259550"/>
            <a:ext cx="1428750" cy="152430"/>
          </a:xfrm>
          <a:prstGeom prst="rect">
            <a:avLst/>
          </a:prstGeom>
          <a:noFill/>
          <a:ln/>
        </p:spPr>
        <p:txBody>
          <a:bodyPr wrap="square" lIns="0" tIns="0" rIns="0" bIns="0" rtlCol="0" anchor="t"/>
          <a:lstStyle/>
          <a:p>
            <a:pPr algn="l" indent="0" marL="0">
              <a:lnSpc>
                <a:spcPct val="120000"/>
              </a:lnSpc>
              <a:buNone/>
            </a:pPr>
            <a:r>
              <a:rPr lang="en-US" sz="850" b="1" spc="51" kern="0" dirty="0">
                <a:solidFill>
                  <a:srgbClr val="16181B"/>
                </a:solidFill>
                <a:latin typeface="JetBrains Mono" pitchFamily="34" charset="0"/>
                <a:ea typeface="JetBrains Mono" pitchFamily="34" charset="-122"/>
                <a:cs typeface="JetBrains Mono" pitchFamily="34" charset="-120"/>
              </a:rPr>
              <a:t>Pill → Figma plugin</a:t>
            </a:r>
            <a:endParaRPr lang="en-US" sz="850" dirty="0"/>
          </a:p>
        </p:txBody>
      </p:sp>
      <p:sp>
        <p:nvSpPr>
          <p:cNvPr id="69" name="Text 66"/>
          <p:cNvSpPr/>
          <p:nvPr/>
        </p:nvSpPr>
        <p:spPr>
          <a:xfrm>
            <a:off x="9144000" y="4622841"/>
            <a:ext cx="2540020" cy="184160"/>
          </a:xfrm>
          <a:prstGeom prst="rect">
            <a:avLst/>
          </a:prstGeom>
          <a:noFill/>
          <a:ln/>
        </p:spPr>
        <p:txBody>
          <a:bodyPr wrap="square" lIns="0" tIns="0" rIns="0" bIns="0" rtlCol="0" anchor="t"/>
          <a:lstStyle/>
          <a:p>
            <a:pPr algn="l" indent="0" marL="0">
              <a:lnSpc>
                <a:spcPct val="140000"/>
              </a:lnSpc>
              <a:buNone/>
            </a:pPr>
            <a:r>
              <a:rPr lang="en-US" sz="900" dirty="0">
                <a:solidFill>
                  <a:srgbClr val="16181B"/>
                </a:solidFill>
                <a:latin typeface="JetBrains Mono" pitchFamily="34" charset="0"/>
                <a:ea typeface="JetBrains Mono" pitchFamily="34" charset="-122"/>
                <a:cs typeface="JetBrains Mono" pitchFamily="34" charset="-120"/>
              </a:rPr>
              <a:t>≈92 min · 4/5</a:t>
            </a:r>
            <a:endParaRPr lang="en-US" sz="900" dirty="0"/>
          </a:p>
        </p:txBody>
      </p:sp>
      <p:sp>
        <p:nvSpPr>
          <p:cNvPr id="70" name="Shape 68"/>
          <p:cNvSpPr/>
          <p:nvPr/>
        </p:nvSpPr>
        <p:spPr>
          <a:xfrm>
            <a:off x="9144000" y="4826020"/>
            <a:ext cx="1339870" cy="190470"/>
          </a:xfrm>
          <a:prstGeom prst="roundRect">
            <a:avLst>
              <a:gd name="adj" fmla="val 50024"/>
            </a:avLst>
          </a:prstGeom>
          <a:solidFill>
            <a:srgbClr val="9AA0A6">
              <a:alpha val="18000"/>
            </a:srgbClr>
          </a:solidFill>
          <a:ln/>
        </p:spPr>
      </p:sp>
      <p:sp>
        <p:nvSpPr>
          <p:cNvPr id="71" name="Text 68"/>
          <p:cNvSpPr/>
          <p:nvPr/>
        </p:nvSpPr>
        <p:spPr>
          <a:xfrm>
            <a:off x="9144000" y="4864059"/>
            <a:ext cx="1339870" cy="133320"/>
          </a:xfrm>
          <a:prstGeom prst="rect">
            <a:avLst/>
          </a:prstGeom>
          <a:noFill/>
          <a:ln/>
        </p:spPr>
        <p:txBody>
          <a:bodyPr wrap="square" lIns="0" tIns="0" rIns="0" bIns="0" rtlCol="0" anchor="t"/>
          <a:lstStyle/>
          <a:p>
            <a:pPr algn="ctr" indent="0" marL="0">
              <a:lnSpc>
                <a:spcPct val="120000"/>
              </a:lnSpc>
              <a:buNone/>
            </a:pPr>
            <a:r>
              <a:rPr lang="en-US" sz="750" b="1" spc="45" kern="0" dirty="0">
                <a:solidFill>
                  <a:srgbClr val="16181B"/>
                </a:solidFill>
                <a:latin typeface="JetBrains Mono" pitchFamily="34" charset="0"/>
                <a:ea typeface="JetBrains Mono" pitchFamily="34" charset="-122"/>
                <a:cs typeface="JetBrains Mono" pitchFamily="34" charset="-120"/>
              </a:rPr>
              <a:t>FIGMA STEP PENDING</a:t>
            </a:r>
            <a:endParaRPr lang="en-US" sz="750" dirty="0"/>
          </a:p>
        </p:txBody>
      </p:sp>
      <p:sp>
        <p:nvSpPr>
          <p:cNvPr id="72" name="Text 69"/>
          <p:cNvSpPr/>
          <p:nvPr/>
        </p:nvSpPr>
        <p:spPr>
          <a:xfrm>
            <a:off x="761970" y="6083320"/>
            <a:ext cx="10668030" cy="228600"/>
          </a:xfrm>
          <a:prstGeom prst="rect">
            <a:avLst/>
          </a:prstGeom>
          <a:noFill/>
          <a:ln/>
        </p:spPr>
        <p:txBody>
          <a:bodyPr wrap="square" lIns="0" tIns="0" rIns="0" bIns="0" rtlCol="0" anchor="t"/>
          <a:lstStyle/>
          <a:p>
            <a:pPr algn="l" indent="0" marL="0">
              <a:lnSpc>
                <a:spcPct val="140000"/>
              </a:lnSpc>
              <a:buNone/>
            </a:pPr>
            <a:r>
              <a:rPr lang="en-US" sz="1100" dirty="0">
                <a:solidFill>
                  <a:srgbClr val="4A4E55"/>
                </a:solidFill>
                <a:latin typeface="Inter" pitchFamily="34" charset="0"/>
                <a:ea typeface="Inter" pitchFamily="34" charset="-122"/>
                <a:cs typeface="Inter" pitchFamily="34" charset="-120"/>
              </a:rPr>
              <a:t>Honest order: no Figma was used Friday or Saturday morning. The Figma files are generated from the repo, and the log says so.</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THE FIGMA STEP</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15 / 21</a:t>
            </a:r>
            <a:endParaRPr lang="en-US" sz="900" dirty="0"/>
          </a:p>
        </p:txBody>
      </p:sp>
      <p:sp>
        <p:nvSpPr>
          <p:cNvPr id="8" name="Shape 6"/>
          <p:cNvSpPr/>
          <p:nvPr/>
        </p:nvSpPr>
        <p:spPr>
          <a:xfrm>
            <a:off x="761970" y="6413510"/>
            <a:ext cx="10668030" cy="12710"/>
          </a:xfrm>
          <a:prstGeom prst="rect">
            <a:avLst/>
          </a:prstGeom>
          <a:solidFill>
            <a:srgbClr val="16181B">
              <a:alpha val="10000"/>
            </a:srgbClr>
          </a:solidFill>
          <a:ln/>
        </p:spPr>
      </p:sp>
      <p:sp>
        <p:nvSpPr>
          <p:cNvPr id="9" name="Text 6"/>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0" name="Title"/>
          <p:cNvSpPr/>
          <p:nvPr/>
        </p:nvSpPr>
        <p:spPr>
          <a:xfrm>
            <a:off x="761970" y="952530"/>
            <a:ext cx="9525030" cy="527060"/>
          </a:xfrm>
          <a:prstGeom prst="rect">
            <a:avLst/>
          </a:prstGeom>
          <a:noFill/>
          <a:ln/>
        </p:spPr>
        <p:txBody>
          <a:bodyPr wrap="square" lIns="0" tIns="0" rIns="0" bIns="0" rtlCol="0" anchor="t"/>
          <a:lstStyle/>
          <a:p>
            <a:pPr algn="l" indent="0" marL="0">
              <a:lnSpc>
                <a:spcPct val="100000"/>
              </a:lnSpc>
              <a:buNone/>
            </a:pPr>
            <a:r>
              <a:rPr lang="en-US" sz="3432" spc="-51" kern="0" dirty="0">
                <a:solidFill>
                  <a:srgbClr val="16181B"/>
                </a:solidFill>
                <a:latin typeface="Instrument Serif" pitchFamily="34" charset="0"/>
                <a:ea typeface="Instrument Serif" pitchFamily="34" charset="-122"/>
                <a:cs typeface="Instrument Serif" pitchFamily="34" charset="-120"/>
              </a:rPr>
              <a:t>This deck was </a:t>
            </a:r>
            <a:pPr algn="l" indent="0" marL="0">
              <a:lnSpc>
                <a:spcPct val="100000"/>
              </a:lnSpc>
              <a:buNone/>
            </a:pPr>
            <a:r>
              <a:rPr lang="en-US" sz="3432" i="1" spc="-51" kern="0" dirty="0">
                <a:solidFill>
                  <a:srgbClr val="16181B"/>
                </a:solidFill>
                <a:latin typeface="Instrument Serif" pitchFamily="34" charset="0"/>
                <a:ea typeface="Instrument Serif" pitchFamily="34" charset="-122"/>
                <a:cs typeface="Instrument Serif" pitchFamily="34" charset="-120"/>
              </a:rPr>
              <a:t>generated from the repo.</a:t>
            </a:r>
            <a:endParaRPr lang="en-US" sz="3432" dirty="0"/>
          </a:p>
        </p:txBody>
      </p:sp>
      <p:sp>
        <p:nvSpPr>
          <p:cNvPr id="11" name="Shape 9"/>
          <p:cNvSpPr/>
          <p:nvPr/>
        </p:nvSpPr>
        <p:spPr>
          <a:xfrm>
            <a:off x="761970" y="2508291"/>
            <a:ext cx="1460480" cy="952530"/>
          </a:xfrm>
          <a:prstGeom prst="roundRect">
            <a:avLst>
              <a:gd name="adj" fmla="val 14668"/>
            </a:avLst>
          </a:prstGeom>
          <a:solidFill>
            <a:srgbClr val="FFFFFF"/>
          </a:solidFill>
          <a:ln w="12700">
            <a:solidFill>
              <a:srgbClr val="16181B">
                <a:alpha val="10000"/>
              </a:srgbClr>
            </a:solidFill>
            <a:prstDash val="solid"/>
          </a:ln>
        </p:spPr>
      </p:sp>
      <p:sp>
        <p:nvSpPr>
          <p:cNvPr id="12" name="Text 9"/>
          <p:cNvSpPr/>
          <p:nvPr/>
        </p:nvSpPr>
        <p:spPr>
          <a:xfrm>
            <a:off x="914400" y="2647920"/>
            <a:ext cx="1155710" cy="203180"/>
          </a:xfrm>
          <a:prstGeom prst="rect">
            <a:avLst/>
          </a:prstGeom>
          <a:noFill/>
          <a:ln/>
        </p:spPr>
        <p:txBody>
          <a:bodyPr wrap="square" lIns="0" tIns="0" rIns="0" bIns="0" rtlCol="0" anchor="t"/>
          <a:lstStyle/>
          <a:p>
            <a:pPr algn="l" indent="0" marL="0">
              <a:lnSpc>
                <a:spcPct val="130000"/>
              </a:lnSpc>
              <a:buNone/>
            </a:pPr>
            <a:r>
              <a:rPr lang="en-US" sz="1050" b="1" dirty="0">
                <a:solidFill>
                  <a:srgbClr val="16181B"/>
                </a:solidFill>
                <a:latin typeface="JetBrains Mono" pitchFamily="34" charset="0"/>
                <a:ea typeface="JetBrains Mono" pitchFamily="34" charset="-122"/>
                <a:cs typeface="JetBrains Mono" pitchFamily="34" charset="-120"/>
              </a:rPr>
              <a:t>repo</a:t>
            </a:r>
            <a:endParaRPr lang="en-US" sz="1050" dirty="0"/>
          </a:p>
        </p:txBody>
      </p:sp>
      <p:sp>
        <p:nvSpPr>
          <p:cNvPr id="13" name="Text 10"/>
          <p:cNvSpPr/>
          <p:nvPr/>
        </p:nvSpPr>
        <p:spPr>
          <a:xfrm>
            <a:off x="914400" y="2876520"/>
            <a:ext cx="1155710" cy="476220"/>
          </a:xfrm>
          <a:prstGeom prst="rect">
            <a:avLst/>
          </a:prstGeom>
          <a:noFill/>
          <a:ln/>
        </p:spPr>
        <p:txBody>
          <a:bodyPr wrap="square" lIns="0" tIns="0" rIns="0" bIns="0" rtlCol="0" anchor="t"/>
          <a:lstStyle/>
          <a:p>
            <a:pPr algn="l" indent="0" marL="0">
              <a:lnSpc>
                <a:spcPct val="140000"/>
              </a:lnSpc>
              <a:buNone/>
            </a:pPr>
            <a:r>
              <a:rPr lang="en-US" sz="850" dirty="0">
                <a:solidFill>
                  <a:srgbClr val="4A4E55"/>
                </a:solidFill>
                <a:latin typeface="Inter" pitchFamily="34" charset="0"/>
                <a:ea typeface="Inter" pitchFamily="34" charset="-122"/>
                <a:cs typeface="Inter" pitchFamily="34" charset="-120"/>
              </a:rPr>
              <a:t>screenshots · CSS :root · debate JSON · stage log</a:t>
            </a:r>
            <a:endParaRPr lang="en-US" sz="850" dirty="0"/>
          </a:p>
        </p:txBody>
      </p:sp>
      <p:sp>
        <p:nvSpPr>
          <p:cNvPr id="14" name="Shape 12"/>
          <p:cNvSpPr/>
          <p:nvPr/>
        </p:nvSpPr>
        <p:spPr>
          <a:xfrm>
            <a:off x="2603480" y="2508291"/>
            <a:ext cx="1587490" cy="952530"/>
          </a:xfrm>
          <a:prstGeom prst="roundRect">
            <a:avLst>
              <a:gd name="adj" fmla="val 14668"/>
            </a:avLst>
          </a:prstGeom>
          <a:solidFill>
            <a:srgbClr val="FFFFFF"/>
          </a:solidFill>
          <a:ln w="12700">
            <a:solidFill>
              <a:srgbClr val="16181B">
                <a:alpha val="10000"/>
              </a:srgbClr>
            </a:solidFill>
            <a:prstDash val="solid"/>
          </a:ln>
        </p:spPr>
      </p:sp>
      <p:sp>
        <p:nvSpPr>
          <p:cNvPr id="15" name="Text 12"/>
          <p:cNvSpPr/>
          <p:nvPr/>
        </p:nvSpPr>
        <p:spPr>
          <a:xfrm>
            <a:off x="2755910" y="2647920"/>
            <a:ext cx="1282720" cy="203180"/>
          </a:xfrm>
          <a:prstGeom prst="rect">
            <a:avLst/>
          </a:prstGeom>
          <a:noFill/>
          <a:ln/>
        </p:spPr>
        <p:txBody>
          <a:bodyPr wrap="square" lIns="0" tIns="0" rIns="0" bIns="0" rtlCol="0" anchor="t"/>
          <a:lstStyle/>
          <a:p>
            <a:pPr algn="l" indent="0" marL="0">
              <a:lnSpc>
                <a:spcPct val="130000"/>
              </a:lnSpc>
              <a:buNone/>
            </a:pPr>
            <a:r>
              <a:rPr lang="en-US" sz="1050" b="1" dirty="0">
                <a:solidFill>
                  <a:srgbClr val="16181B"/>
                </a:solidFill>
                <a:latin typeface="JetBrains Mono" pitchFamily="34" charset="0"/>
                <a:ea typeface="JetBrains Mono" pitchFamily="34" charset="-122"/>
                <a:cs typeface="JetBrains Mono" pitchFamily="34" charset="-120"/>
              </a:rPr>
              <a:t>build-deck.mjs</a:t>
            </a:r>
            <a:endParaRPr lang="en-US" sz="1050" dirty="0"/>
          </a:p>
        </p:txBody>
      </p:sp>
      <p:sp>
        <p:nvSpPr>
          <p:cNvPr id="16" name="Text 13"/>
          <p:cNvSpPr/>
          <p:nvPr/>
        </p:nvSpPr>
        <p:spPr>
          <a:xfrm>
            <a:off x="2755910" y="2876520"/>
            <a:ext cx="1282720" cy="323880"/>
          </a:xfrm>
          <a:prstGeom prst="rect">
            <a:avLst/>
          </a:prstGeom>
          <a:noFill/>
          <a:ln/>
        </p:spPr>
        <p:txBody>
          <a:bodyPr wrap="square" lIns="0" tIns="0" rIns="0" bIns="0" rtlCol="0" anchor="t"/>
          <a:lstStyle/>
          <a:p>
            <a:pPr algn="l" indent="0" marL="0">
              <a:lnSpc>
                <a:spcPct val="140000"/>
              </a:lnSpc>
              <a:buNone/>
            </a:pPr>
            <a:r>
              <a:rPr lang="en-US" sz="850" dirty="0">
                <a:solidFill>
                  <a:srgbClr val="4A4E55"/>
                </a:solidFill>
                <a:latin typeface="Inter" pitchFamily="34" charset="0"/>
                <a:ea typeface="Inter" pitchFamily="34" charset="-122"/>
                <a:cs typeface="Inter" pitchFamily="34" charset="-120"/>
              </a:rPr>
              <a:t>Node, no npm deps; ffmpeg for images</a:t>
            </a:r>
            <a:endParaRPr lang="en-US" sz="850" dirty="0"/>
          </a:p>
        </p:txBody>
      </p:sp>
      <p:sp>
        <p:nvSpPr>
          <p:cNvPr id="17" name="Shape 15"/>
          <p:cNvSpPr/>
          <p:nvPr/>
        </p:nvSpPr>
        <p:spPr>
          <a:xfrm>
            <a:off x="4572000" y="2508291"/>
            <a:ext cx="1460480" cy="952530"/>
          </a:xfrm>
          <a:prstGeom prst="roundRect">
            <a:avLst>
              <a:gd name="adj" fmla="val 14668"/>
            </a:avLst>
          </a:prstGeom>
          <a:solidFill>
            <a:srgbClr val="FFFFFF"/>
          </a:solidFill>
          <a:ln w="12700">
            <a:solidFill>
              <a:srgbClr val="16181B">
                <a:alpha val="10000"/>
              </a:srgbClr>
            </a:solidFill>
            <a:prstDash val="solid"/>
          </a:ln>
        </p:spPr>
      </p:sp>
      <p:sp>
        <p:nvSpPr>
          <p:cNvPr id="18" name="Text 15"/>
          <p:cNvSpPr/>
          <p:nvPr/>
        </p:nvSpPr>
        <p:spPr>
          <a:xfrm>
            <a:off x="4724430" y="2647920"/>
            <a:ext cx="1155710" cy="203180"/>
          </a:xfrm>
          <a:prstGeom prst="rect">
            <a:avLst/>
          </a:prstGeom>
          <a:noFill/>
          <a:ln/>
        </p:spPr>
        <p:txBody>
          <a:bodyPr wrap="square" lIns="0" tIns="0" rIns="0" bIns="0" rtlCol="0" anchor="t"/>
          <a:lstStyle/>
          <a:p>
            <a:pPr algn="l" indent="0" marL="0">
              <a:lnSpc>
                <a:spcPct val="130000"/>
              </a:lnSpc>
              <a:buNone/>
            </a:pPr>
            <a:r>
              <a:rPr lang="en-US" sz="1050" b="1" dirty="0">
                <a:solidFill>
                  <a:srgbClr val="16181B"/>
                </a:solidFill>
                <a:latin typeface="JetBrains Mono" pitchFamily="34" charset="0"/>
                <a:ea typeface="JetBrains Mono" pitchFamily="34" charset="-122"/>
                <a:cs typeface="JetBrains Mono" pitchFamily="34" charset="-120"/>
              </a:rPr>
              <a:t>deck.json</a:t>
            </a:r>
            <a:endParaRPr lang="en-US" sz="1050" dirty="0"/>
          </a:p>
        </p:txBody>
      </p:sp>
      <p:sp>
        <p:nvSpPr>
          <p:cNvPr id="19" name="Text 16"/>
          <p:cNvSpPr/>
          <p:nvPr/>
        </p:nvSpPr>
        <p:spPr>
          <a:xfrm>
            <a:off x="4724430" y="2876520"/>
            <a:ext cx="1155710" cy="323880"/>
          </a:xfrm>
          <a:prstGeom prst="rect">
            <a:avLst/>
          </a:prstGeom>
          <a:noFill/>
          <a:ln/>
        </p:spPr>
        <p:txBody>
          <a:bodyPr wrap="square" lIns="0" tIns="0" rIns="0" bIns="0" rtlCol="0" anchor="t"/>
          <a:lstStyle/>
          <a:p>
            <a:pPr algn="l" indent="0" marL="0">
              <a:lnSpc>
                <a:spcPct val="140000"/>
              </a:lnSpc>
              <a:buNone/>
            </a:pPr>
            <a:r>
              <a:rPr lang="en-US" sz="850" dirty="0">
                <a:solidFill>
                  <a:srgbClr val="4A4E55"/>
                </a:solidFill>
                <a:latin typeface="Inter" pitchFamily="34" charset="0"/>
                <a:ea typeface="Inter" pitchFamily="34" charset="-122"/>
                <a:cs typeface="Inter" pitchFamily="34" charset="-120"/>
              </a:rPr>
              <a:t>slides, pages and board in one file</a:t>
            </a:r>
            <a:endParaRPr lang="en-US" sz="850" dirty="0"/>
          </a:p>
        </p:txBody>
      </p:sp>
      <p:sp>
        <p:nvSpPr>
          <p:cNvPr id="20" name="Shape 18"/>
          <p:cNvSpPr/>
          <p:nvPr/>
        </p:nvSpPr>
        <p:spPr>
          <a:xfrm>
            <a:off x="6413510" y="2508291"/>
            <a:ext cx="1587490" cy="952530"/>
          </a:xfrm>
          <a:prstGeom prst="roundRect">
            <a:avLst>
              <a:gd name="adj" fmla="val 14668"/>
            </a:avLst>
          </a:prstGeom>
          <a:solidFill>
            <a:srgbClr val="7A5CFF">
              <a:alpha val="10000"/>
            </a:srgbClr>
          </a:solidFill>
          <a:ln w="12700">
            <a:solidFill>
              <a:srgbClr val="7A5CFF">
                <a:alpha val="35000"/>
              </a:srgbClr>
            </a:solidFill>
            <a:prstDash val="solid"/>
          </a:ln>
        </p:spPr>
      </p:sp>
      <p:sp>
        <p:nvSpPr>
          <p:cNvPr id="21" name="Text 18"/>
          <p:cNvSpPr/>
          <p:nvPr/>
        </p:nvSpPr>
        <p:spPr>
          <a:xfrm>
            <a:off x="6565941" y="2647920"/>
            <a:ext cx="1282720" cy="203180"/>
          </a:xfrm>
          <a:prstGeom prst="rect">
            <a:avLst/>
          </a:prstGeom>
          <a:noFill/>
          <a:ln/>
        </p:spPr>
        <p:txBody>
          <a:bodyPr wrap="square" lIns="0" tIns="0" rIns="0" bIns="0" rtlCol="0" anchor="t"/>
          <a:lstStyle/>
          <a:p>
            <a:pPr algn="l" indent="0" marL="0">
              <a:lnSpc>
                <a:spcPct val="130000"/>
              </a:lnSpc>
              <a:buNone/>
            </a:pPr>
            <a:r>
              <a:rPr lang="en-US" sz="1050" b="1" dirty="0">
                <a:solidFill>
                  <a:srgbClr val="16181B"/>
                </a:solidFill>
                <a:latin typeface="JetBrains Mono" pitchFamily="34" charset="0"/>
                <a:ea typeface="JetBrains Mono" pitchFamily="34" charset="-122"/>
                <a:cs typeface="JetBrains Mono" pitchFamily="34" charset="-120"/>
              </a:rPr>
              <a:t>Pill → Figma</a:t>
            </a:r>
            <a:endParaRPr lang="en-US" sz="1050" dirty="0"/>
          </a:p>
        </p:txBody>
      </p:sp>
      <p:sp>
        <p:nvSpPr>
          <p:cNvPr id="22" name="Text 19"/>
          <p:cNvSpPr/>
          <p:nvPr/>
        </p:nvSpPr>
        <p:spPr>
          <a:xfrm>
            <a:off x="6565941" y="2876520"/>
            <a:ext cx="1282720" cy="323880"/>
          </a:xfrm>
          <a:prstGeom prst="rect">
            <a:avLst/>
          </a:prstGeom>
          <a:noFill/>
          <a:ln/>
        </p:spPr>
        <p:txBody>
          <a:bodyPr wrap="square" lIns="0" tIns="0" rIns="0" bIns="0" rtlCol="0" anchor="t"/>
          <a:lstStyle/>
          <a:p>
            <a:pPr algn="l" indent="0" marL="0">
              <a:lnSpc>
                <a:spcPct val="140000"/>
              </a:lnSpc>
              <a:buNone/>
            </a:pPr>
            <a:r>
              <a:rPr lang="en-US" sz="850" dirty="0">
                <a:solidFill>
                  <a:srgbClr val="4A4E55"/>
                </a:solidFill>
                <a:latin typeface="Inter" pitchFamily="34" charset="0"/>
                <a:ea typeface="Inter" pitchFamily="34" charset="-122"/>
                <a:cs typeface="Inter" pitchFamily="34" charset="-120"/>
              </a:rPr>
              <a:t>one-file plugin that draws deck.json</a:t>
            </a:r>
            <a:endParaRPr lang="en-US" sz="850" dirty="0"/>
          </a:p>
        </p:txBody>
      </p:sp>
      <p:sp>
        <p:nvSpPr>
          <p:cNvPr id="23" name="Shape 21"/>
          <p:cNvSpPr/>
          <p:nvPr/>
        </p:nvSpPr>
        <p:spPr>
          <a:xfrm>
            <a:off x="2228850" y="2920959"/>
            <a:ext cx="355610" cy="127010"/>
          </a:xfrm>
          <a:custGeom>
            <a:avLst/>
            <a:gdLst/>
            <a:ahLst/>
            <a:cxnLst/>
            <a:rect l="l" t="t" r="r" b="b"/>
            <a:pathLst>
              <a:path w="355610" h="127010">
                <a:moveTo>
                  <a:pt x="19020" y="63459"/>
                </a:moveTo>
                <a:lnTo>
                  <a:pt x="336591" y="63459"/>
                </a:lnTo>
                <a:moveTo>
                  <a:pt x="258409" y="106070"/>
                </a:moveTo>
                <a:lnTo>
                  <a:pt x="336591" y="63459"/>
                </a:lnTo>
                <a:lnTo>
                  <a:pt x="258409" y="20940"/>
                </a:lnTo>
              </a:path>
            </a:pathLst>
          </a:custGeom>
          <a:ln w="19050">
            <a:solidFill>
              <a:srgbClr val="4FB3FF"/>
            </a:solidFill>
            <a:prstDash val="solid"/>
          </a:ln>
        </p:spPr>
      </p:sp>
      <p:sp>
        <p:nvSpPr>
          <p:cNvPr id="24" name="Shape 22"/>
          <p:cNvSpPr/>
          <p:nvPr/>
        </p:nvSpPr>
        <p:spPr>
          <a:xfrm>
            <a:off x="4197370" y="2920959"/>
            <a:ext cx="355610" cy="127010"/>
          </a:xfrm>
          <a:custGeom>
            <a:avLst/>
            <a:gdLst/>
            <a:ahLst/>
            <a:cxnLst/>
            <a:rect l="l" t="t" r="r" b="b"/>
            <a:pathLst>
              <a:path w="355610" h="127010">
                <a:moveTo>
                  <a:pt x="19020" y="63459"/>
                </a:moveTo>
                <a:lnTo>
                  <a:pt x="336591" y="63459"/>
                </a:lnTo>
                <a:moveTo>
                  <a:pt x="258409" y="106070"/>
                </a:moveTo>
                <a:lnTo>
                  <a:pt x="336591" y="63459"/>
                </a:lnTo>
                <a:lnTo>
                  <a:pt x="258409" y="20940"/>
                </a:lnTo>
              </a:path>
            </a:pathLst>
          </a:custGeom>
          <a:ln w="19050">
            <a:solidFill>
              <a:srgbClr val="4FB3FF"/>
            </a:solidFill>
            <a:prstDash val="solid"/>
          </a:ln>
        </p:spPr>
      </p:sp>
      <p:sp>
        <p:nvSpPr>
          <p:cNvPr id="25" name="Shape 23"/>
          <p:cNvSpPr/>
          <p:nvPr/>
        </p:nvSpPr>
        <p:spPr>
          <a:xfrm>
            <a:off x="6038880" y="2920959"/>
            <a:ext cx="355610" cy="127010"/>
          </a:xfrm>
          <a:custGeom>
            <a:avLst/>
            <a:gdLst/>
            <a:ahLst/>
            <a:cxnLst/>
            <a:rect l="l" t="t" r="r" b="b"/>
            <a:pathLst>
              <a:path w="355610" h="127010">
                <a:moveTo>
                  <a:pt x="19020" y="63459"/>
                </a:moveTo>
                <a:lnTo>
                  <a:pt x="336591" y="63459"/>
                </a:lnTo>
                <a:moveTo>
                  <a:pt x="258409" y="106070"/>
                </a:moveTo>
                <a:lnTo>
                  <a:pt x="336591" y="63459"/>
                </a:lnTo>
                <a:lnTo>
                  <a:pt x="258409" y="20940"/>
                </a:lnTo>
              </a:path>
            </a:pathLst>
          </a:custGeom>
          <a:ln w="19050">
            <a:solidFill>
              <a:srgbClr val="4FB3FF"/>
            </a:solidFill>
            <a:prstDash val="solid"/>
          </a:ln>
        </p:spPr>
      </p:sp>
      <p:sp>
        <p:nvSpPr>
          <p:cNvPr id="26" name="Shape 24"/>
          <p:cNvSpPr/>
          <p:nvPr/>
        </p:nvSpPr>
        <p:spPr>
          <a:xfrm>
            <a:off x="8445490" y="2019270"/>
            <a:ext cx="1397020" cy="533370"/>
          </a:xfrm>
          <a:prstGeom prst="roundRect">
            <a:avLst>
              <a:gd name="adj" fmla="val 21430"/>
            </a:avLst>
          </a:prstGeom>
          <a:solidFill>
            <a:srgbClr val="FFFFFF"/>
          </a:solidFill>
          <a:ln w="12700">
            <a:solidFill>
              <a:srgbClr val="16181B">
                <a:alpha val="10000"/>
              </a:srgbClr>
            </a:solidFill>
            <a:prstDash val="solid"/>
          </a:ln>
        </p:spPr>
      </p:sp>
      <p:sp>
        <p:nvSpPr>
          <p:cNvPr id="27" name="Text 24"/>
          <p:cNvSpPr/>
          <p:nvPr/>
        </p:nvSpPr>
        <p:spPr>
          <a:xfrm>
            <a:off x="8585210" y="2095530"/>
            <a:ext cx="1143000" cy="215890"/>
          </a:xfrm>
          <a:prstGeom prst="rect">
            <a:avLst/>
          </a:prstGeom>
          <a:noFill/>
          <a:ln/>
        </p:spPr>
        <p:txBody>
          <a:bodyPr wrap="square" lIns="0" tIns="0" rIns="0" bIns="0" rtlCol="0" anchor="t"/>
          <a:lstStyle/>
          <a:p>
            <a:pPr algn="l" indent="0" marL="0">
              <a:lnSpc>
                <a:spcPct val="120000"/>
              </a:lnSpc>
              <a:buNone/>
            </a:pPr>
            <a:r>
              <a:rPr lang="en-US" sz="1200" b="1" dirty="0">
                <a:solidFill>
                  <a:srgbClr val="16181B"/>
                </a:solidFill>
                <a:latin typeface="Inter" pitchFamily="34" charset="0"/>
                <a:ea typeface="Inter" pitchFamily="34" charset="-122"/>
                <a:cs typeface="Inter" pitchFamily="34" charset="-120"/>
              </a:rPr>
              <a:t>Slides</a:t>
            </a:r>
            <a:endParaRPr lang="en-US" sz="1200" dirty="0"/>
          </a:p>
        </p:txBody>
      </p:sp>
      <p:sp>
        <p:nvSpPr>
          <p:cNvPr id="28" name="Text 25"/>
          <p:cNvSpPr/>
          <p:nvPr/>
        </p:nvSpPr>
        <p:spPr>
          <a:xfrm>
            <a:off x="8585210" y="2324130"/>
            <a:ext cx="1206459" cy="146030"/>
          </a:xfrm>
          <a:prstGeom prst="rect">
            <a:avLst/>
          </a:prstGeom>
          <a:noFill/>
          <a:ln/>
        </p:spPr>
        <p:txBody>
          <a:bodyPr wrap="square" lIns="0" tIns="0" rIns="0" bIns="0" rtlCol="0" anchor="t"/>
          <a:lstStyle/>
          <a:p>
            <a:pPr algn="l" indent="0" marL="0">
              <a:lnSpc>
                <a:spcPct val="140000"/>
              </a:lnSpc>
              <a:buNone/>
            </a:pPr>
            <a:r>
              <a:rPr lang="en-US" sz="700" dirty="0">
                <a:solidFill>
                  <a:srgbClr val="4A4E55"/>
                </a:solidFill>
                <a:latin typeface="JetBrains Mono" pitchFamily="34" charset="0"/>
                <a:ea typeface="JetBrains Mono" pitchFamily="34" charset="-122"/>
                <a:cs typeface="JetBrains Mono" pitchFamily="34" charset="-120"/>
              </a:rPr>
              <a:t>deck + speaker notes</a:t>
            </a:r>
            <a:endParaRPr lang="en-US" sz="700" dirty="0"/>
          </a:p>
        </p:txBody>
      </p:sp>
      <p:sp>
        <p:nvSpPr>
          <p:cNvPr id="29" name="Shape 27"/>
          <p:cNvSpPr/>
          <p:nvPr/>
        </p:nvSpPr>
        <p:spPr>
          <a:xfrm>
            <a:off x="8013710" y="2273290"/>
            <a:ext cx="412760" cy="723930"/>
          </a:xfrm>
          <a:custGeom>
            <a:avLst/>
            <a:gdLst/>
            <a:ahLst/>
            <a:cxnLst/>
            <a:rect l="l" t="t" r="r" b="b"/>
            <a:pathLst>
              <a:path w="412760" h="723930">
                <a:moveTo>
                  <a:pt x="12710" y="711220"/>
                </a:moveTo>
                <a:lnTo>
                  <a:pt x="393741" y="12710"/>
                </a:lnTo>
                <a:moveTo>
                  <a:pt x="393741" y="76170"/>
                </a:moveTo>
                <a:lnTo>
                  <a:pt x="393741" y="12710"/>
                </a:lnTo>
                <a:lnTo>
                  <a:pt x="340340" y="47000"/>
                </a:lnTo>
              </a:path>
            </a:pathLst>
          </a:custGeom>
          <a:ln w="12700">
            <a:solidFill>
              <a:srgbClr val="7A5CFF"/>
            </a:solidFill>
            <a:prstDash val="solid"/>
          </a:ln>
        </p:spPr>
      </p:sp>
      <p:sp>
        <p:nvSpPr>
          <p:cNvPr id="30" name="Shape 28"/>
          <p:cNvSpPr/>
          <p:nvPr/>
        </p:nvSpPr>
        <p:spPr>
          <a:xfrm>
            <a:off x="9855220" y="2273290"/>
            <a:ext cx="292059" cy="723930"/>
          </a:xfrm>
          <a:custGeom>
            <a:avLst/>
            <a:gdLst/>
            <a:ahLst/>
            <a:cxnLst/>
            <a:rect l="l" t="t" r="r" b="b"/>
            <a:pathLst>
              <a:path w="292059" h="723930">
                <a:moveTo>
                  <a:pt x="12710" y="12710"/>
                </a:moveTo>
                <a:lnTo>
                  <a:pt x="266730" y="711220"/>
                </a:lnTo>
                <a:moveTo>
                  <a:pt x="219090" y="669249"/>
                </a:moveTo>
                <a:lnTo>
                  <a:pt x="266730" y="711220"/>
                </a:lnTo>
                <a:lnTo>
                  <a:pt x="276240" y="648310"/>
                </a:lnTo>
              </a:path>
            </a:pathLst>
          </a:custGeom>
          <a:ln w="12700">
            <a:solidFill>
              <a:srgbClr val="16181B">
                <a:alpha val="18000"/>
              </a:srgbClr>
            </a:solidFill>
            <a:prstDash val="solid"/>
          </a:ln>
        </p:spPr>
      </p:sp>
      <p:sp>
        <p:nvSpPr>
          <p:cNvPr id="31" name="Shape 29"/>
          <p:cNvSpPr/>
          <p:nvPr/>
        </p:nvSpPr>
        <p:spPr>
          <a:xfrm>
            <a:off x="8445490" y="2717780"/>
            <a:ext cx="1397020" cy="533370"/>
          </a:xfrm>
          <a:prstGeom prst="roundRect">
            <a:avLst>
              <a:gd name="adj" fmla="val 21430"/>
            </a:avLst>
          </a:prstGeom>
          <a:solidFill>
            <a:srgbClr val="FFFFFF"/>
          </a:solidFill>
          <a:ln w="12700">
            <a:solidFill>
              <a:srgbClr val="16181B">
                <a:alpha val="10000"/>
              </a:srgbClr>
            </a:solidFill>
            <a:prstDash val="solid"/>
          </a:ln>
        </p:spPr>
      </p:sp>
      <p:sp>
        <p:nvSpPr>
          <p:cNvPr id="32" name="Text 29"/>
          <p:cNvSpPr/>
          <p:nvPr/>
        </p:nvSpPr>
        <p:spPr>
          <a:xfrm>
            <a:off x="8585210" y="2794041"/>
            <a:ext cx="1143000" cy="215890"/>
          </a:xfrm>
          <a:prstGeom prst="rect">
            <a:avLst/>
          </a:prstGeom>
          <a:noFill/>
          <a:ln/>
        </p:spPr>
        <p:txBody>
          <a:bodyPr wrap="square" lIns="0" tIns="0" rIns="0" bIns="0" rtlCol="0" anchor="t"/>
          <a:lstStyle/>
          <a:p>
            <a:pPr algn="l" indent="0" marL="0">
              <a:lnSpc>
                <a:spcPct val="120000"/>
              </a:lnSpc>
              <a:buNone/>
            </a:pPr>
            <a:r>
              <a:rPr lang="en-US" sz="1200" b="1" dirty="0">
                <a:solidFill>
                  <a:srgbClr val="16181B"/>
                </a:solidFill>
                <a:latin typeface="Inter" pitchFamily="34" charset="0"/>
                <a:ea typeface="Inter" pitchFamily="34" charset="-122"/>
                <a:cs typeface="Inter" pitchFamily="34" charset="-120"/>
              </a:rPr>
              <a:t>Design</a:t>
            </a:r>
            <a:endParaRPr lang="en-US" sz="1200" dirty="0"/>
          </a:p>
        </p:txBody>
      </p:sp>
      <p:sp>
        <p:nvSpPr>
          <p:cNvPr id="33" name="Text 30"/>
          <p:cNvSpPr/>
          <p:nvPr/>
        </p:nvSpPr>
        <p:spPr>
          <a:xfrm>
            <a:off x="8585210" y="3022641"/>
            <a:ext cx="1206459" cy="146030"/>
          </a:xfrm>
          <a:prstGeom prst="rect">
            <a:avLst/>
          </a:prstGeom>
          <a:noFill/>
          <a:ln/>
        </p:spPr>
        <p:txBody>
          <a:bodyPr wrap="square" lIns="0" tIns="0" rIns="0" bIns="0" rtlCol="0" anchor="t"/>
          <a:lstStyle/>
          <a:p>
            <a:pPr algn="l" indent="0" marL="0">
              <a:lnSpc>
                <a:spcPct val="140000"/>
              </a:lnSpc>
              <a:buNone/>
            </a:pPr>
            <a:r>
              <a:rPr lang="en-US" sz="700" dirty="0">
                <a:solidFill>
                  <a:srgbClr val="4A4E55"/>
                </a:solidFill>
                <a:latin typeface="JetBrains Mono" pitchFamily="34" charset="0"/>
                <a:ea typeface="JetBrains Mono" pitchFamily="34" charset="-122"/>
                <a:cs typeface="JetBrains Mono" pitchFamily="34" charset="-120"/>
              </a:rPr>
              <a:t>pages + styles</a:t>
            </a:r>
            <a:endParaRPr lang="en-US" sz="700" dirty="0"/>
          </a:p>
        </p:txBody>
      </p:sp>
      <p:sp>
        <p:nvSpPr>
          <p:cNvPr id="34" name="Shape 32"/>
          <p:cNvSpPr/>
          <p:nvPr/>
        </p:nvSpPr>
        <p:spPr>
          <a:xfrm>
            <a:off x="8013710" y="2940070"/>
            <a:ext cx="406359" cy="88880"/>
          </a:xfrm>
          <a:custGeom>
            <a:avLst/>
            <a:gdLst/>
            <a:ahLst/>
            <a:cxnLst/>
            <a:rect l="l" t="t" r="r" b="b"/>
            <a:pathLst>
              <a:path w="406359" h="88880">
                <a:moveTo>
                  <a:pt x="12710" y="44440"/>
                </a:moveTo>
                <a:lnTo>
                  <a:pt x="393741" y="44440"/>
                </a:lnTo>
                <a:moveTo>
                  <a:pt x="337779" y="74889"/>
                </a:moveTo>
                <a:lnTo>
                  <a:pt x="393741" y="44440"/>
                </a:lnTo>
                <a:lnTo>
                  <a:pt x="337779" y="13990"/>
                </a:lnTo>
              </a:path>
            </a:pathLst>
          </a:custGeom>
          <a:ln w="12700">
            <a:solidFill>
              <a:srgbClr val="7A5CFF"/>
            </a:solidFill>
            <a:prstDash val="solid"/>
          </a:ln>
        </p:spPr>
      </p:sp>
      <p:sp>
        <p:nvSpPr>
          <p:cNvPr id="35" name="Shape 33"/>
          <p:cNvSpPr/>
          <p:nvPr/>
        </p:nvSpPr>
        <p:spPr>
          <a:xfrm>
            <a:off x="9855220" y="2940070"/>
            <a:ext cx="279441" cy="88880"/>
          </a:xfrm>
          <a:custGeom>
            <a:avLst/>
            <a:gdLst/>
            <a:ahLst/>
            <a:cxnLst/>
            <a:rect l="l" t="t" r="r" b="b"/>
            <a:pathLst>
              <a:path w="279441" h="88880">
                <a:moveTo>
                  <a:pt x="12710" y="44440"/>
                </a:moveTo>
                <a:lnTo>
                  <a:pt x="266730" y="44440"/>
                </a:lnTo>
                <a:moveTo>
                  <a:pt x="210861" y="74889"/>
                </a:moveTo>
                <a:lnTo>
                  <a:pt x="266730" y="44440"/>
                </a:lnTo>
                <a:lnTo>
                  <a:pt x="210861" y="13990"/>
                </a:lnTo>
              </a:path>
            </a:pathLst>
          </a:custGeom>
          <a:ln w="12700">
            <a:solidFill>
              <a:srgbClr val="16181B">
                <a:alpha val="18000"/>
              </a:srgbClr>
            </a:solidFill>
            <a:prstDash val="solid"/>
          </a:ln>
        </p:spPr>
      </p:sp>
      <p:sp>
        <p:nvSpPr>
          <p:cNvPr id="36" name="Shape 34"/>
          <p:cNvSpPr/>
          <p:nvPr/>
        </p:nvSpPr>
        <p:spPr>
          <a:xfrm>
            <a:off x="8445490" y="3416290"/>
            <a:ext cx="1397020" cy="533370"/>
          </a:xfrm>
          <a:prstGeom prst="roundRect">
            <a:avLst>
              <a:gd name="adj" fmla="val 21430"/>
            </a:avLst>
          </a:prstGeom>
          <a:solidFill>
            <a:srgbClr val="FFFFFF"/>
          </a:solidFill>
          <a:ln w="12700">
            <a:solidFill>
              <a:srgbClr val="16181B">
                <a:alpha val="10000"/>
              </a:srgbClr>
            </a:solidFill>
            <a:prstDash val="solid"/>
          </a:ln>
        </p:spPr>
      </p:sp>
      <p:sp>
        <p:nvSpPr>
          <p:cNvPr id="37" name="Text 34"/>
          <p:cNvSpPr/>
          <p:nvPr/>
        </p:nvSpPr>
        <p:spPr>
          <a:xfrm>
            <a:off x="8585210" y="3492459"/>
            <a:ext cx="1143000" cy="215890"/>
          </a:xfrm>
          <a:prstGeom prst="rect">
            <a:avLst/>
          </a:prstGeom>
          <a:noFill/>
          <a:ln/>
        </p:spPr>
        <p:txBody>
          <a:bodyPr wrap="square" lIns="0" tIns="0" rIns="0" bIns="0" rtlCol="0" anchor="t"/>
          <a:lstStyle/>
          <a:p>
            <a:pPr algn="l" indent="0" marL="0">
              <a:lnSpc>
                <a:spcPct val="120000"/>
              </a:lnSpc>
              <a:buNone/>
            </a:pPr>
            <a:r>
              <a:rPr lang="en-US" sz="1200" b="1" dirty="0">
                <a:solidFill>
                  <a:srgbClr val="16181B"/>
                </a:solidFill>
                <a:latin typeface="Inter" pitchFamily="34" charset="0"/>
                <a:ea typeface="Inter" pitchFamily="34" charset="-122"/>
                <a:cs typeface="Inter" pitchFamily="34" charset="-120"/>
              </a:rPr>
              <a:t>FigJam</a:t>
            </a:r>
            <a:endParaRPr lang="en-US" sz="1200" dirty="0"/>
          </a:p>
        </p:txBody>
      </p:sp>
      <p:sp>
        <p:nvSpPr>
          <p:cNvPr id="38" name="Text 35"/>
          <p:cNvSpPr/>
          <p:nvPr/>
        </p:nvSpPr>
        <p:spPr>
          <a:xfrm>
            <a:off x="8585210" y="3721059"/>
            <a:ext cx="1206459" cy="146030"/>
          </a:xfrm>
          <a:prstGeom prst="rect">
            <a:avLst/>
          </a:prstGeom>
          <a:noFill/>
          <a:ln/>
        </p:spPr>
        <p:txBody>
          <a:bodyPr wrap="square" lIns="0" tIns="0" rIns="0" bIns="0" rtlCol="0" anchor="t"/>
          <a:lstStyle/>
          <a:p>
            <a:pPr algn="l" indent="0" marL="0">
              <a:lnSpc>
                <a:spcPct val="140000"/>
              </a:lnSpc>
              <a:buNone/>
            </a:pPr>
            <a:r>
              <a:rPr lang="en-US" sz="700" dirty="0">
                <a:solidFill>
                  <a:srgbClr val="4A4E55"/>
                </a:solidFill>
                <a:latin typeface="JetBrains Mono" pitchFamily="34" charset="0"/>
                <a:ea typeface="JetBrains Mono" pitchFamily="34" charset="-122"/>
                <a:cs typeface="JetBrains Mono" pitchFamily="34" charset="-120"/>
              </a:rPr>
              <a:t>the ideation board</a:t>
            </a:r>
            <a:endParaRPr lang="en-US" sz="700" dirty="0"/>
          </a:p>
        </p:txBody>
      </p:sp>
      <p:sp>
        <p:nvSpPr>
          <p:cNvPr id="39" name="Shape 37"/>
          <p:cNvSpPr/>
          <p:nvPr/>
        </p:nvSpPr>
        <p:spPr>
          <a:xfrm>
            <a:off x="8013710" y="2971800"/>
            <a:ext cx="412760" cy="723930"/>
          </a:xfrm>
          <a:custGeom>
            <a:avLst/>
            <a:gdLst/>
            <a:ahLst/>
            <a:cxnLst/>
            <a:rect l="l" t="t" r="r" b="b"/>
            <a:pathLst>
              <a:path w="412760" h="723930">
                <a:moveTo>
                  <a:pt x="12710" y="12710"/>
                </a:moveTo>
                <a:lnTo>
                  <a:pt x="393741" y="711220"/>
                </a:lnTo>
                <a:moveTo>
                  <a:pt x="340340" y="676930"/>
                </a:moveTo>
                <a:lnTo>
                  <a:pt x="393741" y="711220"/>
                </a:lnTo>
                <a:lnTo>
                  <a:pt x="393741" y="647670"/>
                </a:lnTo>
              </a:path>
            </a:pathLst>
          </a:custGeom>
          <a:ln w="12700">
            <a:solidFill>
              <a:srgbClr val="7A5CFF"/>
            </a:solidFill>
            <a:prstDash val="solid"/>
          </a:ln>
        </p:spPr>
      </p:sp>
      <p:sp>
        <p:nvSpPr>
          <p:cNvPr id="40" name="Shape 38"/>
          <p:cNvSpPr/>
          <p:nvPr/>
        </p:nvSpPr>
        <p:spPr>
          <a:xfrm>
            <a:off x="9855220" y="2971800"/>
            <a:ext cx="292059" cy="723930"/>
          </a:xfrm>
          <a:custGeom>
            <a:avLst/>
            <a:gdLst/>
            <a:ahLst/>
            <a:cxnLst/>
            <a:rect l="l" t="t" r="r" b="b"/>
            <a:pathLst>
              <a:path w="292059" h="723930">
                <a:moveTo>
                  <a:pt x="12710" y="711220"/>
                </a:moveTo>
                <a:lnTo>
                  <a:pt x="266730" y="12710"/>
                </a:lnTo>
                <a:moveTo>
                  <a:pt x="276240" y="75529"/>
                </a:moveTo>
                <a:lnTo>
                  <a:pt x="266730" y="12710"/>
                </a:lnTo>
                <a:lnTo>
                  <a:pt x="219090" y="54590"/>
                </a:lnTo>
              </a:path>
            </a:pathLst>
          </a:custGeom>
          <a:ln w="12700">
            <a:solidFill>
              <a:srgbClr val="16181B">
                <a:alpha val="18000"/>
              </a:srgbClr>
            </a:solidFill>
            <a:prstDash val="solid"/>
          </a:ln>
        </p:spPr>
      </p:sp>
      <p:sp>
        <p:nvSpPr>
          <p:cNvPr id="41" name="Shape 39"/>
          <p:cNvSpPr/>
          <p:nvPr/>
        </p:nvSpPr>
        <p:spPr>
          <a:xfrm>
            <a:off x="10159990" y="2508291"/>
            <a:ext cx="1270010" cy="952530"/>
          </a:xfrm>
          <a:prstGeom prst="roundRect">
            <a:avLst>
              <a:gd name="adj" fmla="val 14668"/>
            </a:avLst>
          </a:prstGeom>
          <a:solidFill>
            <a:srgbClr val="FFFFFF"/>
          </a:solidFill>
          <a:ln w="12700">
            <a:solidFill>
              <a:srgbClr val="16181B">
                <a:alpha val="10000"/>
              </a:srgbClr>
            </a:solidFill>
            <a:prstDash val="solid"/>
          </a:ln>
        </p:spPr>
      </p:sp>
      <p:sp>
        <p:nvSpPr>
          <p:cNvPr id="42" name="Text 39"/>
          <p:cNvSpPr/>
          <p:nvPr/>
        </p:nvSpPr>
        <p:spPr>
          <a:xfrm>
            <a:off x="10312420" y="2647920"/>
            <a:ext cx="965241" cy="203180"/>
          </a:xfrm>
          <a:prstGeom prst="rect">
            <a:avLst/>
          </a:prstGeom>
          <a:noFill/>
          <a:ln/>
        </p:spPr>
        <p:txBody>
          <a:bodyPr wrap="square" lIns="0" tIns="0" rIns="0" bIns="0" rtlCol="0" anchor="t"/>
          <a:lstStyle/>
          <a:p>
            <a:pPr algn="l" indent="0" marL="0">
              <a:lnSpc>
                <a:spcPct val="130000"/>
              </a:lnSpc>
              <a:buNone/>
            </a:pPr>
            <a:r>
              <a:rPr lang="en-US" sz="1050" b="1" dirty="0">
                <a:solidFill>
                  <a:srgbClr val="16181B"/>
                </a:solidFill>
                <a:latin typeface="JetBrains Mono" pitchFamily="34" charset="0"/>
                <a:ea typeface="JetBrains Mono" pitchFamily="34" charset="-122"/>
                <a:cs typeface="JetBrains Mono" pitchFamily="34" charset="-120"/>
              </a:rPr>
              <a:t>Composio</a:t>
            </a:r>
            <a:endParaRPr lang="en-US" sz="1050" dirty="0"/>
          </a:p>
        </p:txBody>
      </p:sp>
      <p:sp>
        <p:nvSpPr>
          <p:cNvPr id="43" name="Text 40"/>
          <p:cNvSpPr/>
          <p:nvPr/>
        </p:nvSpPr>
        <p:spPr>
          <a:xfrm>
            <a:off x="10312420" y="2876520"/>
            <a:ext cx="965241" cy="476220"/>
          </a:xfrm>
          <a:prstGeom prst="rect">
            <a:avLst/>
          </a:prstGeom>
          <a:noFill/>
          <a:ln/>
        </p:spPr>
        <p:txBody>
          <a:bodyPr wrap="square" lIns="0" tIns="0" rIns="0" bIns="0" rtlCol="0" anchor="t"/>
          <a:lstStyle/>
          <a:p>
            <a:pPr algn="l" indent="0" marL="0">
              <a:lnSpc>
                <a:spcPct val="140000"/>
              </a:lnSpc>
              <a:buNone/>
            </a:pPr>
            <a:r>
              <a:rPr lang="en-US" sz="850" dirty="0">
                <a:solidFill>
                  <a:srgbClr val="4A4E55"/>
                </a:solidFill>
                <a:latin typeface="Inter" pitchFamily="34" charset="0"/>
                <a:ea typeface="Inter" pitchFamily="34" charset="-122"/>
                <a:cs typeface="Inter" pitchFamily="34" charset="-120"/>
              </a:rPr>
              <a:t>comments, thumbnails, tokens</a:t>
            </a:r>
            <a:endParaRPr lang="en-US" sz="850" dirty="0"/>
          </a:p>
        </p:txBody>
      </p:sp>
      <p:sp>
        <p:nvSpPr>
          <p:cNvPr id="44" name="Shape 42"/>
          <p:cNvSpPr/>
          <p:nvPr/>
        </p:nvSpPr>
        <p:spPr>
          <a:xfrm>
            <a:off x="10159990" y="4063959"/>
            <a:ext cx="1270010" cy="698510"/>
          </a:xfrm>
          <a:prstGeom prst="roundRect">
            <a:avLst>
              <a:gd name="adj" fmla="val 20003"/>
            </a:avLst>
          </a:prstGeom>
          <a:solidFill>
            <a:srgbClr val="FFFFFF"/>
          </a:solidFill>
          <a:ln w="12700">
            <a:solidFill>
              <a:srgbClr val="16181B">
                <a:alpha val="10000"/>
              </a:srgbClr>
            </a:solidFill>
            <a:prstDash val="solid"/>
          </a:ln>
        </p:spPr>
      </p:sp>
      <p:sp>
        <p:nvSpPr>
          <p:cNvPr id="45" name="Text 42"/>
          <p:cNvSpPr/>
          <p:nvPr/>
        </p:nvSpPr>
        <p:spPr>
          <a:xfrm>
            <a:off x="10312420" y="4203680"/>
            <a:ext cx="965241" cy="203180"/>
          </a:xfrm>
          <a:prstGeom prst="rect">
            <a:avLst/>
          </a:prstGeom>
          <a:noFill/>
          <a:ln/>
        </p:spPr>
        <p:txBody>
          <a:bodyPr wrap="square" lIns="0" tIns="0" rIns="0" bIns="0" rtlCol="0" anchor="t"/>
          <a:lstStyle/>
          <a:p>
            <a:pPr algn="l" indent="0" marL="0">
              <a:lnSpc>
                <a:spcPct val="130000"/>
              </a:lnSpc>
              <a:buNone/>
            </a:pPr>
            <a:r>
              <a:rPr lang="en-US" sz="1050" b="1" dirty="0">
                <a:solidFill>
                  <a:srgbClr val="16181B"/>
                </a:solidFill>
                <a:latin typeface="JetBrains Mono" pitchFamily="34" charset="0"/>
                <a:ea typeface="JetBrains Mono" pitchFamily="34" charset="-122"/>
                <a:cs typeface="JetBrains Mono" pitchFamily="34" charset="-120"/>
              </a:rPr>
              <a:t>CSS</a:t>
            </a:r>
            <a:endParaRPr lang="en-US" sz="1050" dirty="0"/>
          </a:p>
        </p:txBody>
      </p:sp>
      <p:sp>
        <p:nvSpPr>
          <p:cNvPr id="46" name="Text 43"/>
          <p:cNvSpPr/>
          <p:nvPr/>
        </p:nvSpPr>
        <p:spPr>
          <a:xfrm>
            <a:off x="10312420" y="4432280"/>
            <a:ext cx="965241" cy="177759"/>
          </a:xfrm>
          <a:prstGeom prst="rect">
            <a:avLst/>
          </a:prstGeom>
          <a:noFill/>
          <a:ln/>
        </p:spPr>
        <p:txBody>
          <a:bodyPr wrap="square" lIns="0" tIns="0" rIns="0" bIns="0" rtlCol="0" anchor="t"/>
          <a:lstStyle/>
          <a:p>
            <a:pPr algn="l" indent="0" marL="0">
              <a:lnSpc>
                <a:spcPct val="140000"/>
              </a:lnSpc>
              <a:buNone/>
            </a:pPr>
            <a:r>
              <a:rPr lang="en-US" sz="850" dirty="0">
                <a:solidFill>
                  <a:srgbClr val="4A4E55"/>
                </a:solidFill>
                <a:latin typeface="Inter" pitchFamily="34" charset="0"/>
                <a:ea typeface="Inter" pitchFamily="34" charset="-122"/>
                <a:cs typeface="Inter" pitchFamily="34" charset="-120"/>
              </a:rPr>
              <a:t>tokens-from-figma.mjs</a:t>
            </a:r>
            <a:endParaRPr lang="en-US" sz="850" dirty="0"/>
          </a:p>
        </p:txBody>
      </p:sp>
      <p:sp>
        <p:nvSpPr>
          <p:cNvPr id="47" name="Shape 45"/>
          <p:cNvSpPr/>
          <p:nvPr/>
        </p:nvSpPr>
        <p:spPr>
          <a:xfrm>
            <a:off x="10731490" y="3467130"/>
            <a:ext cx="127010" cy="577809"/>
          </a:xfrm>
          <a:custGeom>
            <a:avLst/>
            <a:gdLst/>
            <a:ahLst/>
            <a:cxnLst/>
            <a:rect l="l" t="t" r="r" b="b"/>
            <a:pathLst>
              <a:path w="127010" h="577809">
                <a:moveTo>
                  <a:pt x="63459" y="19020"/>
                </a:moveTo>
                <a:lnTo>
                  <a:pt x="63459" y="558790"/>
                </a:lnTo>
                <a:moveTo>
                  <a:pt x="20940" y="480700"/>
                </a:moveTo>
                <a:lnTo>
                  <a:pt x="63459" y="558790"/>
                </a:lnTo>
                <a:lnTo>
                  <a:pt x="106070" y="480700"/>
                </a:lnTo>
              </a:path>
            </a:pathLst>
          </a:custGeom>
          <a:ln w="19050">
            <a:solidFill>
              <a:srgbClr val="5FD39A"/>
            </a:solidFill>
            <a:prstDash val="solid"/>
          </a:ln>
        </p:spPr>
      </p:sp>
      <p:sp>
        <p:nvSpPr>
          <p:cNvPr id="48" name="Shape 46"/>
          <p:cNvSpPr/>
          <p:nvPr/>
        </p:nvSpPr>
        <p:spPr>
          <a:xfrm>
            <a:off x="1428750" y="3479841"/>
            <a:ext cx="8712220" cy="952530"/>
          </a:xfrm>
          <a:custGeom>
            <a:avLst/>
            <a:gdLst/>
            <a:ahLst/>
            <a:cxnLst/>
            <a:rect l="l" t="t" r="r" b="b"/>
            <a:pathLst>
              <a:path w="8712220" h="952530">
                <a:moveTo>
                  <a:pt x="8693109" y="933420"/>
                </a:moveTo>
                <a:lnTo>
                  <a:pt x="63459" y="933420"/>
                </a:lnTo>
                <a:lnTo>
                  <a:pt x="63459" y="19020"/>
                </a:lnTo>
                <a:moveTo>
                  <a:pt x="106070" y="97201"/>
                </a:moveTo>
                <a:lnTo>
                  <a:pt x="63459" y="19020"/>
                </a:lnTo>
                <a:lnTo>
                  <a:pt x="20940" y="97201"/>
                </a:lnTo>
              </a:path>
            </a:pathLst>
          </a:custGeom>
          <a:ln w="19050">
            <a:solidFill>
              <a:srgbClr val="5FD39A"/>
            </a:solidFill>
            <a:prstDash val="dash"/>
          </a:ln>
        </p:spPr>
      </p:sp>
      <p:sp>
        <p:nvSpPr>
          <p:cNvPr id="49" name="Text 46"/>
          <p:cNvSpPr/>
          <p:nvPr/>
        </p:nvSpPr>
        <p:spPr>
          <a:xfrm>
            <a:off x="1777959" y="4495830"/>
            <a:ext cx="8255020" cy="177759"/>
          </a:xfrm>
          <a:prstGeom prst="rect">
            <a:avLst/>
          </a:prstGeom>
          <a:noFill/>
          <a:ln/>
        </p:spPr>
        <p:txBody>
          <a:bodyPr wrap="square" lIns="0" tIns="0" rIns="0" bIns="0" rtlCol="0" anchor="t"/>
          <a:lstStyle/>
          <a:p>
            <a:pPr algn="l" indent="0" marL="0">
              <a:lnSpc>
                <a:spcPct val="140000"/>
              </a:lnSpc>
              <a:buNone/>
            </a:pPr>
            <a:r>
              <a:rPr lang="en-US" sz="850" dirty="0">
                <a:solidFill>
                  <a:srgbClr val="4A4E55"/>
                </a:solidFill>
                <a:latin typeface="JetBrains Mono" pitchFamily="34" charset="0"/>
                <a:ea typeface="JetBrains Mono" pitchFamily="34" charset="-122"/>
                <a:cs typeface="JetBrains Mono" pitchFamily="34" charset="-120"/>
              </a:rPr>
              <a:t>the loop: Figma styles and variables → Composio → CSS back in the repo</a:t>
            </a:r>
            <a:endParaRPr lang="en-US" sz="850" dirty="0"/>
          </a:p>
        </p:txBody>
      </p:sp>
      <p:sp>
        <p:nvSpPr>
          <p:cNvPr id="50" name="Text 47"/>
          <p:cNvSpPr/>
          <p:nvPr/>
        </p:nvSpPr>
        <p:spPr>
          <a:xfrm>
            <a:off x="761970" y="5016490"/>
            <a:ext cx="10668030" cy="533370"/>
          </a:xfrm>
          <a:prstGeom prst="rect">
            <a:avLst/>
          </a:prstGeom>
          <a:noFill/>
          <a:ln/>
        </p:spPr>
        <p:txBody>
          <a:bodyPr wrap="square" lIns="0" tIns="0" rIns="0" bIns="0" rtlCol="0" anchor="t"/>
          <a:lstStyle/>
          <a:p>
            <a:pPr algn="l" indent="0" marL="0">
              <a:lnSpc>
                <a:spcPct val="145000"/>
              </a:lnSpc>
              <a:buNone/>
            </a:pPr>
            <a:r>
              <a:rPr lang="en-US" sz="1350" dirty="0">
                <a:solidFill>
                  <a:srgbClr val="16181B"/>
                </a:solidFill>
                <a:latin typeface="Inter" pitchFamily="34" charset="0"/>
                <a:ea typeface="Inter" pitchFamily="34" charset="-122"/>
                <a:cs typeface="Inter" pitchFamily="34" charset="-120"/>
              </a:rPr>
              <a:t>Recipe for code-first teams: keep the repo as the source of truth, emit one JSON, let a plugin draw it. One run gives designers editable layers, every screen, the tokens as styles, and a board of how you decided.</a:t>
            </a:r>
            <a:endParaRPr lang="en-US" sz="1350" dirty="0"/>
          </a:p>
        </p:txBody>
      </p:sp>
      <p:sp>
        <p:nvSpPr>
          <p:cNvPr id="51" name="Text 48"/>
          <p:cNvSpPr/>
          <p:nvPr/>
        </p:nvSpPr>
        <p:spPr>
          <a:xfrm>
            <a:off x="761970" y="5791170"/>
            <a:ext cx="10668030" cy="222291"/>
          </a:xfrm>
          <a:prstGeom prst="rect">
            <a:avLst/>
          </a:prstGeom>
          <a:noFill/>
          <a:ln/>
        </p:spPr>
        <p:txBody>
          <a:bodyPr wrap="square" lIns="0" tIns="0" rIns="0" bIns="0" rtlCol="0" anchor="t"/>
          <a:lstStyle/>
          <a:p>
            <a:pPr algn="l" indent="0" marL="0">
              <a:lnSpc>
                <a:spcPct val="145000"/>
              </a:lnSpc>
              <a:buNone/>
            </a:pPr>
            <a:r>
              <a:rPr lang="en-US" sz="1050" dirty="0">
                <a:solidFill>
                  <a:srgbClr val="4A4E55"/>
                </a:solidFill>
                <a:latin typeface="Inter" pitchFamily="34" charset="0"/>
                <a:ea typeface="Inter" pitchFamily="34" charset="-122"/>
                <a:cs typeface="Inter" pitchFamily="34" charset="-120"/>
              </a:rPr>
              <a:t>Why a plugin: the Figma REST API and our Composio connector can read, comment and set variables, but cannot create layers or slides. The Plugin API can.</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STAGE LOG</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16 / 21</a:t>
            </a:r>
            <a:endParaRPr lang="en-US" sz="900" dirty="0"/>
          </a:p>
        </p:txBody>
      </p:sp>
      <p:sp>
        <p:nvSpPr>
          <p:cNvPr id="8" name="Shape 6"/>
          <p:cNvSpPr/>
          <p:nvPr/>
        </p:nvSpPr>
        <p:spPr>
          <a:xfrm>
            <a:off x="761970" y="6413510"/>
            <a:ext cx="10668030" cy="12710"/>
          </a:xfrm>
          <a:prstGeom prst="rect">
            <a:avLst/>
          </a:prstGeom>
          <a:solidFill>
            <a:srgbClr val="16181B">
              <a:alpha val="10000"/>
            </a:srgbClr>
          </a:solidFill>
          <a:ln/>
        </p:spPr>
      </p:sp>
      <p:sp>
        <p:nvSpPr>
          <p:cNvPr id="9" name="Text 6"/>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0" name="Title"/>
          <p:cNvSpPr/>
          <p:nvPr/>
        </p:nvSpPr>
        <p:spPr>
          <a:xfrm>
            <a:off x="761970" y="952530"/>
            <a:ext cx="9525030" cy="501640"/>
          </a:xfrm>
          <a:prstGeom prst="rect">
            <a:avLst/>
          </a:prstGeom>
          <a:noFill/>
          <a:ln/>
        </p:spPr>
        <p:txBody>
          <a:bodyPr wrap="square" lIns="0" tIns="0" rIns="0" bIns="0" rtlCol="0" anchor="t"/>
          <a:lstStyle/>
          <a:p>
            <a:pPr algn="l" indent="0" marL="0">
              <a:lnSpc>
                <a:spcPct val="100000"/>
              </a:lnSpc>
              <a:buNone/>
            </a:pPr>
            <a:r>
              <a:rPr lang="en-US" sz="3276" spc="-49" kern="0" dirty="0">
                <a:solidFill>
                  <a:srgbClr val="16181B"/>
                </a:solidFill>
                <a:latin typeface="Instrument Serif" pitchFamily="34" charset="0"/>
                <a:ea typeface="Instrument Serif" pitchFamily="34" charset="-122"/>
                <a:cs typeface="Instrument Serif" pitchFamily="34" charset="-120"/>
              </a:rPr>
              <a:t>Four stages, timed from git.</a:t>
            </a:r>
            <a:endParaRPr lang="en-US" sz="3276" dirty="0"/>
          </a:p>
        </p:txBody>
      </p:sp>
      <p:sp>
        <p:nvSpPr>
          <p:cNvPr id="11" name="Text 8"/>
          <p:cNvSpPr/>
          <p:nvPr/>
        </p:nvSpPr>
        <p:spPr>
          <a:xfrm>
            <a:off x="761970" y="1841510"/>
            <a:ext cx="1587490" cy="165141"/>
          </a:xfrm>
          <a:prstGeom prst="rect">
            <a:avLst/>
          </a:prstGeom>
          <a:noFill/>
          <a:ln/>
        </p:spPr>
        <p:txBody>
          <a:bodyPr wrap="square" lIns="0" tIns="0" rIns="0" bIns="0" rtlCol="0" anchor="t"/>
          <a:lstStyle/>
          <a:p>
            <a:pPr algn="l" indent="0" marL="0">
              <a:lnSpc>
                <a:spcPct val="120000"/>
              </a:lnSpc>
              <a:buNone/>
            </a:pPr>
            <a:r>
              <a:rPr lang="en-US" sz="900" spc="126" kern="0" dirty="0">
                <a:solidFill>
                  <a:srgbClr val="7C8188"/>
                </a:solidFill>
                <a:latin typeface="JetBrains Mono" pitchFamily="34" charset="0"/>
                <a:ea typeface="JetBrains Mono" pitchFamily="34" charset="-122"/>
                <a:cs typeface="JetBrains Mono" pitchFamily="34" charset="-120"/>
              </a:rPr>
              <a:t>STAGE</a:t>
            </a:r>
            <a:endParaRPr lang="en-US" sz="900" dirty="0"/>
          </a:p>
        </p:txBody>
      </p:sp>
      <p:sp>
        <p:nvSpPr>
          <p:cNvPr id="12" name="Text 9"/>
          <p:cNvSpPr/>
          <p:nvPr/>
        </p:nvSpPr>
        <p:spPr>
          <a:xfrm>
            <a:off x="2413010" y="1841510"/>
            <a:ext cx="2984510" cy="165141"/>
          </a:xfrm>
          <a:prstGeom prst="rect">
            <a:avLst/>
          </a:prstGeom>
          <a:noFill/>
          <a:ln/>
        </p:spPr>
        <p:txBody>
          <a:bodyPr wrap="square" lIns="0" tIns="0" rIns="0" bIns="0" rtlCol="0" anchor="t"/>
          <a:lstStyle/>
          <a:p>
            <a:pPr algn="l" indent="0" marL="0">
              <a:lnSpc>
                <a:spcPct val="120000"/>
              </a:lnSpc>
              <a:buNone/>
            </a:pPr>
            <a:r>
              <a:rPr lang="en-US" sz="900" spc="126" kern="0" dirty="0">
                <a:solidFill>
                  <a:srgbClr val="7C8188"/>
                </a:solidFill>
                <a:latin typeface="JetBrains Mono" pitchFamily="34" charset="0"/>
                <a:ea typeface="JetBrains Mono" pitchFamily="34" charset="-122"/>
                <a:cs typeface="JetBrains Mono" pitchFamily="34" charset="-120"/>
              </a:rPr>
              <a:t>TOOLS</a:t>
            </a:r>
            <a:endParaRPr lang="en-US" sz="900" dirty="0"/>
          </a:p>
        </p:txBody>
      </p:sp>
      <p:sp>
        <p:nvSpPr>
          <p:cNvPr id="13" name="Text 10"/>
          <p:cNvSpPr/>
          <p:nvPr/>
        </p:nvSpPr>
        <p:spPr>
          <a:xfrm>
            <a:off x="5587990" y="1841510"/>
            <a:ext cx="952530" cy="165141"/>
          </a:xfrm>
          <a:prstGeom prst="rect">
            <a:avLst/>
          </a:prstGeom>
          <a:noFill/>
          <a:ln/>
        </p:spPr>
        <p:txBody>
          <a:bodyPr wrap="square" lIns="0" tIns="0" rIns="0" bIns="0" rtlCol="0" anchor="t"/>
          <a:lstStyle/>
          <a:p>
            <a:pPr algn="l" indent="0" marL="0">
              <a:lnSpc>
                <a:spcPct val="120000"/>
              </a:lnSpc>
              <a:buNone/>
            </a:pPr>
            <a:r>
              <a:rPr lang="en-US" sz="900" spc="126" kern="0" dirty="0">
                <a:solidFill>
                  <a:srgbClr val="7C8188"/>
                </a:solidFill>
                <a:latin typeface="JetBrains Mono" pitchFamily="34" charset="0"/>
                <a:ea typeface="JetBrains Mono" pitchFamily="34" charset="-122"/>
                <a:cs typeface="JetBrains Mono" pitchFamily="34" charset="-120"/>
              </a:rPr>
              <a:t>MINUTES</a:t>
            </a:r>
            <a:endParaRPr lang="en-US" sz="900" dirty="0"/>
          </a:p>
        </p:txBody>
      </p:sp>
      <p:sp>
        <p:nvSpPr>
          <p:cNvPr id="14" name="Text 11"/>
          <p:cNvSpPr/>
          <p:nvPr/>
        </p:nvSpPr>
        <p:spPr>
          <a:xfrm>
            <a:off x="6603980" y="1841510"/>
            <a:ext cx="825520" cy="165141"/>
          </a:xfrm>
          <a:prstGeom prst="rect">
            <a:avLst/>
          </a:prstGeom>
          <a:noFill/>
          <a:ln/>
        </p:spPr>
        <p:txBody>
          <a:bodyPr wrap="square" lIns="0" tIns="0" rIns="0" bIns="0" rtlCol="0" anchor="t"/>
          <a:lstStyle/>
          <a:p>
            <a:pPr algn="l" indent="0" marL="0">
              <a:lnSpc>
                <a:spcPct val="120000"/>
              </a:lnSpc>
              <a:buNone/>
            </a:pPr>
            <a:r>
              <a:rPr lang="en-US" sz="900" spc="126" kern="0" dirty="0">
                <a:solidFill>
                  <a:srgbClr val="7C8188"/>
                </a:solidFill>
                <a:latin typeface="JetBrains Mono" pitchFamily="34" charset="0"/>
                <a:ea typeface="JetBrains Mono" pitchFamily="34" charset="-122"/>
                <a:cs typeface="JetBrains Mono" pitchFamily="34" charset="-120"/>
              </a:rPr>
              <a:t>RATING</a:t>
            </a:r>
            <a:endParaRPr lang="en-US" sz="900" dirty="0"/>
          </a:p>
        </p:txBody>
      </p:sp>
      <p:sp>
        <p:nvSpPr>
          <p:cNvPr id="15" name="Text 12"/>
          <p:cNvSpPr/>
          <p:nvPr/>
        </p:nvSpPr>
        <p:spPr>
          <a:xfrm>
            <a:off x="7492959" y="1841510"/>
            <a:ext cx="2095530" cy="165141"/>
          </a:xfrm>
          <a:prstGeom prst="rect">
            <a:avLst/>
          </a:prstGeom>
          <a:noFill/>
          <a:ln/>
        </p:spPr>
        <p:txBody>
          <a:bodyPr wrap="square" lIns="0" tIns="0" rIns="0" bIns="0" rtlCol="0" anchor="t"/>
          <a:lstStyle/>
          <a:p>
            <a:pPr algn="l" indent="0" marL="0">
              <a:lnSpc>
                <a:spcPct val="120000"/>
              </a:lnSpc>
              <a:buNone/>
            </a:pPr>
            <a:r>
              <a:rPr lang="en-US" sz="900" spc="126" kern="0" dirty="0">
                <a:solidFill>
                  <a:srgbClr val="7C8188"/>
                </a:solidFill>
                <a:latin typeface="JetBrains Mono" pitchFamily="34" charset="0"/>
                <a:ea typeface="JetBrains Mono" pitchFamily="34" charset="-122"/>
                <a:cs typeface="JetBrains Mono" pitchFamily="34" charset="-120"/>
              </a:rPr>
              <a:t>WHAT BROKE</a:t>
            </a:r>
            <a:endParaRPr lang="en-US" sz="900" dirty="0"/>
          </a:p>
        </p:txBody>
      </p:sp>
      <p:sp>
        <p:nvSpPr>
          <p:cNvPr id="16" name="Text 13"/>
          <p:cNvSpPr/>
          <p:nvPr/>
        </p:nvSpPr>
        <p:spPr>
          <a:xfrm>
            <a:off x="9715500" y="1841510"/>
            <a:ext cx="1714500" cy="165141"/>
          </a:xfrm>
          <a:prstGeom prst="rect">
            <a:avLst/>
          </a:prstGeom>
          <a:noFill/>
          <a:ln/>
        </p:spPr>
        <p:txBody>
          <a:bodyPr wrap="square" lIns="0" tIns="0" rIns="0" bIns="0" rtlCol="0" anchor="t"/>
          <a:lstStyle/>
          <a:p>
            <a:pPr algn="l" indent="0" marL="0">
              <a:lnSpc>
                <a:spcPct val="120000"/>
              </a:lnSpc>
              <a:buNone/>
            </a:pPr>
            <a:r>
              <a:rPr lang="en-US" sz="900" spc="126" kern="0" dirty="0">
                <a:solidFill>
                  <a:srgbClr val="7C8188"/>
                </a:solidFill>
                <a:latin typeface="JetBrains Mono" pitchFamily="34" charset="0"/>
                <a:ea typeface="JetBrains Mono" pitchFamily="34" charset="-122"/>
                <a:cs typeface="JetBrains Mono" pitchFamily="34" charset="-120"/>
              </a:rPr>
              <a:t>INTO THE PROJECT</a:t>
            </a:r>
            <a:endParaRPr lang="en-US" sz="900" dirty="0"/>
          </a:p>
        </p:txBody>
      </p:sp>
      <p:sp>
        <p:nvSpPr>
          <p:cNvPr id="17" name="Shape 15"/>
          <p:cNvSpPr/>
          <p:nvPr/>
        </p:nvSpPr>
        <p:spPr>
          <a:xfrm>
            <a:off x="761970" y="2095530"/>
            <a:ext cx="10668030" cy="12710"/>
          </a:xfrm>
          <a:prstGeom prst="rect">
            <a:avLst/>
          </a:prstGeom>
          <a:solidFill>
            <a:srgbClr val="16181B">
              <a:alpha val="10000"/>
            </a:srgbClr>
          </a:solidFill>
          <a:ln/>
        </p:spPr>
      </p:sp>
      <p:sp>
        <p:nvSpPr>
          <p:cNvPr id="18" name="Text 15"/>
          <p:cNvSpPr/>
          <p:nvPr/>
        </p:nvSpPr>
        <p:spPr>
          <a:xfrm>
            <a:off x="761970" y="2247870"/>
            <a:ext cx="1587490" cy="254020"/>
          </a:xfrm>
          <a:prstGeom prst="rect">
            <a:avLst/>
          </a:prstGeom>
          <a:noFill/>
          <a:ln/>
        </p:spPr>
        <p:txBody>
          <a:bodyPr wrap="square" lIns="0" tIns="0" rIns="0" bIns="0" rtlCol="0" anchor="t"/>
          <a:lstStyle/>
          <a:p>
            <a:pPr algn="l" indent="0" marL="0">
              <a:lnSpc>
                <a:spcPct val="105000"/>
              </a:lnSpc>
              <a:buNone/>
            </a:pPr>
            <a:r>
              <a:rPr lang="en-US" sz="1560" dirty="0">
                <a:solidFill>
                  <a:srgbClr val="16181B"/>
                </a:solidFill>
                <a:latin typeface="Instrument Serif" pitchFamily="34" charset="0"/>
                <a:ea typeface="Instrument Serif" pitchFamily="34" charset="-122"/>
                <a:cs typeface="Instrument Serif" pitchFamily="34" charset="-120"/>
              </a:rPr>
              <a:t>Ideation</a:t>
            </a:r>
            <a:endParaRPr lang="en-US" sz="1560" dirty="0"/>
          </a:p>
        </p:txBody>
      </p:sp>
      <p:sp>
        <p:nvSpPr>
          <p:cNvPr id="19" name="Text 16"/>
          <p:cNvSpPr/>
          <p:nvPr/>
        </p:nvSpPr>
        <p:spPr>
          <a:xfrm>
            <a:off x="2413010" y="2247870"/>
            <a:ext cx="2984510" cy="387340"/>
          </a:xfrm>
          <a:prstGeom prst="rect">
            <a:avLst/>
          </a:prstGeom>
          <a:noFill/>
          <a:ln/>
        </p:spPr>
        <p:txBody>
          <a:bodyPr wrap="square" lIns="0" tIns="0" rIns="0" bIns="0" rtlCol="0" anchor="t"/>
          <a:lstStyle/>
          <a:p>
            <a:pPr algn="l" indent="0" marL="0">
              <a:lnSpc>
                <a:spcPct val="135000"/>
              </a:lnSpc>
              <a:buNone/>
            </a:pPr>
            <a:r>
              <a:rPr lang="en-US" sz="1050" dirty="0">
                <a:solidFill>
                  <a:srgbClr val="16181B"/>
                </a:solidFill>
                <a:latin typeface="Inter" pitchFamily="34" charset="0"/>
                <a:ea typeface="Inter" pitchFamily="34" charset="-122"/>
                <a:cs typeface="Inter" pitchFamily="34" charset="-120"/>
              </a:rPr>
              <a:t>16 AI personas per panel, reference study; FigJam board generated after</a:t>
            </a:r>
            <a:endParaRPr lang="en-US" sz="1050" dirty="0"/>
          </a:p>
        </p:txBody>
      </p:sp>
      <p:sp>
        <p:nvSpPr>
          <p:cNvPr id="20" name="Text 17"/>
          <p:cNvSpPr/>
          <p:nvPr/>
        </p:nvSpPr>
        <p:spPr>
          <a:xfrm>
            <a:off x="5587990" y="2260580"/>
            <a:ext cx="952530" cy="215890"/>
          </a:xfrm>
          <a:prstGeom prst="rect">
            <a:avLst/>
          </a:prstGeom>
          <a:noFill/>
          <a:ln/>
        </p:spPr>
        <p:txBody>
          <a:bodyPr wrap="square" lIns="0" tIns="0" rIns="0" bIns="0" rtlCol="0" anchor="t"/>
          <a:lstStyle/>
          <a:p>
            <a:pPr algn="l" indent="0" marL="0">
              <a:lnSpc>
                <a:spcPct val="140000"/>
              </a:lnSpc>
              <a:buNone/>
            </a:pPr>
            <a:r>
              <a:rPr lang="en-US" sz="1050" dirty="0">
                <a:solidFill>
                  <a:srgbClr val="16181B"/>
                </a:solidFill>
                <a:latin typeface="JetBrains Mono" pitchFamily="34" charset="0"/>
                <a:ea typeface="JetBrains Mono" pitchFamily="34" charset="-122"/>
                <a:cs typeface="JetBrains Mono" pitchFamily="34" charset="-120"/>
              </a:rPr>
              <a:t>≈255 min</a:t>
            </a:r>
            <a:endParaRPr lang="en-US" sz="1050" dirty="0"/>
          </a:p>
        </p:txBody>
      </p:sp>
      <p:sp>
        <p:nvSpPr>
          <p:cNvPr id="21" name="Text 18"/>
          <p:cNvSpPr/>
          <p:nvPr/>
        </p:nvSpPr>
        <p:spPr>
          <a:xfrm>
            <a:off x="6603980" y="2260580"/>
            <a:ext cx="825520" cy="228600"/>
          </a:xfrm>
          <a:prstGeom prst="rect">
            <a:avLst/>
          </a:prstGeom>
          <a:noFill/>
          <a:ln/>
        </p:spPr>
        <p:txBody>
          <a:bodyPr wrap="square" lIns="0" tIns="0" rIns="0" bIns="0" rtlCol="0" anchor="t"/>
          <a:lstStyle/>
          <a:p>
            <a:pPr algn="l" indent="0" marL="0">
              <a:lnSpc>
                <a:spcPct val="140000"/>
              </a:lnSpc>
              <a:buNone/>
            </a:pPr>
            <a:r>
              <a:rPr lang="en-US" sz="1100" b="1" dirty="0">
                <a:solidFill>
                  <a:srgbClr val="16181B"/>
                </a:solidFill>
                <a:latin typeface="JetBrains Mono" pitchFamily="34" charset="0"/>
                <a:ea typeface="JetBrains Mono" pitchFamily="34" charset="-122"/>
                <a:cs typeface="JetBrains Mono" pitchFamily="34" charset="-120"/>
              </a:rPr>
              <a:t>4/5</a:t>
            </a:r>
            <a:endParaRPr lang="en-US" sz="1100" dirty="0"/>
          </a:p>
        </p:txBody>
      </p:sp>
      <p:sp>
        <p:nvSpPr>
          <p:cNvPr id="22" name="Shape 20"/>
          <p:cNvSpPr/>
          <p:nvPr/>
        </p:nvSpPr>
        <p:spPr>
          <a:xfrm>
            <a:off x="6603980" y="2514600"/>
            <a:ext cx="603230" cy="177759"/>
          </a:xfrm>
          <a:prstGeom prst="roundRect">
            <a:avLst>
              <a:gd name="adj" fmla="val 50000"/>
            </a:avLst>
          </a:prstGeom>
          <a:solidFill>
            <a:srgbClr val="9AA0A6">
              <a:alpha val="18000"/>
            </a:srgbClr>
          </a:solidFill>
          <a:ln/>
        </p:spPr>
      </p:sp>
      <p:sp>
        <p:nvSpPr>
          <p:cNvPr id="23" name="Text 20"/>
          <p:cNvSpPr/>
          <p:nvPr/>
        </p:nvSpPr>
        <p:spPr>
          <a:xfrm>
            <a:off x="6603980" y="2550170"/>
            <a:ext cx="603230" cy="127010"/>
          </a:xfrm>
          <a:prstGeom prst="rect">
            <a:avLst/>
          </a:prstGeom>
          <a:noFill/>
          <a:ln/>
        </p:spPr>
        <p:txBody>
          <a:bodyPr wrap="square" lIns="0" tIns="0" rIns="0" bIns="0" rtlCol="0" anchor="t"/>
          <a:lstStyle/>
          <a:p>
            <a:pPr algn="ctr" indent="0" marL="0">
              <a:lnSpc>
                <a:spcPct val="120000"/>
              </a:lnSpc>
              <a:buNone/>
            </a:pPr>
            <a:r>
              <a:rPr lang="en-US" sz="700" b="1" spc="42" kern="0" dirty="0">
                <a:solidFill>
                  <a:srgbClr val="16181B"/>
                </a:solidFill>
                <a:latin typeface="JetBrains Mono" pitchFamily="34" charset="0"/>
                <a:ea typeface="JetBrains Mono" pitchFamily="34" charset="-122"/>
                <a:cs typeface="JetBrains Mono" pitchFamily="34" charset="-120"/>
              </a:rPr>
              <a:t>PENDING</a:t>
            </a:r>
            <a:endParaRPr lang="en-US" sz="700" dirty="0"/>
          </a:p>
        </p:txBody>
      </p:sp>
      <p:sp>
        <p:nvSpPr>
          <p:cNvPr id="24" name="Text 21"/>
          <p:cNvSpPr/>
          <p:nvPr/>
        </p:nvSpPr>
        <p:spPr>
          <a:xfrm>
            <a:off x="7492959" y="2247870"/>
            <a:ext cx="2095530" cy="38734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One model played all 16: agreement inflated (SD 0)</a:t>
            </a:r>
            <a:endParaRPr lang="en-US" sz="1050" dirty="0"/>
          </a:p>
        </p:txBody>
      </p:sp>
      <p:sp>
        <p:nvSpPr>
          <p:cNvPr id="25" name="Text 22"/>
          <p:cNvSpPr/>
          <p:nvPr/>
        </p:nvSpPr>
        <p:spPr>
          <a:xfrm>
            <a:off x="9715500" y="2247870"/>
            <a:ext cx="1714500" cy="38734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PLAN.md decisions, scope, site outline</a:t>
            </a:r>
            <a:endParaRPr lang="en-US" sz="1050" dirty="0"/>
          </a:p>
        </p:txBody>
      </p:sp>
      <p:sp>
        <p:nvSpPr>
          <p:cNvPr id="26" name="Shape 24"/>
          <p:cNvSpPr/>
          <p:nvPr/>
        </p:nvSpPr>
        <p:spPr>
          <a:xfrm>
            <a:off x="761970" y="3047970"/>
            <a:ext cx="10668030" cy="12710"/>
          </a:xfrm>
          <a:prstGeom prst="rect">
            <a:avLst/>
          </a:prstGeom>
          <a:solidFill>
            <a:srgbClr val="16181B">
              <a:alpha val="10000"/>
            </a:srgbClr>
          </a:solidFill>
          <a:ln/>
        </p:spPr>
      </p:sp>
      <p:sp>
        <p:nvSpPr>
          <p:cNvPr id="27" name="Text 24"/>
          <p:cNvSpPr/>
          <p:nvPr/>
        </p:nvSpPr>
        <p:spPr>
          <a:xfrm>
            <a:off x="761970" y="3200400"/>
            <a:ext cx="1587490" cy="254020"/>
          </a:xfrm>
          <a:prstGeom prst="rect">
            <a:avLst/>
          </a:prstGeom>
          <a:noFill/>
          <a:ln/>
        </p:spPr>
        <p:txBody>
          <a:bodyPr wrap="square" lIns="0" tIns="0" rIns="0" bIns="0" rtlCol="0" anchor="t"/>
          <a:lstStyle/>
          <a:p>
            <a:pPr algn="l" indent="0" marL="0">
              <a:lnSpc>
                <a:spcPct val="105000"/>
              </a:lnSpc>
              <a:buNone/>
            </a:pPr>
            <a:r>
              <a:rPr lang="en-US" sz="1560" dirty="0">
                <a:solidFill>
                  <a:srgbClr val="16181B"/>
                </a:solidFill>
                <a:latin typeface="Instrument Serif" pitchFamily="34" charset="0"/>
                <a:ea typeface="Instrument Serif" pitchFamily="34" charset="-122"/>
                <a:cs typeface="Instrument Serif" pitchFamily="34" charset="-120"/>
              </a:rPr>
              <a:t>Prototyping</a:t>
            </a:r>
            <a:endParaRPr lang="en-US" sz="1560" dirty="0"/>
          </a:p>
        </p:txBody>
      </p:sp>
      <p:sp>
        <p:nvSpPr>
          <p:cNvPr id="28" name="Text 25"/>
          <p:cNvSpPr/>
          <p:nvPr/>
        </p:nvSpPr>
        <p:spPr>
          <a:xfrm>
            <a:off x="2413010" y="3200400"/>
            <a:ext cx="2984510" cy="387340"/>
          </a:xfrm>
          <a:prstGeom prst="rect">
            <a:avLst/>
          </a:prstGeom>
          <a:noFill/>
          <a:ln/>
        </p:spPr>
        <p:txBody>
          <a:bodyPr wrap="square" lIns="0" tIns="0" rIns="0" bIns="0" rtlCol="0" anchor="t"/>
          <a:lstStyle/>
          <a:p>
            <a:pPr algn="l" indent="0" marL="0">
              <a:lnSpc>
                <a:spcPct val="135000"/>
              </a:lnSpc>
              <a:buNone/>
            </a:pPr>
            <a:r>
              <a:rPr lang="en-US" sz="1050" dirty="0">
                <a:solidFill>
                  <a:srgbClr val="16181B"/>
                </a:solidFill>
                <a:latin typeface="Inter" pitchFamily="34" charset="0"/>
                <a:ea typeface="Inter" pitchFamily="34" charset="-122"/>
                <a:cs typeface="Inter" pitchFamily="34" charset="-120"/>
              </a:rPr>
              <a:t>binary-pill.html, phone mock in the site’s JS; Figma Make prompt written</a:t>
            </a:r>
            <a:endParaRPr lang="en-US" sz="1050" dirty="0"/>
          </a:p>
        </p:txBody>
      </p:sp>
      <p:sp>
        <p:nvSpPr>
          <p:cNvPr id="29" name="Text 26"/>
          <p:cNvSpPr/>
          <p:nvPr/>
        </p:nvSpPr>
        <p:spPr>
          <a:xfrm>
            <a:off x="5587990" y="3213110"/>
            <a:ext cx="952530" cy="215890"/>
          </a:xfrm>
          <a:prstGeom prst="rect">
            <a:avLst/>
          </a:prstGeom>
          <a:noFill/>
          <a:ln/>
        </p:spPr>
        <p:txBody>
          <a:bodyPr wrap="square" lIns="0" tIns="0" rIns="0" bIns="0" rtlCol="0" anchor="t"/>
          <a:lstStyle/>
          <a:p>
            <a:pPr algn="l" indent="0" marL="0">
              <a:lnSpc>
                <a:spcPct val="140000"/>
              </a:lnSpc>
              <a:buNone/>
            </a:pPr>
            <a:r>
              <a:rPr lang="en-US" sz="1050" dirty="0">
                <a:solidFill>
                  <a:srgbClr val="16181B"/>
                </a:solidFill>
                <a:latin typeface="JetBrains Mono" pitchFamily="34" charset="0"/>
                <a:ea typeface="JetBrains Mono" pitchFamily="34" charset="-122"/>
                <a:cs typeface="JetBrains Mono" pitchFamily="34" charset="-120"/>
              </a:rPr>
              <a:t>≈65 min</a:t>
            </a:r>
            <a:endParaRPr lang="en-US" sz="1050" dirty="0"/>
          </a:p>
        </p:txBody>
      </p:sp>
      <p:sp>
        <p:nvSpPr>
          <p:cNvPr id="30" name="Text 27"/>
          <p:cNvSpPr/>
          <p:nvPr/>
        </p:nvSpPr>
        <p:spPr>
          <a:xfrm>
            <a:off x="6603980" y="3213110"/>
            <a:ext cx="825520" cy="228600"/>
          </a:xfrm>
          <a:prstGeom prst="rect">
            <a:avLst/>
          </a:prstGeom>
          <a:noFill/>
          <a:ln/>
        </p:spPr>
        <p:txBody>
          <a:bodyPr wrap="square" lIns="0" tIns="0" rIns="0" bIns="0" rtlCol="0" anchor="t"/>
          <a:lstStyle/>
          <a:p>
            <a:pPr algn="l" indent="0" marL="0">
              <a:lnSpc>
                <a:spcPct val="140000"/>
              </a:lnSpc>
              <a:buNone/>
            </a:pPr>
            <a:r>
              <a:rPr lang="en-US" sz="1100" b="1" dirty="0">
                <a:solidFill>
                  <a:srgbClr val="16181B"/>
                </a:solidFill>
                <a:latin typeface="JetBrains Mono" pitchFamily="34" charset="0"/>
                <a:ea typeface="JetBrains Mono" pitchFamily="34" charset="-122"/>
                <a:cs typeface="JetBrains Mono" pitchFamily="34" charset="-120"/>
              </a:rPr>
              <a:t>3/5</a:t>
            </a:r>
            <a:endParaRPr lang="en-US" sz="1100" dirty="0"/>
          </a:p>
        </p:txBody>
      </p:sp>
      <p:sp>
        <p:nvSpPr>
          <p:cNvPr id="31" name="Shape 29"/>
          <p:cNvSpPr/>
          <p:nvPr/>
        </p:nvSpPr>
        <p:spPr>
          <a:xfrm>
            <a:off x="6603980" y="3467130"/>
            <a:ext cx="603230" cy="177759"/>
          </a:xfrm>
          <a:prstGeom prst="roundRect">
            <a:avLst>
              <a:gd name="adj" fmla="val 50000"/>
            </a:avLst>
          </a:prstGeom>
          <a:solidFill>
            <a:srgbClr val="9AA0A6">
              <a:alpha val="18000"/>
            </a:srgbClr>
          </a:solidFill>
          <a:ln/>
        </p:spPr>
      </p:sp>
      <p:sp>
        <p:nvSpPr>
          <p:cNvPr id="32" name="Text 29"/>
          <p:cNvSpPr/>
          <p:nvPr/>
        </p:nvSpPr>
        <p:spPr>
          <a:xfrm>
            <a:off x="6603980" y="3502701"/>
            <a:ext cx="603230" cy="127010"/>
          </a:xfrm>
          <a:prstGeom prst="rect">
            <a:avLst/>
          </a:prstGeom>
          <a:noFill/>
          <a:ln/>
        </p:spPr>
        <p:txBody>
          <a:bodyPr wrap="square" lIns="0" tIns="0" rIns="0" bIns="0" rtlCol="0" anchor="t"/>
          <a:lstStyle/>
          <a:p>
            <a:pPr algn="ctr" indent="0" marL="0">
              <a:lnSpc>
                <a:spcPct val="120000"/>
              </a:lnSpc>
              <a:buNone/>
            </a:pPr>
            <a:r>
              <a:rPr lang="en-US" sz="700" b="1" spc="42" kern="0" dirty="0">
                <a:solidFill>
                  <a:srgbClr val="16181B"/>
                </a:solidFill>
                <a:latin typeface="JetBrains Mono" pitchFamily="34" charset="0"/>
                <a:ea typeface="JetBrains Mono" pitchFamily="34" charset="-122"/>
                <a:cs typeface="JetBrains Mono" pitchFamily="34" charset="-120"/>
              </a:rPr>
              <a:t>PENDING</a:t>
            </a:r>
            <a:endParaRPr lang="en-US" sz="700" dirty="0"/>
          </a:p>
        </p:txBody>
      </p:sp>
      <p:sp>
        <p:nvSpPr>
          <p:cNvPr id="33" name="Text 30"/>
          <p:cNvSpPr/>
          <p:nvPr/>
        </p:nvSpPr>
        <p:spPr>
          <a:xfrm>
            <a:off x="7492959" y="3200400"/>
            <a:ext cx="2095530" cy="38734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Nobody could click it without a code editor</a:t>
            </a:r>
            <a:endParaRPr lang="en-US" sz="1050" dirty="0"/>
          </a:p>
        </p:txBody>
      </p:sp>
      <p:sp>
        <p:nvSpPr>
          <p:cNvPr id="34" name="Text 31"/>
          <p:cNvSpPr/>
          <p:nvPr/>
        </p:nvSpPr>
        <p:spPr>
          <a:xfrm>
            <a:off x="9715500" y="3200400"/>
            <a:ext cx="1714500" cy="38734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APP-PLAN’s 12 screens, the pill fill</a:t>
            </a:r>
            <a:endParaRPr lang="en-US" sz="1050" dirty="0"/>
          </a:p>
        </p:txBody>
      </p:sp>
      <p:sp>
        <p:nvSpPr>
          <p:cNvPr id="35" name="Shape 33"/>
          <p:cNvSpPr/>
          <p:nvPr/>
        </p:nvSpPr>
        <p:spPr>
          <a:xfrm>
            <a:off x="761970" y="4000500"/>
            <a:ext cx="10668030" cy="12710"/>
          </a:xfrm>
          <a:prstGeom prst="rect">
            <a:avLst/>
          </a:prstGeom>
          <a:solidFill>
            <a:srgbClr val="16181B">
              <a:alpha val="10000"/>
            </a:srgbClr>
          </a:solidFill>
          <a:ln/>
        </p:spPr>
      </p:sp>
      <p:sp>
        <p:nvSpPr>
          <p:cNvPr id="36" name="Text 33"/>
          <p:cNvSpPr/>
          <p:nvPr/>
        </p:nvSpPr>
        <p:spPr>
          <a:xfrm>
            <a:off x="761970" y="4152930"/>
            <a:ext cx="1587490" cy="254020"/>
          </a:xfrm>
          <a:prstGeom prst="rect">
            <a:avLst/>
          </a:prstGeom>
          <a:noFill/>
          <a:ln/>
        </p:spPr>
        <p:txBody>
          <a:bodyPr wrap="square" lIns="0" tIns="0" rIns="0" bIns="0" rtlCol="0" anchor="t"/>
          <a:lstStyle/>
          <a:p>
            <a:pPr algn="l" indent="0" marL="0">
              <a:lnSpc>
                <a:spcPct val="105000"/>
              </a:lnSpc>
              <a:buNone/>
            </a:pPr>
            <a:r>
              <a:rPr lang="en-US" sz="1560" dirty="0">
                <a:solidFill>
                  <a:srgbClr val="16181B"/>
                </a:solidFill>
                <a:latin typeface="Instrument Serif" pitchFamily="34" charset="0"/>
                <a:ea typeface="Instrument Serif" pitchFamily="34" charset="-122"/>
                <a:cs typeface="Instrument Serif" pitchFamily="34" charset="-120"/>
              </a:rPr>
              <a:t>Handoff</a:t>
            </a:r>
            <a:endParaRPr lang="en-US" sz="1560" dirty="0"/>
          </a:p>
        </p:txBody>
      </p:sp>
      <p:sp>
        <p:nvSpPr>
          <p:cNvPr id="37" name="Text 34"/>
          <p:cNvSpPr/>
          <p:nvPr/>
        </p:nvSpPr>
        <p:spPr>
          <a:xfrm>
            <a:off x="2413010" y="4152930"/>
            <a:ext cx="2984510" cy="387340"/>
          </a:xfrm>
          <a:prstGeom prst="rect">
            <a:avLst/>
          </a:prstGeom>
          <a:noFill/>
          <a:ln/>
        </p:spPr>
        <p:txBody>
          <a:bodyPr wrap="square" lIns="0" tIns="0" rIns="0" bIns="0" rtlCol="0" anchor="t"/>
          <a:lstStyle/>
          <a:p>
            <a:pPr algn="l" indent="0" marL="0">
              <a:lnSpc>
                <a:spcPct val="135000"/>
              </a:lnSpc>
              <a:buNone/>
            </a:pPr>
            <a:r>
              <a:rPr lang="en-US" sz="1050" dirty="0">
                <a:solidFill>
                  <a:srgbClr val="16181B"/>
                </a:solidFill>
                <a:latin typeface="Inter" pitchFamily="34" charset="0"/>
                <a:ea typeface="Inter" pitchFamily="34" charset="-122"/>
                <a:cs typeface="Inter" pitchFamily="34" charset="-120"/>
              </a:rPr>
              <a:t>CSS :root copied site → app; Figma styles + variables; Composio → CSS</a:t>
            </a:r>
            <a:endParaRPr lang="en-US" sz="1050" dirty="0"/>
          </a:p>
        </p:txBody>
      </p:sp>
      <p:sp>
        <p:nvSpPr>
          <p:cNvPr id="38" name="Text 35"/>
          <p:cNvSpPr/>
          <p:nvPr/>
        </p:nvSpPr>
        <p:spPr>
          <a:xfrm>
            <a:off x="5587990" y="4165641"/>
            <a:ext cx="952530" cy="215890"/>
          </a:xfrm>
          <a:prstGeom prst="rect">
            <a:avLst/>
          </a:prstGeom>
          <a:noFill/>
          <a:ln/>
        </p:spPr>
        <p:txBody>
          <a:bodyPr wrap="square" lIns="0" tIns="0" rIns="0" bIns="0" rtlCol="0" anchor="t"/>
          <a:lstStyle/>
          <a:p>
            <a:pPr algn="l" indent="0" marL="0">
              <a:lnSpc>
                <a:spcPct val="140000"/>
              </a:lnSpc>
              <a:buNone/>
            </a:pPr>
            <a:r>
              <a:rPr lang="en-US" sz="1050" dirty="0">
                <a:solidFill>
                  <a:srgbClr val="16181B"/>
                </a:solidFill>
                <a:latin typeface="JetBrains Mono" pitchFamily="34" charset="0"/>
                <a:ea typeface="JetBrains Mono" pitchFamily="34" charset="-122"/>
                <a:cs typeface="JetBrains Mono" pitchFamily="34" charset="-120"/>
              </a:rPr>
              <a:t>≈7 min</a:t>
            </a:r>
            <a:endParaRPr lang="en-US" sz="1050" dirty="0"/>
          </a:p>
        </p:txBody>
      </p:sp>
      <p:sp>
        <p:nvSpPr>
          <p:cNvPr id="39" name="Text 36"/>
          <p:cNvSpPr/>
          <p:nvPr/>
        </p:nvSpPr>
        <p:spPr>
          <a:xfrm>
            <a:off x="6603980" y="4165641"/>
            <a:ext cx="825520" cy="228600"/>
          </a:xfrm>
          <a:prstGeom prst="rect">
            <a:avLst/>
          </a:prstGeom>
          <a:noFill/>
          <a:ln/>
        </p:spPr>
        <p:txBody>
          <a:bodyPr wrap="square" lIns="0" tIns="0" rIns="0" bIns="0" rtlCol="0" anchor="t"/>
          <a:lstStyle/>
          <a:p>
            <a:pPr algn="l" indent="0" marL="0">
              <a:lnSpc>
                <a:spcPct val="140000"/>
              </a:lnSpc>
              <a:buNone/>
            </a:pPr>
            <a:r>
              <a:rPr lang="en-US" sz="1100" b="1" dirty="0">
                <a:solidFill>
                  <a:srgbClr val="16181B"/>
                </a:solidFill>
                <a:latin typeface="JetBrains Mono" pitchFamily="34" charset="0"/>
                <a:ea typeface="JetBrains Mono" pitchFamily="34" charset="-122"/>
                <a:cs typeface="JetBrains Mono" pitchFamily="34" charset="-120"/>
              </a:rPr>
              <a:t>2/5</a:t>
            </a:r>
            <a:endParaRPr lang="en-US" sz="1100" dirty="0"/>
          </a:p>
        </p:txBody>
      </p:sp>
      <p:sp>
        <p:nvSpPr>
          <p:cNvPr id="40" name="Shape 38"/>
          <p:cNvSpPr/>
          <p:nvPr/>
        </p:nvSpPr>
        <p:spPr>
          <a:xfrm>
            <a:off x="6603980" y="4419570"/>
            <a:ext cx="603230" cy="177759"/>
          </a:xfrm>
          <a:prstGeom prst="roundRect">
            <a:avLst>
              <a:gd name="adj" fmla="val 50000"/>
            </a:avLst>
          </a:prstGeom>
          <a:solidFill>
            <a:srgbClr val="9AA0A6">
              <a:alpha val="18000"/>
            </a:srgbClr>
          </a:solidFill>
          <a:ln/>
        </p:spPr>
      </p:sp>
      <p:sp>
        <p:nvSpPr>
          <p:cNvPr id="41" name="Text 38"/>
          <p:cNvSpPr/>
          <p:nvPr/>
        </p:nvSpPr>
        <p:spPr>
          <a:xfrm>
            <a:off x="6603980" y="4455140"/>
            <a:ext cx="603230" cy="127010"/>
          </a:xfrm>
          <a:prstGeom prst="rect">
            <a:avLst/>
          </a:prstGeom>
          <a:noFill/>
          <a:ln/>
        </p:spPr>
        <p:txBody>
          <a:bodyPr wrap="square" lIns="0" tIns="0" rIns="0" bIns="0" rtlCol="0" anchor="t"/>
          <a:lstStyle/>
          <a:p>
            <a:pPr algn="ctr" indent="0" marL="0">
              <a:lnSpc>
                <a:spcPct val="120000"/>
              </a:lnSpc>
              <a:buNone/>
            </a:pPr>
            <a:r>
              <a:rPr lang="en-US" sz="700" b="1" spc="42" kern="0" dirty="0">
                <a:solidFill>
                  <a:srgbClr val="16181B"/>
                </a:solidFill>
                <a:latin typeface="JetBrains Mono" pitchFamily="34" charset="0"/>
                <a:ea typeface="JetBrains Mono" pitchFamily="34" charset="-122"/>
                <a:cs typeface="JetBrains Mono" pitchFamily="34" charset="-120"/>
              </a:rPr>
              <a:t>PENDING</a:t>
            </a:r>
            <a:endParaRPr lang="en-US" sz="700" dirty="0"/>
          </a:p>
        </p:txBody>
      </p:sp>
      <p:sp>
        <p:nvSpPr>
          <p:cNvPr id="42" name="Text 39"/>
          <p:cNvSpPr/>
          <p:nvPr/>
        </p:nvSpPr>
        <p:spPr>
          <a:xfrm>
            <a:off x="7492959" y="4152930"/>
            <a:ext cx="2095530" cy="38734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8 of 27 tokens arrived identical; no record of intent</a:t>
            </a:r>
            <a:endParaRPr lang="en-US" sz="1050" dirty="0"/>
          </a:p>
        </p:txBody>
      </p:sp>
      <p:sp>
        <p:nvSpPr>
          <p:cNvPr id="43" name="Text 40"/>
          <p:cNvSpPr/>
          <p:nvPr/>
        </p:nvSpPr>
        <p:spPr>
          <a:xfrm>
            <a:off x="9715500" y="4152930"/>
            <a:ext cx="1714500" cy="38734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App :root, Tokens page, tokens-from-figma.mjs</a:t>
            </a:r>
            <a:endParaRPr lang="en-US" sz="1050" dirty="0"/>
          </a:p>
        </p:txBody>
      </p:sp>
      <p:sp>
        <p:nvSpPr>
          <p:cNvPr id="44" name="Shape 42"/>
          <p:cNvSpPr/>
          <p:nvPr/>
        </p:nvSpPr>
        <p:spPr>
          <a:xfrm>
            <a:off x="761970" y="4953030"/>
            <a:ext cx="10668030" cy="12710"/>
          </a:xfrm>
          <a:prstGeom prst="rect">
            <a:avLst/>
          </a:prstGeom>
          <a:solidFill>
            <a:srgbClr val="16181B">
              <a:alpha val="10000"/>
            </a:srgbClr>
          </a:solidFill>
          <a:ln/>
        </p:spPr>
      </p:sp>
      <p:sp>
        <p:nvSpPr>
          <p:cNvPr id="45" name="Text 42"/>
          <p:cNvSpPr/>
          <p:nvPr/>
        </p:nvSpPr>
        <p:spPr>
          <a:xfrm>
            <a:off x="761970" y="5105370"/>
            <a:ext cx="1587490" cy="215890"/>
          </a:xfrm>
          <a:prstGeom prst="rect">
            <a:avLst/>
          </a:prstGeom>
          <a:noFill/>
          <a:ln/>
        </p:spPr>
        <p:txBody>
          <a:bodyPr wrap="square" lIns="0" tIns="0" rIns="0" bIns="0" rtlCol="0" anchor="t"/>
          <a:lstStyle/>
          <a:p>
            <a:pPr algn="l" indent="0" marL="0">
              <a:lnSpc>
                <a:spcPct val="105000"/>
              </a:lnSpc>
              <a:buNone/>
            </a:pPr>
            <a:r>
              <a:rPr lang="en-US" sz="1360" dirty="0">
                <a:solidFill>
                  <a:srgbClr val="16181B"/>
                </a:solidFill>
                <a:latin typeface="Instrument Serif" pitchFamily="34" charset="0"/>
                <a:ea typeface="Instrument Serif" pitchFamily="34" charset="-122"/>
                <a:cs typeface="Instrument Serif" pitchFamily="34" charset="-120"/>
              </a:rPr>
              <a:t>Code generation</a:t>
            </a:r>
            <a:endParaRPr lang="en-US" sz="1360" dirty="0"/>
          </a:p>
        </p:txBody>
      </p:sp>
      <p:sp>
        <p:nvSpPr>
          <p:cNvPr id="46" name="Text 43"/>
          <p:cNvSpPr/>
          <p:nvPr/>
        </p:nvSpPr>
        <p:spPr>
          <a:xfrm>
            <a:off x="2413010" y="5105370"/>
            <a:ext cx="2984510" cy="387340"/>
          </a:xfrm>
          <a:prstGeom prst="rect">
            <a:avLst/>
          </a:prstGeom>
          <a:noFill/>
          <a:ln/>
        </p:spPr>
        <p:txBody>
          <a:bodyPr wrap="square" lIns="0" tIns="0" rIns="0" bIns="0" rtlCol="0" anchor="t"/>
          <a:lstStyle/>
          <a:p>
            <a:pPr algn="l" indent="0" marL="0">
              <a:lnSpc>
                <a:spcPct val="135000"/>
              </a:lnSpc>
              <a:buNone/>
            </a:pPr>
            <a:r>
              <a:rPr lang="en-US" sz="1050" dirty="0">
                <a:solidFill>
                  <a:srgbClr val="16181B"/>
                </a:solidFill>
                <a:latin typeface="Inter" pitchFamily="34" charset="0"/>
                <a:ea typeface="Inter" pitchFamily="34" charset="-122"/>
                <a:cs typeface="Inter" pitchFamily="34" charset="-120"/>
              </a:rPr>
              <a:t>Claude Code + 3 parallel builders; Pill → Figma plugin</a:t>
            </a:r>
            <a:endParaRPr lang="en-US" sz="1050" dirty="0"/>
          </a:p>
        </p:txBody>
      </p:sp>
      <p:sp>
        <p:nvSpPr>
          <p:cNvPr id="47" name="Text 44"/>
          <p:cNvSpPr/>
          <p:nvPr/>
        </p:nvSpPr>
        <p:spPr>
          <a:xfrm>
            <a:off x="5587990" y="5118080"/>
            <a:ext cx="952530" cy="215890"/>
          </a:xfrm>
          <a:prstGeom prst="rect">
            <a:avLst/>
          </a:prstGeom>
          <a:noFill/>
          <a:ln/>
        </p:spPr>
        <p:txBody>
          <a:bodyPr wrap="square" lIns="0" tIns="0" rIns="0" bIns="0" rtlCol="0" anchor="t"/>
          <a:lstStyle/>
          <a:p>
            <a:pPr algn="l" indent="0" marL="0">
              <a:lnSpc>
                <a:spcPct val="140000"/>
              </a:lnSpc>
              <a:buNone/>
            </a:pPr>
            <a:r>
              <a:rPr lang="en-US" sz="1050" dirty="0">
                <a:solidFill>
                  <a:srgbClr val="16181B"/>
                </a:solidFill>
                <a:latin typeface="JetBrains Mono" pitchFamily="34" charset="0"/>
                <a:ea typeface="JetBrains Mono" pitchFamily="34" charset="-122"/>
                <a:cs typeface="JetBrains Mono" pitchFamily="34" charset="-120"/>
              </a:rPr>
              <a:t>≈92 min</a:t>
            </a:r>
            <a:endParaRPr lang="en-US" sz="1050" dirty="0"/>
          </a:p>
        </p:txBody>
      </p:sp>
      <p:sp>
        <p:nvSpPr>
          <p:cNvPr id="48" name="Text 45"/>
          <p:cNvSpPr/>
          <p:nvPr/>
        </p:nvSpPr>
        <p:spPr>
          <a:xfrm>
            <a:off x="6603980" y="5118080"/>
            <a:ext cx="825520" cy="228600"/>
          </a:xfrm>
          <a:prstGeom prst="rect">
            <a:avLst/>
          </a:prstGeom>
          <a:noFill/>
          <a:ln/>
        </p:spPr>
        <p:txBody>
          <a:bodyPr wrap="square" lIns="0" tIns="0" rIns="0" bIns="0" rtlCol="0" anchor="t"/>
          <a:lstStyle/>
          <a:p>
            <a:pPr algn="l" indent="0" marL="0">
              <a:lnSpc>
                <a:spcPct val="140000"/>
              </a:lnSpc>
              <a:buNone/>
            </a:pPr>
            <a:r>
              <a:rPr lang="en-US" sz="1100" b="1" dirty="0">
                <a:solidFill>
                  <a:srgbClr val="16181B"/>
                </a:solidFill>
                <a:latin typeface="JetBrains Mono" pitchFamily="34" charset="0"/>
                <a:ea typeface="JetBrains Mono" pitchFamily="34" charset="-122"/>
                <a:cs typeface="JetBrains Mono" pitchFamily="34" charset="-120"/>
              </a:rPr>
              <a:t>4/5</a:t>
            </a:r>
            <a:endParaRPr lang="en-US" sz="1100" dirty="0"/>
          </a:p>
        </p:txBody>
      </p:sp>
      <p:sp>
        <p:nvSpPr>
          <p:cNvPr id="49" name="Shape 47"/>
          <p:cNvSpPr/>
          <p:nvPr/>
        </p:nvSpPr>
        <p:spPr>
          <a:xfrm>
            <a:off x="6603980" y="5372100"/>
            <a:ext cx="603230" cy="177759"/>
          </a:xfrm>
          <a:prstGeom prst="roundRect">
            <a:avLst>
              <a:gd name="adj" fmla="val 50000"/>
            </a:avLst>
          </a:prstGeom>
          <a:solidFill>
            <a:srgbClr val="9AA0A6">
              <a:alpha val="18000"/>
            </a:srgbClr>
          </a:solidFill>
          <a:ln/>
        </p:spPr>
      </p:sp>
      <p:sp>
        <p:nvSpPr>
          <p:cNvPr id="50" name="Text 47"/>
          <p:cNvSpPr/>
          <p:nvPr/>
        </p:nvSpPr>
        <p:spPr>
          <a:xfrm>
            <a:off x="6603980" y="5407670"/>
            <a:ext cx="603230" cy="127010"/>
          </a:xfrm>
          <a:prstGeom prst="rect">
            <a:avLst/>
          </a:prstGeom>
          <a:noFill/>
          <a:ln/>
        </p:spPr>
        <p:txBody>
          <a:bodyPr wrap="square" lIns="0" tIns="0" rIns="0" bIns="0" rtlCol="0" anchor="t"/>
          <a:lstStyle/>
          <a:p>
            <a:pPr algn="ctr" indent="0" marL="0">
              <a:lnSpc>
                <a:spcPct val="120000"/>
              </a:lnSpc>
              <a:buNone/>
            </a:pPr>
            <a:r>
              <a:rPr lang="en-US" sz="700" b="1" spc="42" kern="0" dirty="0">
                <a:solidFill>
                  <a:srgbClr val="16181B"/>
                </a:solidFill>
                <a:latin typeface="JetBrains Mono" pitchFamily="34" charset="0"/>
                <a:ea typeface="JetBrains Mono" pitchFamily="34" charset="-122"/>
                <a:cs typeface="JetBrains Mono" pitchFamily="34" charset="-120"/>
              </a:rPr>
              <a:t>PENDING</a:t>
            </a:r>
            <a:endParaRPr lang="en-US" sz="700" dirty="0"/>
          </a:p>
        </p:txBody>
      </p:sp>
      <p:sp>
        <p:nvSpPr>
          <p:cNvPr id="51" name="Text 48"/>
          <p:cNvSpPr/>
          <p:nvPr/>
        </p:nvSpPr>
        <p:spPr>
          <a:xfrm>
            <a:off x="7492959" y="5105370"/>
            <a:ext cx="2095530" cy="38734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P6 hold rule bug; double deploy; REST API can’t draw</a:t>
            </a:r>
            <a:endParaRPr lang="en-US" sz="1050" dirty="0"/>
          </a:p>
        </p:txBody>
      </p:sp>
      <p:sp>
        <p:nvSpPr>
          <p:cNvPr id="52" name="Text 49"/>
          <p:cNvSpPr/>
          <p:nvPr/>
        </p:nvSpPr>
        <p:spPr>
          <a:xfrm>
            <a:off x="9715500" y="5105370"/>
            <a:ext cx="1714500" cy="38734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App, payment service, this deck</a:t>
            </a:r>
            <a:endParaRPr lang="en-US" sz="1050" dirty="0"/>
          </a:p>
        </p:txBody>
      </p:sp>
      <p:sp>
        <p:nvSpPr>
          <p:cNvPr id="53" name="Shape 51"/>
          <p:cNvSpPr/>
          <p:nvPr/>
        </p:nvSpPr>
        <p:spPr>
          <a:xfrm>
            <a:off x="761970" y="5905470"/>
            <a:ext cx="10668030" cy="12710"/>
          </a:xfrm>
          <a:prstGeom prst="rect">
            <a:avLst/>
          </a:prstGeom>
          <a:solidFill>
            <a:srgbClr val="16181B">
              <a:alpha val="10000"/>
            </a:srgbClr>
          </a:solidFill>
          <a:ln/>
        </p:spPr>
      </p:sp>
      <p:sp>
        <p:nvSpPr>
          <p:cNvPr id="54" name="Text 51"/>
          <p:cNvSpPr/>
          <p:nvPr/>
        </p:nvSpPr>
        <p:spPr>
          <a:xfrm>
            <a:off x="761970" y="6057900"/>
            <a:ext cx="10668030" cy="177759"/>
          </a:xfrm>
          <a:prstGeom prst="rect">
            <a:avLst/>
          </a:prstGeom>
          <a:noFill/>
          <a:ln/>
        </p:spPr>
        <p:txBody>
          <a:bodyPr wrap="square" lIns="0" tIns="0" rIns="0" bIns="0" rtlCol="0" anchor="t"/>
          <a:lstStyle/>
          <a:p>
            <a:pPr algn="l" indent="0" marL="0">
              <a:lnSpc>
                <a:spcPct val="140000"/>
              </a:lnSpc>
              <a:buNone/>
            </a:pPr>
            <a:r>
              <a:rPr lang="en-US" sz="850" dirty="0">
                <a:solidFill>
                  <a:srgbClr val="7C8188"/>
                </a:solidFill>
                <a:latin typeface="JetBrains Mono" pitchFamily="34" charset="0"/>
                <a:ea typeface="JetBrains Mono" pitchFamily="34" charset="-122"/>
                <a:cs typeface="JetBrains Mono" pitchFamily="34" charset="-120"/>
              </a:rPr>
              <a:t>PENDING = the Figma step is written but not yet run; its minutes and rating stay blank in the log, not estimated.</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WHAT BROKE</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17 / 21</a:t>
            </a:r>
            <a:endParaRPr lang="en-US" sz="900" dirty="0"/>
          </a:p>
        </p:txBody>
      </p:sp>
      <p:sp>
        <p:nvSpPr>
          <p:cNvPr id="8" name="Shape 6"/>
          <p:cNvSpPr/>
          <p:nvPr/>
        </p:nvSpPr>
        <p:spPr>
          <a:xfrm>
            <a:off x="761970" y="6413510"/>
            <a:ext cx="10668030" cy="12710"/>
          </a:xfrm>
          <a:prstGeom prst="rect">
            <a:avLst/>
          </a:prstGeom>
          <a:solidFill>
            <a:srgbClr val="16181B">
              <a:alpha val="10000"/>
            </a:srgbClr>
          </a:solidFill>
          <a:ln/>
        </p:spPr>
      </p:sp>
      <p:sp>
        <p:nvSpPr>
          <p:cNvPr id="9" name="Text 6"/>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0" name="Title"/>
          <p:cNvSpPr/>
          <p:nvPr/>
        </p:nvSpPr>
        <p:spPr>
          <a:xfrm>
            <a:off x="761970" y="952530"/>
            <a:ext cx="9525030" cy="552480"/>
          </a:xfrm>
          <a:prstGeom prst="rect">
            <a:avLst/>
          </a:prstGeom>
          <a:noFill/>
          <a:ln/>
        </p:spPr>
        <p:txBody>
          <a:bodyPr wrap="square" lIns="0" tIns="0" rIns="0" bIns="0" rtlCol="0" anchor="t"/>
          <a:lstStyle/>
          <a:p>
            <a:pPr algn="l" indent="0" marL="0">
              <a:lnSpc>
                <a:spcPct val="100000"/>
              </a:lnSpc>
              <a:buNone/>
            </a:pPr>
            <a:r>
              <a:rPr lang="en-US" sz="3588" spc="-54" kern="0" dirty="0">
                <a:solidFill>
                  <a:srgbClr val="16181B"/>
                </a:solidFill>
                <a:latin typeface="Instrument Serif" pitchFamily="34" charset="0"/>
                <a:ea typeface="Instrument Serif" pitchFamily="34" charset="-122"/>
                <a:cs typeface="Instrument Serif" pitchFamily="34" charset="-120"/>
              </a:rPr>
              <a:t>What broke, </a:t>
            </a:r>
            <a:pPr algn="l" indent="0" marL="0">
              <a:lnSpc>
                <a:spcPct val="100000"/>
              </a:lnSpc>
              <a:buNone/>
            </a:pPr>
            <a:r>
              <a:rPr lang="en-US" sz="3588" i="1" spc="-54" kern="0" dirty="0">
                <a:solidFill>
                  <a:srgbClr val="16181B"/>
                </a:solidFill>
                <a:latin typeface="Instrument Serif" pitchFamily="34" charset="0"/>
                <a:ea typeface="Instrument Serif" pitchFamily="34" charset="-122"/>
                <a:cs typeface="Instrument Serif" pitchFamily="34" charset="-120"/>
              </a:rPr>
              <a:t>and what it changed.</a:t>
            </a:r>
            <a:endParaRPr lang="en-US" sz="3588" dirty="0"/>
          </a:p>
        </p:txBody>
      </p:sp>
      <p:sp>
        <p:nvSpPr>
          <p:cNvPr id="11" name="Shape 9"/>
          <p:cNvSpPr/>
          <p:nvPr/>
        </p:nvSpPr>
        <p:spPr>
          <a:xfrm>
            <a:off x="761970" y="1904970"/>
            <a:ext cx="5206959" cy="1968520"/>
          </a:xfrm>
          <a:prstGeom prst="roundRect">
            <a:avLst>
              <a:gd name="adj" fmla="val 7743"/>
            </a:avLst>
          </a:prstGeom>
          <a:solidFill>
            <a:srgbClr val="FFFFFF"/>
          </a:solidFill>
          <a:ln w="12700">
            <a:solidFill>
              <a:srgbClr val="16181B">
                <a:alpha val="10000"/>
              </a:srgbClr>
            </a:solidFill>
            <a:prstDash val="solid"/>
          </a:ln>
        </p:spPr>
      </p:sp>
      <p:sp>
        <p:nvSpPr>
          <p:cNvPr id="12" name="Shape 10"/>
          <p:cNvSpPr/>
          <p:nvPr/>
        </p:nvSpPr>
        <p:spPr>
          <a:xfrm>
            <a:off x="990570" y="2133570"/>
            <a:ext cx="355610" cy="38130"/>
          </a:xfrm>
          <a:prstGeom prst="roundRect">
            <a:avLst>
              <a:gd name="adj" fmla="val 49881"/>
            </a:avLst>
          </a:prstGeom>
          <a:solidFill>
            <a:srgbClr val="E09A3A"/>
          </a:solidFill>
          <a:ln/>
        </p:spPr>
      </p:sp>
      <p:sp>
        <p:nvSpPr>
          <p:cNvPr id="13" name="Text 10"/>
          <p:cNvSpPr/>
          <p:nvPr/>
        </p:nvSpPr>
        <p:spPr>
          <a:xfrm>
            <a:off x="990570" y="2311420"/>
            <a:ext cx="4749759" cy="298460"/>
          </a:xfrm>
          <a:prstGeom prst="rect">
            <a:avLst/>
          </a:prstGeom>
          <a:noFill/>
          <a:ln/>
        </p:spPr>
        <p:txBody>
          <a:bodyPr wrap="square" lIns="0" tIns="0" rIns="0" bIns="0" rtlCol="0" anchor="t"/>
          <a:lstStyle/>
          <a:p>
            <a:pPr algn="l" indent="0" marL="0">
              <a:lnSpc>
                <a:spcPct val="125000"/>
              </a:lnSpc>
              <a:buNone/>
            </a:pPr>
            <a:r>
              <a:rPr lang="en-US" sz="1600" b="1" dirty="0">
                <a:solidFill>
                  <a:srgbClr val="16181B"/>
                </a:solidFill>
                <a:latin typeface="Inter" pitchFamily="34" charset="0"/>
                <a:ea typeface="Inter" pitchFamily="34" charset="-122"/>
                <a:cs typeface="Inter" pitchFamily="34" charset="-120"/>
              </a:rPr>
              <a:t>The P6 hold rule</a:t>
            </a:r>
            <a:endParaRPr lang="en-US" sz="1600" dirty="0"/>
          </a:p>
        </p:txBody>
      </p:sp>
      <p:sp>
        <p:nvSpPr>
          <p:cNvPr id="14" name="Text 11"/>
          <p:cNvSpPr/>
          <p:nvPr/>
        </p:nvSpPr>
        <p:spPr>
          <a:xfrm>
            <a:off x="990570" y="2654320"/>
            <a:ext cx="4749759" cy="666780"/>
          </a:xfrm>
          <a:prstGeom prst="rect">
            <a:avLst/>
          </a:prstGeom>
          <a:noFill/>
          <a:ln/>
        </p:spPr>
        <p:txBody>
          <a:bodyPr wrap="square" lIns="0" tIns="0" rIns="0" bIns="0" rtlCol="0" anchor="t"/>
          <a:lstStyle/>
          <a:p>
            <a:pPr algn="l" indent="0" marL="0">
              <a:lnSpc>
                <a:spcPct val="145000"/>
              </a:lnSpc>
              <a:buNone/>
            </a:pPr>
            <a:r>
              <a:rPr lang="en-US" sz="1150" dirty="0">
                <a:solidFill>
                  <a:srgbClr val="4A4E55"/>
                </a:solidFill>
                <a:latin typeface="Inter" pitchFamily="34" charset="0"/>
                <a:ea typeface="Inter" pitchFamily="34" charset="-122"/>
                <a:cs typeface="Inter" pitchFamily="34" charset="-120"/>
              </a:rPr>
              <a:t>The scaffold held money only when the recall lookup was unreachable, so a delivery with no bottle attached could be proposed for release.</a:t>
            </a:r>
            <a:endParaRPr lang="en-US" sz="1150" dirty="0"/>
          </a:p>
        </p:txBody>
      </p:sp>
      <p:sp>
        <p:nvSpPr>
          <p:cNvPr id="15" name="Shape 13"/>
          <p:cNvSpPr/>
          <p:nvPr/>
        </p:nvSpPr>
        <p:spPr>
          <a:xfrm>
            <a:off x="990570" y="3403580"/>
            <a:ext cx="4749759" cy="12710"/>
          </a:xfrm>
          <a:prstGeom prst="rect">
            <a:avLst/>
          </a:prstGeom>
          <a:solidFill>
            <a:srgbClr val="16181B">
              <a:alpha val="10000"/>
            </a:srgbClr>
          </a:solidFill>
          <a:ln/>
        </p:spPr>
      </p:sp>
      <p:sp>
        <p:nvSpPr>
          <p:cNvPr id="16" name="Text 13"/>
          <p:cNvSpPr/>
          <p:nvPr/>
        </p:nvSpPr>
        <p:spPr>
          <a:xfrm>
            <a:off x="990570" y="3517880"/>
            <a:ext cx="4749759" cy="184160"/>
          </a:xfrm>
          <a:prstGeom prst="rect">
            <a:avLst/>
          </a:prstGeom>
          <a:noFill/>
          <a:ln/>
        </p:spPr>
        <p:txBody>
          <a:bodyPr wrap="square" lIns="0" tIns="0" rIns="0" bIns="0" rtlCol="0" anchor="t"/>
          <a:lstStyle/>
          <a:p>
            <a:pPr algn="l" indent="0" marL="0">
              <a:lnSpc>
                <a:spcPct val="140000"/>
              </a:lnSpc>
              <a:buNone/>
            </a:pPr>
            <a:r>
              <a:rPr lang="en-US" sz="900" dirty="0">
                <a:solidFill>
                  <a:srgbClr val="16181B"/>
                </a:solidFill>
                <a:latin typeface="JetBrains Mono" pitchFamily="34" charset="0"/>
                <a:ea typeface="JetBrains Mono" pitchFamily="34" charset="-122"/>
                <a:cs typeface="JetBrains Mono" pitchFamily="34" charset="-120"/>
              </a:rPr>
              <a:t>Caught by a builder’s end-to-end test.</a:t>
            </a:r>
            <a:endParaRPr lang="en-US" sz="900" dirty="0"/>
          </a:p>
        </p:txBody>
      </p:sp>
      <p:sp>
        <p:nvSpPr>
          <p:cNvPr id="17" name="Shape 15"/>
          <p:cNvSpPr/>
          <p:nvPr/>
        </p:nvSpPr>
        <p:spPr>
          <a:xfrm>
            <a:off x="6223041" y="1904970"/>
            <a:ext cx="5206959" cy="1968520"/>
          </a:xfrm>
          <a:prstGeom prst="roundRect">
            <a:avLst>
              <a:gd name="adj" fmla="val 7743"/>
            </a:avLst>
          </a:prstGeom>
          <a:solidFill>
            <a:srgbClr val="FFFFFF"/>
          </a:solidFill>
          <a:ln w="12700">
            <a:solidFill>
              <a:srgbClr val="16181B">
                <a:alpha val="10000"/>
              </a:srgbClr>
            </a:solidFill>
            <a:prstDash val="solid"/>
          </a:ln>
        </p:spPr>
      </p:sp>
      <p:sp>
        <p:nvSpPr>
          <p:cNvPr id="18" name="Shape 16"/>
          <p:cNvSpPr/>
          <p:nvPr/>
        </p:nvSpPr>
        <p:spPr>
          <a:xfrm>
            <a:off x="6451641" y="2133570"/>
            <a:ext cx="355610" cy="38130"/>
          </a:xfrm>
          <a:prstGeom prst="roundRect">
            <a:avLst>
              <a:gd name="adj" fmla="val 49881"/>
            </a:avLst>
          </a:prstGeom>
          <a:solidFill>
            <a:srgbClr val="E09A3A"/>
          </a:solidFill>
          <a:ln/>
        </p:spPr>
      </p:sp>
      <p:sp>
        <p:nvSpPr>
          <p:cNvPr id="19" name="Text 16"/>
          <p:cNvSpPr/>
          <p:nvPr/>
        </p:nvSpPr>
        <p:spPr>
          <a:xfrm>
            <a:off x="6451641" y="2311420"/>
            <a:ext cx="4749759" cy="298460"/>
          </a:xfrm>
          <a:prstGeom prst="rect">
            <a:avLst/>
          </a:prstGeom>
          <a:noFill/>
          <a:ln/>
        </p:spPr>
        <p:txBody>
          <a:bodyPr wrap="square" lIns="0" tIns="0" rIns="0" bIns="0" rtlCol="0" anchor="t"/>
          <a:lstStyle/>
          <a:p>
            <a:pPr algn="l" indent="0" marL="0">
              <a:lnSpc>
                <a:spcPct val="125000"/>
              </a:lnSpc>
              <a:buNone/>
            </a:pPr>
            <a:r>
              <a:rPr lang="en-US" sz="1600" b="1" dirty="0">
                <a:solidFill>
                  <a:srgbClr val="16181B"/>
                </a:solidFill>
                <a:latin typeface="Inter" pitchFamily="34" charset="0"/>
                <a:ea typeface="Inter" pitchFamily="34" charset="-122"/>
                <a:cs typeface="Inter" pitchFamily="34" charset="-120"/>
              </a:rPr>
              <a:t>A double deploy</a:t>
            </a:r>
            <a:endParaRPr lang="en-US" sz="1600" dirty="0"/>
          </a:p>
        </p:txBody>
      </p:sp>
      <p:sp>
        <p:nvSpPr>
          <p:cNvPr id="20" name="Text 17"/>
          <p:cNvSpPr/>
          <p:nvPr/>
        </p:nvSpPr>
        <p:spPr>
          <a:xfrm>
            <a:off x="6451641" y="2654320"/>
            <a:ext cx="4749759" cy="457200"/>
          </a:xfrm>
          <a:prstGeom prst="rect">
            <a:avLst/>
          </a:prstGeom>
          <a:noFill/>
          <a:ln/>
        </p:spPr>
        <p:txBody>
          <a:bodyPr wrap="square" lIns="0" tIns="0" rIns="0" bIns="0" rtlCol="0" anchor="t"/>
          <a:lstStyle/>
          <a:p>
            <a:pPr algn="l" indent="0" marL="0">
              <a:lnSpc>
                <a:spcPct val="145000"/>
              </a:lnSpc>
              <a:buNone/>
            </a:pPr>
            <a:r>
              <a:rPr lang="en-US" sz="1150" dirty="0">
                <a:solidFill>
                  <a:srgbClr val="4A4E55"/>
                </a:solidFill>
                <a:latin typeface="Inter" pitchFamily="34" charset="0"/>
                <a:ea typeface="Inter" pitchFamily="34" charset="-122"/>
                <a:cs typeface="Inter" pitchFamily="34" charset="-120"/>
              </a:rPr>
              <a:t>A `tail -6` cut off Vercel’s output, the deploy looked unfinished and was re-run: two identical production deploys.</a:t>
            </a:r>
            <a:endParaRPr lang="en-US" sz="1150" dirty="0"/>
          </a:p>
        </p:txBody>
      </p:sp>
      <p:sp>
        <p:nvSpPr>
          <p:cNvPr id="21" name="Shape 19"/>
          <p:cNvSpPr/>
          <p:nvPr/>
        </p:nvSpPr>
        <p:spPr>
          <a:xfrm>
            <a:off x="6451641" y="3403580"/>
            <a:ext cx="4749759" cy="12710"/>
          </a:xfrm>
          <a:prstGeom prst="rect">
            <a:avLst/>
          </a:prstGeom>
          <a:solidFill>
            <a:srgbClr val="16181B">
              <a:alpha val="10000"/>
            </a:srgbClr>
          </a:solidFill>
          <a:ln/>
        </p:spPr>
      </p:sp>
      <p:sp>
        <p:nvSpPr>
          <p:cNvPr id="22" name="Text 19"/>
          <p:cNvSpPr/>
          <p:nvPr/>
        </p:nvSpPr>
        <p:spPr>
          <a:xfrm>
            <a:off x="6451641" y="3517880"/>
            <a:ext cx="4749759" cy="184160"/>
          </a:xfrm>
          <a:prstGeom prst="rect">
            <a:avLst/>
          </a:prstGeom>
          <a:noFill/>
          <a:ln/>
        </p:spPr>
        <p:txBody>
          <a:bodyPr wrap="square" lIns="0" tIns="0" rIns="0" bIns="0" rtlCol="0" anchor="t"/>
          <a:lstStyle/>
          <a:p>
            <a:pPr algn="l" indent="0" marL="0">
              <a:lnSpc>
                <a:spcPct val="140000"/>
              </a:lnSpc>
              <a:buNone/>
            </a:pPr>
            <a:r>
              <a:rPr lang="en-US" sz="900" dirty="0">
                <a:solidFill>
                  <a:srgbClr val="16181B"/>
                </a:solidFill>
                <a:latin typeface="JetBrains Mono" pitchFamily="34" charset="0"/>
                <a:ea typeface="JetBrains Mono" pitchFamily="34" charset="-122"/>
                <a:cs typeface="JetBrains Mono" pitchFamily="34" charset="-120"/>
              </a:rPr>
              <a:t>Read the whole log before re-running.</a:t>
            </a:r>
            <a:endParaRPr lang="en-US" sz="900" dirty="0"/>
          </a:p>
        </p:txBody>
      </p:sp>
      <p:sp>
        <p:nvSpPr>
          <p:cNvPr id="23" name="Shape 21"/>
          <p:cNvSpPr/>
          <p:nvPr/>
        </p:nvSpPr>
        <p:spPr>
          <a:xfrm>
            <a:off x="761970" y="4063959"/>
            <a:ext cx="5206959" cy="1968520"/>
          </a:xfrm>
          <a:prstGeom prst="roundRect">
            <a:avLst>
              <a:gd name="adj" fmla="val 7743"/>
            </a:avLst>
          </a:prstGeom>
          <a:solidFill>
            <a:srgbClr val="FFFFFF"/>
          </a:solidFill>
          <a:ln w="12700">
            <a:solidFill>
              <a:srgbClr val="16181B">
                <a:alpha val="10000"/>
              </a:srgbClr>
            </a:solidFill>
            <a:prstDash val="solid"/>
          </a:ln>
        </p:spPr>
      </p:sp>
      <p:sp>
        <p:nvSpPr>
          <p:cNvPr id="24" name="Shape 22"/>
          <p:cNvSpPr/>
          <p:nvPr/>
        </p:nvSpPr>
        <p:spPr>
          <a:xfrm>
            <a:off x="990570" y="4292559"/>
            <a:ext cx="355610" cy="38130"/>
          </a:xfrm>
          <a:prstGeom prst="roundRect">
            <a:avLst>
              <a:gd name="adj" fmla="val 49881"/>
            </a:avLst>
          </a:prstGeom>
          <a:solidFill>
            <a:srgbClr val="E09A3A"/>
          </a:solidFill>
          <a:ln/>
        </p:spPr>
      </p:sp>
      <p:sp>
        <p:nvSpPr>
          <p:cNvPr id="25" name="Text 22"/>
          <p:cNvSpPr/>
          <p:nvPr/>
        </p:nvSpPr>
        <p:spPr>
          <a:xfrm>
            <a:off x="990570" y="4470410"/>
            <a:ext cx="4749759" cy="298460"/>
          </a:xfrm>
          <a:prstGeom prst="rect">
            <a:avLst/>
          </a:prstGeom>
          <a:noFill/>
          <a:ln/>
        </p:spPr>
        <p:txBody>
          <a:bodyPr wrap="square" lIns="0" tIns="0" rIns="0" bIns="0" rtlCol="0" anchor="t"/>
          <a:lstStyle/>
          <a:p>
            <a:pPr algn="l" indent="0" marL="0">
              <a:lnSpc>
                <a:spcPct val="125000"/>
              </a:lnSpc>
              <a:buNone/>
            </a:pPr>
            <a:r>
              <a:rPr lang="en-US" sz="1600" b="1" dirty="0">
                <a:solidFill>
                  <a:srgbClr val="16181B"/>
                </a:solidFill>
                <a:latin typeface="Inter" pitchFamily="34" charset="0"/>
                <a:ea typeface="Inter" pitchFamily="34" charset="-122"/>
                <a:cs typeface="Inter" pitchFamily="34" charset="-120"/>
              </a:rPr>
              <a:t>The REST API can’t draw</a:t>
            </a:r>
            <a:endParaRPr lang="en-US" sz="1600" dirty="0"/>
          </a:p>
        </p:txBody>
      </p:sp>
      <p:sp>
        <p:nvSpPr>
          <p:cNvPr id="26" name="Text 23"/>
          <p:cNvSpPr/>
          <p:nvPr/>
        </p:nvSpPr>
        <p:spPr>
          <a:xfrm>
            <a:off x="990570" y="4813310"/>
            <a:ext cx="4749759" cy="457200"/>
          </a:xfrm>
          <a:prstGeom prst="rect">
            <a:avLst/>
          </a:prstGeom>
          <a:noFill/>
          <a:ln/>
        </p:spPr>
        <p:txBody>
          <a:bodyPr wrap="square" lIns="0" tIns="0" rIns="0" bIns="0" rtlCol="0" anchor="t"/>
          <a:lstStyle/>
          <a:p>
            <a:pPr algn="l" indent="0" marL="0">
              <a:lnSpc>
                <a:spcPct val="145000"/>
              </a:lnSpc>
              <a:buNone/>
            </a:pPr>
            <a:r>
              <a:rPr lang="en-US" sz="1150" dirty="0">
                <a:solidFill>
                  <a:srgbClr val="4A4E55"/>
                </a:solidFill>
                <a:latin typeface="Inter" pitchFamily="34" charset="0"/>
                <a:ea typeface="Inter" pitchFamily="34" charset="-122"/>
                <a:cs typeface="Inter" pitchFamily="34" charset="-120"/>
              </a:rPr>
              <a:t>The Figma REST API and our Composio connector read, comment and set variables. Neither can create a layer or a slide.</a:t>
            </a:r>
            <a:endParaRPr lang="en-US" sz="1150" dirty="0"/>
          </a:p>
        </p:txBody>
      </p:sp>
      <p:sp>
        <p:nvSpPr>
          <p:cNvPr id="27" name="Shape 25"/>
          <p:cNvSpPr/>
          <p:nvPr/>
        </p:nvSpPr>
        <p:spPr>
          <a:xfrm>
            <a:off x="990570" y="5562570"/>
            <a:ext cx="4749759" cy="12710"/>
          </a:xfrm>
          <a:prstGeom prst="rect">
            <a:avLst/>
          </a:prstGeom>
          <a:solidFill>
            <a:srgbClr val="16181B">
              <a:alpha val="10000"/>
            </a:srgbClr>
          </a:solidFill>
          <a:ln/>
        </p:spPr>
      </p:sp>
      <p:sp>
        <p:nvSpPr>
          <p:cNvPr id="28" name="Text 25"/>
          <p:cNvSpPr/>
          <p:nvPr/>
        </p:nvSpPr>
        <p:spPr>
          <a:xfrm>
            <a:off x="990570" y="5676870"/>
            <a:ext cx="4749759" cy="184160"/>
          </a:xfrm>
          <a:prstGeom prst="rect">
            <a:avLst/>
          </a:prstGeom>
          <a:noFill/>
          <a:ln/>
        </p:spPr>
        <p:txBody>
          <a:bodyPr wrap="square" lIns="0" tIns="0" rIns="0" bIns="0" rtlCol="0" anchor="t"/>
          <a:lstStyle/>
          <a:p>
            <a:pPr algn="l" indent="0" marL="0">
              <a:lnSpc>
                <a:spcPct val="140000"/>
              </a:lnSpc>
              <a:buNone/>
            </a:pPr>
            <a:r>
              <a:rPr lang="en-US" sz="900" dirty="0">
                <a:solidFill>
                  <a:srgbClr val="16181B"/>
                </a:solidFill>
                <a:latin typeface="JetBrains Mono" pitchFamily="34" charset="0"/>
                <a:ea typeface="JetBrains Mono" pitchFamily="34" charset="-122"/>
                <a:cs typeface="JetBrains Mono" pitchFamily="34" charset="-120"/>
              </a:rPr>
              <a:t>So the repo emits deck.json and a plugin draws it.</a:t>
            </a:r>
            <a:endParaRPr lang="en-US" sz="900" dirty="0"/>
          </a:p>
        </p:txBody>
      </p:sp>
      <p:sp>
        <p:nvSpPr>
          <p:cNvPr id="29" name="Shape 27"/>
          <p:cNvSpPr/>
          <p:nvPr/>
        </p:nvSpPr>
        <p:spPr>
          <a:xfrm>
            <a:off x="6223041" y="4063959"/>
            <a:ext cx="5206959" cy="1968520"/>
          </a:xfrm>
          <a:prstGeom prst="roundRect">
            <a:avLst>
              <a:gd name="adj" fmla="val 7743"/>
            </a:avLst>
          </a:prstGeom>
          <a:solidFill>
            <a:srgbClr val="FFFFFF"/>
          </a:solidFill>
          <a:ln w="12700">
            <a:solidFill>
              <a:srgbClr val="16181B">
                <a:alpha val="10000"/>
              </a:srgbClr>
            </a:solidFill>
            <a:prstDash val="solid"/>
          </a:ln>
        </p:spPr>
      </p:sp>
      <p:sp>
        <p:nvSpPr>
          <p:cNvPr id="30" name="Shape 28"/>
          <p:cNvSpPr/>
          <p:nvPr/>
        </p:nvSpPr>
        <p:spPr>
          <a:xfrm>
            <a:off x="6451641" y="4292559"/>
            <a:ext cx="355610" cy="38130"/>
          </a:xfrm>
          <a:prstGeom prst="roundRect">
            <a:avLst>
              <a:gd name="adj" fmla="val 49881"/>
            </a:avLst>
          </a:prstGeom>
          <a:solidFill>
            <a:srgbClr val="E09A3A"/>
          </a:solidFill>
          <a:ln/>
        </p:spPr>
      </p:sp>
      <p:sp>
        <p:nvSpPr>
          <p:cNvPr id="31" name="Text 28"/>
          <p:cNvSpPr/>
          <p:nvPr/>
        </p:nvSpPr>
        <p:spPr>
          <a:xfrm>
            <a:off x="6451641" y="4470410"/>
            <a:ext cx="4749759" cy="298460"/>
          </a:xfrm>
          <a:prstGeom prst="rect">
            <a:avLst/>
          </a:prstGeom>
          <a:noFill/>
          <a:ln/>
        </p:spPr>
        <p:txBody>
          <a:bodyPr wrap="square" lIns="0" tIns="0" rIns="0" bIns="0" rtlCol="0" anchor="t"/>
          <a:lstStyle/>
          <a:p>
            <a:pPr algn="l" indent="0" marL="0">
              <a:lnSpc>
                <a:spcPct val="125000"/>
              </a:lnSpc>
              <a:buNone/>
            </a:pPr>
            <a:r>
              <a:rPr lang="en-US" sz="1600" b="1" dirty="0">
                <a:solidFill>
                  <a:srgbClr val="16181B"/>
                </a:solidFill>
                <a:latin typeface="Inter" pitchFamily="34" charset="0"/>
                <a:ea typeface="Inter" pitchFamily="34" charset="-122"/>
                <a:cs typeface="Inter" pitchFamily="34" charset="-120"/>
              </a:rPr>
              <a:t>8 of 27 tokens survived the hand copy</a:t>
            </a:r>
            <a:endParaRPr lang="en-US" sz="1600" dirty="0"/>
          </a:p>
        </p:txBody>
      </p:sp>
      <p:sp>
        <p:nvSpPr>
          <p:cNvPr id="32" name="Text 29"/>
          <p:cNvSpPr/>
          <p:nvPr/>
        </p:nvSpPr>
        <p:spPr>
          <a:xfrm>
            <a:off x="6451641" y="4813310"/>
            <a:ext cx="4749759" cy="457200"/>
          </a:xfrm>
          <a:prstGeom prst="rect">
            <a:avLst/>
          </a:prstGeom>
          <a:noFill/>
          <a:ln/>
        </p:spPr>
        <p:txBody>
          <a:bodyPr wrap="square" lIns="0" tIns="0" rIns="0" bIns="0" rtlCol="0" anchor="t"/>
          <a:lstStyle/>
          <a:p>
            <a:pPr algn="l" indent="0" marL="0">
              <a:lnSpc>
                <a:spcPct val="145000"/>
              </a:lnSpc>
              <a:buNone/>
            </a:pPr>
            <a:r>
              <a:rPr lang="en-US" sz="1150" dirty="0">
                <a:solidFill>
                  <a:srgbClr val="4A4E55"/>
                </a:solidFill>
                <a:latin typeface="Inter" pitchFamily="34" charset="0"/>
                <a:ea typeface="Inter" pitchFamily="34" charset="-122"/>
                <a:cs typeface="Inter" pitchFamily="34" charset="-120"/>
              </a:rPr>
              <a:t>Site → app by hand: 8 identical, 7 changed value, 12 renamed or dropped. Nothing recorded which changes were meant.</a:t>
            </a:r>
            <a:endParaRPr lang="en-US" sz="1150" dirty="0"/>
          </a:p>
        </p:txBody>
      </p:sp>
      <p:sp>
        <p:nvSpPr>
          <p:cNvPr id="33" name="Shape 31"/>
          <p:cNvSpPr/>
          <p:nvPr/>
        </p:nvSpPr>
        <p:spPr>
          <a:xfrm>
            <a:off x="6451641" y="5562570"/>
            <a:ext cx="4749759" cy="12710"/>
          </a:xfrm>
          <a:prstGeom prst="rect">
            <a:avLst/>
          </a:prstGeom>
          <a:solidFill>
            <a:srgbClr val="16181B">
              <a:alpha val="10000"/>
            </a:srgbClr>
          </a:solidFill>
          <a:ln/>
        </p:spPr>
      </p:sp>
      <p:sp>
        <p:nvSpPr>
          <p:cNvPr id="34" name="Text 31"/>
          <p:cNvSpPr/>
          <p:nvPr/>
        </p:nvSpPr>
        <p:spPr>
          <a:xfrm>
            <a:off x="6451641" y="5676870"/>
            <a:ext cx="4749759" cy="184160"/>
          </a:xfrm>
          <a:prstGeom prst="rect">
            <a:avLst/>
          </a:prstGeom>
          <a:noFill/>
          <a:ln/>
        </p:spPr>
        <p:txBody>
          <a:bodyPr wrap="square" lIns="0" tIns="0" rIns="0" bIns="0" rtlCol="0" anchor="t"/>
          <a:lstStyle/>
          <a:p>
            <a:pPr algn="l" indent="0" marL="0">
              <a:lnSpc>
                <a:spcPct val="140000"/>
              </a:lnSpc>
              <a:buNone/>
            </a:pPr>
            <a:r>
              <a:rPr lang="en-US" sz="900" dirty="0">
                <a:solidFill>
                  <a:srgbClr val="16181B"/>
                </a:solidFill>
                <a:latin typeface="JetBrains Mono" pitchFamily="34" charset="0"/>
                <a:ea typeface="JetBrains Mono" pitchFamily="34" charset="-122"/>
                <a:cs typeface="JetBrains Mono" pitchFamily="34" charset="-120"/>
              </a:rPr>
              <a:t>Tokens now go to Figma as variables and back as CSS.</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BEFORE AND AFTER</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18 / 21</a:t>
            </a:r>
            <a:endParaRPr lang="en-US" sz="900" dirty="0"/>
          </a:p>
        </p:txBody>
      </p:sp>
      <p:sp>
        <p:nvSpPr>
          <p:cNvPr id="8" name="Shape 6"/>
          <p:cNvSpPr/>
          <p:nvPr/>
        </p:nvSpPr>
        <p:spPr>
          <a:xfrm>
            <a:off x="761970" y="6413510"/>
            <a:ext cx="10668030" cy="12710"/>
          </a:xfrm>
          <a:prstGeom prst="rect">
            <a:avLst/>
          </a:prstGeom>
          <a:solidFill>
            <a:srgbClr val="16181B">
              <a:alpha val="10000"/>
            </a:srgbClr>
          </a:solidFill>
          <a:ln/>
        </p:spPr>
      </p:sp>
      <p:sp>
        <p:nvSpPr>
          <p:cNvPr id="9" name="Text 6"/>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0" name="Title"/>
          <p:cNvSpPr/>
          <p:nvPr/>
        </p:nvSpPr>
        <p:spPr>
          <a:xfrm>
            <a:off x="761970" y="952530"/>
            <a:ext cx="9525030" cy="552480"/>
          </a:xfrm>
          <a:prstGeom prst="rect">
            <a:avLst/>
          </a:prstGeom>
          <a:noFill/>
          <a:ln/>
        </p:spPr>
        <p:txBody>
          <a:bodyPr wrap="square" lIns="0" tIns="0" rIns="0" bIns="0" rtlCol="0" anchor="t"/>
          <a:lstStyle/>
          <a:p>
            <a:pPr algn="l" indent="0" marL="0">
              <a:lnSpc>
                <a:spcPct val="100000"/>
              </a:lnSpc>
              <a:buNone/>
            </a:pPr>
            <a:r>
              <a:rPr lang="en-US" sz="3588" spc="-54" kern="0" dirty="0">
                <a:solidFill>
                  <a:srgbClr val="16181B"/>
                </a:solidFill>
                <a:latin typeface="Instrument Serif" pitchFamily="34" charset="0"/>
                <a:ea typeface="Instrument Serif" pitchFamily="34" charset="-122"/>
                <a:cs typeface="Instrument Serif" pitchFamily="34" charset="-120"/>
              </a:rPr>
              <a:t>From hours to one click.</a:t>
            </a:r>
            <a:endParaRPr lang="en-US" sz="3588" dirty="0"/>
          </a:p>
        </p:txBody>
      </p:sp>
      <p:sp>
        <p:nvSpPr>
          <p:cNvPr id="11" name="Shape 9"/>
          <p:cNvSpPr/>
          <p:nvPr/>
        </p:nvSpPr>
        <p:spPr>
          <a:xfrm>
            <a:off x="761970" y="1879641"/>
            <a:ext cx="1377909" cy="215890"/>
          </a:xfrm>
          <a:prstGeom prst="roundRect">
            <a:avLst>
              <a:gd name="adj" fmla="val 50021"/>
            </a:avLst>
          </a:prstGeom>
          <a:solidFill>
            <a:srgbClr val="FFFFFF"/>
          </a:solidFill>
          <a:ln w="12700">
            <a:solidFill>
              <a:srgbClr val="16181B">
                <a:alpha val="18000"/>
              </a:srgbClr>
            </a:solidFill>
            <a:prstDash val="solid"/>
          </a:ln>
        </p:spPr>
      </p:sp>
      <p:sp>
        <p:nvSpPr>
          <p:cNvPr id="12" name="Text 9"/>
          <p:cNvSpPr/>
          <p:nvPr/>
        </p:nvSpPr>
        <p:spPr>
          <a:xfrm>
            <a:off x="761970" y="1922800"/>
            <a:ext cx="1377909" cy="152430"/>
          </a:xfrm>
          <a:prstGeom prst="rect">
            <a:avLst/>
          </a:prstGeom>
          <a:noFill/>
          <a:ln/>
        </p:spPr>
        <p:txBody>
          <a:bodyPr wrap="square" lIns="0" tIns="0" rIns="0" bIns="0" rtlCol="0" anchor="t"/>
          <a:lstStyle/>
          <a:p>
            <a:pPr algn="ctr" indent="0" marL="0">
              <a:lnSpc>
                <a:spcPct val="120000"/>
              </a:lnSpc>
              <a:buNone/>
            </a:pPr>
            <a:r>
              <a:rPr lang="en-US" sz="850" b="1" spc="51" kern="0" dirty="0">
                <a:solidFill>
                  <a:srgbClr val="16181B"/>
                </a:solidFill>
                <a:latin typeface="JetBrains Mono" pitchFamily="34" charset="0"/>
                <a:ea typeface="JetBrains Mono" pitchFamily="34" charset="-122"/>
                <a:cs typeface="JetBrains Mono" pitchFamily="34" charset="-120"/>
              </a:rPr>
              <a:t>BEFORE · BY HAND</a:t>
            </a:r>
            <a:endParaRPr lang="en-US" sz="850" dirty="0"/>
          </a:p>
        </p:txBody>
      </p:sp>
      <p:sp>
        <p:nvSpPr>
          <p:cNvPr id="13" name="Shape 11"/>
          <p:cNvSpPr/>
          <p:nvPr/>
        </p:nvSpPr>
        <p:spPr>
          <a:xfrm>
            <a:off x="2228850" y="1879641"/>
            <a:ext cx="914400" cy="215890"/>
          </a:xfrm>
          <a:prstGeom prst="roundRect">
            <a:avLst>
              <a:gd name="adj" fmla="val 50021"/>
            </a:avLst>
          </a:prstGeom>
          <a:solidFill>
            <a:srgbClr val="E09A3A">
              <a:alpha val="16000"/>
            </a:srgbClr>
          </a:solidFill>
          <a:ln/>
        </p:spPr>
      </p:sp>
      <p:sp>
        <p:nvSpPr>
          <p:cNvPr id="14" name="Shape 12"/>
          <p:cNvSpPr/>
          <p:nvPr/>
        </p:nvSpPr>
        <p:spPr>
          <a:xfrm>
            <a:off x="2336841" y="1962120"/>
            <a:ext cx="57150" cy="57150"/>
          </a:xfrm>
          <a:prstGeom prst="ellipse">
            <a:avLst/>
          </a:prstGeom>
          <a:solidFill>
            <a:srgbClr val="E09A3A"/>
          </a:solidFill>
          <a:ln/>
        </p:spPr>
      </p:sp>
      <p:sp>
        <p:nvSpPr>
          <p:cNvPr id="15" name="Text 12"/>
          <p:cNvSpPr/>
          <p:nvPr/>
        </p:nvSpPr>
        <p:spPr>
          <a:xfrm>
            <a:off x="2438430" y="1922800"/>
            <a:ext cx="641360" cy="152430"/>
          </a:xfrm>
          <a:prstGeom prst="rect">
            <a:avLst/>
          </a:prstGeom>
          <a:noFill/>
          <a:ln/>
        </p:spPr>
        <p:txBody>
          <a:bodyPr wrap="square" lIns="0" tIns="0" rIns="0" bIns="0" rtlCol="0" anchor="t"/>
          <a:lstStyle/>
          <a:p>
            <a:pPr algn="l" indent="0" marL="0">
              <a:lnSpc>
                <a:spcPct val="120000"/>
              </a:lnSpc>
              <a:buNone/>
            </a:pPr>
            <a:r>
              <a:rPr lang="en-US" sz="850" b="1" spc="51" kern="0" dirty="0">
                <a:solidFill>
                  <a:srgbClr val="16181B"/>
                </a:solidFill>
                <a:latin typeface="JetBrains Mono" pitchFamily="34" charset="0"/>
                <a:ea typeface="JetBrains Mono" pitchFamily="34" charset="-122"/>
                <a:cs typeface="JetBrains Mono" pitchFamily="34" charset="-120"/>
              </a:rPr>
              <a:t>ESTIMATE</a:t>
            </a:r>
            <a:endParaRPr lang="en-US" sz="850" dirty="0"/>
          </a:p>
        </p:txBody>
      </p:sp>
      <p:sp>
        <p:nvSpPr>
          <p:cNvPr id="16" name="Text 13"/>
          <p:cNvSpPr/>
          <p:nvPr/>
        </p:nvSpPr>
        <p:spPr>
          <a:xfrm>
            <a:off x="761970" y="2260580"/>
            <a:ext cx="3174980" cy="622341"/>
          </a:xfrm>
          <a:prstGeom prst="rect">
            <a:avLst/>
          </a:prstGeom>
          <a:noFill/>
          <a:ln/>
        </p:spPr>
        <p:txBody>
          <a:bodyPr wrap="square" lIns="0" tIns="0" rIns="0" bIns="0" rtlCol="0" anchor="t"/>
          <a:lstStyle/>
          <a:p>
            <a:pPr algn="l" indent="0" marL="0">
              <a:lnSpc>
                <a:spcPct val="100000"/>
              </a:lnSpc>
              <a:buNone/>
            </a:pPr>
            <a:r>
              <a:rPr lang="en-US" sz="4056" dirty="0">
                <a:solidFill>
                  <a:srgbClr val="16181B"/>
                </a:solidFill>
                <a:latin typeface="Instrument Serif" pitchFamily="34" charset="0"/>
                <a:ea typeface="Instrument Serif" pitchFamily="34" charset="-122"/>
                <a:cs typeface="Instrument Serif" pitchFamily="34" charset="-120"/>
              </a:rPr>
              <a:t>≈ 14.7 h</a:t>
            </a:r>
            <a:endParaRPr lang="en-US" sz="4056" dirty="0"/>
          </a:p>
        </p:txBody>
      </p:sp>
      <p:sp>
        <p:nvSpPr>
          <p:cNvPr id="17" name="Text 14"/>
          <p:cNvSpPr/>
          <p:nvPr/>
        </p:nvSpPr>
        <p:spPr>
          <a:xfrm>
            <a:off x="4063959" y="2374880"/>
            <a:ext cx="7366041" cy="203180"/>
          </a:xfrm>
          <a:prstGeom prst="rect">
            <a:avLst/>
          </a:prstGeom>
          <a:noFill/>
          <a:ln/>
        </p:spPr>
        <p:txBody>
          <a:bodyPr wrap="square" lIns="0" tIns="0" rIns="0" bIns="0" rtlCol="0" anchor="t"/>
          <a:lstStyle/>
          <a:p>
            <a:pPr algn="l" indent="0" marL="0">
              <a:lnSpc>
                <a:spcPct val="140000"/>
              </a:lnSpc>
              <a:buNone/>
            </a:pPr>
            <a:r>
              <a:rPr lang="en-US" sz="1000" dirty="0">
                <a:solidFill>
                  <a:srgbClr val="16181B"/>
                </a:solidFill>
                <a:latin typeface="JetBrains Mono" pitchFamily="34" charset="0"/>
                <a:ea typeface="JetBrains Mono" pitchFamily="34" charset="-122"/>
                <a:cs typeface="JetBrains Mono" pitchFamily="34" charset="-120"/>
              </a:rPr>
              <a:t>21 slides × 20 min + 421 screenshots × 1 min + 43 tokens × 1 min = 884 min</a:t>
            </a:r>
            <a:endParaRPr lang="en-US" sz="1000" dirty="0"/>
          </a:p>
        </p:txBody>
      </p:sp>
      <p:sp>
        <p:nvSpPr>
          <p:cNvPr id="18" name="Text 15"/>
          <p:cNvSpPr/>
          <p:nvPr/>
        </p:nvSpPr>
        <p:spPr>
          <a:xfrm>
            <a:off x="4063959" y="2616190"/>
            <a:ext cx="7366041" cy="184160"/>
          </a:xfrm>
          <a:prstGeom prst="rect">
            <a:avLst/>
          </a:prstGeom>
          <a:noFill/>
          <a:ln/>
        </p:spPr>
        <p:txBody>
          <a:bodyPr wrap="square" lIns="0" tIns="0" rIns="0" bIns="0" rtlCol="0" anchor="t"/>
          <a:lstStyle/>
          <a:p>
            <a:pPr algn="l" indent="0" marL="0">
              <a:lnSpc>
                <a:spcPct val="140000"/>
              </a:lnSpc>
              <a:buNone/>
            </a:pPr>
            <a:r>
              <a:rPr lang="en-US" sz="900" dirty="0">
                <a:solidFill>
                  <a:srgbClr val="7C8188"/>
                </a:solidFill>
                <a:latin typeface="JetBrains Mono" pitchFamily="34" charset="0"/>
                <a:ea typeface="JetBrains Mono" pitchFamily="34" charset="-122"/>
                <a:cs typeface="JetBrains Mono" pitchFamily="34" charset="-120"/>
              </a:rPr>
              <a:t>Per-unit minutes are our assumption, not a measurement.</a:t>
            </a:r>
            <a:endParaRPr lang="en-US" sz="900" dirty="0"/>
          </a:p>
        </p:txBody>
      </p:sp>
      <p:sp>
        <p:nvSpPr>
          <p:cNvPr id="19" name="Shape 17"/>
          <p:cNvSpPr/>
          <p:nvPr/>
        </p:nvSpPr>
        <p:spPr>
          <a:xfrm>
            <a:off x="761970" y="3086100"/>
            <a:ext cx="10668030" cy="254020"/>
          </a:xfrm>
          <a:prstGeom prst="roundRect">
            <a:avLst>
              <a:gd name="adj" fmla="val 50000"/>
            </a:avLst>
          </a:prstGeom>
          <a:solidFill>
            <a:srgbClr val="E09A3A"/>
          </a:solidFill>
          <a:ln/>
        </p:spPr>
      </p:sp>
      <p:sp>
        <p:nvSpPr>
          <p:cNvPr id="20" name="Shape 18"/>
          <p:cNvSpPr/>
          <p:nvPr/>
        </p:nvSpPr>
        <p:spPr>
          <a:xfrm>
            <a:off x="761970" y="3657600"/>
            <a:ext cx="1517630" cy="215890"/>
          </a:xfrm>
          <a:prstGeom prst="roundRect">
            <a:avLst>
              <a:gd name="adj" fmla="val 50021"/>
            </a:avLst>
          </a:prstGeom>
          <a:solidFill>
            <a:srgbClr val="FFFFFF"/>
          </a:solidFill>
          <a:ln w="12700">
            <a:solidFill>
              <a:srgbClr val="16181B">
                <a:alpha val="18000"/>
              </a:srgbClr>
            </a:solidFill>
            <a:prstDash val="solid"/>
          </a:ln>
        </p:spPr>
      </p:sp>
      <p:sp>
        <p:nvSpPr>
          <p:cNvPr id="21" name="Text 18"/>
          <p:cNvSpPr/>
          <p:nvPr/>
        </p:nvSpPr>
        <p:spPr>
          <a:xfrm>
            <a:off x="761970" y="3700760"/>
            <a:ext cx="1517630" cy="152430"/>
          </a:xfrm>
          <a:prstGeom prst="rect">
            <a:avLst/>
          </a:prstGeom>
          <a:noFill/>
          <a:ln/>
        </p:spPr>
        <p:txBody>
          <a:bodyPr wrap="square" lIns="0" tIns="0" rIns="0" bIns="0" rtlCol="0" anchor="t"/>
          <a:lstStyle/>
          <a:p>
            <a:pPr algn="ctr" indent="0" marL="0">
              <a:lnSpc>
                <a:spcPct val="120000"/>
              </a:lnSpc>
              <a:buNone/>
            </a:pPr>
            <a:r>
              <a:rPr lang="en-US" sz="850" b="1" spc="51" kern="0" dirty="0">
                <a:solidFill>
                  <a:srgbClr val="16181B"/>
                </a:solidFill>
                <a:latin typeface="JetBrains Mono" pitchFamily="34" charset="0"/>
                <a:ea typeface="JetBrains Mono" pitchFamily="34" charset="-122"/>
                <a:cs typeface="JetBrains Mono" pitchFamily="34" charset="-120"/>
              </a:rPr>
              <a:t>AFTER · THE PLUGIN</a:t>
            </a:r>
            <a:endParaRPr lang="en-US" sz="850" dirty="0"/>
          </a:p>
        </p:txBody>
      </p:sp>
      <p:sp>
        <p:nvSpPr>
          <p:cNvPr id="22" name="Shape 20"/>
          <p:cNvSpPr/>
          <p:nvPr/>
        </p:nvSpPr>
        <p:spPr>
          <a:xfrm>
            <a:off x="2368570" y="3657600"/>
            <a:ext cx="914400" cy="215890"/>
          </a:xfrm>
          <a:prstGeom prst="roundRect">
            <a:avLst>
              <a:gd name="adj" fmla="val 50021"/>
            </a:avLst>
          </a:prstGeom>
          <a:solidFill>
            <a:srgbClr val="5FD39A">
              <a:alpha val="16000"/>
            </a:srgbClr>
          </a:solidFill>
          <a:ln/>
        </p:spPr>
      </p:sp>
      <p:sp>
        <p:nvSpPr>
          <p:cNvPr id="23" name="Shape 21"/>
          <p:cNvSpPr/>
          <p:nvPr/>
        </p:nvSpPr>
        <p:spPr>
          <a:xfrm>
            <a:off x="2476470" y="3740170"/>
            <a:ext cx="57150" cy="57150"/>
          </a:xfrm>
          <a:prstGeom prst="ellipse">
            <a:avLst/>
          </a:prstGeom>
          <a:solidFill>
            <a:srgbClr val="5FD39A"/>
          </a:solidFill>
          <a:ln/>
        </p:spPr>
      </p:sp>
      <p:sp>
        <p:nvSpPr>
          <p:cNvPr id="24" name="Text 21"/>
          <p:cNvSpPr/>
          <p:nvPr/>
        </p:nvSpPr>
        <p:spPr>
          <a:xfrm>
            <a:off x="2578059" y="3700760"/>
            <a:ext cx="641360" cy="152430"/>
          </a:xfrm>
          <a:prstGeom prst="rect">
            <a:avLst/>
          </a:prstGeom>
          <a:noFill/>
          <a:ln/>
        </p:spPr>
        <p:txBody>
          <a:bodyPr wrap="square" lIns="0" tIns="0" rIns="0" bIns="0" rtlCol="0" anchor="t"/>
          <a:lstStyle/>
          <a:p>
            <a:pPr algn="l" indent="0" marL="0">
              <a:lnSpc>
                <a:spcPct val="120000"/>
              </a:lnSpc>
              <a:buNone/>
            </a:pPr>
            <a:r>
              <a:rPr lang="en-US" sz="850" b="1" spc="51" kern="0" dirty="0">
                <a:solidFill>
                  <a:srgbClr val="16181B"/>
                </a:solidFill>
                <a:latin typeface="JetBrains Mono" pitchFamily="34" charset="0"/>
                <a:ea typeface="JetBrains Mono" pitchFamily="34" charset="-122"/>
                <a:cs typeface="JetBrains Mono" pitchFamily="34" charset="-120"/>
              </a:rPr>
              <a:t>MEASURED</a:t>
            </a:r>
            <a:endParaRPr lang="en-US" sz="850" dirty="0"/>
          </a:p>
        </p:txBody>
      </p:sp>
      <p:sp>
        <p:nvSpPr>
          <p:cNvPr id="25" name="Text 22"/>
          <p:cNvSpPr/>
          <p:nvPr/>
        </p:nvSpPr>
        <p:spPr>
          <a:xfrm>
            <a:off x="761970" y="4038630"/>
            <a:ext cx="3174980" cy="622341"/>
          </a:xfrm>
          <a:prstGeom prst="rect">
            <a:avLst/>
          </a:prstGeom>
          <a:noFill/>
          <a:ln/>
        </p:spPr>
        <p:txBody>
          <a:bodyPr wrap="square" lIns="0" tIns="0" rIns="0" bIns="0" rtlCol="0" anchor="t"/>
          <a:lstStyle/>
          <a:p>
            <a:pPr algn="l" indent="0" marL="0">
              <a:lnSpc>
                <a:spcPct val="100000"/>
              </a:lnSpc>
              <a:buNone/>
            </a:pPr>
            <a:r>
              <a:rPr lang="en-US" sz="4056" dirty="0">
                <a:solidFill>
                  <a:srgbClr val="16181B"/>
                </a:solidFill>
                <a:latin typeface="Instrument Serif" pitchFamily="34" charset="0"/>
                <a:ea typeface="Instrument Serif" pitchFamily="34" charset="-122"/>
                <a:cs typeface="Instrument Serif" pitchFamily="34" charset="-120"/>
              </a:rPr>
              <a:t>38.1 s</a:t>
            </a:r>
            <a:endParaRPr lang="en-US" sz="4056" dirty="0"/>
          </a:p>
        </p:txBody>
      </p:sp>
      <p:sp>
        <p:nvSpPr>
          <p:cNvPr id="26" name="Text 23"/>
          <p:cNvSpPr/>
          <p:nvPr/>
        </p:nvSpPr>
        <p:spPr>
          <a:xfrm>
            <a:off x="4063959" y="4152930"/>
            <a:ext cx="7366041" cy="381030"/>
          </a:xfrm>
          <a:prstGeom prst="rect">
            <a:avLst/>
          </a:prstGeom>
          <a:noFill/>
          <a:ln/>
        </p:spPr>
        <p:txBody>
          <a:bodyPr wrap="square" lIns="0" tIns="0" rIns="0" bIns="0" rtlCol="0" anchor="t"/>
          <a:lstStyle/>
          <a:p>
            <a:pPr algn="l" indent="0" marL="0">
              <a:lnSpc>
                <a:spcPct val="140000"/>
              </a:lnSpc>
              <a:buNone/>
            </a:pPr>
            <a:r>
              <a:rPr lang="en-US" sz="1000" dirty="0">
                <a:solidFill>
                  <a:srgbClr val="16181B"/>
                </a:solidFill>
                <a:latin typeface="JetBrains Mono" pitchFamily="34" charset="0"/>
                <a:ea typeface="JetBrains Mono" pitchFamily="34" charset="-122"/>
                <a:cs typeface="JetBrains Mono" pitchFamily="34" charset="-120"/>
              </a:rPr>
              <a:t>repo → deck.json + deck.html, cold build on this machine (6.1 s this run). Plugin logic on a stub Figma API: 22 ms Slides · 274 ms Design · 4 ms FigJam.</a:t>
            </a:r>
            <a:endParaRPr lang="en-US" sz="1000" dirty="0"/>
          </a:p>
        </p:txBody>
      </p:sp>
      <p:sp>
        <p:nvSpPr>
          <p:cNvPr id="27" name="Text 24"/>
          <p:cNvSpPr/>
          <p:nvPr/>
        </p:nvSpPr>
        <p:spPr>
          <a:xfrm>
            <a:off x="4063959" y="4572000"/>
            <a:ext cx="7366041" cy="184160"/>
          </a:xfrm>
          <a:prstGeom prst="rect">
            <a:avLst/>
          </a:prstGeom>
          <a:noFill/>
          <a:ln/>
        </p:spPr>
        <p:txBody>
          <a:bodyPr wrap="square" lIns="0" tIns="0" rIns="0" bIns="0" rtlCol="0" anchor="t"/>
          <a:lstStyle/>
          <a:p>
            <a:pPr algn="l" indent="0" marL="0">
              <a:lnSpc>
                <a:spcPct val="140000"/>
              </a:lnSpc>
              <a:buNone/>
            </a:pPr>
            <a:r>
              <a:rPr lang="en-US" sz="900" dirty="0">
                <a:solidFill>
                  <a:srgbClr val="7C8188"/>
                </a:solidFill>
                <a:latin typeface="JetBrains Mono" pitchFamily="34" charset="0"/>
                <a:ea typeface="JetBrains Mono" pitchFamily="34" charset="-122"/>
                <a:cs typeface="JetBrains Mono" pitchFamily="34" charset="-120"/>
              </a:rPr>
              <a:t>Plugin run in real Figma: [fill after running]</a:t>
            </a:r>
            <a:endParaRPr lang="en-US" sz="900" dirty="0"/>
          </a:p>
        </p:txBody>
      </p:sp>
      <p:sp>
        <p:nvSpPr>
          <p:cNvPr id="28" name="Shape 26"/>
          <p:cNvSpPr/>
          <p:nvPr/>
        </p:nvSpPr>
        <p:spPr>
          <a:xfrm>
            <a:off x="761970" y="4864059"/>
            <a:ext cx="10668030" cy="254020"/>
          </a:xfrm>
          <a:prstGeom prst="roundRect">
            <a:avLst>
              <a:gd name="adj" fmla="val 50000"/>
            </a:avLst>
          </a:prstGeom>
          <a:solidFill>
            <a:srgbClr val="16181B">
              <a:alpha val="5000"/>
            </a:srgbClr>
          </a:solidFill>
          <a:ln/>
        </p:spPr>
      </p:sp>
      <p:sp>
        <p:nvSpPr>
          <p:cNvPr id="29" name="Shape 27"/>
          <p:cNvSpPr/>
          <p:nvPr/>
        </p:nvSpPr>
        <p:spPr>
          <a:xfrm>
            <a:off x="761970" y="4864059"/>
            <a:ext cx="76170" cy="254020"/>
          </a:xfrm>
          <a:prstGeom prst="roundRect">
            <a:avLst>
              <a:gd name="adj" fmla="val 50060"/>
            </a:avLst>
          </a:prstGeom>
          <a:solidFill>
            <a:srgbClr val="5FD39A"/>
          </a:solidFill>
          <a:ln/>
        </p:spPr>
      </p:sp>
      <p:sp>
        <p:nvSpPr>
          <p:cNvPr id="30" name="Text 27"/>
          <p:cNvSpPr/>
          <p:nvPr/>
        </p:nvSpPr>
        <p:spPr>
          <a:xfrm>
            <a:off x="965241" y="4927610"/>
            <a:ext cx="5715000" cy="165141"/>
          </a:xfrm>
          <a:prstGeom prst="rect">
            <a:avLst/>
          </a:prstGeom>
          <a:noFill/>
          <a:ln/>
        </p:spPr>
        <p:txBody>
          <a:bodyPr wrap="square" lIns="0" tIns="0" rIns="0" bIns="0" rtlCol="0" anchor="t"/>
          <a:lstStyle/>
          <a:p>
            <a:pPr algn="l" indent="0" marL="0">
              <a:lnSpc>
                <a:spcPct val="140000"/>
              </a:lnSpc>
              <a:buNone/>
            </a:pPr>
            <a:r>
              <a:rPr lang="en-US" sz="800" dirty="0">
                <a:solidFill>
                  <a:srgbClr val="7C8188"/>
                </a:solidFill>
                <a:latin typeface="JetBrains Mono" pitchFamily="34" charset="0"/>
                <a:ea typeface="JetBrains Mono" pitchFamily="34" charset="-122"/>
                <a:cs typeface="JetBrains Mono" pitchFamily="34" charset="-120"/>
              </a:rPr>
              <a:t>bars to scale · after = cold build time</a:t>
            </a:r>
            <a:endParaRPr lang="en-US" sz="800" dirty="0"/>
          </a:p>
        </p:txBody>
      </p:sp>
      <p:sp>
        <p:nvSpPr>
          <p:cNvPr id="31" name="Shape 29"/>
          <p:cNvSpPr/>
          <p:nvPr/>
        </p:nvSpPr>
        <p:spPr>
          <a:xfrm>
            <a:off x="761970" y="5460980"/>
            <a:ext cx="10668030" cy="12710"/>
          </a:xfrm>
          <a:prstGeom prst="rect">
            <a:avLst/>
          </a:prstGeom>
          <a:solidFill>
            <a:srgbClr val="16181B">
              <a:alpha val="10000"/>
            </a:srgbClr>
          </a:solidFill>
          <a:ln/>
        </p:spPr>
      </p:sp>
      <p:sp>
        <p:nvSpPr>
          <p:cNvPr id="32" name="Text 29"/>
          <p:cNvSpPr/>
          <p:nvPr/>
        </p:nvSpPr>
        <p:spPr>
          <a:xfrm>
            <a:off x="761970" y="5613410"/>
            <a:ext cx="10668030" cy="457200"/>
          </a:xfrm>
          <a:prstGeom prst="rect">
            <a:avLst/>
          </a:prstGeom>
          <a:noFill/>
          <a:ln/>
        </p:spPr>
        <p:txBody>
          <a:bodyPr wrap="square" lIns="0" tIns="0" rIns="0" bIns="0" rtlCol="0" anchor="t"/>
          <a:lstStyle/>
          <a:p>
            <a:pPr algn="l" indent="0" marL="0">
              <a:lnSpc>
                <a:spcPct val="145000"/>
              </a:lnSpc>
              <a:buNone/>
            </a:pPr>
            <a:r>
              <a:rPr lang="en-US" sz="1150" dirty="0">
                <a:solidFill>
                  <a:srgbClr val="4A4E55"/>
                </a:solidFill>
                <a:latin typeface="Inter" pitchFamily="34" charset="0"/>
                <a:ea typeface="Inter" pitchFamily="34" charset="-122"/>
                <a:cs typeface="Inter" pitchFamily="34" charset="-120"/>
              </a:rPr>
              <a:t>Every run places 421 screenshots (303 app, 118 site) and turns 43 CSS variables into Figma styles and variables, with no hand work. By hand, 8 of 27 site tokens reached the app unchanged.</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LIMITS · REAL VS SIMULATED</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19 / 21</a:t>
            </a:r>
            <a:endParaRPr lang="en-US" sz="900" dirty="0"/>
          </a:p>
        </p:txBody>
      </p:sp>
      <p:sp>
        <p:nvSpPr>
          <p:cNvPr id="8" name="Shape 6"/>
          <p:cNvSpPr/>
          <p:nvPr/>
        </p:nvSpPr>
        <p:spPr>
          <a:xfrm>
            <a:off x="761970" y="6413510"/>
            <a:ext cx="10668030" cy="12710"/>
          </a:xfrm>
          <a:prstGeom prst="rect">
            <a:avLst/>
          </a:prstGeom>
          <a:solidFill>
            <a:srgbClr val="16181B">
              <a:alpha val="10000"/>
            </a:srgbClr>
          </a:solidFill>
          <a:ln/>
        </p:spPr>
      </p:sp>
      <p:sp>
        <p:nvSpPr>
          <p:cNvPr id="9" name="Text 6"/>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0" name="Title"/>
          <p:cNvSpPr/>
          <p:nvPr/>
        </p:nvSpPr>
        <p:spPr>
          <a:xfrm>
            <a:off x="761970" y="952530"/>
            <a:ext cx="9525030" cy="1003280"/>
          </a:xfrm>
          <a:prstGeom prst="rect">
            <a:avLst/>
          </a:prstGeom>
          <a:noFill/>
          <a:ln/>
        </p:spPr>
        <p:txBody>
          <a:bodyPr wrap="square" lIns="0" tIns="0" rIns="0" bIns="0" rtlCol="0" anchor="t"/>
          <a:lstStyle/>
          <a:p>
            <a:pPr algn="l" indent="0" marL="0">
              <a:lnSpc>
                <a:spcPct val="100000"/>
              </a:lnSpc>
              <a:buNone/>
            </a:pPr>
            <a:r>
              <a:rPr lang="en-US" sz="3588" spc="-54" kern="0" dirty="0">
                <a:solidFill>
                  <a:srgbClr val="16181B"/>
                </a:solidFill>
                <a:latin typeface="Instrument Serif" pitchFamily="34" charset="0"/>
                <a:ea typeface="Instrument Serif" pitchFamily="34" charset="-122"/>
                <a:cs typeface="Instrument Serif" pitchFamily="34" charset="-120"/>
              </a:rPr>
              <a:t>Pill screens tablets. </a:t>
            </a:r>
            <a:pPr algn="l" indent="0" marL="0">
              <a:lnSpc>
                <a:spcPct val="100000"/>
              </a:lnSpc>
              <a:buNone/>
            </a:pPr>
            <a:r>
              <a:rPr lang="en-US" sz="3588" i="1" spc="-54" kern="0" dirty="0">
                <a:solidFill>
                  <a:srgbClr val="16181B"/>
                </a:solidFill>
                <a:latin typeface="Instrument Serif" pitchFamily="34" charset="0"/>
                <a:ea typeface="Instrument Serif" pitchFamily="34" charset="-122"/>
                <a:cs typeface="Instrument Serif" pitchFamily="34" charset="-120"/>
              </a:rPr>
              <a:t>It does not grade them.</a:t>
            </a:r>
            <a:endParaRPr lang="en-US" sz="3588" dirty="0"/>
          </a:p>
        </p:txBody>
      </p:sp>
      <p:sp>
        <p:nvSpPr>
          <p:cNvPr id="11" name="Shape 9"/>
          <p:cNvSpPr/>
          <p:nvPr/>
        </p:nvSpPr>
        <p:spPr>
          <a:xfrm>
            <a:off x="761970" y="2031980"/>
            <a:ext cx="5143500" cy="1714500"/>
          </a:xfrm>
          <a:prstGeom prst="roundRect">
            <a:avLst>
              <a:gd name="adj" fmla="val 10368"/>
            </a:avLst>
          </a:prstGeom>
          <a:solidFill>
            <a:srgbClr val="5FD39A">
              <a:alpha val="16000"/>
            </a:srgbClr>
          </a:solidFill>
          <a:ln w="12700">
            <a:solidFill>
              <a:srgbClr val="5FD39A">
                <a:alpha val="45000"/>
              </a:srgbClr>
            </a:solidFill>
            <a:prstDash val="solid"/>
          </a:ln>
        </p:spPr>
      </p:sp>
      <p:sp>
        <p:nvSpPr>
          <p:cNvPr id="12" name="Shape 10"/>
          <p:cNvSpPr/>
          <p:nvPr/>
        </p:nvSpPr>
        <p:spPr>
          <a:xfrm>
            <a:off x="1015990" y="2222541"/>
            <a:ext cx="1117580" cy="228600"/>
          </a:xfrm>
          <a:prstGeom prst="roundRect">
            <a:avLst>
              <a:gd name="adj" fmla="val 50000"/>
            </a:avLst>
          </a:prstGeom>
          <a:solidFill>
            <a:srgbClr val="FFFFFF"/>
          </a:solidFill>
          <a:ln/>
        </p:spPr>
      </p:sp>
      <p:sp>
        <p:nvSpPr>
          <p:cNvPr id="13" name="Shape 11"/>
          <p:cNvSpPr/>
          <p:nvPr/>
        </p:nvSpPr>
        <p:spPr>
          <a:xfrm>
            <a:off x="1130290" y="2311420"/>
            <a:ext cx="57150" cy="57150"/>
          </a:xfrm>
          <a:prstGeom prst="ellipse">
            <a:avLst/>
          </a:prstGeom>
          <a:solidFill>
            <a:srgbClr val="5FD39A"/>
          </a:solidFill>
          <a:ln/>
        </p:spPr>
      </p:sp>
      <p:sp>
        <p:nvSpPr>
          <p:cNvPr id="14" name="Text 11"/>
          <p:cNvSpPr/>
          <p:nvPr/>
        </p:nvSpPr>
        <p:spPr>
          <a:xfrm>
            <a:off x="1231880" y="2268261"/>
            <a:ext cx="831830" cy="165141"/>
          </a:xfrm>
          <a:prstGeom prst="rect">
            <a:avLst/>
          </a:prstGeom>
          <a:noFill/>
          <a:ln/>
        </p:spPr>
        <p:txBody>
          <a:bodyPr wrap="square" lIns="0" tIns="0" rIns="0" bIns="0" rtlCol="0" anchor="t"/>
          <a:lstStyle/>
          <a:p>
            <a:pPr algn="l" indent="0" marL="0">
              <a:lnSpc>
                <a:spcPct val="120000"/>
              </a:lnSpc>
              <a:buNone/>
            </a:pPr>
            <a:r>
              <a:rPr lang="en-US" sz="900" b="1" spc="54" kern="0" dirty="0">
                <a:solidFill>
                  <a:srgbClr val="16181B"/>
                </a:solidFill>
                <a:latin typeface="JetBrains Mono" pitchFamily="34" charset="0"/>
                <a:ea typeface="JetBrains Mono" pitchFamily="34" charset="-122"/>
                <a:cs typeface="JetBrains Mono" pitchFamily="34" charset="-120"/>
              </a:rPr>
              <a:t>PASS MEANS</a:t>
            </a:r>
            <a:endParaRPr lang="en-US" sz="900" dirty="0"/>
          </a:p>
        </p:txBody>
      </p:sp>
      <p:sp>
        <p:nvSpPr>
          <p:cNvPr id="15" name="Text 12"/>
          <p:cNvSpPr/>
          <p:nvPr/>
        </p:nvSpPr>
        <p:spPr>
          <a:xfrm>
            <a:off x="1015990" y="2616190"/>
            <a:ext cx="4635459" cy="723930"/>
          </a:xfrm>
          <a:prstGeom prst="rect">
            <a:avLst/>
          </a:prstGeom>
          <a:noFill/>
          <a:ln/>
        </p:spPr>
        <p:txBody>
          <a:bodyPr wrap="square" lIns="0" tIns="0" rIns="0" bIns="0" rtlCol="0" anchor="t"/>
          <a:lstStyle/>
          <a:p>
            <a:pPr algn="l" indent="0" marL="0">
              <a:lnSpc>
                <a:spcPct val="145000"/>
              </a:lnSpc>
              <a:buNone/>
            </a:pPr>
            <a:r>
              <a:rPr lang="en-US" sz="1250" dirty="0">
                <a:solidFill>
                  <a:srgbClr val="16181B"/>
                </a:solidFill>
                <a:latin typeface="Inter" pitchFamily="34" charset="0"/>
                <a:ea typeface="Inter" pitchFamily="34" charset="-122"/>
                <a:cs typeface="Inter" pitchFamily="34" charset="-120"/>
              </a:rPr>
              <a:t>The dissolution curve of this one tablet, on this box, was consistent with the reference runs. No red flags found.</a:t>
            </a:r>
            <a:endParaRPr lang="en-US" sz="1250" dirty="0"/>
          </a:p>
        </p:txBody>
      </p:sp>
      <p:sp>
        <p:nvSpPr>
          <p:cNvPr id="16" name="Shape 14"/>
          <p:cNvSpPr/>
          <p:nvPr/>
        </p:nvSpPr>
        <p:spPr>
          <a:xfrm>
            <a:off x="6286500" y="2031980"/>
            <a:ext cx="5143500" cy="1714500"/>
          </a:xfrm>
          <a:prstGeom prst="roundRect">
            <a:avLst>
              <a:gd name="adj" fmla="val 10368"/>
            </a:avLst>
          </a:prstGeom>
          <a:solidFill>
            <a:srgbClr val="E09A3A">
              <a:alpha val="16000"/>
            </a:srgbClr>
          </a:solidFill>
          <a:ln w="12700">
            <a:solidFill>
              <a:srgbClr val="E09A3A">
                <a:alpha val="40000"/>
              </a:srgbClr>
            </a:solidFill>
            <a:prstDash val="solid"/>
          </a:ln>
        </p:spPr>
      </p:sp>
      <p:sp>
        <p:nvSpPr>
          <p:cNvPr id="17" name="Shape 15"/>
          <p:cNvSpPr/>
          <p:nvPr/>
        </p:nvSpPr>
        <p:spPr>
          <a:xfrm>
            <a:off x="6540520" y="2222541"/>
            <a:ext cx="1720809" cy="228600"/>
          </a:xfrm>
          <a:prstGeom prst="roundRect">
            <a:avLst>
              <a:gd name="adj" fmla="val 50000"/>
            </a:avLst>
          </a:prstGeom>
          <a:solidFill>
            <a:srgbClr val="FFFFFF"/>
          </a:solidFill>
          <a:ln/>
        </p:spPr>
      </p:sp>
      <p:sp>
        <p:nvSpPr>
          <p:cNvPr id="18" name="Shape 16"/>
          <p:cNvSpPr/>
          <p:nvPr/>
        </p:nvSpPr>
        <p:spPr>
          <a:xfrm>
            <a:off x="6654820" y="2311420"/>
            <a:ext cx="57150" cy="57150"/>
          </a:xfrm>
          <a:prstGeom prst="ellipse">
            <a:avLst/>
          </a:prstGeom>
          <a:solidFill>
            <a:srgbClr val="E09A3A"/>
          </a:solidFill>
          <a:ln/>
        </p:spPr>
      </p:sp>
      <p:sp>
        <p:nvSpPr>
          <p:cNvPr id="19" name="Text 16"/>
          <p:cNvSpPr/>
          <p:nvPr/>
        </p:nvSpPr>
        <p:spPr>
          <a:xfrm>
            <a:off x="6756410" y="2268261"/>
            <a:ext cx="1435059" cy="165141"/>
          </a:xfrm>
          <a:prstGeom prst="rect">
            <a:avLst/>
          </a:prstGeom>
          <a:noFill/>
          <a:ln/>
        </p:spPr>
        <p:txBody>
          <a:bodyPr wrap="square" lIns="0" tIns="0" rIns="0" bIns="0" rtlCol="0" anchor="t"/>
          <a:lstStyle/>
          <a:p>
            <a:pPr algn="l" indent="0" marL="0">
              <a:lnSpc>
                <a:spcPct val="120000"/>
              </a:lnSpc>
              <a:buNone/>
            </a:pPr>
            <a:r>
              <a:rPr lang="en-US" sz="900" b="1" spc="54" kern="0" dirty="0">
                <a:solidFill>
                  <a:srgbClr val="16181B"/>
                </a:solidFill>
                <a:latin typeface="JetBrains Mono" pitchFamily="34" charset="0"/>
                <a:ea typeface="JetBrains Mono" pitchFamily="34" charset="-122"/>
                <a:cs typeface="JetBrains Mono" pitchFamily="34" charset="-120"/>
              </a:rPr>
              <a:t>PASS DOES NOT MEAN</a:t>
            </a:r>
            <a:endParaRPr lang="en-US" sz="900" dirty="0"/>
          </a:p>
        </p:txBody>
      </p:sp>
      <p:sp>
        <p:nvSpPr>
          <p:cNvPr id="20" name="Text 17"/>
          <p:cNvSpPr/>
          <p:nvPr/>
        </p:nvSpPr>
        <p:spPr>
          <a:xfrm>
            <a:off x="6540520" y="2616190"/>
            <a:ext cx="4635459" cy="723930"/>
          </a:xfrm>
          <a:prstGeom prst="rect">
            <a:avLst/>
          </a:prstGeom>
          <a:noFill/>
          <a:ln/>
        </p:spPr>
        <p:txBody>
          <a:bodyPr wrap="square" lIns="0" tIns="0" rIns="0" bIns="0" rtlCol="0" anchor="t"/>
          <a:lstStyle/>
          <a:p>
            <a:pPr algn="l" indent="0" marL="0">
              <a:lnSpc>
                <a:spcPct val="145000"/>
              </a:lnSpc>
              <a:buNone/>
            </a:pPr>
            <a:r>
              <a:rPr lang="en-US" sz="1250" dirty="0">
                <a:solidFill>
                  <a:srgbClr val="16181B"/>
                </a:solidFill>
                <a:latin typeface="Inter" pitchFamily="34" charset="0"/>
                <a:ea typeface="Inter" pitchFamily="34" charset="-122"/>
                <a:cs typeface="Inter" pitchFamily="34" charset="-120"/>
              </a:rPr>
              <a:t>That the tablet is the right drug, the right dose, or free of contaminants. Anything Pill cannot compare goes to a lab, by design.</a:t>
            </a:r>
            <a:endParaRPr lang="en-US" sz="1250" dirty="0"/>
          </a:p>
        </p:txBody>
      </p:sp>
      <p:sp>
        <p:nvSpPr>
          <p:cNvPr id="21" name="Text 18"/>
          <p:cNvSpPr/>
          <p:nvPr/>
        </p:nvSpPr>
        <p:spPr>
          <a:xfrm>
            <a:off x="761970" y="4063959"/>
            <a:ext cx="7619970" cy="152430"/>
          </a:xfrm>
          <a:prstGeom prst="rect">
            <a:avLst/>
          </a:prstGeom>
          <a:noFill/>
          <a:ln/>
        </p:spPr>
        <p:txBody>
          <a:bodyPr wrap="square" lIns="0" tIns="0" rIns="0" bIns="0" rtlCol="0" anchor="t"/>
          <a:lstStyle/>
          <a:p>
            <a:pPr algn="l" indent="0" marL="0">
              <a:lnSpc>
                <a:spcPct val="120000"/>
              </a:lnSpc>
              <a:buNone/>
            </a:pPr>
            <a:r>
              <a:rPr lang="en-US" sz="850" spc="119" kern="0" dirty="0">
                <a:solidFill>
                  <a:srgbClr val="7C8188"/>
                </a:solidFill>
                <a:latin typeface="JetBrains Mono" pitchFamily="34" charset="0"/>
                <a:ea typeface="JetBrains Mono" pitchFamily="34" charset="-122"/>
                <a:cs typeface="JetBrains Mono" pitchFamily="34" charset="-120"/>
              </a:rPr>
              <a:t>REAL VS SIMULATED, RIGHT NOW</a:t>
            </a:r>
            <a:endParaRPr lang="en-US" sz="850" dirty="0"/>
          </a:p>
        </p:txBody>
      </p:sp>
      <p:sp>
        <p:nvSpPr>
          <p:cNvPr id="22" name="Shape 20"/>
          <p:cNvSpPr/>
          <p:nvPr/>
        </p:nvSpPr>
        <p:spPr>
          <a:xfrm>
            <a:off x="761970" y="4279941"/>
            <a:ext cx="10668030" cy="6309"/>
          </a:xfrm>
          <a:prstGeom prst="rect">
            <a:avLst/>
          </a:prstGeom>
          <a:solidFill>
            <a:srgbClr val="16181B">
              <a:alpha val="10000"/>
            </a:srgbClr>
          </a:solidFill>
          <a:ln/>
        </p:spPr>
      </p:sp>
      <p:sp>
        <p:nvSpPr>
          <p:cNvPr id="23" name="Text 20"/>
          <p:cNvSpPr/>
          <p:nvPr/>
        </p:nvSpPr>
        <p:spPr>
          <a:xfrm>
            <a:off x="761970" y="4343400"/>
            <a:ext cx="1904970" cy="203180"/>
          </a:xfrm>
          <a:prstGeom prst="rect">
            <a:avLst/>
          </a:prstGeom>
          <a:noFill/>
          <a:ln/>
        </p:spPr>
        <p:txBody>
          <a:bodyPr wrap="square" lIns="0" tIns="0" rIns="0" bIns="0" rtlCol="0" anchor="t"/>
          <a:lstStyle/>
          <a:p>
            <a:pPr algn="l" indent="0" marL="0">
              <a:lnSpc>
                <a:spcPct val="130000"/>
              </a:lnSpc>
              <a:buNone/>
            </a:pPr>
            <a:r>
              <a:rPr lang="en-US" sz="1050" b="1" dirty="0">
                <a:solidFill>
                  <a:srgbClr val="16181B"/>
                </a:solidFill>
                <a:latin typeface="Inter" pitchFamily="34" charset="0"/>
                <a:ea typeface="Inter" pitchFamily="34" charset="-122"/>
                <a:cs typeface="Inter" pitchFamily="34" charset="-120"/>
              </a:rPr>
              <a:t>Station hardware</a:t>
            </a:r>
            <a:endParaRPr lang="en-US" sz="1050" dirty="0"/>
          </a:p>
        </p:txBody>
      </p:sp>
      <p:sp>
        <p:nvSpPr>
          <p:cNvPr id="24" name="Shape 22"/>
          <p:cNvSpPr/>
          <p:nvPr/>
        </p:nvSpPr>
        <p:spPr>
          <a:xfrm>
            <a:off x="2667030" y="4324380"/>
            <a:ext cx="558790" cy="190470"/>
          </a:xfrm>
          <a:prstGeom prst="roundRect">
            <a:avLst>
              <a:gd name="adj" fmla="val 50024"/>
            </a:avLst>
          </a:prstGeom>
          <a:solidFill>
            <a:srgbClr val="5FD39A">
              <a:alpha val="16000"/>
            </a:srgbClr>
          </a:solidFill>
          <a:ln/>
        </p:spPr>
      </p:sp>
      <p:sp>
        <p:nvSpPr>
          <p:cNvPr id="25" name="Shape 23"/>
          <p:cNvSpPr/>
          <p:nvPr/>
        </p:nvSpPr>
        <p:spPr>
          <a:xfrm>
            <a:off x="2762220" y="4394241"/>
            <a:ext cx="50841" cy="50841"/>
          </a:xfrm>
          <a:prstGeom prst="ellipse">
            <a:avLst/>
          </a:prstGeom>
          <a:solidFill>
            <a:srgbClr val="5FD39A"/>
          </a:solidFill>
          <a:ln/>
        </p:spPr>
      </p:sp>
      <p:sp>
        <p:nvSpPr>
          <p:cNvPr id="26" name="Text 23"/>
          <p:cNvSpPr/>
          <p:nvPr/>
        </p:nvSpPr>
        <p:spPr>
          <a:xfrm>
            <a:off x="2851191" y="4362420"/>
            <a:ext cx="317480" cy="133320"/>
          </a:xfrm>
          <a:prstGeom prst="rect">
            <a:avLst/>
          </a:prstGeom>
          <a:noFill/>
          <a:ln/>
        </p:spPr>
        <p:txBody>
          <a:bodyPr wrap="square" lIns="0" tIns="0" rIns="0" bIns="0" rtlCol="0" anchor="t"/>
          <a:lstStyle/>
          <a:p>
            <a:pPr algn="l" indent="0" marL="0">
              <a:lnSpc>
                <a:spcPct val="120000"/>
              </a:lnSpc>
              <a:buNone/>
            </a:pPr>
            <a:r>
              <a:rPr lang="en-US" sz="750" b="1" spc="45" kern="0" dirty="0">
                <a:solidFill>
                  <a:srgbClr val="16181B"/>
                </a:solidFill>
                <a:latin typeface="JetBrains Mono" pitchFamily="34" charset="0"/>
                <a:ea typeface="JetBrains Mono" pitchFamily="34" charset="-122"/>
                <a:cs typeface="JetBrains Mono" pitchFamily="34" charset="-120"/>
              </a:rPr>
              <a:t>REAL</a:t>
            </a:r>
            <a:endParaRPr lang="en-US" sz="750" dirty="0"/>
          </a:p>
        </p:txBody>
      </p:sp>
      <p:sp>
        <p:nvSpPr>
          <p:cNvPr id="27" name="Text 24"/>
          <p:cNvSpPr/>
          <p:nvPr/>
        </p:nvSpPr>
        <p:spPr>
          <a:xfrm>
            <a:off x="4063959" y="4343400"/>
            <a:ext cx="7366041" cy="342900"/>
          </a:xfrm>
          <a:prstGeom prst="rect">
            <a:avLst/>
          </a:prstGeom>
          <a:noFill/>
          <a:ln/>
        </p:spPr>
        <p:txBody>
          <a:bodyPr wrap="square" lIns="0" tIns="0" rIns="0" bIns="0" rtlCol="0" anchor="t"/>
          <a:lstStyle/>
          <a:p>
            <a:pPr algn="l" indent="0" marL="0">
              <a:lnSpc>
                <a:spcPct val="140000"/>
              </a:lnSpc>
              <a:buNone/>
            </a:pPr>
            <a:r>
              <a:rPr lang="en-US" sz="900" dirty="0">
                <a:solidFill>
                  <a:srgbClr val="4A4E55"/>
                </a:solidFill>
                <a:latin typeface="Inter" pitchFamily="34" charset="0"/>
                <a:ea typeface="Inter" pitchFamily="34" charset="-122"/>
                <a:cs typeface="Inter" pitchFamily="34" charset="-120"/>
              </a:rPr>
              <a:t>Arduino UNO Q, 2 photoresistors, blue/white/red LEDs; one CSV line a second. One real aspirin run recorded Saturday. Reference profile not yet recorded.</a:t>
            </a:r>
            <a:endParaRPr lang="en-US" sz="900" dirty="0"/>
          </a:p>
        </p:txBody>
      </p:sp>
      <p:sp>
        <p:nvSpPr>
          <p:cNvPr id="28" name="Shape 26"/>
          <p:cNvSpPr/>
          <p:nvPr/>
        </p:nvSpPr>
        <p:spPr>
          <a:xfrm>
            <a:off x="761970" y="4737141"/>
            <a:ext cx="10668030" cy="6309"/>
          </a:xfrm>
          <a:prstGeom prst="rect">
            <a:avLst/>
          </a:prstGeom>
          <a:solidFill>
            <a:srgbClr val="16181B">
              <a:alpha val="10000"/>
            </a:srgbClr>
          </a:solidFill>
          <a:ln/>
        </p:spPr>
      </p:sp>
      <p:sp>
        <p:nvSpPr>
          <p:cNvPr id="29" name="Text 26"/>
          <p:cNvSpPr/>
          <p:nvPr/>
        </p:nvSpPr>
        <p:spPr>
          <a:xfrm>
            <a:off x="761970" y="4800600"/>
            <a:ext cx="1904970" cy="203180"/>
          </a:xfrm>
          <a:prstGeom prst="rect">
            <a:avLst/>
          </a:prstGeom>
          <a:noFill/>
          <a:ln/>
        </p:spPr>
        <p:txBody>
          <a:bodyPr wrap="square" lIns="0" tIns="0" rIns="0" bIns="0" rtlCol="0" anchor="t"/>
          <a:lstStyle/>
          <a:p>
            <a:pPr algn="l" indent="0" marL="0">
              <a:lnSpc>
                <a:spcPct val="130000"/>
              </a:lnSpc>
              <a:buNone/>
            </a:pPr>
            <a:r>
              <a:rPr lang="en-US" sz="1050" b="1" dirty="0">
                <a:solidFill>
                  <a:srgbClr val="16181B"/>
                </a:solidFill>
                <a:latin typeface="Inter" pitchFamily="34" charset="0"/>
                <a:ea typeface="Inter" pitchFamily="34" charset="-122"/>
                <a:cs typeface="Inter" pitchFamily="34" charset="-120"/>
              </a:rPr>
              <a:t>Station app</a:t>
            </a:r>
            <a:endParaRPr lang="en-US" sz="1050" dirty="0"/>
          </a:p>
        </p:txBody>
      </p:sp>
      <p:sp>
        <p:nvSpPr>
          <p:cNvPr id="30" name="Shape 28"/>
          <p:cNvSpPr/>
          <p:nvPr/>
        </p:nvSpPr>
        <p:spPr>
          <a:xfrm>
            <a:off x="2667030" y="4781580"/>
            <a:ext cx="558790" cy="190470"/>
          </a:xfrm>
          <a:prstGeom prst="roundRect">
            <a:avLst>
              <a:gd name="adj" fmla="val 50024"/>
            </a:avLst>
          </a:prstGeom>
          <a:solidFill>
            <a:srgbClr val="5FD39A">
              <a:alpha val="16000"/>
            </a:srgbClr>
          </a:solidFill>
          <a:ln/>
        </p:spPr>
      </p:sp>
      <p:sp>
        <p:nvSpPr>
          <p:cNvPr id="31" name="Shape 29"/>
          <p:cNvSpPr/>
          <p:nvPr/>
        </p:nvSpPr>
        <p:spPr>
          <a:xfrm>
            <a:off x="2762220" y="4851441"/>
            <a:ext cx="50841" cy="50841"/>
          </a:xfrm>
          <a:prstGeom prst="ellipse">
            <a:avLst/>
          </a:prstGeom>
          <a:solidFill>
            <a:srgbClr val="5FD39A"/>
          </a:solidFill>
          <a:ln/>
        </p:spPr>
      </p:sp>
      <p:sp>
        <p:nvSpPr>
          <p:cNvPr id="32" name="Text 29"/>
          <p:cNvSpPr/>
          <p:nvPr/>
        </p:nvSpPr>
        <p:spPr>
          <a:xfrm>
            <a:off x="2851191" y="4819620"/>
            <a:ext cx="317480" cy="133320"/>
          </a:xfrm>
          <a:prstGeom prst="rect">
            <a:avLst/>
          </a:prstGeom>
          <a:noFill/>
          <a:ln/>
        </p:spPr>
        <p:txBody>
          <a:bodyPr wrap="square" lIns="0" tIns="0" rIns="0" bIns="0" rtlCol="0" anchor="t"/>
          <a:lstStyle/>
          <a:p>
            <a:pPr algn="l" indent="0" marL="0">
              <a:lnSpc>
                <a:spcPct val="120000"/>
              </a:lnSpc>
              <a:buNone/>
            </a:pPr>
            <a:r>
              <a:rPr lang="en-US" sz="750" b="1" spc="45" kern="0" dirty="0">
                <a:solidFill>
                  <a:srgbClr val="16181B"/>
                </a:solidFill>
                <a:latin typeface="JetBrains Mono" pitchFamily="34" charset="0"/>
                <a:ea typeface="JetBrains Mono" pitchFamily="34" charset="-122"/>
                <a:cs typeface="JetBrains Mono" pitchFamily="34" charset="-120"/>
              </a:rPr>
              <a:t>REAL</a:t>
            </a:r>
            <a:endParaRPr lang="en-US" sz="750" dirty="0"/>
          </a:p>
        </p:txBody>
      </p:sp>
      <p:sp>
        <p:nvSpPr>
          <p:cNvPr id="33" name="Text 30"/>
          <p:cNvSpPr/>
          <p:nvPr/>
        </p:nvSpPr>
        <p:spPr>
          <a:xfrm>
            <a:off x="4063959" y="4800600"/>
            <a:ext cx="7366041" cy="342900"/>
          </a:xfrm>
          <a:prstGeom prst="rect">
            <a:avLst/>
          </a:prstGeom>
          <a:noFill/>
          <a:ln/>
        </p:spPr>
        <p:txBody>
          <a:bodyPr wrap="square" lIns="0" tIns="0" rIns="0" bIns="0" rtlCol="0" anchor="t"/>
          <a:lstStyle/>
          <a:p>
            <a:pPr algn="l" indent="0" marL="0">
              <a:lnSpc>
                <a:spcPct val="140000"/>
              </a:lnSpc>
              <a:buNone/>
            </a:pPr>
            <a:r>
              <a:rPr lang="en-US" sz="900" dirty="0">
                <a:solidFill>
                  <a:srgbClr val="4A4E55"/>
                </a:solidFill>
                <a:latin typeface="Inter" pitchFamily="34" charset="0"/>
                <a:ea typeface="Inter" pitchFamily="34" charset="-122"/>
                <a:cs typeface="Inter" pitchFamily="34" charset="-120"/>
              </a:rPr>
              <a:t>Analysis, guided run, lid detection, guardrail; 14 tests pass. Live Claude scan ran Sat 19:19 on scan_1024_191752_f0c2 (replay of the real aspirin run): Unable to verify, no reference profile yet.</a:t>
            </a:r>
            <a:endParaRPr lang="en-US" sz="900" dirty="0"/>
          </a:p>
        </p:txBody>
      </p:sp>
      <p:sp>
        <p:nvSpPr>
          <p:cNvPr id="34" name="Shape 32"/>
          <p:cNvSpPr/>
          <p:nvPr/>
        </p:nvSpPr>
        <p:spPr>
          <a:xfrm>
            <a:off x="761970" y="5194341"/>
            <a:ext cx="10668030" cy="6309"/>
          </a:xfrm>
          <a:prstGeom prst="rect">
            <a:avLst/>
          </a:prstGeom>
          <a:solidFill>
            <a:srgbClr val="16181B">
              <a:alpha val="10000"/>
            </a:srgbClr>
          </a:solidFill>
          <a:ln/>
        </p:spPr>
      </p:sp>
      <p:sp>
        <p:nvSpPr>
          <p:cNvPr id="35" name="Text 32"/>
          <p:cNvSpPr/>
          <p:nvPr/>
        </p:nvSpPr>
        <p:spPr>
          <a:xfrm>
            <a:off x="761970" y="5257800"/>
            <a:ext cx="1904970" cy="203180"/>
          </a:xfrm>
          <a:prstGeom prst="rect">
            <a:avLst/>
          </a:prstGeom>
          <a:noFill/>
          <a:ln/>
        </p:spPr>
        <p:txBody>
          <a:bodyPr wrap="square" lIns="0" tIns="0" rIns="0" bIns="0" rtlCol="0" anchor="t"/>
          <a:lstStyle/>
          <a:p>
            <a:pPr algn="l" indent="0" marL="0">
              <a:lnSpc>
                <a:spcPct val="130000"/>
              </a:lnSpc>
              <a:buNone/>
            </a:pPr>
            <a:r>
              <a:rPr lang="en-US" sz="1050" b="1" dirty="0">
                <a:solidFill>
                  <a:srgbClr val="16181B"/>
                </a:solidFill>
                <a:latin typeface="Inter" pitchFamily="34" charset="0"/>
                <a:ea typeface="Inter" pitchFamily="34" charset="-122"/>
                <a:cs typeface="Inter" pitchFamily="34" charset="-120"/>
              </a:rPr>
              <a:t>Clinic app curves</a:t>
            </a:r>
            <a:endParaRPr lang="en-US" sz="1050" dirty="0"/>
          </a:p>
        </p:txBody>
      </p:sp>
      <p:sp>
        <p:nvSpPr>
          <p:cNvPr id="36" name="Shape 34"/>
          <p:cNvSpPr/>
          <p:nvPr/>
        </p:nvSpPr>
        <p:spPr>
          <a:xfrm>
            <a:off x="2667030" y="5238780"/>
            <a:ext cx="679491" cy="190470"/>
          </a:xfrm>
          <a:prstGeom prst="roundRect">
            <a:avLst>
              <a:gd name="adj" fmla="val 50024"/>
            </a:avLst>
          </a:prstGeom>
          <a:solidFill>
            <a:srgbClr val="4FB3FF">
              <a:alpha val="14000"/>
            </a:srgbClr>
          </a:solidFill>
          <a:ln/>
        </p:spPr>
      </p:sp>
      <p:sp>
        <p:nvSpPr>
          <p:cNvPr id="37" name="Shape 35"/>
          <p:cNvSpPr/>
          <p:nvPr/>
        </p:nvSpPr>
        <p:spPr>
          <a:xfrm>
            <a:off x="2762220" y="5308641"/>
            <a:ext cx="50841" cy="50841"/>
          </a:xfrm>
          <a:prstGeom prst="ellipse">
            <a:avLst/>
          </a:prstGeom>
          <a:solidFill>
            <a:srgbClr val="4FB3FF"/>
          </a:solidFill>
          <a:ln/>
        </p:spPr>
      </p:sp>
      <p:sp>
        <p:nvSpPr>
          <p:cNvPr id="38" name="Text 35"/>
          <p:cNvSpPr/>
          <p:nvPr/>
        </p:nvSpPr>
        <p:spPr>
          <a:xfrm>
            <a:off x="2851191" y="5276820"/>
            <a:ext cx="438180" cy="133320"/>
          </a:xfrm>
          <a:prstGeom prst="rect">
            <a:avLst/>
          </a:prstGeom>
          <a:noFill/>
          <a:ln/>
        </p:spPr>
        <p:txBody>
          <a:bodyPr wrap="square" lIns="0" tIns="0" rIns="0" bIns="0" rtlCol="0" anchor="t"/>
          <a:lstStyle/>
          <a:p>
            <a:pPr algn="l" indent="0" marL="0">
              <a:lnSpc>
                <a:spcPct val="120000"/>
              </a:lnSpc>
              <a:buNone/>
            </a:pPr>
            <a:r>
              <a:rPr lang="en-US" sz="750" b="1" spc="45" kern="0" dirty="0">
                <a:solidFill>
                  <a:srgbClr val="16181B"/>
                </a:solidFill>
                <a:latin typeface="JetBrains Mono" pitchFamily="34" charset="0"/>
                <a:ea typeface="JetBrains Mono" pitchFamily="34" charset="-122"/>
                <a:cs typeface="JetBrains Mono" pitchFamily="34" charset="-120"/>
              </a:rPr>
              <a:t>REPLAY</a:t>
            </a:r>
            <a:endParaRPr lang="en-US" sz="750" dirty="0"/>
          </a:p>
        </p:txBody>
      </p:sp>
      <p:sp>
        <p:nvSpPr>
          <p:cNvPr id="39" name="Text 36"/>
          <p:cNvSpPr/>
          <p:nvPr/>
        </p:nvSpPr>
        <p:spPr>
          <a:xfrm>
            <a:off x="4063959" y="5257800"/>
            <a:ext cx="7366041" cy="184160"/>
          </a:xfrm>
          <a:prstGeom prst="rect">
            <a:avLst/>
          </a:prstGeom>
          <a:noFill/>
          <a:ln/>
        </p:spPr>
        <p:txBody>
          <a:bodyPr wrap="square" lIns="0" tIns="0" rIns="0" bIns="0" rtlCol="0" anchor="t"/>
          <a:lstStyle/>
          <a:p>
            <a:pPr algn="l" indent="0" marL="0">
              <a:lnSpc>
                <a:spcPct val="140000"/>
              </a:lnSpc>
              <a:buNone/>
            </a:pPr>
            <a:r>
              <a:rPr lang="en-US" sz="900" dirty="0">
                <a:solidFill>
                  <a:srgbClr val="4A4E55"/>
                </a:solidFill>
                <a:latin typeface="Inter" pitchFamily="34" charset="0"/>
                <a:ea typeface="Inter" pitchFamily="34" charset="-122"/>
                <a:cs typeface="Inter" pitchFamily="34" charset="-120"/>
              </a:rPr>
              <a:t>Synthetic curves (B2-07, TM-02, B2-LID, AMX-01), labelled REPLAY on screen; the week of history is fixture data.</a:t>
            </a:r>
            <a:endParaRPr lang="en-US" sz="900" dirty="0"/>
          </a:p>
        </p:txBody>
      </p:sp>
      <p:sp>
        <p:nvSpPr>
          <p:cNvPr id="40" name="Shape 38"/>
          <p:cNvSpPr/>
          <p:nvPr/>
        </p:nvSpPr>
        <p:spPr>
          <a:xfrm>
            <a:off x="761970" y="5651541"/>
            <a:ext cx="10668030" cy="6309"/>
          </a:xfrm>
          <a:prstGeom prst="rect">
            <a:avLst/>
          </a:prstGeom>
          <a:solidFill>
            <a:srgbClr val="16181B">
              <a:alpha val="10000"/>
            </a:srgbClr>
          </a:solidFill>
          <a:ln/>
        </p:spPr>
      </p:sp>
      <p:sp>
        <p:nvSpPr>
          <p:cNvPr id="41" name="Text 38"/>
          <p:cNvSpPr/>
          <p:nvPr/>
        </p:nvSpPr>
        <p:spPr>
          <a:xfrm>
            <a:off x="761970" y="5715000"/>
            <a:ext cx="1904970" cy="203180"/>
          </a:xfrm>
          <a:prstGeom prst="rect">
            <a:avLst/>
          </a:prstGeom>
          <a:noFill/>
          <a:ln/>
        </p:spPr>
        <p:txBody>
          <a:bodyPr wrap="square" lIns="0" tIns="0" rIns="0" bIns="0" rtlCol="0" anchor="t"/>
          <a:lstStyle/>
          <a:p>
            <a:pPr algn="l" indent="0" marL="0">
              <a:lnSpc>
                <a:spcPct val="130000"/>
              </a:lnSpc>
              <a:buNone/>
            </a:pPr>
            <a:r>
              <a:rPr lang="en-US" sz="1050" b="1" dirty="0">
                <a:solidFill>
                  <a:srgbClr val="16181B"/>
                </a:solidFill>
                <a:latin typeface="Inter" pitchFamily="34" charset="0"/>
                <a:ea typeface="Inter" pitchFamily="34" charset="-122"/>
                <a:cs typeface="Inter" pitchFamily="34" charset="-120"/>
              </a:rPr>
              <a:t>Escrow · money</a:t>
            </a:r>
            <a:endParaRPr lang="en-US" sz="1050" dirty="0"/>
          </a:p>
        </p:txBody>
      </p:sp>
      <p:sp>
        <p:nvSpPr>
          <p:cNvPr id="42" name="Shape 40"/>
          <p:cNvSpPr/>
          <p:nvPr/>
        </p:nvSpPr>
        <p:spPr>
          <a:xfrm>
            <a:off x="2667030" y="5695980"/>
            <a:ext cx="869960" cy="190470"/>
          </a:xfrm>
          <a:prstGeom prst="roundRect">
            <a:avLst>
              <a:gd name="adj" fmla="val 50024"/>
            </a:avLst>
          </a:prstGeom>
          <a:solidFill>
            <a:srgbClr val="9AA0A6">
              <a:alpha val="18000"/>
            </a:srgbClr>
          </a:solidFill>
          <a:ln/>
        </p:spPr>
      </p:sp>
      <p:sp>
        <p:nvSpPr>
          <p:cNvPr id="43" name="Shape 41"/>
          <p:cNvSpPr/>
          <p:nvPr/>
        </p:nvSpPr>
        <p:spPr>
          <a:xfrm>
            <a:off x="2762220" y="5765841"/>
            <a:ext cx="50841" cy="50841"/>
          </a:xfrm>
          <a:prstGeom prst="ellipse">
            <a:avLst/>
          </a:prstGeom>
          <a:solidFill>
            <a:srgbClr val="9AA0A6"/>
          </a:solidFill>
          <a:ln/>
        </p:spPr>
      </p:sp>
      <p:sp>
        <p:nvSpPr>
          <p:cNvPr id="44" name="Text 41"/>
          <p:cNvSpPr/>
          <p:nvPr/>
        </p:nvSpPr>
        <p:spPr>
          <a:xfrm>
            <a:off x="2851191" y="5734020"/>
            <a:ext cx="628650" cy="133320"/>
          </a:xfrm>
          <a:prstGeom prst="rect">
            <a:avLst/>
          </a:prstGeom>
          <a:noFill/>
          <a:ln/>
        </p:spPr>
        <p:txBody>
          <a:bodyPr wrap="square" lIns="0" tIns="0" rIns="0" bIns="0" rtlCol="0" anchor="t"/>
          <a:lstStyle/>
          <a:p>
            <a:pPr algn="l" indent="0" marL="0">
              <a:lnSpc>
                <a:spcPct val="120000"/>
              </a:lnSpc>
              <a:buNone/>
            </a:pPr>
            <a:r>
              <a:rPr lang="en-US" sz="750" b="1" spc="45" kern="0" dirty="0">
                <a:solidFill>
                  <a:srgbClr val="16181B"/>
                </a:solidFill>
                <a:latin typeface="JetBrains Mono" pitchFamily="34" charset="0"/>
                <a:ea typeface="JetBrains Mono" pitchFamily="34" charset="-122"/>
                <a:cs typeface="JetBrains Mono" pitchFamily="34" charset="-120"/>
              </a:rPr>
              <a:t>SIMULATED</a:t>
            </a:r>
            <a:endParaRPr lang="en-US" sz="750" dirty="0"/>
          </a:p>
        </p:txBody>
      </p:sp>
      <p:sp>
        <p:nvSpPr>
          <p:cNvPr id="45" name="Text 42"/>
          <p:cNvSpPr/>
          <p:nvPr/>
        </p:nvSpPr>
        <p:spPr>
          <a:xfrm>
            <a:off x="4063959" y="5715000"/>
            <a:ext cx="7366041" cy="184160"/>
          </a:xfrm>
          <a:prstGeom prst="rect">
            <a:avLst/>
          </a:prstGeom>
          <a:noFill/>
          <a:ln/>
        </p:spPr>
        <p:txBody>
          <a:bodyPr wrap="square" lIns="0" tIns="0" rIns="0" bIns="0" rtlCol="0" anchor="t"/>
          <a:lstStyle/>
          <a:p>
            <a:pPr algn="l" indent="0" marL="0">
              <a:lnSpc>
                <a:spcPct val="140000"/>
              </a:lnSpc>
              <a:buNone/>
            </a:pPr>
            <a:r>
              <a:rPr lang="en-US" sz="900" dirty="0">
                <a:solidFill>
                  <a:srgbClr val="4A4E55"/>
                </a:solidFill>
                <a:latin typeface="Inter" pitchFamily="34" charset="0"/>
                <a:ea typeface="Inter" pitchFamily="34" charset="-122"/>
                <a:cs typeface="Inter" pitchFamily="34" charset="-120"/>
              </a:rPr>
              <a:t>Hold / release / refund simulated until a CDP key; the x402 402 and its signature check are real. SANDBOX / TESTNET only.</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TRACKS</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20 / 21</a:t>
            </a:r>
            <a:endParaRPr lang="en-US" sz="900" dirty="0"/>
          </a:p>
        </p:txBody>
      </p:sp>
      <p:sp>
        <p:nvSpPr>
          <p:cNvPr id="8" name="Shape 6"/>
          <p:cNvSpPr/>
          <p:nvPr/>
        </p:nvSpPr>
        <p:spPr>
          <a:xfrm>
            <a:off x="761970" y="6413510"/>
            <a:ext cx="10668030" cy="12710"/>
          </a:xfrm>
          <a:prstGeom prst="rect">
            <a:avLst/>
          </a:prstGeom>
          <a:solidFill>
            <a:srgbClr val="16181B">
              <a:alpha val="10000"/>
            </a:srgbClr>
          </a:solidFill>
          <a:ln/>
        </p:spPr>
      </p:sp>
      <p:sp>
        <p:nvSpPr>
          <p:cNvPr id="9" name="Text 6"/>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0" name="Title"/>
          <p:cNvSpPr/>
          <p:nvPr/>
        </p:nvSpPr>
        <p:spPr>
          <a:xfrm>
            <a:off x="761970" y="952530"/>
            <a:ext cx="8889980" cy="571500"/>
          </a:xfrm>
          <a:prstGeom prst="rect">
            <a:avLst/>
          </a:prstGeom>
          <a:noFill/>
          <a:ln/>
        </p:spPr>
        <p:txBody>
          <a:bodyPr wrap="square" lIns="0" tIns="0" rIns="0" bIns="0" rtlCol="0" anchor="t"/>
          <a:lstStyle/>
          <a:p>
            <a:pPr algn="l" indent="0" marL="0">
              <a:lnSpc>
                <a:spcPct val="100000"/>
              </a:lnSpc>
              <a:buNone/>
            </a:pPr>
            <a:r>
              <a:rPr lang="en-US" sz="3744" spc="-56" kern="0" dirty="0">
                <a:solidFill>
                  <a:srgbClr val="16181B"/>
                </a:solidFill>
                <a:latin typeface="Instrument Serif" pitchFamily="34" charset="0"/>
                <a:ea typeface="Instrument Serif" pitchFamily="34" charset="-122"/>
                <a:cs typeface="Instrument Serif" pitchFamily="34" charset="-120"/>
              </a:rPr>
              <a:t>One build, many judges.</a:t>
            </a:r>
            <a:endParaRPr lang="en-US" sz="3744" dirty="0"/>
          </a:p>
        </p:txBody>
      </p:sp>
      <p:sp>
        <p:nvSpPr>
          <p:cNvPr id="11" name="Shape 9"/>
          <p:cNvSpPr/>
          <p:nvPr/>
        </p:nvSpPr>
        <p:spPr>
          <a:xfrm>
            <a:off x="761970" y="1968520"/>
            <a:ext cx="3429000" cy="888980"/>
          </a:xfrm>
          <a:prstGeom prst="roundRect">
            <a:avLst>
              <a:gd name="adj" fmla="val 14287"/>
            </a:avLst>
          </a:prstGeom>
          <a:solidFill>
            <a:srgbClr val="FFFFFF"/>
          </a:solidFill>
          <a:ln w="12700">
            <a:solidFill>
              <a:srgbClr val="16181B">
                <a:alpha val="10000"/>
              </a:srgbClr>
            </a:solidFill>
            <a:prstDash val="solid"/>
          </a:ln>
        </p:spPr>
      </p:sp>
      <p:sp>
        <p:nvSpPr>
          <p:cNvPr id="12" name="Shape 10"/>
          <p:cNvSpPr/>
          <p:nvPr/>
        </p:nvSpPr>
        <p:spPr>
          <a:xfrm>
            <a:off x="901690" y="2133570"/>
            <a:ext cx="38130" cy="558790"/>
          </a:xfrm>
          <a:prstGeom prst="roundRect">
            <a:avLst>
              <a:gd name="adj" fmla="val 49881"/>
            </a:avLst>
          </a:prstGeom>
          <a:solidFill>
            <a:srgbClr val="7A5CFF"/>
          </a:solidFill>
          <a:ln/>
        </p:spPr>
      </p:sp>
      <p:sp>
        <p:nvSpPr>
          <p:cNvPr id="13" name="Text 10"/>
          <p:cNvSpPr/>
          <p:nvPr/>
        </p:nvSpPr>
        <p:spPr>
          <a:xfrm>
            <a:off x="1079541" y="2133570"/>
            <a:ext cx="298451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Figma · Idea to Demo</a:t>
            </a:r>
            <a:endParaRPr lang="en-US" sz="1350" dirty="0"/>
          </a:p>
        </p:txBody>
      </p:sp>
      <p:sp>
        <p:nvSpPr>
          <p:cNvPr id="14" name="Text 11"/>
          <p:cNvSpPr/>
          <p:nvPr/>
        </p:nvSpPr>
        <p:spPr>
          <a:xfrm>
            <a:off x="1079541" y="2413010"/>
            <a:ext cx="2984510" cy="20958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this deck, the plugin, the stage log</a:t>
            </a:r>
            <a:endParaRPr lang="en-US" sz="1050" dirty="0"/>
          </a:p>
        </p:txBody>
      </p:sp>
      <p:sp>
        <p:nvSpPr>
          <p:cNvPr id="15" name="Shape 13"/>
          <p:cNvSpPr/>
          <p:nvPr/>
        </p:nvSpPr>
        <p:spPr>
          <a:xfrm>
            <a:off x="4381530" y="1968520"/>
            <a:ext cx="3429000" cy="888980"/>
          </a:xfrm>
          <a:prstGeom prst="roundRect">
            <a:avLst>
              <a:gd name="adj" fmla="val 14287"/>
            </a:avLst>
          </a:prstGeom>
          <a:solidFill>
            <a:srgbClr val="FFFFFF"/>
          </a:solidFill>
          <a:ln w="12700">
            <a:solidFill>
              <a:srgbClr val="16181B">
                <a:alpha val="10000"/>
              </a:srgbClr>
            </a:solidFill>
            <a:prstDash val="solid"/>
          </a:ln>
        </p:spPr>
      </p:sp>
      <p:sp>
        <p:nvSpPr>
          <p:cNvPr id="16" name="Shape 14"/>
          <p:cNvSpPr/>
          <p:nvPr/>
        </p:nvSpPr>
        <p:spPr>
          <a:xfrm>
            <a:off x="4521159" y="2133570"/>
            <a:ext cx="38130" cy="558790"/>
          </a:xfrm>
          <a:prstGeom prst="roundRect">
            <a:avLst>
              <a:gd name="adj" fmla="val 49881"/>
            </a:avLst>
          </a:prstGeom>
          <a:solidFill>
            <a:srgbClr val="4FB3FF"/>
          </a:solidFill>
          <a:ln/>
        </p:spPr>
      </p:sp>
      <p:sp>
        <p:nvSpPr>
          <p:cNvPr id="17" name="Text 14"/>
          <p:cNvSpPr/>
          <p:nvPr/>
        </p:nvSpPr>
        <p:spPr>
          <a:xfrm>
            <a:off x="4699010" y="2133570"/>
            <a:ext cx="298451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Hardware Hack</a:t>
            </a:r>
            <a:endParaRPr lang="en-US" sz="1350" dirty="0"/>
          </a:p>
        </p:txBody>
      </p:sp>
      <p:sp>
        <p:nvSpPr>
          <p:cNvPr id="18" name="Text 15"/>
          <p:cNvSpPr/>
          <p:nvPr/>
        </p:nvSpPr>
        <p:spPr>
          <a:xfrm>
            <a:off x="4699010" y="2413010"/>
            <a:ext cx="2984510" cy="20958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the station, on the table</a:t>
            </a:r>
            <a:endParaRPr lang="en-US" sz="1050" dirty="0"/>
          </a:p>
        </p:txBody>
      </p:sp>
      <p:sp>
        <p:nvSpPr>
          <p:cNvPr id="19" name="Shape 17"/>
          <p:cNvSpPr/>
          <p:nvPr/>
        </p:nvSpPr>
        <p:spPr>
          <a:xfrm>
            <a:off x="8001000" y="1968520"/>
            <a:ext cx="3429000" cy="888980"/>
          </a:xfrm>
          <a:prstGeom prst="roundRect">
            <a:avLst>
              <a:gd name="adj" fmla="val 14287"/>
            </a:avLst>
          </a:prstGeom>
          <a:solidFill>
            <a:srgbClr val="FFFFFF"/>
          </a:solidFill>
          <a:ln w="12700">
            <a:solidFill>
              <a:srgbClr val="16181B">
                <a:alpha val="10000"/>
              </a:srgbClr>
            </a:solidFill>
            <a:prstDash val="solid"/>
          </a:ln>
        </p:spPr>
      </p:sp>
      <p:sp>
        <p:nvSpPr>
          <p:cNvPr id="20" name="Shape 18"/>
          <p:cNvSpPr/>
          <p:nvPr/>
        </p:nvSpPr>
        <p:spPr>
          <a:xfrm>
            <a:off x="8140720" y="2133570"/>
            <a:ext cx="38130" cy="558790"/>
          </a:xfrm>
          <a:prstGeom prst="roundRect">
            <a:avLst>
              <a:gd name="adj" fmla="val 49881"/>
            </a:avLst>
          </a:prstGeom>
          <a:solidFill>
            <a:srgbClr val="4FB3FF"/>
          </a:solidFill>
          <a:ln/>
        </p:spPr>
      </p:sp>
      <p:sp>
        <p:nvSpPr>
          <p:cNvPr id="21" name="Text 18"/>
          <p:cNvSpPr/>
          <p:nvPr/>
        </p:nvSpPr>
        <p:spPr>
          <a:xfrm>
            <a:off x="8318480" y="2133570"/>
            <a:ext cx="298451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Hyphenate · finance agents</a:t>
            </a:r>
            <a:endParaRPr lang="en-US" sz="1350" dirty="0"/>
          </a:p>
        </p:txBody>
      </p:sp>
      <p:sp>
        <p:nvSpPr>
          <p:cNvPr id="22" name="Text 19"/>
          <p:cNvSpPr/>
          <p:nvPr/>
        </p:nvSpPr>
        <p:spPr>
          <a:xfrm>
            <a:off x="8318480" y="2413010"/>
            <a:ext cx="2984510" cy="20958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policy agent: proposes, holds, escalates</a:t>
            </a:r>
            <a:endParaRPr lang="en-US" sz="1050" dirty="0"/>
          </a:p>
        </p:txBody>
      </p:sp>
      <p:sp>
        <p:nvSpPr>
          <p:cNvPr id="23" name="Shape 21"/>
          <p:cNvSpPr/>
          <p:nvPr/>
        </p:nvSpPr>
        <p:spPr>
          <a:xfrm>
            <a:off x="761970" y="2997220"/>
            <a:ext cx="3429000" cy="888980"/>
          </a:xfrm>
          <a:prstGeom prst="roundRect">
            <a:avLst>
              <a:gd name="adj" fmla="val 14287"/>
            </a:avLst>
          </a:prstGeom>
          <a:solidFill>
            <a:srgbClr val="FFFFFF"/>
          </a:solidFill>
          <a:ln w="12700">
            <a:solidFill>
              <a:srgbClr val="16181B">
                <a:alpha val="10000"/>
              </a:srgbClr>
            </a:solidFill>
            <a:prstDash val="solid"/>
          </a:ln>
        </p:spPr>
      </p:sp>
      <p:sp>
        <p:nvSpPr>
          <p:cNvPr id="24" name="Shape 22"/>
          <p:cNvSpPr/>
          <p:nvPr/>
        </p:nvSpPr>
        <p:spPr>
          <a:xfrm>
            <a:off x="901690" y="3162270"/>
            <a:ext cx="38130" cy="558790"/>
          </a:xfrm>
          <a:prstGeom prst="roundRect">
            <a:avLst>
              <a:gd name="adj" fmla="val 49881"/>
            </a:avLst>
          </a:prstGeom>
          <a:solidFill>
            <a:srgbClr val="7A5CFF"/>
          </a:solidFill>
          <a:ln/>
        </p:spPr>
      </p:sp>
      <p:sp>
        <p:nvSpPr>
          <p:cNvPr id="25" name="Text 22"/>
          <p:cNvSpPr/>
          <p:nvPr/>
        </p:nvSpPr>
        <p:spPr>
          <a:xfrm>
            <a:off x="1079541" y="3162270"/>
            <a:ext cx="298451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Coinbase · x402 payment agents</a:t>
            </a:r>
            <a:endParaRPr lang="en-US" sz="1350" dirty="0"/>
          </a:p>
        </p:txBody>
      </p:sp>
      <p:sp>
        <p:nvSpPr>
          <p:cNvPr id="26" name="Text 23"/>
          <p:cNvSpPr/>
          <p:nvPr/>
        </p:nvSpPr>
        <p:spPr>
          <a:xfrm>
            <a:off x="1079541" y="3441710"/>
            <a:ext cx="2984510" cy="20958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/verify over x402, USDC escrow (TESTNET)</a:t>
            </a:r>
            <a:endParaRPr lang="en-US" sz="1050" dirty="0"/>
          </a:p>
        </p:txBody>
      </p:sp>
      <p:sp>
        <p:nvSpPr>
          <p:cNvPr id="27" name="Shape 25"/>
          <p:cNvSpPr/>
          <p:nvPr/>
        </p:nvSpPr>
        <p:spPr>
          <a:xfrm>
            <a:off x="4381530" y="2997220"/>
            <a:ext cx="3429000" cy="888980"/>
          </a:xfrm>
          <a:prstGeom prst="roundRect">
            <a:avLst>
              <a:gd name="adj" fmla="val 14287"/>
            </a:avLst>
          </a:prstGeom>
          <a:solidFill>
            <a:srgbClr val="FFFFFF"/>
          </a:solidFill>
          <a:ln w="12700">
            <a:solidFill>
              <a:srgbClr val="16181B">
                <a:alpha val="10000"/>
              </a:srgbClr>
            </a:solidFill>
            <a:prstDash val="solid"/>
          </a:ln>
        </p:spPr>
      </p:sp>
      <p:sp>
        <p:nvSpPr>
          <p:cNvPr id="28" name="Shape 26"/>
          <p:cNvSpPr/>
          <p:nvPr/>
        </p:nvSpPr>
        <p:spPr>
          <a:xfrm>
            <a:off x="4521159" y="3162270"/>
            <a:ext cx="38130" cy="558790"/>
          </a:xfrm>
          <a:prstGeom prst="roundRect">
            <a:avLst>
              <a:gd name="adj" fmla="val 49881"/>
            </a:avLst>
          </a:prstGeom>
          <a:solidFill>
            <a:srgbClr val="E09A3A"/>
          </a:solidFill>
          <a:ln/>
        </p:spPr>
      </p:sp>
      <p:sp>
        <p:nvSpPr>
          <p:cNvPr id="29" name="Text 26"/>
          <p:cNvSpPr/>
          <p:nvPr/>
        </p:nvSpPr>
        <p:spPr>
          <a:xfrm>
            <a:off x="4699010" y="3162270"/>
            <a:ext cx="298451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Capital One · Nessie</a:t>
            </a:r>
            <a:endParaRPr lang="en-US" sz="1350" dirty="0"/>
          </a:p>
        </p:txBody>
      </p:sp>
      <p:sp>
        <p:nvSpPr>
          <p:cNvPr id="30" name="Text 27"/>
          <p:cNvSpPr/>
          <p:nvPr/>
        </p:nvSpPr>
        <p:spPr>
          <a:xfrm>
            <a:off x="4699010" y="3441710"/>
            <a:ext cx="2984510" cy="20958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hold / release / refund (SANDBOX)</a:t>
            </a:r>
            <a:endParaRPr lang="en-US" sz="1050" dirty="0"/>
          </a:p>
        </p:txBody>
      </p:sp>
      <p:sp>
        <p:nvSpPr>
          <p:cNvPr id="31" name="Shape 29"/>
          <p:cNvSpPr/>
          <p:nvPr/>
        </p:nvSpPr>
        <p:spPr>
          <a:xfrm>
            <a:off x="8001000" y="2997220"/>
            <a:ext cx="3429000" cy="888980"/>
          </a:xfrm>
          <a:prstGeom prst="roundRect">
            <a:avLst>
              <a:gd name="adj" fmla="val 14287"/>
            </a:avLst>
          </a:prstGeom>
          <a:solidFill>
            <a:srgbClr val="FFFFFF"/>
          </a:solidFill>
          <a:ln w="12700">
            <a:solidFill>
              <a:srgbClr val="16181B">
                <a:alpha val="10000"/>
              </a:srgbClr>
            </a:solidFill>
            <a:prstDash val="solid"/>
          </a:ln>
        </p:spPr>
      </p:sp>
      <p:sp>
        <p:nvSpPr>
          <p:cNvPr id="32" name="Shape 30"/>
          <p:cNvSpPr/>
          <p:nvPr/>
        </p:nvSpPr>
        <p:spPr>
          <a:xfrm>
            <a:off x="8140720" y="3162270"/>
            <a:ext cx="38130" cy="558790"/>
          </a:xfrm>
          <a:prstGeom prst="roundRect">
            <a:avLst>
              <a:gd name="adj" fmla="val 49881"/>
            </a:avLst>
          </a:prstGeom>
          <a:solidFill>
            <a:srgbClr val="4FB3FF"/>
          </a:solidFill>
          <a:ln/>
        </p:spPr>
      </p:sp>
      <p:sp>
        <p:nvSpPr>
          <p:cNvPr id="33" name="Text 30"/>
          <p:cNvSpPr/>
          <p:nvPr/>
        </p:nvSpPr>
        <p:spPr>
          <a:xfrm>
            <a:off x="8318480" y="3162270"/>
            <a:ext cx="2984510" cy="48262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Microsoft · Built for the Real World</a:t>
            </a:r>
            <a:endParaRPr lang="en-US" sz="1350" dirty="0"/>
          </a:p>
        </p:txBody>
      </p:sp>
      <p:sp>
        <p:nvSpPr>
          <p:cNvPr id="34" name="Text 31"/>
          <p:cNvSpPr/>
          <p:nvPr/>
        </p:nvSpPr>
        <p:spPr>
          <a:xfrm>
            <a:off x="8318480" y="3441710"/>
            <a:ext cx="2984510" cy="20958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a clinic pharmacist’s delivery check</a:t>
            </a:r>
            <a:endParaRPr lang="en-US" sz="1050" dirty="0"/>
          </a:p>
        </p:txBody>
      </p:sp>
      <p:sp>
        <p:nvSpPr>
          <p:cNvPr id="35" name="Shape 33"/>
          <p:cNvSpPr/>
          <p:nvPr/>
        </p:nvSpPr>
        <p:spPr>
          <a:xfrm>
            <a:off x="761970" y="4025920"/>
            <a:ext cx="3429000" cy="888980"/>
          </a:xfrm>
          <a:prstGeom prst="roundRect">
            <a:avLst>
              <a:gd name="adj" fmla="val 14287"/>
            </a:avLst>
          </a:prstGeom>
          <a:solidFill>
            <a:srgbClr val="FFFFFF"/>
          </a:solidFill>
          <a:ln w="12700">
            <a:solidFill>
              <a:srgbClr val="16181B">
                <a:alpha val="10000"/>
              </a:srgbClr>
            </a:solidFill>
            <a:prstDash val="solid"/>
          </a:ln>
        </p:spPr>
      </p:sp>
      <p:sp>
        <p:nvSpPr>
          <p:cNvPr id="36" name="Shape 34"/>
          <p:cNvSpPr/>
          <p:nvPr/>
        </p:nvSpPr>
        <p:spPr>
          <a:xfrm>
            <a:off x="901690" y="4190970"/>
            <a:ext cx="38130" cy="558790"/>
          </a:xfrm>
          <a:prstGeom prst="roundRect">
            <a:avLst>
              <a:gd name="adj" fmla="val 49881"/>
            </a:avLst>
          </a:prstGeom>
          <a:solidFill>
            <a:srgbClr val="5FD39A"/>
          </a:solidFill>
          <a:ln/>
        </p:spPr>
      </p:sp>
      <p:sp>
        <p:nvSpPr>
          <p:cNvPr id="37" name="Text 34"/>
          <p:cNvSpPr/>
          <p:nvPr/>
        </p:nvSpPr>
        <p:spPr>
          <a:xfrm>
            <a:off x="1079541" y="4190970"/>
            <a:ext cx="298451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Anthropic · Claude</a:t>
            </a:r>
            <a:endParaRPr lang="en-US" sz="1350" dirty="0"/>
          </a:p>
        </p:txBody>
      </p:sp>
      <p:sp>
        <p:nvSpPr>
          <p:cNvPr id="38" name="Text 35"/>
          <p:cNvSpPr/>
          <p:nvPr/>
        </p:nvSpPr>
        <p:spPr>
          <a:xfrm>
            <a:off x="1079541" y="4470410"/>
            <a:ext cx="2984510" cy="20958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the plain-English why; can only downgrade</a:t>
            </a:r>
            <a:endParaRPr lang="en-US" sz="1050" dirty="0"/>
          </a:p>
        </p:txBody>
      </p:sp>
      <p:sp>
        <p:nvSpPr>
          <p:cNvPr id="39" name="Shape 37"/>
          <p:cNvSpPr/>
          <p:nvPr/>
        </p:nvSpPr>
        <p:spPr>
          <a:xfrm>
            <a:off x="4381530" y="4025920"/>
            <a:ext cx="3429000" cy="888980"/>
          </a:xfrm>
          <a:prstGeom prst="roundRect">
            <a:avLst>
              <a:gd name="adj" fmla="val 14287"/>
            </a:avLst>
          </a:prstGeom>
          <a:solidFill>
            <a:srgbClr val="FFFFFF"/>
          </a:solidFill>
          <a:ln w="12700">
            <a:solidFill>
              <a:srgbClr val="16181B">
                <a:alpha val="10000"/>
              </a:srgbClr>
            </a:solidFill>
            <a:prstDash val="solid"/>
          </a:ln>
        </p:spPr>
      </p:sp>
      <p:sp>
        <p:nvSpPr>
          <p:cNvPr id="40" name="Shape 38"/>
          <p:cNvSpPr/>
          <p:nvPr/>
        </p:nvSpPr>
        <p:spPr>
          <a:xfrm>
            <a:off x="4521159" y="4190970"/>
            <a:ext cx="38130" cy="558790"/>
          </a:xfrm>
          <a:prstGeom prst="roundRect">
            <a:avLst>
              <a:gd name="adj" fmla="val 49881"/>
            </a:avLst>
          </a:prstGeom>
          <a:solidFill>
            <a:srgbClr val="5FD39A"/>
          </a:solidFill>
          <a:ln/>
        </p:spPr>
      </p:sp>
      <p:sp>
        <p:nvSpPr>
          <p:cNvPr id="41" name="Text 38"/>
          <p:cNvSpPr/>
          <p:nvPr/>
        </p:nvSpPr>
        <p:spPr>
          <a:xfrm>
            <a:off x="4699010" y="4190970"/>
            <a:ext cx="298451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People-First</a:t>
            </a:r>
            <a:endParaRPr lang="en-US" sz="1350" dirty="0"/>
          </a:p>
        </p:txBody>
      </p:sp>
      <p:sp>
        <p:nvSpPr>
          <p:cNvPr id="42" name="Text 39"/>
          <p:cNvSpPr/>
          <p:nvPr/>
        </p:nvSpPr>
        <p:spPr>
          <a:xfrm>
            <a:off x="4699010" y="4470410"/>
            <a:ext cx="2984510" cy="20958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personal mode, read aloud</a:t>
            </a:r>
            <a:endParaRPr lang="en-US" sz="1050" dirty="0"/>
          </a:p>
        </p:txBody>
      </p:sp>
      <p:sp>
        <p:nvSpPr>
          <p:cNvPr id="43" name="Shape 41"/>
          <p:cNvSpPr/>
          <p:nvPr/>
        </p:nvSpPr>
        <p:spPr>
          <a:xfrm>
            <a:off x="8001000" y="4025920"/>
            <a:ext cx="3429000" cy="888980"/>
          </a:xfrm>
          <a:prstGeom prst="roundRect">
            <a:avLst>
              <a:gd name="adj" fmla="val 14287"/>
            </a:avLst>
          </a:prstGeom>
          <a:solidFill>
            <a:srgbClr val="FFFFFF"/>
          </a:solidFill>
          <a:ln w="12700">
            <a:solidFill>
              <a:srgbClr val="16181B">
                <a:alpha val="10000"/>
              </a:srgbClr>
            </a:solidFill>
            <a:prstDash val="solid"/>
          </a:ln>
        </p:spPr>
      </p:sp>
      <p:sp>
        <p:nvSpPr>
          <p:cNvPr id="44" name="Shape 42"/>
          <p:cNvSpPr/>
          <p:nvPr/>
        </p:nvSpPr>
        <p:spPr>
          <a:xfrm>
            <a:off x="8140720" y="4190970"/>
            <a:ext cx="38130" cy="558790"/>
          </a:xfrm>
          <a:prstGeom prst="roundRect">
            <a:avLst>
              <a:gd name="adj" fmla="val 49881"/>
            </a:avLst>
          </a:prstGeom>
          <a:solidFill>
            <a:srgbClr val="4FB3FF"/>
          </a:solidFill>
          <a:ln/>
        </p:spPr>
      </p:sp>
      <p:sp>
        <p:nvSpPr>
          <p:cNvPr id="45" name="Text 42"/>
          <p:cNvSpPr/>
          <p:nvPr/>
        </p:nvSpPr>
        <p:spPr>
          <a:xfrm>
            <a:off x="8318480" y="4190970"/>
            <a:ext cx="298451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Most Technically Complex</a:t>
            </a:r>
            <a:endParaRPr lang="en-US" sz="1350" dirty="0"/>
          </a:p>
        </p:txBody>
      </p:sp>
      <p:sp>
        <p:nvSpPr>
          <p:cNvPr id="46" name="Text 43"/>
          <p:cNvSpPr/>
          <p:nvPr/>
        </p:nvSpPr>
        <p:spPr>
          <a:xfrm>
            <a:off x="8318480" y="4470410"/>
            <a:ext cx="2984510" cy="20958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two-channel optics + rules + payments</a:t>
            </a:r>
            <a:endParaRPr lang="en-US" sz="1050" dirty="0"/>
          </a:p>
        </p:txBody>
      </p:sp>
      <p:sp>
        <p:nvSpPr>
          <p:cNvPr id="47" name="Shape 45"/>
          <p:cNvSpPr/>
          <p:nvPr/>
        </p:nvSpPr>
        <p:spPr>
          <a:xfrm>
            <a:off x="761970" y="5054620"/>
            <a:ext cx="3429000" cy="888980"/>
          </a:xfrm>
          <a:prstGeom prst="roundRect">
            <a:avLst>
              <a:gd name="adj" fmla="val 14287"/>
            </a:avLst>
          </a:prstGeom>
          <a:solidFill>
            <a:srgbClr val="FFFFFF"/>
          </a:solidFill>
          <a:ln w="12700">
            <a:solidFill>
              <a:srgbClr val="16181B">
                <a:alpha val="10000"/>
              </a:srgbClr>
            </a:solidFill>
            <a:prstDash val="solid"/>
          </a:ln>
        </p:spPr>
      </p:sp>
      <p:sp>
        <p:nvSpPr>
          <p:cNvPr id="48" name="Shape 46"/>
          <p:cNvSpPr/>
          <p:nvPr/>
        </p:nvSpPr>
        <p:spPr>
          <a:xfrm>
            <a:off x="901690" y="5219670"/>
            <a:ext cx="38130" cy="558790"/>
          </a:xfrm>
          <a:prstGeom prst="roundRect">
            <a:avLst>
              <a:gd name="adj" fmla="val 49881"/>
            </a:avLst>
          </a:prstGeom>
          <a:solidFill>
            <a:srgbClr val="5FD39A"/>
          </a:solidFill>
          <a:ln/>
        </p:spPr>
      </p:sp>
      <p:sp>
        <p:nvSpPr>
          <p:cNvPr id="49" name="Text 46"/>
          <p:cNvSpPr/>
          <p:nvPr/>
        </p:nvSpPr>
        <p:spPr>
          <a:xfrm>
            <a:off x="1079541" y="5219670"/>
            <a:ext cx="298451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MLH · Gemini API</a:t>
            </a:r>
            <a:endParaRPr lang="en-US" sz="1350" dirty="0"/>
          </a:p>
        </p:txBody>
      </p:sp>
      <p:sp>
        <p:nvSpPr>
          <p:cNvPr id="50" name="Text 47"/>
          <p:cNvSpPr/>
          <p:nvPr/>
        </p:nvSpPr>
        <p:spPr>
          <a:xfrm>
            <a:off x="1079541" y="5499110"/>
            <a:ext cx="2984510" cy="20958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reads the bottle label</a:t>
            </a:r>
            <a:endParaRPr lang="en-US" sz="1050" dirty="0"/>
          </a:p>
        </p:txBody>
      </p:sp>
      <p:sp>
        <p:nvSpPr>
          <p:cNvPr id="51" name="Shape 49"/>
          <p:cNvSpPr/>
          <p:nvPr/>
        </p:nvSpPr>
        <p:spPr>
          <a:xfrm>
            <a:off x="4381530" y="5054620"/>
            <a:ext cx="3429000" cy="888980"/>
          </a:xfrm>
          <a:prstGeom prst="roundRect">
            <a:avLst>
              <a:gd name="adj" fmla="val 14287"/>
            </a:avLst>
          </a:prstGeom>
          <a:solidFill>
            <a:srgbClr val="FFFFFF"/>
          </a:solidFill>
          <a:ln w="12700">
            <a:solidFill>
              <a:srgbClr val="16181B">
                <a:alpha val="10000"/>
              </a:srgbClr>
            </a:solidFill>
            <a:prstDash val="solid"/>
          </a:ln>
        </p:spPr>
      </p:sp>
      <p:sp>
        <p:nvSpPr>
          <p:cNvPr id="52" name="Shape 50"/>
          <p:cNvSpPr/>
          <p:nvPr/>
        </p:nvSpPr>
        <p:spPr>
          <a:xfrm>
            <a:off x="4521159" y="5219670"/>
            <a:ext cx="38130" cy="558790"/>
          </a:xfrm>
          <a:prstGeom prst="roundRect">
            <a:avLst>
              <a:gd name="adj" fmla="val 49881"/>
            </a:avLst>
          </a:prstGeom>
          <a:solidFill>
            <a:srgbClr val="5FD39A"/>
          </a:solidFill>
          <a:ln/>
        </p:spPr>
      </p:sp>
      <p:sp>
        <p:nvSpPr>
          <p:cNvPr id="53" name="Text 50"/>
          <p:cNvSpPr/>
          <p:nvPr/>
        </p:nvSpPr>
        <p:spPr>
          <a:xfrm>
            <a:off x="4699010" y="5219670"/>
            <a:ext cx="298451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MLH · ElevenLabs</a:t>
            </a:r>
            <a:endParaRPr lang="en-US" sz="1350" dirty="0"/>
          </a:p>
        </p:txBody>
      </p:sp>
      <p:sp>
        <p:nvSpPr>
          <p:cNvPr id="54" name="Text 51"/>
          <p:cNvSpPr/>
          <p:nvPr/>
        </p:nvSpPr>
        <p:spPr>
          <a:xfrm>
            <a:off x="4699010" y="5499110"/>
            <a:ext cx="2984510" cy="20958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reads the verdict aloud</a:t>
            </a:r>
            <a:endParaRPr lang="en-US" sz="1050" dirty="0"/>
          </a:p>
        </p:txBody>
      </p:sp>
      <p:sp>
        <p:nvSpPr>
          <p:cNvPr id="55" name="Shape 53"/>
          <p:cNvSpPr/>
          <p:nvPr/>
        </p:nvSpPr>
        <p:spPr>
          <a:xfrm>
            <a:off x="8001000" y="5054620"/>
            <a:ext cx="3429000" cy="888980"/>
          </a:xfrm>
          <a:prstGeom prst="roundRect">
            <a:avLst>
              <a:gd name="adj" fmla="val 14287"/>
            </a:avLst>
          </a:prstGeom>
          <a:solidFill>
            <a:srgbClr val="FFFFFF"/>
          </a:solidFill>
          <a:ln w="12700">
            <a:solidFill>
              <a:srgbClr val="16181B">
                <a:alpha val="10000"/>
              </a:srgbClr>
            </a:solidFill>
            <a:prstDash val="solid"/>
          </a:ln>
        </p:spPr>
      </p:sp>
      <p:sp>
        <p:nvSpPr>
          <p:cNvPr id="56" name="Shape 54"/>
          <p:cNvSpPr/>
          <p:nvPr/>
        </p:nvSpPr>
        <p:spPr>
          <a:xfrm>
            <a:off x="8140720" y="5219670"/>
            <a:ext cx="38130" cy="558790"/>
          </a:xfrm>
          <a:prstGeom prst="roundRect">
            <a:avLst>
              <a:gd name="adj" fmla="val 49881"/>
            </a:avLst>
          </a:prstGeom>
          <a:solidFill>
            <a:srgbClr val="5FD39A"/>
          </a:solidFill>
          <a:ln/>
        </p:spPr>
      </p:sp>
      <p:sp>
        <p:nvSpPr>
          <p:cNvPr id="57" name="Text 54"/>
          <p:cNvSpPr/>
          <p:nvPr/>
        </p:nvSpPr>
        <p:spPr>
          <a:xfrm>
            <a:off x="8318480" y="5219670"/>
            <a:ext cx="2984510" cy="260330"/>
          </a:xfrm>
          <a:prstGeom prst="rect">
            <a:avLst/>
          </a:prstGeom>
          <a:noFill/>
          <a:ln/>
        </p:spPr>
        <p:txBody>
          <a:bodyPr wrap="square" lIns="0" tIns="0" rIns="0" bIns="0" rtlCol="0" anchor="t"/>
          <a:lstStyle/>
          <a:p>
            <a:pPr algn="l" indent="0" marL="0">
              <a:lnSpc>
                <a:spcPct val="130000"/>
              </a:lnSpc>
              <a:buNone/>
            </a:pPr>
            <a:r>
              <a:rPr lang="en-US" sz="1350" b="1" dirty="0">
                <a:solidFill>
                  <a:srgbClr val="16181B"/>
                </a:solidFill>
                <a:latin typeface="Inter" pitchFamily="34" charset="0"/>
                <a:ea typeface="Inter" pitchFamily="34" charset="-122"/>
                <a:cs typeface="Inter" pitchFamily="34" charset="-120"/>
              </a:rPr>
              <a:t>MLH · Gen AI</a:t>
            </a:r>
            <a:endParaRPr lang="en-US" sz="1350" dirty="0"/>
          </a:p>
        </p:txBody>
      </p:sp>
      <p:sp>
        <p:nvSpPr>
          <p:cNvPr id="58" name="Text 55"/>
          <p:cNvSpPr/>
          <p:nvPr/>
        </p:nvSpPr>
        <p:spPr>
          <a:xfrm>
            <a:off x="8318480" y="5499110"/>
            <a:ext cx="2984510" cy="209580"/>
          </a:xfrm>
          <a:prstGeom prst="rect">
            <a:avLst/>
          </a:prstGeom>
          <a:noFill/>
          <a:ln/>
        </p:spPr>
        <p:txBody>
          <a:bodyPr wrap="square" lIns="0" tIns="0" rIns="0" bIns="0" rtlCol="0" anchor="t"/>
          <a:lstStyle/>
          <a:p>
            <a:pPr algn="l" indent="0" marL="0">
              <a:lnSpc>
                <a:spcPct val="135000"/>
              </a:lnSpc>
              <a:buNone/>
            </a:pPr>
            <a:r>
              <a:rPr lang="en-US" sz="1050" dirty="0">
                <a:solidFill>
                  <a:srgbClr val="4A4E55"/>
                </a:solidFill>
                <a:latin typeface="Inter" pitchFamily="34" charset="0"/>
                <a:ea typeface="Inter" pitchFamily="34" charset="-122"/>
                <a:cs typeface="Inter" pitchFamily="34" charset="-120"/>
              </a:rPr>
              <a:t>models explain; rules decide</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8F7"/>
        </a:solidFill>
      </p:bgPr>
    </p:bg>
    <p:spTree>
      <p:nvGrpSpPr>
        <p:cNvPr id="1" name=""/>
        <p:cNvGrpSpPr/>
        <p:nvPr/>
      </p:nvGrpSpPr>
      <p:grpSpPr>
        <a:xfrm>
          <a:off x="0" y="0"/>
          <a:ext cx="0" cy="0"/>
          <a:chOff x="0" y="0"/>
          <a:chExt cx="0" cy="0"/>
        </a:xfrm>
      </p:grpSpPr>
      <p:sp>
        <p:nvSpPr>
          <p:cNvPr id="2" name="Shape 0"/>
          <p:cNvSpPr/>
          <p:nvPr/>
        </p:nvSpPr>
        <p:spPr>
          <a:xfrm>
            <a:off x="761970" y="355610"/>
            <a:ext cx="325161" cy="142281"/>
          </a:xfrm>
          <a:prstGeom prst="roundRect">
            <a:avLst>
              <a:gd name="adj" fmla="val 50000"/>
            </a:avLst>
          </a:prstGeom>
          <a:solidFill>
            <a:srgbClr val="FFFFFF"/>
          </a:solidFill>
          <a:ln/>
        </p:spPr>
      </p:sp>
      <p:sp>
        <p:nvSpPr>
          <p:cNvPr id="3" name="Shape 1"/>
          <p:cNvSpPr/>
          <p:nvPr/>
        </p:nvSpPr>
        <p:spPr>
          <a:xfrm>
            <a:off x="761970" y="355610"/>
            <a:ext cx="325161" cy="142281"/>
          </a:xfrm>
          <a:custGeom>
            <a:avLst/>
            <a:gdLst/>
            <a:ahLst/>
            <a:cxnLst/>
            <a:rect l="l" t="t" r="r" b="b"/>
            <a:pathLst>
              <a:path w="325161" h="142281">
                <a:moveTo>
                  <a:pt x="162580" y="142281"/>
                </a:moveTo>
                <a:lnTo>
                  <a:pt x="71140" y="142281"/>
                </a:lnTo>
                <a:lnTo>
                  <a:pt x="61813" y="141641"/>
                </a:lnTo>
                <a:lnTo>
                  <a:pt x="52669" y="139812"/>
                </a:lnTo>
                <a:lnTo>
                  <a:pt x="43891" y="136794"/>
                </a:lnTo>
                <a:lnTo>
                  <a:pt x="35570" y="132679"/>
                </a:lnTo>
                <a:lnTo>
                  <a:pt x="27798" y="127559"/>
                </a:lnTo>
                <a:lnTo>
                  <a:pt x="20848" y="121432"/>
                </a:lnTo>
                <a:lnTo>
                  <a:pt x="14722" y="114391"/>
                </a:lnTo>
                <a:lnTo>
                  <a:pt x="9510" y="106710"/>
                </a:lnTo>
                <a:lnTo>
                  <a:pt x="5395" y="98298"/>
                </a:lnTo>
                <a:lnTo>
                  <a:pt x="2469" y="89520"/>
                </a:lnTo>
                <a:lnTo>
                  <a:pt x="640" y="80376"/>
                </a:lnTo>
                <a:lnTo>
                  <a:pt x="0" y="71140"/>
                </a:lnTo>
                <a:lnTo>
                  <a:pt x="640" y="61813"/>
                </a:lnTo>
                <a:lnTo>
                  <a:pt x="2469" y="52669"/>
                </a:lnTo>
                <a:lnTo>
                  <a:pt x="5395" y="43891"/>
                </a:lnTo>
                <a:lnTo>
                  <a:pt x="9510" y="35570"/>
                </a:lnTo>
                <a:lnTo>
                  <a:pt x="14722" y="27798"/>
                </a:lnTo>
                <a:lnTo>
                  <a:pt x="20848" y="20848"/>
                </a:lnTo>
                <a:lnTo>
                  <a:pt x="27798" y="14722"/>
                </a:lnTo>
                <a:lnTo>
                  <a:pt x="35570" y="9510"/>
                </a:lnTo>
                <a:lnTo>
                  <a:pt x="43891" y="5395"/>
                </a:lnTo>
                <a:lnTo>
                  <a:pt x="52669" y="2469"/>
                </a:lnTo>
                <a:lnTo>
                  <a:pt x="61813" y="640"/>
                </a:lnTo>
                <a:lnTo>
                  <a:pt x="71140" y="0"/>
                </a:lnTo>
                <a:lnTo>
                  <a:pt x="162580" y="0"/>
                </a:lnTo>
                <a:close/>
              </a:path>
            </a:pathLst>
          </a:custGeom>
          <a:solidFill>
            <a:srgbClr val="5FD39A"/>
          </a:solidFill>
          <a:ln/>
        </p:spPr>
      </p:sp>
      <p:sp>
        <p:nvSpPr>
          <p:cNvPr id="4" name="Shape 2"/>
          <p:cNvSpPr/>
          <p:nvPr/>
        </p:nvSpPr>
        <p:spPr>
          <a:xfrm>
            <a:off x="761970" y="355610"/>
            <a:ext cx="325161" cy="142281"/>
          </a:xfrm>
          <a:prstGeom prst="roundRect">
            <a:avLst>
              <a:gd name="adj" fmla="val 50000"/>
            </a:avLst>
          </a:prstGeom>
          <a:ln w="12700">
            <a:solidFill>
              <a:srgbClr val="16181B"/>
            </a:solidFill>
            <a:prstDash val="solid"/>
          </a:ln>
        </p:spPr>
      </p:sp>
      <p:sp>
        <p:nvSpPr>
          <p:cNvPr id="5" name="Text 2"/>
          <p:cNvSpPr/>
          <p:nvPr/>
        </p:nvSpPr>
        <p:spPr>
          <a:xfrm>
            <a:off x="1158270" y="340340"/>
            <a:ext cx="1270010" cy="165141"/>
          </a:xfrm>
          <a:prstGeom prst="rect">
            <a:avLst/>
          </a:prstGeom>
          <a:noFill/>
          <a:ln/>
        </p:spPr>
        <p:txBody>
          <a:bodyPr wrap="square" lIns="0" tIns="0" rIns="0" bIns="0" rtlCol="0" anchor="t"/>
          <a:lstStyle/>
          <a:p>
            <a:pPr algn="l" indent="0" marL="0">
              <a:lnSpc>
                <a:spcPct val="100000"/>
              </a:lnSpc>
              <a:buNone/>
            </a:pPr>
            <a:r>
              <a:rPr lang="en-US" sz="1061" dirty="0">
                <a:solidFill>
                  <a:srgbClr val="16181B"/>
                </a:solidFill>
                <a:latin typeface="Instrument Serif" pitchFamily="34" charset="0"/>
                <a:ea typeface="Instrument Serif" pitchFamily="34" charset="-122"/>
                <a:cs typeface="Instrument Serif" pitchFamily="34" charset="-120"/>
              </a:rPr>
              <a:t>Pill</a:t>
            </a:r>
            <a:endParaRPr lang="en-US" sz="1061" dirty="0"/>
          </a:p>
        </p:txBody>
      </p:sp>
      <p:sp>
        <p:nvSpPr>
          <p:cNvPr id="6" name="Text 3"/>
          <p:cNvSpPr/>
          <p:nvPr/>
        </p:nvSpPr>
        <p:spPr>
          <a:xfrm>
            <a:off x="2413010" y="368320"/>
            <a:ext cx="6349959" cy="177759"/>
          </a:xfrm>
          <a:prstGeom prst="rect">
            <a:avLst/>
          </a:prstGeom>
          <a:noFill/>
          <a:ln/>
        </p:spPr>
        <p:txBody>
          <a:bodyPr wrap="square" lIns="0" tIns="0" rIns="0" bIns="0" rtlCol="0" anchor="t"/>
          <a:lstStyle/>
          <a:p>
            <a:pPr algn="l" indent="0" marL="0">
              <a:lnSpc>
                <a:spcPct val="130000"/>
              </a:lnSpc>
              <a:buNone/>
            </a:pPr>
            <a:r>
              <a:rPr lang="en-US" sz="900" spc="126" kern="0" dirty="0">
                <a:solidFill>
                  <a:srgbClr val="7C8188"/>
                </a:solidFill>
                <a:latin typeface="JetBrains Mono" pitchFamily="34" charset="0"/>
                <a:ea typeface="JetBrains Mono" pitchFamily="34" charset="-122"/>
                <a:cs typeface="JetBrains Mono" pitchFamily="34" charset="-120"/>
              </a:rPr>
              <a:t>NEXT</a:t>
            </a:r>
            <a:endParaRPr lang="en-US" sz="900" dirty="0"/>
          </a:p>
        </p:txBody>
      </p:sp>
      <p:sp>
        <p:nvSpPr>
          <p:cNvPr id="7" name="Text 4"/>
          <p:cNvSpPr/>
          <p:nvPr/>
        </p:nvSpPr>
        <p:spPr>
          <a:xfrm>
            <a:off x="8889980" y="368320"/>
            <a:ext cx="2540020" cy="177759"/>
          </a:xfrm>
          <a:prstGeom prst="rect">
            <a:avLst/>
          </a:prstGeom>
          <a:noFill/>
          <a:ln/>
        </p:spPr>
        <p:txBody>
          <a:bodyPr wrap="square" lIns="0" tIns="0" rIns="0" bIns="0" rtlCol="0" anchor="t"/>
          <a:lstStyle/>
          <a:p>
            <a:pPr algn="r" indent="0" marL="0">
              <a:lnSpc>
                <a:spcPct val="130000"/>
              </a:lnSpc>
              <a:buNone/>
            </a:pPr>
            <a:r>
              <a:rPr lang="en-US" sz="900" spc="90" kern="0" dirty="0">
                <a:solidFill>
                  <a:srgbClr val="7C8188"/>
                </a:solidFill>
                <a:latin typeface="JetBrains Mono" pitchFamily="34" charset="0"/>
                <a:ea typeface="JetBrains Mono" pitchFamily="34" charset="-122"/>
                <a:cs typeface="JetBrains Mono" pitchFamily="34" charset="-120"/>
              </a:rPr>
              <a:t>21 / 21</a:t>
            </a:r>
            <a:endParaRPr lang="en-US" sz="900" dirty="0"/>
          </a:p>
        </p:txBody>
      </p:sp>
      <p:sp>
        <p:nvSpPr>
          <p:cNvPr id="8" name="Shape 6"/>
          <p:cNvSpPr/>
          <p:nvPr/>
        </p:nvSpPr>
        <p:spPr>
          <a:xfrm>
            <a:off x="761970" y="6413510"/>
            <a:ext cx="10668030" cy="12710"/>
          </a:xfrm>
          <a:prstGeom prst="rect">
            <a:avLst/>
          </a:prstGeom>
          <a:solidFill>
            <a:srgbClr val="16181B">
              <a:alpha val="10000"/>
            </a:srgbClr>
          </a:solidFill>
          <a:ln/>
        </p:spPr>
      </p:sp>
      <p:sp>
        <p:nvSpPr>
          <p:cNvPr id="9" name="Text 6"/>
          <p:cNvSpPr/>
          <p:nvPr/>
        </p:nvSpPr>
        <p:spPr>
          <a:xfrm>
            <a:off x="761970" y="6515100"/>
            <a:ext cx="7619970" cy="177759"/>
          </a:xfrm>
          <a:prstGeom prst="rect">
            <a:avLst/>
          </a:prstGeom>
          <a:noFill/>
          <a:ln/>
        </p:spPr>
        <p:txBody>
          <a:bodyPr wrap="square" lIns="0" tIns="0" rIns="0" bIns="0" rtlCol="0" anchor="t"/>
          <a:lstStyle/>
          <a:p>
            <a:pPr algn="l" indent="0" marL="0">
              <a:lnSpc>
                <a:spcPct val="130000"/>
              </a:lnSpc>
              <a:buNone/>
            </a:pPr>
            <a:r>
              <a:rPr lang="en-US" sz="900" spc="54" kern="0" dirty="0">
                <a:solidFill>
                  <a:srgbClr val="7C8188"/>
                </a:solidFill>
                <a:latin typeface="JetBrains Mono" pitchFamily="34" charset="0"/>
                <a:ea typeface="JetBrains Mono" pitchFamily="34" charset="-122"/>
                <a:cs typeface="JetBrains Mono" pitchFamily="34" charset="-120"/>
              </a:rPr>
              <a:t>Pill · Cal Hacks 13.0 · pill-site.vercel.app</a:t>
            </a:r>
            <a:endParaRPr lang="en-US" sz="900" dirty="0"/>
          </a:p>
        </p:txBody>
      </p:sp>
      <p:sp>
        <p:nvSpPr>
          <p:cNvPr id="10" name="Title"/>
          <p:cNvSpPr/>
          <p:nvPr/>
        </p:nvSpPr>
        <p:spPr>
          <a:xfrm>
            <a:off x="761970" y="952530"/>
            <a:ext cx="9525030" cy="622341"/>
          </a:xfrm>
          <a:prstGeom prst="rect">
            <a:avLst/>
          </a:prstGeom>
          <a:noFill/>
          <a:ln/>
        </p:spPr>
        <p:txBody>
          <a:bodyPr wrap="square" lIns="0" tIns="0" rIns="0" bIns="0" rtlCol="0" anchor="t"/>
          <a:lstStyle/>
          <a:p>
            <a:pPr algn="l" indent="0" marL="0">
              <a:lnSpc>
                <a:spcPct val="100000"/>
              </a:lnSpc>
              <a:buNone/>
            </a:pPr>
            <a:r>
              <a:rPr lang="en-US" sz="4056" spc="-61" kern="0" dirty="0">
                <a:solidFill>
                  <a:srgbClr val="16181B"/>
                </a:solidFill>
                <a:latin typeface="Instrument Serif" pitchFamily="34" charset="0"/>
                <a:ea typeface="Instrument Serif" pitchFamily="34" charset="-122"/>
                <a:cs typeface="Instrument Serif" pitchFamily="34" charset="-120"/>
              </a:rPr>
              <a:t>Next: </a:t>
            </a:r>
            <a:pPr algn="l" indent="0" marL="0">
              <a:lnSpc>
                <a:spcPct val="100000"/>
              </a:lnSpc>
              <a:buNone/>
            </a:pPr>
            <a:r>
              <a:rPr lang="en-US" sz="4056" i="1" spc="-61" kern="0" dirty="0">
                <a:solidFill>
                  <a:srgbClr val="16181B"/>
                </a:solidFill>
                <a:latin typeface="Instrument Serif" pitchFamily="34" charset="0"/>
                <a:ea typeface="Instrument Serif" pitchFamily="34" charset="-122"/>
                <a:cs typeface="Instrument Serif" pitchFamily="34" charset="-120"/>
              </a:rPr>
              <a:t>real runs, one clinic.</a:t>
            </a:r>
            <a:endParaRPr lang="en-US" sz="4056" dirty="0"/>
          </a:p>
        </p:txBody>
      </p:sp>
      <p:sp>
        <p:nvSpPr>
          <p:cNvPr id="11" name="Shape 9"/>
          <p:cNvSpPr/>
          <p:nvPr/>
        </p:nvSpPr>
        <p:spPr>
          <a:xfrm>
            <a:off x="761970" y="2158990"/>
            <a:ext cx="482620" cy="482620"/>
          </a:xfrm>
          <a:prstGeom prst="ellipse">
            <a:avLst/>
          </a:prstGeom>
          <a:solidFill>
            <a:srgbClr val="4FB3FF">
              <a:alpha val="14000"/>
            </a:srgbClr>
          </a:solidFill>
          <a:ln w="19050">
            <a:solidFill>
              <a:srgbClr val="4FB3FF"/>
            </a:solidFill>
            <a:prstDash val="solid"/>
          </a:ln>
        </p:spPr>
      </p:sp>
      <p:sp>
        <p:nvSpPr>
          <p:cNvPr id="12" name="Text 9"/>
          <p:cNvSpPr/>
          <p:nvPr/>
        </p:nvSpPr>
        <p:spPr>
          <a:xfrm>
            <a:off x="761970" y="2235159"/>
            <a:ext cx="482620" cy="285750"/>
          </a:xfrm>
          <a:prstGeom prst="rect">
            <a:avLst/>
          </a:prstGeom>
          <a:noFill/>
          <a:ln/>
        </p:spPr>
        <p:txBody>
          <a:bodyPr wrap="square" lIns="0" tIns="0" rIns="0" bIns="0" rtlCol="0" anchor="t"/>
          <a:lstStyle/>
          <a:p>
            <a:pPr algn="ctr" indent="0" marL="0">
              <a:lnSpc>
                <a:spcPct val="100000"/>
              </a:lnSpc>
              <a:buNone/>
            </a:pPr>
            <a:r>
              <a:rPr lang="en-US" sz="1872" dirty="0">
                <a:solidFill>
                  <a:srgbClr val="16181B"/>
                </a:solidFill>
                <a:latin typeface="Instrument Serif" pitchFamily="34" charset="0"/>
                <a:ea typeface="Instrument Serif" pitchFamily="34" charset="-122"/>
                <a:cs typeface="Instrument Serif" pitchFamily="34" charset="-120"/>
              </a:rPr>
              <a:t>1</a:t>
            </a:r>
            <a:endParaRPr lang="en-US" sz="1872" dirty="0"/>
          </a:p>
        </p:txBody>
      </p:sp>
      <p:sp>
        <p:nvSpPr>
          <p:cNvPr id="13" name="Text 10"/>
          <p:cNvSpPr/>
          <p:nvPr/>
        </p:nvSpPr>
        <p:spPr>
          <a:xfrm>
            <a:off x="1498610" y="2171700"/>
            <a:ext cx="8889980" cy="323880"/>
          </a:xfrm>
          <a:prstGeom prst="rect">
            <a:avLst/>
          </a:prstGeom>
          <a:noFill/>
          <a:ln/>
        </p:spPr>
        <p:txBody>
          <a:bodyPr wrap="square" lIns="0" tIns="0" rIns="0" bIns="0" rtlCol="0" anchor="t"/>
          <a:lstStyle/>
          <a:p>
            <a:pPr algn="l" indent="0" marL="0">
              <a:lnSpc>
                <a:spcPct val="130000"/>
              </a:lnSpc>
              <a:buNone/>
            </a:pPr>
            <a:r>
              <a:rPr lang="en-US" sz="1700" b="1" dirty="0">
                <a:solidFill>
                  <a:srgbClr val="16181B"/>
                </a:solidFill>
                <a:latin typeface="Inter" pitchFamily="34" charset="0"/>
                <a:ea typeface="Inter" pitchFamily="34" charset="-122"/>
                <a:cs typeface="Inter" pitchFamily="34" charset="-120"/>
              </a:rPr>
              <a:t>Calibration on the real box</a:t>
            </a:r>
            <a:endParaRPr lang="en-US" sz="1700" dirty="0"/>
          </a:p>
        </p:txBody>
      </p:sp>
      <p:sp>
        <p:nvSpPr>
          <p:cNvPr id="14" name="Text 11"/>
          <p:cNvSpPr/>
          <p:nvPr/>
        </p:nvSpPr>
        <p:spPr>
          <a:xfrm>
            <a:off x="1498610" y="2489180"/>
            <a:ext cx="8889980" cy="279441"/>
          </a:xfrm>
          <a:prstGeom prst="rect">
            <a:avLst/>
          </a:prstGeom>
          <a:noFill/>
          <a:ln/>
        </p:spPr>
        <p:txBody>
          <a:bodyPr wrap="square" lIns="0" tIns="0" rIns="0" bIns="0" rtlCol="0" anchor="t"/>
          <a:lstStyle/>
          <a:p>
            <a:pPr algn="l" indent="0" marL="0">
              <a:lnSpc>
                <a:spcPct val="140000"/>
              </a:lnSpc>
              <a:buNone/>
            </a:pPr>
            <a:r>
              <a:rPr lang="en-US" sz="1350" dirty="0">
                <a:solidFill>
                  <a:srgbClr val="4A4E55"/>
                </a:solidFill>
                <a:latin typeface="Inter" pitchFamily="34" charset="0"/>
                <a:ea typeface="Inter" pitchFamily="34" charset="-122"/>
                <a:cs typeface="Inter" pitchFamily="34" charset="-120"/>
              </a:rPr>
              <a:t>Ten riboflavin reference runs and chalk runs, plotted on the site in place of the illustration.</a:t>
            </a:r>
            <a:endParaRPr lang="en-US" sz="1350" dirty="0"/>
          </a:p>
        </p:txBody>
      </p:sp>
      <p:sp>
        <p:nvSpPr>
          <p:cNvPr id="15" name="Shape 13"/>
          <p:cNvSpPr/>
          <p:nvPr/>
        </p:nvSpPr>
        <p:spPr>
          <a:xfrm>
            <a:off x="761970" y="3174980"/>
            <a:ext cx="482620" cy="482620"/>
          </a:xfrm>
          <a:prstGeom prst="ellipse">
            <a:avLst/>
          </a:prstGeom>
          <a:solidFill>
            <a:srgbClr val="4FB3FF">
              <a:alpha val="14000"/>
            </a:srgbClr>
          </a:solidFill>
          <a:ln w="19050">
            <a:solidFill>
              <a:srgbClr val="4FB3FF"/>
            </a:solidFill>
            <a:prstDash val="solid"/>
          </a:ln>
        </p:spPr>
      </p:sp>
      <p:sp>
        <p:nvSpPr>
          <p:cNvPr id="16" name="Text 13"/>
          <p:cNvSpPr/>
          <p:nvPr/>
        </p:nvSpPr>
        <p:spPr>
          <a:xfrm>
            <a:off x="761970" y="3251241"/>
            <a:ext cx="482620" cy="285750"/>
          </a:xfrm>
          <a:prstGeom prst="rect">
            <a:avLst/>
          </a:prstGeom>
          <a:noFill/>
          <a:ln/>
        </p:spPr>
        <p:txBody>
          <a:bodyPr wrap="square" lIns="0" tIns="0" rIns="0" bIns="0" rtlCol="0" anchor="t"/>
          <a:lstStyle/>
          <a:p>
            <a:pPr algn="ctr" indent="0" marL="0">
              <a:lnSpc>
                <a:spcPct val="100000"/>
              </a:lnSpc>
              <a:buNone/>
            </a:pPr>
            <a:r>
              <a:rPr lang="en-US" sz="1872" dirty="0">
                <a:solidFill>
                  <a:srgbClr val="16181B"/>
                </a:solidFill>
                <a:latin typeface="Instrument Serif" pitchFamily="34" charset="0"/>
                <a:ea typeface="Instrument Serif" pitchFamily="34" charset="-122"/>
                <a:cs typeface="Instrument Serif" pitchFamily="34" charset="-120"/>
              </a:rPr>
              <a:t>2</a:t>
            </a:r>
            <a:endParaRPr lang="en-US" sz="1872" dirty="0"/>
          </a:p>
        </p:txBody>
      </p:sp>
      <p:sp>
        <p:nvSpPr>
          <p:cNvPr id="17" name="Text 14"/>
          <p:cNvSpPr/>
          <p:nvPr/>
        </p:nvSpPr>
        <p:spPr>
          <a:xfrm>
            <a:off x="1498610" y="3187690"/>
            <a:ext cx="8889980" cy="323880"/>
          </a:xfrm>
          <a:prstGeom prst="rect">
            <a:avLst/>
          </a:prstGeom>
          <a:noFill/>
          <a:ln/>
        </p:spPr>
        <p:txBody>
          <a:bodyPr wrap="square" lIns="0" tIns="0" rIns="0" bIns="0" rtlCol="0" anchor="t"/>
          <a:lstStyle/>
          <a:p>
            <a:pPr algn="l" indent="0" marL="0">
              <a:lnSpc>
                <a:spcPct val="130000"/>
              </a:lnSpc>
              <a:buNone/>
            </a:pPr>
            <a:r>
              <a:rPr lang="en-US" sz="1700" b="1" dirty="0">
                <a:solidFill>
                  <a:srgbClr val="16181B"/>
                </a:solidFill>
                <a:latin typeface="Inter" pitchFamily="34" charset="0"/>
                <a:ea typeface="Inter" pitchFamily="34" charset="-122"/>
                <a:cs typeface="Inter" pitchFamily="34" charset="-120"/>
              </a:rPr>
              <a:t>A second reference drug</a:t>
            </a:r>
            <a:endParaRPr lang="en-US" sz="1700" dirty="0"/>
          </a:p>
        </p:txBody>
      </p:sp>
      <p:sp>
        <p:nvSpPr>
          <p:cNvPr id="18" name="Text 15"/>
          <p:cNvSpPr/>
          <p:nvPr/>
        </p:nvSpPr>
        <p:spPr>
          <a:xfrm>
            <a:off x="1498610" y="3505170"/>
            <a:ext cx="8889980" cy="279441"/>
          </a:xfrm>
          <a:prstGeom prst="rect">
            <a:avLst/>
          </a:prstGeom>
          <a:noFill/>
          <a:ln/>
        </p:spPr>
        <p:txBody>
          <a:bodyPr wrap="square" lIns="0" tIns="0" rIns="0" bIns="0" rtlCol="0" anchor="t"/>
          <a:lstStyle/>
          <a:p>
            <a:pPr algn="l" indent="0" marL="0">
              <a:lnSpc>
                <a:spcPct val="140000"/>
              </a:lnSpc>
              <a:buNone/>
            </a:pPr>
            <a:r>
              <a:rPr lang="en-US" sz="1350" dirty="0">
                <a:solidFill>
                  <a:srgbClr val="4A4E55"/>
                </a:solidFill>
                <a:latin typeface="Inter" pitchFamily="34" charset="0"/>
                <a:ea typeface="Inter" pitchFamily="34" charset="-122"/>
                <a:cs typeface="Inter" pitchFamily="34" charset="-120"/>
              </a:rPr>
              <a:t>Each new drug needs its own band. Until then it is UNABLE TO VERIFY, on purpose.</a:t>
            </a:r>
            <a:endParaRPr lang="en-US" sz="1350" dirty="0"/>
          </a:p>
        </p:txBody>
      </p:sp>
      <p:sp>
        <p:nvSpPr>
          <p:cNvPr id="19" name="Shape 17"/>
          <p:cNvSpPr/>
          <p:nvPr/>
        </p:nvSpPr>
        <p:spPr>
          <a:xfrm>
            <a:off x="761970" y="4190970"/>
            <a:ext cx="482620" cy="482620"/>
          </a:xfrm>
          <a:prstGeom prst="ellipse">
            <a:avLst/>
          </a:prstGeom>
          <a:solidFill>
            <a:srgbClr val="4FB3FF">
              <a:alpha val="14000"/>
            </a:srgbClr>
          </a:solidFill>
          <a:ln w="19050">
            <a:solidFill>
              <a:srgbClr val="4FB3FF"/>
            </a:solidFill>
            <a:prstDash val="solid"/>
          </a:ln>
        </p:spPr>
      </p:sp>
      <p:sp>
        <p:nvSpPr>
          <p:cNvPr id="20" name="Text 17"/>
          <p:cNvSpPr/>
          <p:nvPr/>
        </p:nvSpPr>
        <p:spPr>
          <a:xfrm>
            <a:off x="761970" y="4267230"/>
            <a:ext cx="482620" cy="285750"/>
          </a:xfrm>
          <a:prstGeom prst="rect">
            <a:avLst/>
          </a:prstGeom>
          <a:noFill/>
          <a:ln/>
        </p:spPr>
        <p:txBody>
          <a:bodyPr wrap="square" lIns="0" tIns="0" rIns="0" bIns="0" rtlCol="0" anchor="t"/>
          <a:lstStyle/>
          <a:p>
            <a:pPr algn="ctr" indent="0" marL="0">
              <a:lnSpc>
                <a:spcPct val="100000"/>
              </a:lnSpc>
              <a:buNone/>
            </a:pPr>
            <a:r>
              <a:rPr lang="en-US" sz="1872" dirty="0">
                <a:solidFill>
                  <a:srgbClr val="16181B"/>
                </a:solidFill>
                <a:latin typeface="Instrument Serif" pitchFamily="34" charset="0"/>
                <a:ea typeface="Instrument Serif" pitchFamily="34" charset="-122"/>
                <a:cs typeface="Instrument Serif" pitchFamily="34" charset="-120"/>
              </a:rPr>
              <a:t>3</a:t>
            </a:r>
            <a:endParaRPr lang="en-US" sz="1872" dirty="0"/>
          </a:p>
        </p:txBody>
      </p:sp>
      <p:sp>
        <p:nvSpPr>
          <p:cNvPr id="21" name="Text 18"/>
          <p:cNvSpPr/>
          <p:nvPr/>
        </p:nvSpPr>
        <p:spPr>
          <a:xfrm>
            <a:off x="1498610" y="4203680"/>
            <a:ext cx="8889980" cy="323880"/>
          </a:xfrm>
          <a:prstGeom prst="rect">
            <a:avLst/>
          </a:prstGeom>
          <a:noFill/>
          <a:ln/>
        </p:spPr>
        <p:txBody>
          <a:bodyPr wrap="square" lIns="0" tIns="0" rIns="0" bIns="0" rtlCol="0" anchor="t"/>
          <a:lstStyle/>
          <a:p>
            <a:pPr algn="l" indent="0" marL="0">
              <a:lnSpc>
                <a:spcPct val="130000"/>
              </a:lnSpc>
              <a:buNone/>
            </a:pPr>
            <a:r>
              <a:rPr lang="en-US" sz="1700" b="1" dirty="0">
                <a:solidFill>
                  <a:srgbClr val="16181B"/>
                </a:solidFill>
                <a:latin typeface="Inter" pitchFamily="34" charset="0"/>
                <a:ea typeface="Inter" pitchFamily="34" charset="-122"/>
                <a:cs typeface="Inter" pitchFamily="34" charset="-120"/>
              </a:rPr>
              <a:t>One pharmacy, one week</a:t>
            </a:r>
            <a:endParaRPr lang="en-US" sz="1700" dirty="0"/>
          </a:p>
        </p:txBody>
      </p:sp>
      <p:sp>
        <p:nvSpPr>
          <p:cNvPr id="22" name="Text 19"/>
          <p:cNvSpPr/>
          <p:nvPr/>
        </p:nvSpPr>
        <p:spPr>
          <a:xfrm>
            <a:off x="1498610" y="4521159"/>
            <a:ext cx="8889980" cy="279441"/>
          </a:xfrm>
          <a:prstGeom prst="rect">
            <a:avLst/>
          </a:prstGeom>
          <a:noFill/>
          <a:ln/>
        </p:spPr>
        <p:txBody>
          <a:bodyPr wrap="square" lIns="0" tIns="0" rIns="0" bIns="0" rtlCol="0" anchor="t"/>
          <a:lstStyle/>
          <a:p>
            <a:pPr algn="l" indent="0" marL="0">
              <a:lnSpc>
                <a:spcPct val="140000"/>
              </a:lnSpc>
              <a:buNone/>
            </a:pPr>
            <a:r>
              <a:rPr lang="en-US" sz="1350" dirty="0">
                <a:solidFill>
                  <a:srgbClr val="4A4E55"/>
                </a:solidFill>
                <a:latin typeface="Inter" pitchFamily="34" charset="0"/>
                <a:ea typeface="Inter" pitchFamily="34" charset="-122"/>
                <a:cs typeface="Inter" pitchFamily="34" charset="-120"/>
              </a:rPr>
              <a:t>A procurement officer samples one tablet per delivery; we log every decision and every override.</a:t>
            </a:r>
            <a:endParaRPr lang="en-US" sz="1350" dirty="0"/>
          </a:p>
        </p:txBody>
      </p:sp>
      <p:sp>
        <p:nvSpPr>
          <p:cNvPr id="23" name="Shape 21"/>
          <p:cNvSpPr/>
          <p:nvPr/>
        </p:nvSpPr>
        <p:spPr>
          <a:xfrm>
            <a:off x="761970" y="5397520"/>
            <a:ext cx="10668030" cy="761970"/>
          </a:xfrm>
          <a:prstGeom prst="roundRect">
            <a:avLst>
              <a:gd name="adj" fmla="val 18337"/>
            </a:avLst>
          </a:prstGeom>
          <a:solidFill>
            <a:srgbClr val="4FB3FF">
              <a:alpha val="14000"/>
            </a:srgbClr>
          </a:solidFill>
          <a:ln w="12700">
            <a:solidFill>
              <a:srgbClr val="4FB3FF">
                <a:alpha val="35000"/>
              </a:srgbClr>
            </a:solidFill>
            <a:prstDash val="solid"/>
          </a:ln>
        </p:spPr>
      </p:sp>
      <p:sp>
        <p:nvSpPr>
          <p:cNvPr id="24" name="Text 21"/>
          <p:cNvSpPr/>
          <p:nvPr/>
        </p:nvSpPr>
        <p:spPr>
          <a:xfrm>
            <a:off x="1015990" y="5549859"/>
            <a:ext cx="10159990" cy="520659"/>
          </a:xfrm>
          <a:prstGeom prst="rect">
            <a:avLst/>
          </a:prstGeom>
          <a:noFill/>
          <a:ln/>
        </p:spPr>
        <p:txBody>
          <a:bodyPr wrap="square" lIns="0" tIns="0" rIns="0" bIns="0" rtlCol="0" anchor="t"/>
          <a:lstStyle/>
          <a:p>
            <a:pPr algn="l" indent="0" marL="0">
              <a:lnSpc>
                <a:spcPct val="135000"/>
              </a:lnSpc>
              <a:buNone/>
            </a:pPr>
            <a:r>
              <a:rPr lang="en-US" sz="1400" dirty="0">
                <a:solidFill>
                  <a:srgbClr val="16181B"/>
                </a:solidFill>
                <a:latin typeface="Inter" pitchFamily="34" charset="0"/>
                <a:ea typeface="Inter" pitchFamily="34" charset="-122"/>
                <a:cs typeface="Inter" pitchFamily="34" charset="-120"/>
              </a:rPr>
              <a:t>Ask: try to make it say PASS on the chalk. Then tell us which tablet to calibrate next, and introduce us to one clinic pharmacist.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Pill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Pill — The box measures. Pill explains.</dc:title>
  <dc:subject>Pill deck (Plan B import for Figma Slides; same source as the plugin: figma/deck.json)</dc:subject>
  <dc:creator>Pill · Cal Hacks 13.0</dc:creator>
  <cp:lastModifiedBy>Pill · Cal Hacks 13.0</cp:lastModifiedBy>
  <cp:revision>1</cp:revision>
  <dcterms:created xsi:type="dcterms:W3CDTF">2026-10-25T02:56:43Z</dcterms:created>
  <dcterms:modified xsi:type="dcterms:W3CDTF">2026-10-25T02:56:43Z</dcterms:modified>
</cp:coreProperties>
</file>