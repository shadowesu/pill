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Pill is a forty-dollar box. One quarter tablet, about three minutes, two channels that must agree. It says three things only: PASS, NEEDS LAB, UNABLE TO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bottle says vitamin B2. Inside is chalk. The blue line drops right into the reference band, so a one-sensor tester would call that a pass, but the green line never moves. Pill says NEEDS LAB and the supplier's four hundred and eighty dollars stays held, lab referral drafted. Sandbox money; this is a replay,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estimates 1 in 10 medical products in low- and middle-income countries is substandard or falsified. A new lab dissolution tester costs twenty to a hundred thousand dollars, and lab results take seven to ten business days. A clinic pharmacist has neither; what they have is an invoice to pay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Riboflavin absorbs blue and glows green. Chalk only blocks light. Two channels must agree, so a cloudy cup cannot pass on its own; the ESP32 measures and decides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quarter tablet, about three minutes. The pill fills to last night's reference plateau; at 100% the seven rules run in order and the rule that fired is printed. Claude explains the result in plain English but never sets a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says three things only: PASS, NEEDS LAB, UNABLE TO VERIFY. Never a fourth. PASS means this tablet's curve matched last night's riboflavin references on this box; it does not mean right drug, right dose or contaminant-free.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it decides the money. A policy agent holds the payment in escrow and proposes release only on a PASS; a pharmacist taps to approve. Claude explains the result and keeps the log, but never sets a verdict and never moves money. Sandbox and testnet money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clinics can buy a verdict for five cents over x402: the server answers 402, the wallet signs, the facilitator settles, and the server answers 200 with the verdict and the rule id. Testnet USDC on Base Sepolia; nothing here is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web app on the station's touchscreen and on any phone. These are the newest build pass; the Design file has every screenshot, grouped by pass and linked to its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run is six phases, the same ones the station walks through. Lights off for three seconds: the box must be dark, or the lid is open and nothing runs. Ten seconds of clear water as the blank; it must be steady. Drop the tablet; the station waits for the reading to fall six percent. Dissolving: the pill fills and the glow should rise with it. Settling: twenty flat seconds is a plateau. Then the seven rules give the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run, a Gemini agent checks what the sensor says: it reads the label, looks at photos of the cup, checks openFDA for a recall, cross-checks expiry, drug and lot, and compares what the camera saw with the sensor numbers. Every step is logged with its own time. The verdict word comes from the sensor and is never changed. The follower is the same Gemini, docked on every screen, answering questions about what is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website came first and set the tokens the app inherited. A 16-persona panel picked a plain, honest page over a copied storytelling site. All three crops are the live site today, captured headless.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 code-first team. Ideation and prototyping happened in markdown, AI panels and HTML. Figma enters as the place the repo is published to: slides, screens, tokens and the ideation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API cannot draw, so the repo emits deck.json and a one-file plugin draws it in Slides, Design or FigJam. Composio closes the loop: comments, dev resources back to the code, thumbnails, and tokens back to CSS. Nobody has run it in real Figma yet; that step is marked 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stages, timed from git commit times. Steps not yet run in real Figma say pending; we do not estimate them. The full log, with the Figma Make prompt and a ten-minute reproduce box, is STAGE-LOG.md.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broke, honestly. A rule bug the tests caught, a deploy we ran twice because the output was cut off, an API that cannot draw, and a hand-copied palette where most tokens drifted. Each one changed how we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numbers are estimates and say so. After numbers are measured on this machine; the real Figma run time is printed by the plugin and goes into LINKS.md.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limits before a judge asks. One reference drug, riboflavin; anything else is UNABLE TO VERIFY, by design. We never call a medicine good or 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build, many judges; only the emphasis changes. Money is SANDBOX or TESTNET on every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ask: try to make it say PASS on the chalk. Then tell us which tablet to calibrate next, and introduce us to one clinic pharmacist. Everything still pending is marked pending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406359"/>
            <a:ext cx="447050" cy="195590"/>
          </a:xfrm>
          <a:prstGeom prst="roundRect">
            <a:avLst>
              <a:gd name="adj" fmla="val 49977"/>
            </a:avLst>
          </a:prstGeom>
          <a:solidFill>
            <a:srgbClr val="FFFFFF"/>
          </a:solidFill>
          <a:ln/>
        </p:spPr>
      </p:sp>
      <p:sp>
        <p:nvSpPr>
          <p:cNvPr id="3" name="Shape 1"/>
          <p:cNvSpPr/>
          <p:nvPr/>
        </p:nvSpPr>
        <p:spPr>
          <a:xfrm>
            <a:off x="761970" y="406359"/>
            <a:ext cx="447050" cy="195590"/>
          </a:xfrm>
          <a:custGeom>
            <a:avLst/>
            <a:gdLst/>
            <a:ahLst/>
            <a:cxnLst/>
            <a:rect l="l" t="t" r="r" b="b"/>
            <a:pathLst>
              <a:path w="447050" h="195590">
                <a:moveTo>
                  <a:pt x="223479" y="195590"/>
                </a:moveTo>
                <a:lnTo>
                  <a:pt x="97749" y="195590"/>
                </a:lnTo>
                <a:lnTo>
                  <a:pt x="85039" y="194767"/>
                </a:lnTo>
                <a:lnTo>
                  <a:pt x="72512" y="192207"/>
                </a:lnTo>
                <a:lnTo>
                  <a:pt x="60350" y="188092"/>
                </a:lnTo>
                <a:lnTo>
                  <a:pt x="48920" y="182514"/>
                </a:lnTo>
                <a:lnTo>
                  <a:pt x="38222" y="175382"/>
                </a:lnTo>
                <a:lnTo>
                  <a:pt x="28621" y="166969"/>
                </a:lnTo>
                <a:lnTo>
                  <a:pt x="20208" y="157277"/>
                </a:lnTo>
                <a:lnTo>
                  <a:pt x="13076" y="146670"/>
                </a:lnTo>
                <a:lnTo>
                  <a:pt x="7407" y="135240"/>
                </a:lnTo>
                <a:lnTo>
                  <a:pt x="3292" y="123078"/>
                </a:lnTo>
                <a:lnTo>
                  <a:pt x="823" y="110551"/>
                </a:lnTo>
                <a:lnTo>
                  <a:pt x="0" y="97749"/>
                </a:lnTo>
                <a:lnTo>
                  <a:pt x="823" y="85039"/>
                </a:lnTo>
                <a:lnTo>
                  <a:pt x="3292" y="72512"/>
                </a:lnTo>
                <a:lnTo>
                  <a:pt x="7407" y="60350"/>
                </a:lnTo>
                <a:lnTo>
                  <a:pt x="13076" y="48920"/>
                </a:lnTo>
                <a:lnTo>
                  <a:pt x="20208" y="38222"/>
                </a:lnTo>
                <a:lnTo>
                  <a:pt x="28621" y="28621"/>
                </a:lnTo>
                <a:lnTo>
                  <a:pt x="38222" y="20208"/>
                </a:lnTo>
                <a:lnTo>
                  <a:pt x="48920" y="13076"/>
                </a:lnTo>
                <a:lnTo>
                  <a:pt x="60350" y="7407"/>
                </a:lnTo>
                <a:lnTo>
                  <a:pt x="72512" y="3292"/>
                </a:lnTo>
                <a:lnTo>
                  <a:pt x="85039" y="823"/>
                </a:lnTo>
                <a:lnTo>
                  <a:pt x="97749" y="0"/>
                </a:lnTo>
                <a:lnTo>
                  <a:pt x="223479" y="0"/>
                </a:lnTo>
                <a:close/>
              </a:path>
            </a:pathLst>
          </a:custGeom>
          <a:solidFill>
            <a:srgbClr val="5FD39A"/>
          </a:solidFill>
          <a:ln/>
        </p:spPr>
      </p:sp>
      <p:sp>
        <p:nvSpPr>
          <p:cNvPr id="4" name="Shape 2"/>
          <p:cNvSpPr/>
          <p:nvPr/>
        </p:nvSpPr>
        <p:spPr>
          <a:xfrm>
            <a:off x="761970" y="406359"/>
            <a:ext cx="447050" cy="195590"/>
          </a:xfrm>
          <a:prstGeom prst="roundRect">
            <a:avLst>
              <a:gd name="adj" fmla="val 49977"/>
            </a:avLst>
          </a:prstGeom>
          <a:ln w="12700">
            <a:solidFill>
              <a:srgbClr val="16181B"/>
            </a:solidFill>
            <a:prstDash val="solid"/>
          </a:ln>
        </p:spPr>
      </p:sp>
      <p:sp>
        <p:nvSpPr>
          <p:cNvPr id="5" name="Text 2"/>
          <p:cNvSpPr/>
          <p:nvPr/>
        </p:nvSpPr>
        <p:spPr>
          <a:xfrm>
            <a:off x="1306860" y="385420"/>
            <a:ext cx="1270010" cy="228600"/>
          </a:xfrm>
          <a:prstGeom prst="rect">
            <a:avLst/>
          </a:prstGeom>
          <a:noFill/>
          <a:ln/>
        </p:spPr>
        <p:txBody>
          <a:bodyPr wrap="square" lIns="0" tIns="0" rIns="0" bIns="0" rtlCol="0" anchor="t"/>
          <a:lstStyle/>
          <a:p>
            <a:pPr algn="l" indent="0" marL="0">
              <a:lnSpc>
                <a:spcPct val="100000"/>
              </a:lnSpc>
              <a:buNone/>
            </a:pPr>
            <a:r>
              <a:rPr lang="en-US" sz="1459" dirty="0">
                <a:solidFill>
                  <a:srgbClr val="16181B"/>
                </a:solidFill>
                <a:latin typeface="Instrument Serif" pitchFamily="34" charset="0"/>
                <a:ea typeface="Instrument Serif" pitchFamily="34" charset="-122"/>
                <a:cs typeface="Instrument Serif" pitchFamily="34" charset="-120"/>
              </a:rPr>
              <a:t>Pill</a:t>
            </a:r>
            <a:endParaRPr lang="en-US" sz="1459" dirty="0"/>
          </a:p>
        </p:txBody>
      </p:sp>
      <p:sp>
        <p:nvSpPr>
          <p:cNvPr id="6" name="Text 3"/>
          <p:cNvSpPr/>
          <p:nvPr/>
        </p:nvSpPr>
        <p:spPr>
          <a:xfrm>
            <a:off x="761970" y="1587490"/>
            <a:ext cx="7619970" cy="177759"/>
          </a:xfrm>
          <a:prstGeom prst="rect">
            <a:avLst/>
          </a:prstGeom>
          <a:noFill/>
          <a:ln/>
        </p:spPr>
        <p:txBody>
          <a:bodyPr wrap="square" lIns="0" tIns="0" rIns="0" bIns="0" rtlCol="0" anchor="t"/>
          <a:lstStyle/>
          <a:p>
            <a:pPr algn="l" indent="0" marL="0">
              <a:lnSpc>
                <a:spcPct val="120000"/>
              </a:lnSpc>
              <a:buNone/>
            </a:pPr>
            <a:r>
              <a:rPr lang="en-US" sz="1000" spc="140" kern="0" dirty="0">
                <a:solidFill>
                  <a:srgbClr val="7C8188"/>
                </a:solidFill>
                <a:latin typeface="JetBrains Mono" pitchFamily="34" charset="0"/>
                <a:ea typeface="JetBrains Mono" pitchFamily="34" charset="-122"/>
                <a:cs typeface="JetBrains Mono" pitchFamily="34" charset="-120"/>
              </a:rPr>
              <a:t>CAL HACKS 13.0 · IDEA TO DEMO · FIGMA</a:t>
            </a:r>
            <a:endParaRPr lang="en-US" sz="1000" dirty="0"/>
          </a:p>
        </p:txBody>
      </p:sp>
      <p:sp>
        <p:nvSpPr>
          <p:cNvPr id="7" name="Title"/>
          <p:cNvSpPr/>
          <p:nvPr/>
        </p:nvSpPr>
        <p:spPr>
          <a:xfrm>
            <a:off x="761970" y="1904970"/>
            <a:ext cx="5524530" cy="1974830"/>
          </a:xfrm>
          <a:prstGeom prst="rect">
            <a:avLst/>
          </a:prstGeom>
          <a:noFill/>
          <a:ln/>
        </p:spPr>
        <p:txBody>
          <a:bodyPr wrap="square" lIns="0" tIns="0" rIns="0" bIns="0" rtlCol="0" anchor="t"/>
          <a:lstStyle/>
          <a:p>
            <a:pPr algn="l" indent="0" marL="0">
              <a:lnSpc>
                <a:spcPct val="96000"/>
              </a:lnSpc>
              <a:buNone/>
            </a:pPr>
            <a:r>
              <a:rPr lang="en-US" sz="5040" spc="-76" kern="0" dirty="0">
                <a:solidFill>
                  <a:srgbClr val="16181B"/>
                </a:solidFill>
                <a:latin typeface="Instrument Serif" pitchFamily="34" charset="0"/>
                <a:ea typeface="Instrument Serif" pitchFamily="34" charset="-122"/>
                <a:cs typeface="Instrument Serif" pitchFamily="34" charset="-120"/>
              </a:rPr>
              <a:t>The box measures.
</a:t>
            </a:r>
            <a:pPr algn="l" indent="0" marL="0">
              <a:lnSpc>
                <a:spcPct val="96000"/>
              </a:lnSpc>
              <a:buNone/>
            </a:pPr>
            <a:r>
              <a:rPr lang="en-US" sz="5040" i="1" spc="-76" kern="0" dirty="0">
                <a:solidFill>
                  <a:srgbClr val="16181B"/>
                </a:solidFill>
                <a:latin typeface="Instrument Serif" pitchFamily="34" charset="0"/>
                <a:ea typeface="Instrument Serif" pitchFamily="34" charset="-122"/>
                <a:cs typeface="Instrument Serif" pitchFamily="34" charset="-120"/>
              </a:rPr>
              <a:t>Pill explains.</a:t>
            </a:r>
            <a:endParaRPr lang="en-US" sz="5040" dirty="0"/>
          </a:p>
        </p:txBody>
      </p:sp>
      <p:sp>
        <p:nvSpPr>
          <p:cNvPr id="8" name="Text 5"/>
          <p:cNvSpPr/>
          <p:nvPr/>
        </p:nvSpPr>
        <p:spPr>
          <a:xfrm>
            <a:off x="761970" y="3937041"/>
            <a:ext cx="4953030" cy="1219170"/>
          </a:xfrm>
          <a:prstGeom prst="rect">
            <a:avLst/>
          </a:prstGeom>
          <a:noFill/>
          <a:ln/>
        </p:spPr>
        <p:txBody>
          <a:bodyPr wrap="square" lIns="0" tIns="0" rIns="0" bIns="0" rtlCol="0" anchor="t"/>
          <a:lstStyle/>
          <a:p>
            <a:pPr algn="l" indent="0" marL="0">
              <a:lnSpc>
                <a:spcPct val="145000"/>
              </a:lnSpc>
              <a:buNone/>
            </a:pPr>
            <a:r>
              <a:rPr lang="en-US" sz="1600" dirty="0">
                <a:solidFill>
                  <a:srgbClr val="4A4E55"/>
                </a:solidFill>
                <a:latin typeface="Inter" pitchFamily="34" charset="0"/>
                <a:ea typeface="Inter" pitchFamily="34" charset="-122"/>
                <a:cs typeface="Inter" pitchFamily="34" charset="-120"/>
              </a:rPr>
              <a:t>A $40 lab-in-a-box. One tablet, about three minutes, one of three answers. In a clinic, that answer decides whether the supplier gets paid.</a:t>
            </a:r>
            <a:endParaRPr lang="en-US" sz="1600" dirty="0"/>
          </a:p>
        </p:txBody>
      </p:sp>
      <p:sp>
        <p:nvSpPr>
          <p:cNvPr id="9" name="Shape 7"/>
          <p:cNvSpPr/>
          <p:nvPr/>
        </p:nvSpPr>
        <p:spPr>
          <a:xfrm>
            <a:off x="761970" y="5460980"/>
            <a:ext cx="742950" cy="254020"/>
          </a:xfrm>
          <a:prstGeom prst="roundRect">
            <a:avLst>
              <a:gd name="adj" fmla="val 50000"/>
            </a:avLst>
          </a:prstGeom>
          <a:solidFill>
            <a:srgbClr val="5FD39A">
              <a:alpha val="16000"/>
            </a:srgbClr>
          </a:solidFill>
          <a:ln/>
        </p:spPr>
      </p:sp>
      <p:sp>
        <p:nvSpPr>
          <p:cNvPr id="10" name="Shape 8"/>
          <p:cNvSpPr/>
          <p:nvPr/>
        </p:nvSpPr>
        <p:spPr>
          <a:xfrm>
            <a:off x="888980" y="5556260"/>
            <a:ext cx="63459" cy="63459"/>
          </a:xfrm>
          <a:prstGeom prst="ellipse">
            <a:avLst/>
          </a:prstGeom>
          <a:solidFill>
            <a:srgbClr val="5FD39A"/>
          </a:solidFill>
          <a:ln/>
        </p:spPr>
      </p:sp>
      <p:sp>
        <p:nvSpPr>
          <p:cNvPr id="11" name="Text 8"/>
          <p:cNvSpPr/>
          <p:nvPr/>
        </p:nvSpPr>
        <p:spPr>
          <a:xfrm>
            <a:off x="1003280" y="5511820"/>
            <a:ext cx="42547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PASS</a:t>
            </a:r>
            <a:endParaRPr lang="en-US" sz="1000" dirty="0"/>
          </a:p>
        </p:txBody>
      </p:sp>
      <p:sp>
        <p:nvSpPr>
          <p:cNvPr id="12" name="Shape 10"/>
          <p:cNvSpPr/>
          <p:nvPr/>
        </p:nvSpPr>
        <p:spPr>
          <a:xfrm>
            <a:off x="1593891" y="5460980"/>
            <a:ext cx="1162020" cy="254020"/>
          </a:xfrm>
          <a:prstGeom prst="roundRect">
            <a:avLst>
              <a:gd name="adj" fmla="val 50000"/>
            </a:avLst>
          </a:prstGeom>
          <a:solidFill>
            <a:srgbClr val="E09A3A">
              <a:alpha val="16000"/>
            </a:srgbClr>
          </a:solidFill>
          <a:ln/>
        </p:spPr>
      </p:sp>
      <p:sp>
        <p:nvSpPr>
          <p:cNvPr id="13" name="Shape 11"/>
          <p:cNvSpPr/>
          <p:nvPr/>
        </p:nvSpPr>
        <p:spPr>
          <a:xfrm>
            <a:off x="1720809" y="5556260"/>
            <a:ext cx="63459" cy="63459"/>
          </a:xfrm>
          <a:prstGeom prst="ellipse">
            <a:avLst/>
          </a:prstGeom>
          <a:solidFill>
            <a:srgbClr val="E09A3A"/>
          </a:solidFill>
          <a:ln/>
        </p:spPr>
      </p:sp>
      <p:sp>
        <p:nvSpPr>
          <p:cNvPr id="14" name="Text 11"/>
          <p:cNvSpPr/>
          <p:nvPr/>
        </p:nvSpPr>
        <p:spPr>
          <a:xfrm>
            <a:off x="1835109" y="5511820"/>
            <a:ext cx="84454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NEEDS LAB</a:t>
            </a:r>
            <a:endParaRPr lang="en-US" sz="1000" dirty="0"/>
          </a:p>
        </p:txBody>
      </p:sp>
      <p:sp>
        <p:nvSpPr>
          <p:cNvPr id="15" name="Shape 13"/>
          <p:cNvSpPr/>
          <p:nvPr/>
        </p:nvSpPr>
        <p:spPr>
          <a:xfrm>
            <a:off x="2844790" y="5460980"/>
            <a:ext cx="1746230" cy="254020"/>
          </a:xfrm>
          <a:prstGeom prst="roundRect">
            <a:avLst>
              <a:gd name="adj" fmla="val 50000"/>
            </a:avLst>
          </a:prstGeom>
          <a:solidFill>
            <a:srgbClr val="9AA0A6">
              <a:alpha val="18000"/>
            </a:srgbClr>
          </a:solidFill>
          <a:ln/>
        </p:spPr>
      </p:sp>
      <p:sp>
        <p:nvSpPr>
          <p:cNvPr id="16" name="Shape 14"/>
          <p:cNvSpPr/>
          <p:nvPr/>
        </p:nvSpPr>
        <p:spPr>
          <a:xfrm>
            <a:off x="2971800" y="5556260"/>
            <a:ext cx="63459" cy="63459"/>
          </a:xfrm>
          <a:prstGeom prst="ellipse">
            <a:avLst/>
          </a:prstGeom>
          <a:solidFill>
            <a:srgbClr val="9AA0A6"/>
          </a:solidFill>
          <a:ln/>
        </p:spPr>
      </p:sp>
      <p:sp>
        <p:nvSpPr>
          <p:cNvPr id="17" name="Text 14"/>
          <p:cNvSpPr/>
          <p:nvPr/>
        </p:nvSpPr>
        <p:spPr>
          <a:xfrm>
            <a:off x="3086100" y="5511820"/>
            <a:ext cx="142875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UNABLE TO VERIFY</a:t>
            </a:r>
            <a:endParaRPr lang="en-US" sz="1000" dirty="0"/>
          </a:p>
        </p:txBody>
      </p:sp>
      <p:pic>
        <p:nvPicPr>
          <p:cNvPr id="18" name="Image 0" descr="Title: figma-art-binary-pill-1000">    </p:cNvPr>
          <p:cNvPicPr>
            <a:picLocks noChangeAspect="1"/>
          </p:cNvPicPr>
          <p:nvPr/>
        </p:nvPicPr>
        <p:blipFill>
          <a:blip r:embed="rId1"/>
          <a:stretch>
            <a:fillRect/>
          </a:stretch>
        </p:blipFill>
        <p:spPr>
          <a:xfrm>
            <a:off x="6349959" y="1079541"/>
            <a:ext cx="5080041" cy="4171950"/>
          </a:xfrm>
          <a:prstGeom prst="rect">
            <a:avLst/>
          </a:prstGeom>
        </p:spPr>
      </p:pic>
      <p:sp>
        <p:nvSpPr>
          <p:cNvPr id="19" name="Text 16"/>
          <p:cNvSpPr/>
          <p:nvPr/>
        </p:nvSpPr>
        <p:spPr>
          <a:xfrm>
            <a:off x="6349959" y="5397520"/>
            <a:ext cx="5080041"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Art · the site’s binary pill (pill.js), captured from pill-site.vercel.app</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THE MOMENT · DELIVERY D-1042 · REPLAY TM-02</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02 / 20</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9525030" cy="622341"/>
          </a:xfrm>
          <a:prstGeom prst="rect">
            <a:avLst/>
          </a:prstGeom>
          <a:noFill/>
          <a:ln/>
        </p:spPr>
        <p:txBody>
          <a:bodyPr wrap="square" lIns="0" tIns="0" rIns="0" bIns="0" rtlCol="0" anchor="t"/>
          <a:lstStyle/>
          <a:p>
            <a:pPr algn="l" indent="0" marL="0">
              <a:lnSpc>
                <a:spcPct val="100000"/>
              </a:lnSpc>
              <a:buNone/>
            </a:pPr>
            <a:r>
              <a:rPr lang="en-US" sz="4056" spc="-61" kern="0" dirty="0">
                <a:solidFill>
                  <a:srgbClr val="16181B"/>
                </a:solidFill>
                <a:latin typeface="Instrument Serif" pitchFamily="34" charset="0"/>
                <a:ea typeface="Instrument Serif" pitchFamily="34" charset="-122"/>
                <a:cs typeface="Instrument Serif" pitchFamily="34" charset="-120"/>
              </a:rPr>
              <a:t>Same label. </a:t>
            </a:r>
            <a:pPr algn="l" indent="0" marL="0">
              <a:lnSpc>
                <a:spcPct val="100000"/>
              </a:lnSpc>
              <a:buNone/>
            </a:pPr>
            <a:r>
              <a:rPr lang="en-US" sz="4056" i="1" spc="-61" kern="0" dirty="0">
                <a:solidFill>
                  <a:srgbClr val="16181B"/>
                </a:solidFill>
                <a:latin typeface="Instrument Serif" pitchFamily="34" charset="0"/>
                <a:ea typeface="Instrument Serif" pitchFamily="34" charset="-122"/>
                <a:cs typeface="Instrument Serif" pitchFamily="34" charset="-120"/>
              </a:rPr>
              <a:t>Chalk inside.</a:t>
            </a:r>
            <a:endParaRPr lang="en-US" sz="4056" dirty="0"/>
          </a:p>
        </p:txBody>
      </p:sp>
      <p:sp>
        <p:nvSpPr>
          <p:cNvPr id="11" name="Text 8"/>
          <p:cNvSpPr/>
          <p:nvPr/>
        </p:nvSpPr>
        <p:spPr>
          <a:xfrm>
            <a:off x="761970" y="1777959"/>
            <a:ext cx="8255020" cy="552480"/>
          </a:xfrm>
          <a:prstGeom prst="rect">
            <a:avLst/>
          </a:prstGeom>
          <a:noFill/>
          <a:ln/>
        </p:spPr>
        <p:txBody>
          <a:bodyPr wrap="square" lIns="0" tIns="0" rIns="0" bIns="0" rtlCol="0" anchor="t"/>
          <a:lstStyle/>
          <a:p>
            <a:pPr algn="l" indent="0" marL="0">
              <a:lnSpc>
                <a:spcPct val="145000"/>
              </a:lnSpc>
              <a:buNone/>
            </a:pPr>
            <a:r>
              <a:rPr lang="en-US" sz="1400" dirty="0">
                <a:solidFill>
                  <a:srgbClr val="4A4E55"/>
                </a:solidFill>
                <a:latin typeface="Inter" pitchFamily="34" charset="0"/>
                <a:ea typeface="Inter" pitchFamily="34" charset="-122"/>
                <a:cs typeface="Inter" pitchFamily="34" charset="-120"/>
              </a:rPr>
              <a:t>The bottle says vitamin B2. The blue line drops into the reference band, so a one-sensor tester would call it a pass. The green glow never moves.</a:t>
            </a:r>
            <a:endParaRPr lang="en-US" sz="1400" dirty="0"/>
          </a:p>
        </p:txBody>
      </p:sp>
      <p:sp>
        <p:nvSpPr>
          <p:cNvPr id="12" name="Shape 10"/>
          <p:cNvSpPr/>
          <p:nvPr/>
        </p:nvSpPr>
        <p:spPr>
          <a:xfrm>
            <a:off x="761970" y="2540020"/>
            <a:ext cx="6730990" cy="3556010"/>
          </a:xfrm>
          <a:prstGeom prst="roundRect">
            <a:avLst>
              <a:gd name="adj" fmla="val 4999"/>
            </a:avLst>
          </a:prstGeom>
          <a:solidFill>
            <a:srgbClr val="FFFFFF"/>
          </a:solidFill>
          <a:ln w="12700">
            <a:solidFill>
              <a:srgbClr val="16181B">
                <a:alpha val="10000"/>
              </a:srgbClr>
            </a:solidFill>
            <a:prstDash val="solid"/>
          </a:ln>
        </p:spPr>
      </p:sp>
      <p:sp>
        <p:nvSpPr>
          <p:cNvPr id="13" name="Shape 11"/>
          <p:cNvSpPr/>
          <p:nvPr/>
        </p:nvSpPr>
        <p:spPr>
          <a:xfrm>
            <a:off x="1587490" y="3556010"/>
            <a:ext cx="5333970" cy="482620"/>
          </a:xfrm>
          <a:prstGeom prst="rect">
            <a:avLst/>
          </a:prstGeom>
          <a:solidFill>
            <a:srgbClr val="4FB3FF">
              <a:alpha val="14000"/>
            </a:srgbClr>
          </a:solidFill>
          <a:ln/>
        </p:spPr>
      </p:sp>
      <p:sp>
        <p:nvSpPr>
          <p:cNvPr id="14" name="Shape 12"/>
          <p:cNvSpPr/>
          <p:nvPr/>
        </p:nvSpPr>
        <p:spPr>
          <a:xfrm>
            <a:off x="1574780" y="3543300"/>
            <a:ext cx="5359390" cy="25420"/>
          </a:xfrm>
          <a:custGeom>
            <a:avLst/>
            <a:gdLst/>
            <a:ahLst/>
            <a:cxnLst/>
            <a:rect l="l" t="t" r="r" b="b"/>
            <a:pathLst>
              <a:path w="5359390" h="25420">
                <a:moveTo>
                  <a:pt x="12710" y="12710"/>
                </a:moveTo>
                <a:lnTo>
                  <a:pt x="5346680" y="12710"/>
                </a:lnTo>
              </a:path>
            </a:pathLst>
          </a:custGeom>
          <a:ln w="12700">
            <a:solidFill>
              <a:srgbClr val="4FB3FF"/>
            </a:solidFill>
            <a:prstDash val="dash"/>
          </a:ln>
        </p:spPr>
      </p:sp>
      <p:sp>
        <p:nvSpPr>
          <p:cNvPr id="15" name="Shape 13"/>
          <p:cNvSpPr/>
          <p:nvPr/>
        </p:nvSpPr>
        <p:spPr>
          <a:xfrm>
            <a:off x="1574780" y="4025920"/>
            <a:ext cx="5359390" cy="25420"/>
          </a:xfrm>
          <a:custGeom>
            <a:avLst/>
            <a:gdLst/>
            <a:ahLst/>
            <a:cxnLst/>
            <a:rect l="l" t="t" r="r" b="b"/>
            <a:pathLst>
              <a:path w="5359390" h="25420">
                <a:moveTo>
                  <a:pt x="12710" y="12710"/>
                </a:moveTo>
                <a:lnTo>
                  <a:pt x="5346680" y="12710"/>
                </a:lnTo>
              </a:path>
            </a:pathLst>
          </a:custGeom>
          <a:ln w="12700">
            <a:solidFill>
              <a:srgbClr val="4FB3FF"/>
            </a:solidFill>
            <a:prstDash val="dash"/>
          </a:ln>
        </p:spPr>
      </p:sp>
      <p:sp>
        <p:nvSpPr>
          <p:cNvPr id="16" name="Shape 14"/>
          <p:cNvSpPr/>
          <p:nvPr/>
        </p:nvSpPr>
        <p:spPr>
          <a:xfrm>
            <a:off x="1574780" y="2844790"/>
            <a:ext cx="5359390" cy="2755910"/>
          </a:xfrm>
          <a:custGeom>
            <a:avLst/>
            <a:gdLst/>
            <a:ahLst/>
            <a:cxnLst/>
            <a:rect l="l" t="t" r="r" b="b"/>
            <a:pathLst>
              <a:path w="5359390" h="2755910">
                <a:moveTo>
                  <a:pt x="12710" y="12710"/>
                </a:moveTo>
                <a:lnTo>
                  <a:pt x="12710" y="2743200"/>
                </a:lnTo>
                <a:lnTo>
                  <a:pt x="5346680" y="2743200"/>
                </a:lnTo>
              </a:path>
            </a:pathLst>
          </a:custGeom>
          <a:ln w="12700">
            <a:solidFill>
              <a:srgbClr val="16181B"/>
            </a:solidFill>
            <a:prstDash val="solid"/>
          </a:ln>
        </p:spPr>
      </p:sp>
      <p:sp>
        <p:nvSpPr>
          <p:cNvPr id="17" name="Shape 15"/>
          <p:cNvSpPr/>
          <p:nvPr/>
        </p:nvSpPr>
        <p:spPr>
          <a:xfrm>
            <a:off x="1079541" y="2476470"/>
            <a:ext cx="6096030" cy="3556010"/>
          </a:xfrm>
          <a:custGeom>
            <a:avLst/>
            <a:gdLst/>
            <a:ahLst/>
            <a:cxnLst/>
            <a:rect l="l" t="t" r="r" b="b"/>
            <a:pathLst>
              <a:path w="6096030" h="3556010">
                <a:moveTo>
                  <a:pt x="508041" y="3111520"/>
                </a:moveTo>
                <a:cubicBezTo>
                  <a:pt x="1270010" y="2667030"/>
                  <a:pt x="1904970" y="1904970"/>
                  <a:pt x="2667030" y="1587490"/>
                </a:cubicBezTo>
                <a:cubicBezTo>
                  <a:pt x="3429000" y="1270010"/>
                  <a:pt x="4444990" y="1409730"/>
                  <a:pt x="5842010" y="1397020"/>
                </a:cubicBezTo>
              </a:path>
            </a:pathLst>
          </a:custGeom>
          <a:ln w="44450">
            <a:solidFill>
              <a:srgbClr val="4FB3FF"/>
            </a:solidFill>
            <a:prstDash val="solid"/>
          </a:ln>
        </p:spPr>
      </p:sp>
      <p:sp>
        <p:nvSpPr>
          <p:cNvPr id="18" name="Shape 16"/>
          <p:cNvSpPr/>
          <p:nvPr/>
        </p:nvSpPr>
        <p:spPr>
          <a:xfrm>
            <a:off x="1079541" y="2476470"/>
            <a:ext cx="6096030" cy="3556010"/>
          </a:xfrm>
          <a:custGeom>
            <a:avLst/>
            <a:gdLst/>
            <a:ahLst/>
            <a:cxnLst/>
            <a:rect l="l" t="t" r="r" b="b"/>
            <a:pathLst>
              <a:path w="6096030" h="3556010">
                <a:moveTo>
                  <a:pt x="508041" y="3086100"/>
                </a:moveTo>
                <a:cubicBezTo>
                  <a:pt x="1904970" y="3079791"/>
                  <a:pt x="3810030" y="3073390"/>
                  <a:pt x="5842010" y="3067080"/>
                </a:cubicBezTo>
              </a:path>
            </a:pathLst>
          </a:custGeom>
          <a:ln w="44450">
            <a:solidFill>
              <a:srgbClr val="5FD39A"/>
            </a:solidFill>
            <a:prstDash val="solid"/>
          </a:ln>
        </p:spPr>
      </p:sp>
      <p:sp>
        <p:nvSpPr>
          <p:cNvPr id="19" name="Text 16"/>
          <p:cNvSpPr/>
          <p:nvPr/>
        </p:nvSpPr>
        <p:spPr>
          <a:xfrm>
            <a:off x="4381530" y="3314700"/>
            <a:ext cx="2540020" cy="196870"/>
          </a:xfrm>
          <a:prstGeom prst="rect">
            <a:avLst/>
          </a:prstGeom>
          <a:noFill/>
          <a:ln/>
        </p:spPr>
        <p:txBody>
          <a:bodyPr wrap="square" lIns="0" tIns="0" rIns="0" bIns="0" rtlCol="0" anchor="t"/>
          <a:lstStyle/>
          <a:p>
            <a:pPr algn="r" indent="0" marL="0">
              <a:lnSpc>
                <a:spcPct val="140000"/>
              </a:lnSpc>
              <a:buNone/>
            </a:pPr>
            <a:r>
              <a:rPr lang="en-US" sz="950" dirty="0">
                <a:solidFill>
                  <a:srgbClr val="16181B"/>
                </a:solidFill>
                <a:latin typeface="JetBrains Mono" pitchFamily="34" charset="0"/>
                <a:ea typeface="JetBrains Mono" pitchFamily="34" charset="-122"/>
                <a:cs typeface="JetBrains Mono" pitchFamily="34" charset="-120"/>
              </a:rPr>
              <a:t>reference band 0.36–0.47</a:t>
            </a:r>
            <a:endParaRPr lang="en-US" sz="950" dirty="0"/>
          </a:p>
        </p:txBody>
      </p:sp>
      <p:sp>
        <p:nvSpPr>
          <p:cNvPr id="20" name="Text 17"/>
          <p:cNvSpPr/>
          <p:nvPr/>
        </p:nvSpPr>
        <p:spPr>
          <a:xfrm>
            <a:off x="4635459" y="4140220"/>
            <a:ext cx="2413010" cy="247620"/>
          </a:xfrm>
          <a:prstGeom prst="rect">
            <a:avLst/>
          </a:prstGeom>
          <a:noFill/>
          <a:ln/>
        </p:spPr>
        <p:txBody>
          <a:bodyPr wrap="square" lIns="0" tIns="0" rIns="0" bIns="0" rtlCol="0" anchor="t"/>
          <a:lstStyle/>
          <a:p>
            <a:pPr algn="l" indent="0" marL="0">
              <a:lnSpc>
                <a:spcPct val="140000"/>
              </a:lnSpc>
              <a:buNone/>
            </a:pPr>
            <a:r>
              <a:rPr lang="en-US" sz="1200" b="1" dirty="0">
                <a:solidFill>
                  <a:srgbClr val="16181B"/>
                </a:solidFill>
                <a:latin typeface="Inter" pitchFamily="34" charset="0"/>
                <a:ea typeface="Inter" pitchFamily="34" charset="-122"/>
                <a:cs typeface="Inter" pitchFamily="34" charset="-120"/>
              </a:rPr>
              <a:t>blue inline: in the band</a:t>
            </a:r>
            <a:endParaRPr lang="en-US" sz="1200" dirty="0"/>
          </a:p>
        </p:txBody>
      </p:sp>
      <p:sp>
        <p:nvSpPr>
          <p:cNvPr id="21" name="Text 18"/>
          <p:cNvSpPr/>
          <p:nvPr/>
        </p:nvSpPr>
        <p:spPr>
          <a:xfrm>
            <a:off x="4635459" y="5143500"/>
            <a:ext cx="2413010" cy="247620"/>
          </a:xfrm>
          <a:prstGeom prst="rect">
            <a:avLst/>
          </a:prstGeom>
          <a:noFill/>
          <a:ln/>
        </p:spPr>
        <p:txBody>
          <a:bodyPr wrap="square" lIns="0" tIns="0" rIns="0" bIns="0" rtlCol="0" anchor="t"/>
          <a:lstStyle/>
          <a:p>
            <a:pPr algn="l" indent="0" marL="0">
              <a:lnSpc>
                <a:spcPct val="140000"/>
              </a:lnSpc>
              <a:buNone/>
            </a:pPr>
            <a:r>
              <a:rPr lang="en-US" sz="1200" b="1" dirty="0">
                <a:solidFill>
                  <a:srgbClr val="16181B"/>
                </a:solidFill>
                <a:latin typeface="Inter" pitchFamily="34" charset="0"/>
                <a:ea typeface="Inter" pitchFamily="34" charset="-122"/>
                <a:cs typeface="Inter" pitchFamily="34" charset="-120"/>
              </a:rPr>
              <a:t>green 90° glow: flat</a:t>
            </a:r>
            <a:endParaRPr lang="en-US" sz="1200" dirty="0"/>
          </a:p>
        </p:txBody>
      </p:sp>
      <p:sp>
        <p:nvSpPr>
          <p:cNvPr id="22" name="Text 19"/>
          <p:cNvSpPr/>
          <p:nvPr/>
        </p:nvSpPr>
        <p:spPr>
          <a:xfrm>
            <a:off x="1587490" y="5676870"/>
            <a:ext cx="1270010"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0 s</a:t>
            </a:r>
            <a:endParaRPr lang="en-US" sz="850" dirty="0"/>
          </a:p>
        </p:txBody>
      </p:sp>
      <p:sp>
        <p:nvSpPr>
          <p:cNvPr id="23" name="Text 20"/>
          <p:cNvSpPr/>
          <p:nvPr/>
        </p:nvSpPr>
        <p:spPr>
          <a:xfrm>
            <a:off x="5651541" y="5676870"/>
            <a:ext cx="1270010" cy="177759"/>
          </a:xfrm>
          <a:prstGeom prst="rect">
            <a:avLst/>
          </a:prstGeom>
          <a:noFill/>
          <a:ln/>
        </p:spPr>
        <p:txBody>
          <a:bodyPr wrap="square" lIns="0" tIns="0" rIns="0" bIns="0" rtlCol="0" anchor="t"/>
          <a:lstStyle/>
          <a:p>
            <a:pPr algn="r"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180 s</a:t>
            </a:r>
            <a:endParaRPr lang="en-US" sz="850" dirty="0"/>
          </a:p>
        </p:txBody>
      </p:sp>
      <p:sp>
        <p:nvSpPr>
          <p:cNvPr id="24" name="Text 21"/>
          <p:cNvSpPr/>
          <p:nvPr/>
        </p:nvSpPr>
        <p:spPr>
          <a:xfrm>
            <a:off x="761970" y="6172200"/>
            <a:ext cx="6730990" cy="165141"/>
          </a:xfrm>
          <a:prstGeom prst="rect">
            <a:avLst/>
          </a:prstGeom>
          <a:noFill/>
          <a:ln/>
        </p:spPr>
        <p:txBody>
          <a:bodyPr wrap="square" lIns="0" tIns="0" rIns="0" bIns="0" rtlCol="0" anchor="t"/>
          <a:lstStyle/>
          <a:p>
            <a:pPr algn="l" indent="0" marL="0">
              <a:lnSpc>
                <a:spcPct val="140000"/>
              </a:lnSpc>
              <a:buNone/>
            </a:pPr>
            <a:r>
              <a:rPr lang="en-US" sz="800" dirty="0">
                <a:solidFill>
                  <a:srgbClr val="7C8188"/>
                </a:solidFill>
                <a:latin typeface="JetBrains Mono" pitchFamily="34" charset="0"/>
                <a:ea typeface="JetBrains Mono" pitchFamily="34" charset="-122"/>
                <a:cs typeface="JetBrains Mono" pitchFamily="34" charset="-120"/>
              </a:rPr>
              <a:t>Illustration · the shape of replay TM-02, redrawn; not live sensor data.</a:t>
            </a:r>
            <a:endParaRPr lang="en-US" sz="800" dirty="0"/>
          </a:p>
        </p:txBody>
      </p:sp>
      <p:sp>
        <p:nvSpPr>
          <p:cNvPr id="25" name="Shape 23"/>
          <p:cNvSpPr/>
          <p:nvPr/>
        </p:nvSpPr>
        <p:spPr>
          <a:xfrm>
            <a:off x="7873990" y="2540020"/>
            <a:ext cx="3556010" cy="3556010"/>
          </a:xfrm>
          <a:prstGeom prst="roundRect">
            <a:avLst>
              <a:gd name="adj" fmla="val 4999"/>
            </a:avLst>
          </a:prstGeom>
          <a:solidFill>
            <a:srgbClr val="E09A3A">
              <a:alpha val="16000"/>
            </a:srgbClr>
          </a:solidFill>
          <a:ln w="12700">
            <a:solidFill>
              <a:srgbClr val="E09A3A">
                <a:alpha val="40000"/>
              </a:srgbClr>
            </a:solidFill>
            <a:prstDash val="solid"/>
          </a:ln>
        </p:spPr>
      </p:sp>
      <p:sp>
        <p:nvSpPr>
          <p:cNvPr id="26" name="Text 23"/>
          <p:cNvSpPr/>
          <p:nvPr/>
        </p:nvSpPr>
        <p:spPr>
          <a:xfrm>
            <a:off x="8128010" y="2794041"/>
            <a:ext cx="3047970" cy="133320"/>
          </a:xfrm>
          <a:prstGeom prst="rect">
            <a:avLst/>
          </a:prstGeom>
          <a:noFill/>
          <a:ln/>
        </p:spPr>
        <p:txBody>
          <a:bodyPr wrap="square" lIns="0" tIns="0" rIns="0" bIns="0" rtlCol="0" anchor="t"/>
          <a:lstStyle/>
          <a:p>
            <a:pPr algn="l" indent="0" marL="0">
              <a:lnSpc>
                <a:spcPct val="120000"/>
              </a:lnSpc>
              <a:buNone/>
            </a:pPr>
            <a:r>
              <a:rPr lang="en-US" sz="750" spc="45" kern="0" dirty="0">
                <a:solidFill>
                  <a:srgbClr val="4A4E55"/>
                </a:solidFill>
                <a:latin typeface="JetBrains Mono" pitchFamily="34" charset="0"/>
                <a:ea typeface="JetBrains Mono" pitchFamily="34" charset="-122"/>
                <a:cs typeface="JetBrains Mono" pitchFamily="34" charset="-120"/>
              </a:rPr>
              <a:t>RULE N2 · INLINE MOVED, GLOW DID NOT RISE</a:t>
            </a:r>
            <a:endParaRPr lang="en-US" sz="750" dirty="0"/>
          </a:p>
        </p:txBody>
      </p:sp>
      <p:sp>
        <p:nvSpPr>
          <p:cNvPr id="27" name="Text 24"/>
          <p:cNvSpPr/>
          <p:nvPr/>
        </p:nvSpPr>
        <p:spPr>
          <a:xfrm>
            <a:off x="8128010" y="3098810"/>
            <a:ext cx="3047970" cy="571500"/>
          </a:xfrm>
          <a:prstGeom prst="rect">
            <a:avLst/>
          </a:prstGeom>
          <a:noFill/>
          <a:ln/>
        </p:spPr>
        <p:txBody>
          <a:bodyPr wrap="square" lIns="0" tIns="0" rIns="0" bIns="0" rtlCol="0" anchor="t"/>
          <a:lstStyle/>
          <a:p>
            <a:pPr algn="l" indent="0" marL="0">
              <a:lnSpc>
                <a:spcPct val="100000"/>
              </a:lnSpc>
              <a:buNone/>
            </a:pPr>
            <a:r>
              <a:rPr lang="en-US" sz="3744" spc="-56" kern="0" dirty="0">
                <a:solidFill>
                  <a:srgbClr val="16181B"/>
                </a:solidFill>
                <a:latin typeface="Instrument Serif" pitchFamily="34" charset="0"/>
                <a:ea typeface="Instrument Serif" pitchFamily="34" charset="-122"/>
                <a:cs typeface="Instrument Serif" pitchFamily="34" charset="-120"/>
              </a:rPr>
              <a:t>NEEDS LAB</a:t>
            </a:r>
            <a:endParaRPr lang="en-US" sz="3744" dirty="0"/>
          </a:p>
        </p:txBody>
      </p:sp>
      <p:sp>
        <p:nvSpPr>
          <p:cNvPr id="28" name="Text 25"/>
          <p:cNvSpPr/>
          <p:nvPr/>
        </p:nvSpPr>
        <p:spPr>
          <a:xfrm>
            <a:off x="8128010" y="3860780"/>
            <a:ext cx="3047970" cy="514350"/>
          </a:xfrm>
          <a:prstGeom prst="rect">
            <a:avLst/>
          </a:prstGeom>
          <a:noFill/>
          <a:ln/>
        </p:spPr>
        <p:txBody>
          <a:bodyPr wrap="square" lIns="0" tIns="0" rIns="0" bIns="0" rtlCol="0" anchor="t"/>
          <a:lstStyle/>
          <a:p>
            <a:pPr algn="l" indent="0" marL="0">
              <a:lnSpc>
                <a:spcPct val="145000"/>
              </a:lnSpc>
              <a:buNone/>
            </a:pPr>
            <a:r>
              <a:rPr lang="en-US" sz="1300" dirty="0">
                <a:solidFill>
                  <a:srgbClr val="16181B"/>
                </a:solidFill>
                <a:latin typeface="Inter" pitchFamily="34" charset="0"/>
                <a:ea typeface="Inter" pitchFamily="34" charset="-122"/>
                <a:cs typeface="Inter" pitchFamily="34" charset="-120"/>
              </a:rPr>
              <a:t>A one-sensor tester would have passed it.</a:t>
            </a:r>
            <a:endParaRPr lang="en-US" sz="1300" dirty="0"/>
          </a:p>
        </p:txBody>
      </p:sp>
      <p:sp>
        <p:nvSpPr>
          <p:cNvPr id="29" name="Shape 27"/>
          <p:cNvSpPr/>
          <p:nvPr/>
        </p:nvSpPr>
        <p:spPr>
          <a:xfrm>
            <a:off x="8128010" y="4495830"/>
            <a:ext cx="3047970" cy="12710"/>
          </a:xfrm>
          <a:prstGeom prst="rect">
            <a:avLst/>
          </a:prstGeom>
          <a:solidFill>
            <a:srgbClr val="E09A3A"/>
          </a:solidFill>
          <a:ln/>
        </p:spPr>
      </p:sp>
      <p:sp>
        <p:nvSpPr>
          <p:cNvPr id="30" name="Text 27"/>
          <p:cNvSpPr/>
          <p:nvPr/>
        </p:nvSpPr>
        <p:spPr>
          <a:xfrm>
            <a:off x="8128010" y="4673590"/>
            <a:ext cx="3047970" cy="152430"/>
          </a:xfrm>
          <a:prstGeom prst="rect">
            <a:avLst/>
          </a:prstGeom>
          <a:noFill/>
          <a:ln/>
        </p:spPr>
        <p:txBody>
          <a:bodyPr wrap="square" lIns="0" tIns="0" rIns="0" bIns="0" rtlCol="0" anchor="t"/>
          <a:lstStyle/>
          <a:p>
            <a:pPr algn="l" indent="0" marL="0">
              <a:lnSpc>
                <a:spcPct val="120000"/>
              </a:lnSpc>
              <a:buNone/>
            </a:pPr>
            <a:r>
              <a:rPr lang="en-US" sz="850" spc="85" kern="0" dirty="0">
                <a:solidFill>
                  <a:srgbClr val="4A4E55"/>
                </a:solidFill>
                <a:latin typeface="JetBrains Mono" pitchFamily="34" charset="0"/>
                <a:ea typeface="JetBrains Mono" pitchFamily="34" charset="-122"/>
                <a:cs typeface="JetBrains Mono" pitchFamily="34" charset="-120"/>
              </a:rPr>
              <a:t>POLICY P2 · HOLD, DRAFT THE LAB REFERRAL</a:t>
            </a:r>
            <a:endParaRPr lang="en-US" sz="850" dirty="0"/>
          </a:p>
        </p:txBody>
      </p:sp>
      <p:sp>
        <p:nvSpPr>
          <p:cNvPr id="31" name="Text 28"/>
          <p:cNvSpPr/>
          <p:nvPr/>
        </p:nvSpPr>
        <p:spPr>
          <a:xfrm>
            <a:off x="8128010" y="4953030"/>
            <a:ext cx="3047970" cy="431780"/>
          </a:xfrm>
          <a:prstGeom prst="rect">
            <a:avLst/>
          </a:prstGeom>
          <a:noFill/>
          <a:ln/>
        </p:spPr>
        <p:txBody>
          <a:bodyPr wrap="square" lIns="0" tIns="0" rIns="0" bIns="0" rtlCol="0" anchor="t"/>
          <a:lstStyle/>
          <a:p>
            <a:pPr algn="l" indent="0" marL="0">
              <a:lnSpc>
                <a:spcPct val="110000"/>
              </a:lnSpc>
              <a:buNone/>
            </a:pPr>
            <a:r>
              <a:rPr lang="en-US" sz="2600" dirty="0">
                <a:solidFill>
                  <a:srgbClr val="16181B"/>
                </a:solidFill>
                <a:latin typeface="JetBrains Mono" pitchFamily="34" charset="0"/>
                <a:ea typeface="JetBrains Mono" pitchFamily="34" charset="-122"/>
                <a:cs typeface="JetBrains Mono" pitchFamily="34" charset="-120"/>
              </a:rPr>
              <a:t>$480.00 held</a:t>
            </a:r>
            <a:endParaRPr lang="en-US" sz="2600" dirty="0"/>
          </a:p>
        </p:txBody>
      </p:sp>
      <p:sp>
        <p:nvSpPr>
          <p:cNvPr id="32" name="Shape 30"/>
          <p:cNvSpPr/>
          <p:nvPr/>
        </p:nvSpPr>
        <p:spPr>
          <a:xfrm>
            <a:off x="8128010" y="5562570"/>
            <a:ext cx="1619220" cy="254020"/>
          </a:xfrm>
          <a:prstGeom prst="roundRect">
            <a:avLst>
              <a:gd name="adj" fmla="val 50000"/>
            </a:avLst>
          </a:prstGeom>
          <a:solidFill>
            <a:srgbClr val="9AA0A6">
              <a:alpha val="18000"/>
            </a:srgbClr>
          </a:solidFill>
          <a:ln/>
        </p:spPr>
      </p:sp>
      <p:sp>
        <p:nvSpPr>
          <p:cNvPr id="33" name="Text 30"/>
          <p:cNvSpPr/>
          <p:nvPr/>
        </p:nvSpPr>
        <p:spPr>
          <a:xfrm>
            <a:off x="8128010" y="5613410"/>
            <a:ext cx="1619220" cy="177759"/>
          </a:xfrm>
          <a:prstGeom prst="rect">
            <a:avLst/>
          </a:prstGeom>
          <a:noFill/>
          <a:ln/>
        </p:spPr>
        <p:txBody>
          <a:bodyPr wrap="square" lIns="0" tIns="0" rIns="0" bIns="0" rtlCol="0" anchor="t"/>
          <a:lstStyle/>
          <a:p>
            <a:pPr algn="ctr"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SANDBOX · REPLAY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THE PROBLEM</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03 / 20</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6349959" cy="895380"/>
          </a:xfrm>
          <a:prstGeom prst="rect">
            <a:avLst/>
          </a:prstGeom>
          <a:noFill/>
          <a:ln/>
        </p:spPr>
        <p:txBody>
          <a:bodyPr wrap="square" lIns="0" tIns="0" rIns="0" bIns="0" rtlCol="0" anchor="t"/>
          <a:lstStyle/>
          <a:p>
            <a:pPr algn="l" indent="0" marL="0">
              <a:lnSpc>
                <a:spcPct val="100000"/>
              </a:lnSpc>
              <a:buNone/>
            </a:pPr>
            <a:r>
              <a:rPr lang="en-US" sz="5850" spc="-88" kern="0" dirty="0">
                <a:solidFill>
                  <a:srgbClr val="16181B"/>
                </a:solidFill>
                <a:latin typeface="Instrument Serif" pitchFamily="34" charset="0"/>
                <a:ea typeface="Instrument Serif" pitchFamily="34" charset="-122"/>
                <a:cs typeface="Instrument Serif" pitchFamily="34" charset="-120"/>
              </a:rPr>
              <a:t>One in ten.</a:t>
            </a:r>
            <a:endParaRPr lang="en-US" sz="5850" dirty="0"/>
          </a:p>
        </p:txBody>
      </p:sp>
      <p:sp>
        <p:nvSpPr>
          <p:cNvPr id="11" name="Text 8"/>
          <p:cNvSpPr/>
          <p:nvPr/>
        </p:nvSpPr>
        <p:spPr>
          <a:xfrm>
            <a:off x="761970" y="2095530"/>
            <a:ext cx="8889980" cy="590520"/>
          </a:xfrm>
          <a:prstGeom prst="rect">
            <a:avLst/>
          </a:prstGeom>
          <a:noFill/>
          <a:ln/>
        </p:spPr>
        <p:txBody>
          <a:bodyPr wrap="square" lIns="0" tIns="0" rIns="0" bIns="0" rtlCol="0" anchor="t"/>
          <a:lstStyle/>
          <a:p>
            <a:pPr algn="l" indent="0" marL="0">
              <a:lnSpc>
                <a:spcPct val="145000"/>
              </a:lnSpc>
              <a:buNone/>
            </a:pPr>
            <a:r>
              <a:rPr lang="en-US" sz="1500" dirty="0">
                <a:solidFill>
                  <a:srgbClr val="4A4E55"/>
                </a:solidFill>
                <a:latin typeface="Inter" pitchFamily="34" charset="0"/>
                <a:ea typeface="Inter" pitchFamily="34" charset="-122"/>
                <a:cs typeface="Inter" pitchFamily="34" charset="-120"/>
              </a:rPr>
              <a:t>WHO estimates 1 in 10 medical products in low- and middle-income countries is substandard or falsified. The lab instrument that catches one costs $20,000 to $100,000.</a:t>
            </a:r>
            <a:endParaRPr lang="en-US" sz="1500" dirty="0"/>
          </a:p>
        </p:txBody>
      </p:sp>
      <p:sp>
        <p:nvSpPr>
          <p:cNvPr id="12" name="Shape 10"/>
          <p:cNvSpPr/>
          <p:nvPr/>
        </p:nvSpPr>
        <p:spPr>
          <a:xfrm>
            <a:off x="1035009" y="2959090"/>
            <a:ext cx="634959" cy="1460480"/>
          </a:xfrm>
          <a:prstGeom prst="roundRect">
            <a:avLst>
              <a:gd name="adj" fmla="val 50000"/>
            </a:avLst>
          </a:prstGeom>
          <a:solidFill>
            <a:srgbClr val="FFFFFF"/>
          </a:solidFill>
          <a:ln/>
        </p:spPr>
      </p:sp>
      <p:sp>
        <p:nvSpPr>
          <p:cNvPr id="13" name="Shape 11"/>
          <p:cNvSpPr/>
          <p:nvPr/>
        </p:nvSpPr>
        <p:spPr>
          <a:xfrm>
            <a:off x="1035009"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D9DDE1"/>
          </a:solidFill>
          <a:ln/>
        </p:spPr>
      </p:sp>
      <p:sp>
        <p:nvSpPr>
          <p:cNvPr id="14" name="Shape 12"/>
          <p:cNvSpPr/>
          <p:nvPr/>
        </p:nvSpPr>
        <p:spPr>
          <a:xfrm>
            <a:off x="1035009" y="2959090"/>
            <a:ext cx="634959" cy="1460480"/>
          </a:xfrm>
          <a:prstGeom prst="roundRect">
            <a:avLst>
              <a:gd name="adj" fmla="val 50000"/>
            </a:avLst>
          </a:prstGeom>
          <a:ln w="19050">
            <a:solidFill>
              <a:srgbClr val="16181B">
                <a:alpha val="22000"/>
              </a:srgbClr>
            </a:solidFill>
            <a:prstDash val="solid"/>
          </a:ln>
        </p:spPr>
      </p:sp>
      <p:sp>
        <p:nvSpPr>
          <p:cNvPr id="15" name="Shape 13"/>
          <p:cNvSpPr/>
          <p:nvPr/>
        </p:nvSpPr>
        <p:spPr>
          <a:xfrm>
            <a:off x="2089130" y="2959090"/>
            <a:ext cx="634959" cy="1460480"/>
          </a:xfrm>
          <a:prstGeom prst="roundRect">
            <a:avLst>
              <a:gd name="adj" fmla="val 50000"/>
            </a:avLst>
          </a:prstGeom>
          <a:solidFill>
            <a:srgbClr val="FFFFFF"/>
          </a:solidFill>
          <a:ln/>
        </p:spPr>
      </p:sp>
      <p:sp>
        <p:nvSpPr>
          <p:cNvPr id="16" name="Shape 14"/>
          <p:cNvSpPr/>
          <p:nvPr/>
        </p:nvSpPr>
        <p:spPr>
          <a:xfrm>
            <a:off x="2089130"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D9DDE1"/>
          </a:solidFill>
          <a:ln/>
        </p:spPr>
      </p:sp>
      <p:sp>
        <p:nvSpPr>
          <p:cNvPr id="17" name="Shape 15"/>
          <p:cNvSpPr/>
          <p:nvPr/>
        </p:nvSpPr>
        <p:spPr>
          <a:xfrm>
            <a:off x="2089130" y="2959090"/>
            <a:ext cx="634959" cy="1460480"/>
          </a:xfrm>
          <a:prstGeom prst="roundRect">
            <a:avLst>
              <a:gd name="adj" fmla="val 50000"/>
            </a:avLst>
          </a:prstGeom>
          <a:ln w="19050">
            <a:solidFill>
              <a:srgbClr val="16181B">
                <a:alpha val="22000"/>
              </a:srgbClr>
            </a:solidFill>
            <a:prstDash val="solid"/>
          </a:ln>
        </p:spPr>
      </p:sp>
      <p:sp>
        <p:nvSpPr>
          <p:cNvPr id="18" name="Shape 16"/>
          <p:cNvSpPr/>
          <p:nvPr/>
        </p:nvSpPr>
        <p:spPr>
          <a:xfrm>
            <a:off x="3143250" y="2959090"/>
            <a:ext cx="634959" cy="1460480"/>
          </a:xfrm>
          <a:prstGeom prst="roundRect">
            <a:avLst>
              <a:gd name="adj" fmla="val 50000"/>
            </a:avLst>
          </a:prstGeom>
          <a:solidFill>
            <a:srgbClr val="FFFFFF"/>
          </a:solidFill>
          <a:ln/>
        </p:spPr>
      </p:sp>
      <p:sp>
        <p:nvSpPr>
          <p:cNvPr id="19" name="Shape 17"/>
          <p:cNvSpPr/>
          <p:nvPr/>
        </p:nvSpPr>
        <p:spPr>
          <a:xfrm>
            <a:off x="3143250"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D9DDE1"/>
          </a:solidFill>
          <a:ln/>
        </p:spPr>
      </p:sp>
      <p:sp>
        <p:nvSpPr>
          <p:cNvPr id="20" name="Shape 18"/>
          <p:cNvSpPr/>
          <p:nvPr/>
        </p:nvSpPr>
        <p:spPr>
          <a:xfrm>
            <a:off x="3143250" y="2959090"/>
            <a:ext cx="634959" cy="1460480"/>
          </a:xfrm>
          <a:prstGeom prst="roundRect">
            <a:avLst>
              <a:gd name="adj" fmla="val 50000"/>
            </a:avLst>
          </a:prstGeom>
          <a:ln w="19050">
            <a:solidFill>
              <a:srgbClr val="16181B">
                <a:alpha val="22000"/>
              </a:srgbClr>
            </a:solidFill>
            <a:prstDash val="solid"/>
          </a:ln>
        </p:spPr>
      </p:sp>
      <p:sp>
        <p:nvSpPr>
          <p:cNvPr id="21" name="Shape 19"/>
          <p:cNvSpPr/>
          <p:nvPr/>
        </p:nvSpPr>
        <p:spPr>
          <a:xfrm>
            <a:off x="4197370" y="2959090"/>
            <a:ext cx="634959" cy="1460480"/>
          </a:xfrm>
          <a:prstGeom prst="roundRect">
            <a:avLst>
              <a:gd name="adj" fmla="val 50000"/>
            </a:avLst>
          </a:prstGeom>
          <a:solidFill>
            <a:srgbClr val="FFFFFF"/>
          </a:solidFill>
          <a:ln/>
        </p:spPr>
      </p:sp>
      <p:sp>
        <p:nvSpPr>
          <p:cNvPr id="22" name="Shape 20"/>
          <p:cNvSpPr/>
          <p:nvPr/>
        </p:nvSpPr>
        <p:spPr>
          <a:xfrm>
            <a:off x="4197370"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D9DDE1"/>
          </a:solidFill>
          <a:ln/>
        </p:spPr>
      </p:sp>
      <p:sp>
        <p:nvSpPr>
          <p:cNvPr id="23" name="Shape 21"/>
          <p:cNvSpPr/>
          <p:nvPr/>
        </p:nvSpPr>
        <p:spPr>
          <a:xfrm>
            <a:off x="4197370" y="2959090"/>
            <a:ext cx="634959" cy="1460480"/>
          </a:xfrm>
          <a:prstGeom prst="roundRect">
            <a:avLst>
              <a:gd name="adj" fmla="val 50000"/>
            </a:avLst>
          </a:prstGeom>
          <a:ln w="19050">
            <a:solidFill>
              <a:srgbClr val="16181B">
                <a:alpha val="22000"/>
              </a:srgbClr>
            </a:solidFill>
            <a:prstDash val="solid"/>
          </a:ln>
        </p:spPr>
      </p:sp>
      <p:sp>
        <p:nvSpPr>
          <p:cNvPr id="24" name="Shape 22"/>
          <p:cNvSpPr/>
          <p:nvPr/>
        </p:nvSpPr>
        <p:spPr>
          <a:xfrm>
            <a:off x="5251491" y="2959090"/>
            <a:ext cx="634959" cy="1460480"/>
          </a:xfrm>
          <a:prstGeom prst="roundRect">
            <a:avLst>
              <a:gd name="adj" fmla="val 50000"/>
            </a:avLst>
          </a:prstGeom>
          <a:solidFill>
            <a:srgbClr val="FFFFFF"/>
          </a:solidFill>
          <a:ln/>
        </p:spPr>
      </p:sp>
      <p:sp>
        <p:nvSpPr>
          <p:cNvPr id="25" name="Shape 23"/>
          <p:cNvSpPr/>
          <p:nvPr/>
        </p:nvSpPr>
        <p:spPr>
          <a:xfrm>
            <a:off x="5251491"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D9DDE1"/>
          </a:solidFill>
          <a:ln/>
        </p:spPr>
      </p:sp>
      <p:sp>
        <p:nvSpPr>
          <p:cNvPr id="26" name="Shape 24"/>
          <p:cNvSpPr/>
          <p:nvPr/>
        </p:nvSpPr>
        <p:spPr>
          <a:xfrm>
            <a:off x="5251491" y="2959090"/>
            <a:ext cx="634959" cy="1460480"/>
          </a:xfrm>
          <a:prstGeom prst="roundRect">
            <a:avLst>
              <a:gd name="adj" fmla="val 50000"/>
            </a:avLst>
          </a:prstGeom>
          <a:ln w="19050">
            <a:solidFill>
              <a:srgbClr val="16181B">
                <a:alpha val="22000"/>
              </a:srgbClr>
            </a:solidFill>
            <a:prstDash val="solid"/>
          </a:ln>
        </p:spPr>
      </p:sp>
      <p:sp>
        <p:nvSpPr>
          <p:cNvPr id="27" name="Shape 25"/>
          <p:cNvSpPr/>
          <p:nvPr/>
        </p:nvSpPr>
        <p:spPr>
          <a:xfrm>
            <a:off x="6305520" y="2959090"/>
            <a:ext cx="634959" cy="1460480"/>
          </a:xfrm>
          <a:prstGeom prst="roundRect">
            <a:avLst>
              <a:gd name="adj" fmla="val 50000"/>
            </a:avLst>
          </a:prstGeom>
          <a:solidFill>
            <a:srgbClr val="FFFFFF"/>
          </a:solidFill>
          <a:ln/>
        </p:spPr>
      </p:sp>
      <p:sp>
        <p:nvSpPr>
          <p:cNvPr id="28" name="Shape 26"/>
          <p:cNvSpPr/>
          <p:nvPr/>
        </p:nvSpPr>
        <p:spPr>
          <a:xfrm>
            <a:off x="6305520"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D9DDE1"/>
          </a:solidFill>
          <a:ln/>
        </p:spPr>
      </p:sp>
      <p:sp>
        <p:nvSpPr>
          <p:cNvPr id="29" name="Shape 27"/>
          <p:cNvSpPr/>
          <p:nvPr/>
        </p:nvSpPr>
        <p:spPr>
          <a:xfrm>
            <a:off x="6305520" y="2959090"/>
            <a:ext cx="634959" cy="1460480"/>
          </a:xfrm>
          <a:prstGeom prst="roundRect">
            <a:avLst>
              <a:gd name="adj" fmla="val 50000"/>
            </a:avLst>
          </a:prstGeom>
          <a:ln w="19050">
            <a:solidFill>
              <a:srgbClr val="16181B">
                <a:alpha val="22000"/>
              </a:srgbClr>
            </a:solidFill>
            <a:prstDash val="solid"/>
          </a:ln>
        </p:spPr>
      </p:sp>
      <p:sp>
        <p:nvSpPr>
          <p:cNvPr id="30" name="Shape 28"/>
          <p:cNvSpPr/>
          <p:nvPr/>
        </p:nvSpPr>
        <p:spPr>
          <a:xfrm>
            <a:off x="7359640" y="2959090"/>
            <a:ext cx="634959" cy="1460480"/>
          </a:xfrm>
          <a:prstGeom prst="roundRect">
            <a:avLst>
              <a:gd name="adj" fmla="val 50000"/>
            </a:avLst>
          </a:prstGeom>
          <a:solidFill>
            <a:srgbClr val="E09A3A">
              <a:alpha val="16000"/>
            </a:srgbClr>
          </a:solidFill>
          <a:ln/>
        </p:spPr>
      </p:sp>
      <p:sp>
        <p:nvSpPr>
          <p:cNvPr id="31" name="Shape 29"/>
          <p:cNvSpPr/>
          <p:nvPr/>
        </p:nvSpPr>
        <p:spPr>
          <a:xfrm>
            <a:off x="7359640"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E09A3A"/>
          </a:solidFill>
          <a:ln/>
        </p:spPr>
      </p:sp>
      <p:sp>
        <p:nvSpPr>
          <p:cNvPr id="32" name="Shape 30"/>
          <p:cNvSpPr/>
          <p:nvPr/>
        </p:nvSpPr>
        <p:spPr>
          <a:xfrm>
            <a:off x="7359640" y="2959090"/>
            <a:ext cx="634959" cy="1460480"/>
          </a:xfrm>
          <a:prstGeom prst="roundRect">
            <a:avLst>
              <a:gd name="adj" fmla="val 50000"/>
            </a:avLst>
          </a:prstGeom>
          <a:ln w="25400">
            <a:solidFill>
              <a:srgbClr val="E09A3A"/>
            </a:solidFill>
            <a:prstDash val="solid"/>
          </a:ln>
        </p:spPr>
      </p:sp>
      <p:sp>
        <p:nvSpPr>
          <p:cNvPr id="33" name="Shape 31"/>
          <p:cNvSpPr/>
          <p:nvPr/>
        </p:nvSpPr>
        <p:spPr>
          <a:xfrm>
            <a:off x="8413760" y="2959090"/>
            <a:ext cx="634959" cy="1460480"/>
          </a:xfrm>
          <a:prstGeom prst="roundRect">
            <a:avLst>
              <a:gd name="adj" fmla="val 50000"/>
            </a:avLst>
          </a:prstGeom>
          <a:solidFill>
            <a:srgbClr val="FFFFFF"/>
          </a:solidFill>
          <a:ln/>
        </p:spPr>
      </p:sp>
      <p:sp>
        <p:nvSpPr>
          <p:cNvPr id="34" name="Shape 32"/>
          <p:cNvSpPr/>
          <p:nvPr/>
        </p:nvSpPr>
        <p:spPr>
          <a:xfrm>
            <a:off x="8413760"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D9DDE1"/>
          </a:solidFill>
          <a:ln/>
        </p:spPr>
      </p:sp>
      <p:sp>
        <p:nvSpPr>
          <p:cNvPr id="35" name="Shape 33"/>
          <p:cNvSpPr/>
          <p:nvPr/>
        </p:nvSpPr>
        <p:spPr>
          <a:xfrm>
            <a:off x="8413760" y="2959090"/>
            <a:ext cx="634959" cy="1460480"/>
          </a:xfrm>
          <a:prstGeom prst="roundRect">
            <a:avLst>
              <a:gd name="adj" fmla="val 50000"/>
            </a:avLst>
          </a:prstGeom>
          <a:ln w="19050">
            <a:solidFill>
              <a:srgbClr val="16181B">
                <a:alpha val="22000"/>
              </a:srgbClr>
            </a:solidFill>
            <a:prstDash val="solid"/>
          </a:ln>
        </p:spPr>
      </p:sp>
      <p:sp>
        <p:nvSpPr>
          <p:cNvPr id="36" name="Shape 34"/>
          <p:cNvSpPr/>
          <p:nvPr/>
        </p:nvSpPr>
        <p:spPr>
          <a:xfrm>
            <a:off x="9467880" y="2959090"/>
            <a:ext cx="634959" cy="1460480"/>
          </a:xfrm>
          <a:prstGeom prst="roundRect">
            <a:avLst>
              <a:gd name="adj" fmla="val 50000"/>
            </a:avLst>
          </a:prstGeom>
          <a:solidFill>
            <a:srgbClr val="FFFFFF"/>
          </a:solidFill>
          <a:ln/>
        </p:spPr>
      </p:sp>
      <p:sp>
        <p:nvSpPr>
          <p:cNvPr id="37" name="Shape 35"/>
          <p:cNvSpPr/>
          <p:nvPr/>
        </p:nvSpPr>
        <p:spPr>
          <a:xfrm>
            <a:off x="9467880"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D9DDE1"/>
          </a:solidFill>
          <a:ln/>
        </p:spPr>
      </p:sp>
      <p:sp>
        <p:nvSpPr>
          <p:cNvPr id="38" name="Shape 36"/>
          <p:cNvSpPr/>
          <p:nvPr/>
        </p:nvSpPr>
        <p:spPr>
          <a:xfrm>
            <a:off x="9467880" y="2959090"/>
            <a:ext cx="634959" cy="1460480"/>
          </a:xfrm>
          <a:prstGeom prst="roundRect">
            <a:avLst>
              <a:gd name="adj" fmla="val 50000"/>
            </a:avLst>
          </a:prstGeom>
          <a:ln w="19050">
            <a:solidFill>
              <a:srgbClr val="16181B">
                <a:alpha val="22000"/>
              </a:srgbClr>
            </a:solidFill>
            <a:prstDash val="solid"/>
          </a:ln>
        </p:spPr>
      </p:sp>
      <p:sp>
        <p:nvSpPr>
          <p:cNvPr id="39" name="Shape 37"/>
          <p:cNvSpPr/>
          <p:nvPr/>
        </p:nvSpPr>
        <p:spPr>
          <a:xfrm>
            <a:off x="10521909" y="2959090"/>
            <a:ext cx="634959" cy="1460480"/>
          </a:xfrm>
          <a:prstGeom prst="roundRect">
            <a:avLst>
              <a:gd name="adj" fmla="val 50000"/>
            </a:avLst>
          </a:prstGeom>
          <a:solidFill>
            <a:srgbClr val="FFFFFF"/>
          </a:solidFill>
          <a:ln/>
        </p:spPr>
      </p:sp>
      <p:sp>
        <p:nvSpPr>
          <p:cNvPr id="40" name="Shape 38"/>
          <p:cNvSpPr/>
          <p:nvPr/>
        </p:nvSpPr>
        <p:spPr>
          <a:xfrm>
            <a:off x="10521909"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D9DDE1"/>
          </a:solidFill>
          <a:ln/>
        </p:spPr>
      </p:sp>
      <p:sp>
        <p:nvSpPr>
          <p:cNvPr id="41" name="Shape 39"/>
          <p:cNvSpPr/>
          <p:nvPr/>
        </p:nvSpPr>
        <p:spPr>
          <a:xfrm>
            <a:off x="10521909" y="2959090"/>
            <a:ext cx="634959" cy="1460480"/>
          </a:xfrm>
          <a:prstGeom prst="roundRect">
            <a:avLst>
              <a:gd name="adj" fmla="val 50000"/>
            </a:avLst>
          </a:prstGeom>
          <a:ln w="19050">
            <a:solidFill>
              <a:srgbClr val="16181B">
                <a:alpha val="22000"/>
              </a:srgbClr>
            </a:solidFill>
            <a:prstDash val="solid"/>
          </a:ln>
        </p:spPr>
      </p:sp>
      <p:sp>
        <p:nvSpPr>
          <p:cNvPr id="42" name="Text 19"/>
          <p:cNvSpPr/>
          <p:nvPr/>
        </p:nvSpPr>
        <p:spPr>
          <a:xfrm>
            <a:off x="1035009" y="4546580"/>
            <a:ext cx="10159990"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Illustration · one tablet in ten. WHO, 2017: substandard and falsified products counted together.</a:t>
            </a:r>
            <a:endParaRPr lang="en-US" sz="850" dirty="0"/>
          </a:p>
        </p:txBody>
      </p:sp>
      <p:sp>
        <p:nvSpPr>
          <p:cNvPr id="43" name="Shape 41"/>
          <p:cNvSpPr/>
          <p:nvPr/>
        </p:nvSpPr>
        <p:spPr>
          <a:xfrm>
            <a:off x="761970" y="4953030"/>
            <a:ext cx="355610" cy="38130"/>
          </a:xfrm>
          <a:prstGeom prst="roundRect">
            <a:avLst>
              <a:gd name="adj" fmla="val 49881"/>
            </a:avLst>
          </a:prstGeom>
          <a:solidFill>
            <a:srgbClr val="E09A3A"/>
          </a:solidFill>
          <a:ln/>
        </p:spPr>
      </p:sp>
      <p:sp>
        <p:nvSpPr>
          <p:cNvPr id="44" name="Text 21"/>
          <p:cNvSpPr/>
          <p:nvPr/>
        </p:nvSpPr>
        <p:spPr>
          <a:xfrm>
            <a:off x="761970" y="5092659"/>
            <a:ext cx="3301990" cy="381030"/>
          </a:xfrm>
          <a:prstGeom prst="rect">
            <a:avLst/>
          </a:prstGeom>
          <a:noFill/>
          <a:ln/>
        </p:spPr>
        <p:txBody>
          <a:bodyPr wrap="square" lIns="0" tIns="0" rIns="0" bIns="0" rtlCol="0" anchor="t"/>
          <a:lstStyle/>
          <a:p>
            <a:pPr algn="l" indent="0" marL="0">
              <a:lnSpc>
                <a:spcPct val="100000"/>
              </a:lnSpc>
              <a:buNone/>
            </a:pPr>
            <a:r>
              <a:rPr lang="en-US" sz="2496" dirty="0">
                <a:solidFill>
                  <a:srgbClr val="16181B"/>
                </a:solidFill>
                <a:latin typeface="Instrument Serif" pitchFamily="34" charset="0"/>
                <a:ea typeface="Instrument Serif" pitchFamily="34" charset="-122"/>
                <a:cs typeface="Instrument Serif" pitchFamily="34" charset="-120"/>
              </a:rPr>
              <a:t>116,000</a:t>
            </a:r>
            <a:endParaRPr lang="en-US" sz="2496" dirty="0"/>
          </a:p>
        </p:txBody>
      </p:sp>
      <p:sp>
        <p:nvSpPr>
          <p:cNvPr id="45" name="Text 22"/>
          <p:cNvSpPr/>
          <p:nvPr/>
        </p:nvSpPr>
        <p:spPr>
          <a:xfrm>
            <a:off x="761970" y="5562570"/>
            <a:ext cx="3301990" cy="508041"/>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Inter" pitchFamily="34" charset="0"/>
                <a:ea typeface="Inter" pitchFamily="34" charset="-122"/>
                <a:cs typeface="Inter" pitchFamily="34" charset="-120"/>
              </a:rPr>
              <a:t>extra malaria deaths a year in sub-Saharan Africa, modelled central estimate, from substandard and falsified antimalarials (range 64,000–158,000)</a:t>
            </a:r>
            <a:endParaRPr lang="en-US" sz="900" dirty="0"/>
          </a:p>
        </p:txBody>
      </p:sp>
      <p:sp>
        <p:nvSpPr>
          <p:cNvPr id="46" name="Text 23"/>
          <p:cNvSpPr/>
          <p:nvPr/>
        </p:nvSpPr>
        <p:spPr>
          <a:xfrm>
            <a:off x="761970" y="6096030"/>
            <a:ext cx="3301990" cy="152430"/>
          </a:xfrm>
          <a:prstGeom prst="rect">
            <a:avLst/>
          </a:prstGeom>
          <a:noFill/>
          <a:ln/>
        </p:spPr>
        <p:txBody>
          <a:bodyPr wrap="square" lIns="0" tIns="0" rIns="0" bIns="0" rtlCol="0" anchor="t"/>
          <a:lstStyle/>
          <a:p>
            <a:pPr algn="l" indent="0" marL="0">
              <a:lnSpc>
                <a:spcPct val="140000"/>
              </a:lnSpc>
              <a:buNone/>
            </a:pPr>
            <a:r>
              <a:rPr lang="en-US" sz="750" dirty="0">
                <a:solidFill>
                  <a:srgbClr val="7C8188"/>
                </a:solidFill>
                <a:latin typeface="JetBrains Mono" pitchFamily="34" charset="0"/>
                <a:ea typeface="JetBrains Mono" pitchFamily="34" charset="-122"/>
                <a:cs typeface="JetBrains Mono" pitchFamily="34" charset="-120"/>
              </a:rPr>
              <a:t>LSHTM model, cited by WHO, 2017</a:t>
            </a:r>
            <a:endParaRPr lang="en-US" sz="750" dirty="0"/>
          </a:p>
        </p:txBody>
      </p:sp>
      <p:sp>
        <p:nvSpPr>
          <p:cNvPr id="47" name="Shape 45"/>
          <p:cNvSpPr/>
          <p:nvPr/>
        </p:nvSpPr>
        <p:spPr>
          <a:xfrm>
            <a:off x="4444990" y="4953030"/>
            <a:ext cx="355610" cy="38130"/>
          </a:xfrm>
          <a:prstGeom prst="roundRect">
            <a:avLst>
              <a:gd name="adj" fmla="val 49881"/>
            </a:avLst>
          </a:prstGeom>
          <a:solidFill>
            <a:srgbClr val="E09A3A"/>
          </a:solidFill>
          <a:ln/>
        </p:spPr>
      </p:sp>
      <p:sp>
        <p:nvSpPr>
          <p:cNvPr id="48" name="Text 25"/>
          <p:cNvSpPr/>
          <p:nvPr/>
        </p:nvSpPr>
        <p:spPr>
          <a:xfrm>
            <a:off x="4444990" y="5092659"/>
            <a:ext cx="3301990" cy="381030"/>
          </a:xfrm>
          <a:prstGeom prst="rect">
            <a:avLst/>
          </a:prstGeom>
          <a:noFill/>
          <a:ln/>
        </p:spPr>
        <p:txBody>
          <a:bodyPr wrap="square" lIns="0" tIns="0" rIns="0" bIns="0" rtlCol="0" anchor="t"/>
          <a:lstStyle/>
          <a:p>
            <a:pPr algn="l" indent="0" marL="0">
              <a:lnSpc>
                <a:spcPct val="100000"/>
              </a:lnSpc>
              <a:buNone/>
            </a:pPr>
            <a:r>
              <a:rPr lang="en-US" sz="2496" dirty="0">
                <a:solidFill>
                  <a:srgbClr val="16181B"/>
                </a:solidFill>
                <a:latin typeface="Instrument Serif" pitchFamily="34" charset="0"/>
                <a:ea typeface="Instrument Serif" pitchFamily="34" charset="-122"/>
                <a:cs typeface="Instrument Serif" pitchFamily="34" charset="-120"/>
              </a:rPr>
              <a:t>&gt;300</a:t>
            </a:r>
            <a:endParaRPr lang="en-US" sz="2496" dirty="0"/>
          </a:p>
        </p:txBody>
      </p:sp>
      <p:sp>
        <p:nvSpPr>
          <p:cNvPr id="49" name="Text 26"/>
          <p:cNvSpPr/>
          <p:nvPr/>
        </p:nvSpPr>
        <p:spPr>
          <a:xfrm>
            <a:off x="4444990" y="5562570"/>
            <a:ext cx="3301990" cy="34290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Inter" pitchFamily="34" charset="0"/>
                <a:ea typeface="Inter" pitchFamily="34" charset="-122"/>
                <a:cs typeface="Inter" pitchFamily="34" charset="-120"/>
              </a:rPr>
              <a:t>children's deaths linked to contaminated cough syrups in three countries, 2022–23, most under five</a:t>
            </a:r>
            <a:endParaRPr lang="en-US" sz="900" dirty="0"/>
          </a:p>
        </p:txBody>
      </p:sp>
      <p:sp>
        <p:nvSpPr>
          <p:cNvPr id="50" name="Text 27"/>
          <p:cNvSpPr/>
          <p:nvPr/>
        </p:nvSpPr>
        <p:spPr>
          <a:xfrm>
            <a:off x="4444990" y="6096030"/>
            <a:ext cx="3301990" cy="152430"/>
          </a:xfrm>
          <a:prstGeom prst="rect">
            <a:avLst/>
          </a:prstGeom>
          <a:noFill/>
          <a:ln/>
        </p:spPr>
        <p:txBody>
          <a:bodyPr wrap="square" lIns="0" tIns="0" rIns="0" bIns="0" rtlCol="0" anchor="t"/>
          <a:lstStyle/>
          <a:p>
            <a:pPr algn="l" indent="0" marL="0">
              <a:lnSpc>
                <a:spcPct val="140000"/>
              </a:lnSpc>
              <a:buNone/>
            </a:pPr>
            <a:r>
              <a:rPr lang="en-US" sz="750" dirty="0">
                <a:solidFill>
                  <a:srgbClr val="7C8188"/>
                </a:solidFill>
                <a:latin typeface="JetBrains Mono" pitchFamily="34" charset="0"/>
                <a:ea typeface="JetBrains Mono" pitchFamily="34" charset="-122"/>
                <a:cs typeface="JetBrains Mono" pitchFamily="34" charset="-120"/>
              </a:rPr>
              <a:t>WHO, Jan 2023</a:t>
            </a:r>
            <a:endParaRPr lang="en-US" sz="750" dirty="0"/>
          </a:p>
        </p:txBody>
      </p:sp>
      <p:sp>
        <p:nvSpPr>
          <p:cNvPr id="51" name="Shape 49"/>
          <p:cNvSpPr/>
          <p:nvPr/>
        </p:nvSpPr>
        <p:spPr>
          <a:xfrm>
            <a:off x="8128010" y="4953030"/>
            <a:ext cx="355610" cy="38130"/>
          </a:xfrm>
          <a:prstGeom prst="roundRect">
            <a:avLst>
              <a:gd name="adj" fmla="val 49881"/>
            </a:avLst>
          </a:prstGeom>
          <a:solidFill>
            <a:srgbClr val="4FB3FF"/>
          </a:solidFill>
          <a:ln/>
        </p:spPr>
      </p:sp>
      <p:sp>
        <p:nvSpPr>
          <p:cNvPr id="52" name="Text 29"/>
          <p:cNvSpPr/>
          <p:nvPr/>
        </p:nvSpPr>
        <p:spPr>
          <a:xfrm>
            <a:off x="8128010" y="5092659"/>
            <a:ext cx="3301990" cy="381030"/>
          </a:xfrm>
          <a:prstGeom prst="rect">
            <a:avLst/>
          </a:prstGeom>
          <a:noFill/>
          <a:ln/>
        </p:spPr>
        <p:txBody>
          <a:bodyPr wrap="square" lIns="0" tIns="0" rIns="0" bIns="0" rtlCol="0" anchor="t"/>
          <a:lstStyle/>
          <a:p>
            <a:pPr algn="l" indent="0" marL="0">
              <a:lnSpc>
                <a:spcPct val="100000"/>
              </a:lnSpc>
              <a:buNone/>
            </a:pPr>
            <a:r>
              <a:rPr lang="en-US" sz="2496" dirty="0">
                <a:solidFill>
                  <a:srgbClr val="16181B"/>
                </a:solidFill>
                <a:latin typeface="Instrument Serif" pitchFamily="34" charset="0"/>
                <a:ea typeface="Instrument Serif" pitchFamily="34" charset="-122"/>
                <a:cs typeface="Instrument Serif" pitchFamily="34" charset="-120"/>
              </a:rPr>
              <a:t>$30.5B</a:t>
            </a:r>
            <a:endParaRPr lang="en-US" sz="2496" dirty="0"/>
          </a:p>
        </p:txBody>
      </p:sp>
      <p:sp>
        <p:nvSpPr>
          <p:cNvPr id="53" name="Text 30"/>
          <p:cNvSpPr/>
          <p:nvPr/>
        </p:nvSpPr>
        <p:spPr>
          <a:xfrm>
            <a:off x="8128010" y="5562570"/>
            <a:ext cx="3301990" cy="34290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Inter" pitchFamily="34" charset="0"/>
                <a:ea typeface="Inter" pitchFamily="34" charset="-122"/>
                <a:cs typeface="Inter" pitchFamily="34" charset="-120"/>
              </a:rPr>
              <a:t>spent each year on substandard and falsified medical products, by WHO's estimate</a:t>
            </a:r>
            <a:endParaRPr lang="en-US" sz="900" dirty="0"/>
          </a:p>
        </p:txBody>
      </p:sp>
      <p:sp>
        <p:nvSpPr>
          <p:cNvPr id="54" name="Text 31"/>
          <p:cNvSpPr/>
          <p:nvPr/>
        </p:nvSpPr>
        <p:spPr>
          <a:xfrm>
            <a:off x="8128010" y="6096030"/>
            <a:ext cx="3301990" cy="152430"/>
          </a:xfrm>
          <a:prstGeom prst="rect">
            <a:avLst/>
          </a:prstGeom>
          <a:noFill/>
          <a:ln/>
        </p:spPr>
        <p:txBody>
          <a:bodyPr wrap="square" lIns="0" tIns="0" rIns="0" bIns="0" rtlCol="0" anchor="t"/>
          <a:lstStyle/>
          <a:p>
            <a:pPr algn="l" indent="0" marL="0">
              <a:lnSpc>
                <a:spcPct val="140000"/>
              </a:lnSpc>
              <a:buNone/>
            </a:pPr>
            <a:r>
              <a:rPr lang="en-US" sz="750" dirty="0">
                <a:solidFill>
                  <a:srgbClr val="7C8188"/>
                </a:solidFill>
                <a:latin typeface="JetBrains Mono" pitchFamily="34" charset="0"/>
                <a:ea typeface="JetBrains Mono" pitchFamily="34" charset="-122"/>
                <a:cs typeface="JetBrains Mono" pitchFamily="34" charset="-120"/>
              </a:rPr>
              <a:t>WHO fact sheet, 2024</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THE IDEA</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04 / 20</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4826020" cy="1333470"/>
          </a:xfrm>
          <a:prstGeom prst="rect">
            <a:avLst/>
          </a:prstGeom>
          <a:noFill/>
          <a:ln/>
        </p:spPr>
        <p:txBody>
          <a:bodyPr wrap="square" lIns="0" tIns="0" rIns="0" bIns="0" rtlCol="0" anchor="t"/>
          <a:lstStyle/>
          <a:p>
            <a:pPr algn="l" indent="0" marL="0">
              <a:lnSpc>
                <a:spcPct val="100000"/>
              </a:lnSpc>
              <a:buNone/>
            </a:pPr>
            <a:r>
              <a:rPr lang="en-US" sz="3276" spc="-49" kern="0" dirty="0">
                <a:solidFill>
                  <a:srgbClr val="16181B"/>
                </a:solidFill>
                <a:latin typeface="Instrument Serif" pitchFamily="34" charset="0"/>
                <a:ea typeface="Instrument Serif" pitchFamily="34" charset="-122"/>
                <a:cs typeface="Instrument Serif" pitchFamily="34" charset="-120"/>
              </a:rPr>
              <a:t>Lot numbers can be copied. Dissolution cannot.</a:t>
            </a:r>
            <a:endParaRPr lang="en-US" sz="3276" dirty="0"/>
          </a:p>
        </p:txBody>
      </p:sp>
      <p:sp>
        <p:nvSpPr>
          <p:cNvPr id="11" name="Text 8"/>
          <p:cNvSpPr/>
          <p:nvPr/>
        </p:nvSpPr>
        <p:spPr>
          <a:xfrm>
            <a:off x="761970" y="2349459"/>
            <a:ext cx="4635459" cy="990570"/>
          </a:xfrm>
          <a:prstGeom prst="rect">
            <a:avLst/>
          </a:prstGeom>
          <a:noFill/>
          <a:ln/>
        </p:spPr>
        <p:txBody>
          <a:bodyPr wrap="square" lIns="0" tIns="0" rIns="0" bIns="0" rtlCol="0" anchor="t"/>
          <a:lstStyle/>
          <a:p>
            <a:pPr algn="l" indent="0" marL="0">
              <a:lnSpc>
                <a:spcPct val="145000"/>
              </a:lnSpc>
              <a:buNone/>
            </a:pPr>
            <a:r>
              <a:rPr lang="en-US" sz="1300" dirty="0">
                <a:solidFill>
                  <a:srgbClr val="4A4E55"/>
                </a:solidFill>
                <a:latin typeface="Inter" pitchFamily="34" charset="0"/>
                <a:ea typeface="Inter" pitchFamily="34" charset="-122"/>
                <a:cs typeface="Inter" pitchFamily="34" charset="-120"/>
              </a:rPr>
              <a:t>A recall lookup trusts the label. Pill measures the tablet itself: one tablet in 900 mL of water, a paddle at the same speed every run, two light sensors watching it dissolve.</a:t>
            </a:r>
            <a:endParaRPr lang="en-US" sz="1300" dirty="0"/>
          </a:p>
        </p:txBody>
      </p:sp>
      <p:sp>
        <p:nvSpPr>
          <p:cNvPr id="12" name="Shape 10"/>
          <p:cNvSpPr/>
          <p:nvPr/>
        </p:nvSpPr>
        <p:spPr>
          <a:xfrm>
            <a:off x="761970" y="3810030"/>
            <a:ext cx="38130" cy="838230"/>
          </a:xfrm>
          <a:prstGeom prst="roundRect">
            <a:avLst>
              <a:gd name="adj" fmla="val 49881"/>
            </a:avLst>
          </a:prstGeom>
          <a:solidFill>
            <a:srgbClr val="4FB3FF"/>
          </a:solidFill>
          <a:ln/>
        </p:spPr>
      </p:sp>
      <p:sp>
        <p:nvSpPr>
          <p:cNvPr id="13" name="Text 10"/>
          <p:cNvSpPr/>
          <p:nvPr/>
        </p:nvSpPr>
        <p:spPr>
          <a:xfrm>
            <a:off x="952530" y="3810030"/>
            <a:ext cx="4444990" cy="152430"/>
          </a:xfrm>
          <a:prstGeom prst="rect">
            <a:avLst/>
          </a:prstGeom>
          <a:noFill/>
          <a:ln/>
        </p:spPr>
        <p:txBody>
          <a:bodyPr wrap="square" lIns="0" tIns="0" rIns="0" bIns="0" rtlCol="0" anchor="t"/>
          <a:lstStyle/>
          <a:p>
            <a:pPr algn="l" indent="0" marL="0">
              <a:lnSpc>
                <a:spcPct val="120000"/>
              </a:lnSpc>
              <a:buNone/>
            </a:pPr>
            <a:r>
              <a:rPr lang="en-US" sz="850" spc="119" kern="0" dirty="0">
                <a:solidFill>
                  <a:srgbClr val="7C8188"/>
                </a:solidFill>
                <a:latin typeface="JetBrains Mono" pitchFamily="34" charset="0"/>
                <a:ea typeface="JetBrains Mono" pitchFamily="34" charset="-122"/>
                <a:cs typeface="JetBrains Mono" pitchFamily="34" charset="-120"/>
              </a:rPr>
              <a:t>CHANNEL A · INLINE</a:t>
            </a:r>
            <a:endParaRPr lang="en-US" sz="850" dirty="0"/>
          </a:p>
        </p:txBody>
      </p:sp>
      <p:sp>
        <p:nvSpPr>
          <p:cNvPr id="14" name="Text 11"/>
          <p:cNvSpPr/>
          <p:nvPr/>
        </p:nvSpPr>
        <p:spPr>
          <a:xfrm>
            <a:off x="952530" y="4000500"/>
            <a:ext cx="4444990" cy="285750"/>
          </a:xfrm>
          <a:prstGeom prst="rect">
            <a:avLst/>
          </a:prstGeom>
          <a:noFill/>
          <a:ln/>
        </p:spPr>
        <p:txBody>
          <a:bodyPr wrap="square" lIns="0" tIns="0" rIns="0" bIns="0" rtlCol="0" anchor="t"/>
          <a:lstStyle/>
          <a:p>
            <a:pPr algn="l" indent="0" marL="0">
              <a:lnSpc>
                <a:spcPct val="130000"/>
              </a:lnSpc>
              <a:buNone/>
            </a:pPr>
            <a:r>
              <a:rPr lang="en-US" sz="1500" b="1" dirty="0">
                <a:solidFill>
                  <a:srgbClr val="16181B"/>
                </a:solidFill>
                <a:latin typeface="Inter" pitchFamily="34" charset="0"/>
                <a:ea typeface="Inter" pitchFamily="34" charset="-122"/>
                <a:cs typeface="Inter" pitchFamily="34" charset="-120"/>
              </a:rPr>
              <a:t>Blue light fades</a:t>
            </a:r>
            <a:endParaRPr lang="en-US" sz="1500" dirty="0"/>
          </a:p>
        </p:txBody>
      </p:sp>
      <p:sp>
        <p:nvSpPr>
          <p:cNvPr id="15" name="Text 12"/>
          <p:cNvSpPr/>
          <p:nvPr/>
        </p:nvSpPr>
        <p:spPr>
          <a:xfrm>
            <a:off x="952530" y="4292559"/>
            <a:ext cx="4444990" cy="40005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A 465–475 nm LED shines across the cup. Riboflavin absorbs it as the tablet dissolves.</a:t>
            </a:r>
            <a:endParaRPr lang="en-US" sz="1050" dirty="0"/>
          </a:p>
        </p:txBody>
      </p:sp>
      <p:sp>
        <p:nvSpPr>
          <p:cNvPr id="16" name="Shape 14"/>
          <p:cNvSpPr/>
          <p:nvPr/>
        </p:nvSpPr>
        <p:spPr>
          <a:xfrm>
            <a:off x="761970" y="4889480"/>
            <a:ext cx="38130" cy="838230"/>
          </a:xfrm>
          <a:prstGeom prst="roundRect">
            <a:avLst>
              <a:gd name="adj" fmla="val 49881"/>
            </a:avLst>
          </a:prstGeom>
          <a:solidFill>
            <a:srgbClr val="5FD39A"/>
          </a:solidFill>
          <a:ln/>
        </p:spPr>
      </p:sp>
      <p:sp>
        <p:nvSpPr>
          <p:cNvPr id="17" name="Text 14"/>
          <p:cNvSpPr/>
          <p:nvPr/>
        </p:nvSpPr>
        <p:spPr>
          <a:xfrm>
            <a:off x="952530" y="4889480"/>
            <a:ext cx="4444990" cy="152430"/>
          </a:xfrm>
          <a:prstGeom prst="rect">
            <a:avLst/>
          </a:prstGeom>
          <a:noFill/>
          <a:ln/>
        </p:spPr>
        <p:txBody>
          <a:bodyPr wrap="square" lIns="0" tIns="0" rIns="0" bIns="0" rtlCol="0" anchor="t"/>
          <a:lstStyle/>
          <a:p>
            <a:pPr algn="l" indent="0" marL="0">
              <a:lnSpc>
                <a:spcPct val="120000"/>
              </a:lnSpc>
              <a:buNone/>
            </a:pPr>
            <a:r>
              <a:rPr lang="en-US" sz="850" spc="119" kern="0" dirty="0">
                <a:solidFill>
                  <a:srgbClr val="7C8188"/>
                </a:solidFill>
                <a:latin typeface="JetBrains Mono" pitchFamily="34" charset="0"/>
                <a:ea typeface="JetBrains Mono" pitchFamily="34" charset="-122"/>
                <a:cs typeface="JetBrains Mono" pitchFamily="34" charset="-120"/>
              </a:rPr>
              <a:t>CHANNEL B · 90°</a:t>
            </a:r>
            <a:endParaRPr lang="en-US" sz="850" dirty="0"/>
          </a:p>
        </p:txBody>
      </p:sp>
      <p:sp>
        <p:nvSpPr>
          <p:cNvPr id="18" name="Text 15"/>
          <p:cNvSpPr/>
          <p:nvPr/>
        </p:nvSpPr>
        <p:spPr>
          <a:xfrm>
            <a:off x="952530" y="5080041"/>
            <a:ext cx="4444990" cy="285750"/>
          </a:xfrm>
          <a:prstGeom prst="rect">
            <a:avLst/>
          </a:prstGeom>
          <a:noFill/>
          <a:ln/>
        </p:spPr>
        <p:txBody>
          <a:bodyPr wrap="square" lIns="0" tIns="0" rIns="0" bIns="0" rtlCol="0" anchor="t"/>
          <a:lstStyle/>
          <a:p>
            <a:pPr algn="l" indent="0" marL="0">
              <a:lnSpc>
                <a:spcPct val="130000"/>
              </a:lnSpc>
              <a:buNone/>
            </a:pPr>
            <a:r>
              <a:rPr lang="en-US" sz="1500" b="1" dirty="0">
                <a:solidFill>
                  <a:srgbClr val="16181B"/>
                </a:solidFill>
                <a:latin typeface="Inter" pitchFamily="34" charset="0"/>
                <a:ea typeface="Inter" pitchFamily="34" charset="-122"/>
                <a:cs typeface="Inter" pitchFamily="34" charset="-120"/>
              </a:rPr>
              <a:t>Green glow rises</a:t>
            </a:r>
            <a:endParaRPr lang="en-US" sz="1500" dirty="0"/>
          </a:p>
        </p:txBody>
      </p:sp>
      <p:sp>
        <p:nvSpPr>
          <p:cNvPr id="19" name="Text 16"/>
          <p:cNvSpPr/>
          <p:nvPr/>
        </p:nvSpPr>
        <p:spPr>
          <a:xfrm>
            <a:off x="952530" y="5372100"/>
            <a:ext cx="4444990" cy="40005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A second sensor behind green plastic sees riboflavin glow. Chalk clouds the water; it does not glow.</a:t>
            </a:r>
            <a:endParaRPr lang="en-US" sz="1050" dirty="0"/>
          </a:p>
        </p:txBody>
      </p:sp>
      <p:sp>
        <p:nvSpPr>
          <p:cNvPr id="20" name="Shape 18"/>
          <p:cNvSpPr/>
          <p:nvPr/>
        </p:nvSpPr>
        <p:spPr>
          <a:xfrm>
            <a:off x="5842010" y="952530"/>
            <a:ext cx="5587990" cy="5080041"/>
          </a:xfrm>
          <a:prstGeom prst="roundRect">
            <a:avLst>
              <a:gd name="adj" fmla="val 3499"/>
            </a:avLst>
          </a:prstGeom>
          <a:solidFill>
            <a:srgbClr val="0E1216"/>
          </a:solidFill>
          <a:ln/>
        </p:spPr>
      </p:sp>
      <p:pic>
        <p:nvPicPr>
          <p:cNvPr id="21" name="Image 0" descr="The idea: figma-art-station-1400k">    </p:cNvPr>
          <p:cNvPicPr>
            <a:picLocks noChangeAspect="1"/>
          </p:cNvPicPr>
          <p:nvPr/>
        </p:nvPicPr>
        <p:blipFill>
          <a:blip r:embed="rId1"/>
          <a:stretch>
            <a:fillRect/>
          </a:stretch>
        </p:blipFill>
        <p:spPr>
          <a:xfrm>
            <a:off x="6033668" y="1143000"/>
            <a:ext cx="5204765" cy="3784610"/>
          </a:xfrm>
          <a:prstGeom prst="rect">
            <a:avLst/>
          </a:prstGeom>
        </p:spPr>
      </p:pic>
      <p:sp>
        <p:nvSpPr>
          <p:cNvPr id="22" name="Text 19"/>
          <p:cNvSpPr/>
          <p:nvPr/>
        </p:nvSpPr>
        <p:spPr>
          <a:xfrm>
            <a:off x="6159490" y="5397520"/>
            <a:ext cx="5080041" cy="476220"/>
          </a:xfrm>
          <a:prstGeom prst="rect">
            <a:avLst/>
          </a:prstGeom>
          <a:noFill/>
          <a:ln/>
        </p:spPr>
        <p:txBody>
          <a:bodyPr wrap="square" lIns="0" tIns="0" rIns="0" bIns="0" rtlCol="0" anchor="t"/>
          <a:lstStyle/>
          <a:p>
            <a:pPr algn="l" indent="0" marL="0">
              <a:lnSpc>
                <a:spcPct val="140000"/>
              </a:lnSpc>
              <a:buNone/>
            </a:pPr>
            <a:r>
              <a:rPr lang="en-US" sz="850" dirty="0">
                <a:solidFill>
                  <a:srgbClr val="A3A9AF"/>
                </a:solidFill>
                <a:latin typeface="JetBrains Mono" pitchFamily="34" charset="0"/>
                <a:ea typeface="JetBrains Mono" pitchFamily="34" charset="-122"/>
                <a:cs typeface="JetBrains Mono" pitchFamily="34" charset="-120"/>
              </a:rPr>
              <a:t>Fig 1 · the station, drawn in code for the site (station.js) and captured from pill-site.vercel.app: box, cup, paddle, blue LED, two sensors, ESP32, touchscreen.</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HOW A RUN WORKS</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05 / 20</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9525030" cy="571500"/>
          </a:xfrm>
          <a:prstGeom prst="rect">
            <a:avLst/>
          </a:prstGeom>
          <a:noFill/>
          <a:ln/>
        </p:spPr>
        <p:txBody>
          <a:bodyPr wrap="square" lIns="0" tIns="0" rIns="0" bIns="0" rtlCol="0" anchor="t"/>
          <a:lstStyle/>
          <a:p>
            <a:pPr algn="l" indent="0" marL="0">
              <a:lnSpc>
                <a:spcPct val="100000"/>
              </a:lnSpc>
              <a:buNone/>
            </a:pPr>
            <a:r>
              <a:rPr lang="en-US" sz="3744" spc="-56" kern="0" dirty="0">
                <a:solidFill>
                  <a:srgbClr val="16181B"/>
                </a:solidFill>
                <a:latin typeface="Instrument Serif" pitchFamily="34" charset="0"/>
                <a:ea typeface="Instrument Serif" pitchFamily="34" charset="-122"/>
                <a:cs typeface="Instrument Serif" pitchFamily="34" charset="-120"/>
              </a:rPr>
              <a:t>Three minutes, start to verdict.</a:t>
            </a:r>
            <a:endParaRPr lang="en-US" sz="3744" dirty="0"/>
          </a:p>
        </p:txBody>
      </p:sp>
      <p:sp>
        <p:nvSpPr>
          <p:cNvPr id="11" name="Text 8"/>
          <p:cNvSpPr/>
          <p:nvPr/>
        </p:nvSpPr>
        <p:spPr>
          <a:xfrm>
            <a:off x="761970" y="1714500"/>
            <a:ext cx="9525030" cy="514350"/>
          </a:xfrm>
          <a:prstGeom prst="rect">
            <a:avLst/>
          </a:prstGeom>
          <a:noFill/>
          <a:ln/>
        </p:spPr>
        <p:txBody>
          <a:bodyPr wrap="square" lIns="0" tIns="0" rIns="0" bIns="0" rtlCol="0" anchor="t"/>
          <a:lstStyle/>
          <a:p>
            <a:pPr algn="l" indent="0" marL="0">
              <a:lnSpc>
                <a:spcPct val="145000"/>
              </a:lnSpc>
              <a:buNone/>
            </a:pPr>
            <a:r>
              <a:rPr lang="en-US" sz="1300" dirty="0">
                <a:solidFill>
                  <a:srgbClr val="4A4E55"/>
                </a:solidFill>
                <a:latin typeface="Inter" pitchFamily="34" charset="0"/>
                <a:ea typeface="Inter" pitchFamily="34" charset="-122"/>
                <a:cs typeface="Inter" pitchFamily="34" charset="-120"/>
              </a:rPr>
              <a:t>The app draws the run as a pill filling to last night’s reference plateau (ten reference runs make the band). At 100% the curve has flattened and the seven rules run.</a:t>
            </a:r>
            <a:endParaRPr lang="en-US" sz="1300" dirty="0"/>
          </a:p>
        </p:txBody>
      </p:sp>
      <p:sp>
        <p:nvSpPr>
          <p:cNvPr id="12" name="Shape 10"/>
          <p:cNvSpPr/>
          <p:nvPr/>
        </p:nvSpPr>
        <p:spPr>
          <a:xfrm>
            <a:off x="1352580" y="2286000"/>
            <a:ext cx="952530" cy="2349459"/>
          </a:xfrm>
          <a:prstGeom prst="roundRect">
            <a:avLst>
              <a:gd name="adj" fmla="val 49995"/>
            </a:avLst>
          </a:prstGeom>
          <a:solidFill>
            <a:srgbClr val="FFFFFF"/>
          </a:solidFill>
          <a:ln/>
        </p:spPr>
      </p:sp>
      <p:sp>
        <p:nvSpPr>
          <p:cNvPr id="13" name="Shape 11"/>
          <p:cNvSpPr/>
          <p:nvPr/>
        </p:nvSpPr>
        <p:spPr>
          <a:xfrm>
            <a:off x="1352580" y="2286000"/>
            <a:ext cx="952530" cy="2349459"/>
          </a:xfrm>
          <a:prstGeom prst="roundRect">
            <a:avLst>
              <a:gd name="adj" fmla="val 49995"/>
            </a:avLst>
          </a:prstGeom>
          <a:ln w="31750">
            <a:solidFill>
              <a:srgbClr val="4FB3FF"/>
            </a:solidFill>
            <a:prstDash val="solid"/>
          </a:ln>
        </p:spPr>
      </p:sp>
      <p:sp>
        <p:nvSpPr>
          <p:cNvPr id="14" name="Shape 12"/>
          <p:cNvSpPr/>
          <p:nvPr/>
        </p:nvSpPr>
        <p:spPr>
          <a:xfrm>
            <a:off x="2425720" y="3397270"/>
            <a:ext cx="939820" cy="127010"/>
          </a:xfrm>
          <a:custGeom>
            <a:avLst/>
            <a:gdLst/>
            <a:ahLst/>
            <a:cxnLst/>
            <a:rect l="l" t="t" r="r" b="b"/>
            <a:pathLst>
              <a:path w="939820" h="127010">
                <a:moveTo>
                  <a:pt x="19020" y="63459"/>
                </a:moveTo>
                <a:lnTo>
                  <a:pt x="920709" y="63459"/>
                </a:lnTo>
                <a:moveTo>
                  <a:pt x="842620" y="106070"/>
                </a:moveTo>
                <a:lnTo>
                  <a:pt x="920709" y="63459"/>
                </a:lnTo>
                <a:lnTo>
                  <a:pt x="842620" y="20940"/>
                </a:lnTo>
              </a:path>
            </a:pathLst>
          </a:custGeom>
          <a:ln w="19050">
            <a:solidFill>
              <a:srgbClr val="16181B">
                <a:alpha val="18000"/>
              </a:srgbClr>
            </a:solidFill>
            <a:prstDash val="solid"/>
          </a:ln>
        </p:spPr>
      </p:sp>
      <p:sp>
        <p:nvSpPr>
          <p:cNvPr id="15" name="Text 11"/>
          <p:cNvSpPr/>
          <p:nvPr/>
        </p:nvSpPr>
        <p:spPr>
          <a:xfrm>
            <a:off x="761970" y="4775180"/>
            <a:ext cx="2133570" cy="336591"/>
          </a:xfrm>
          <a:prstGeom prst="rect">
            <a:avLst/>
          </a:prstGeom>
          <a:noFill/>
          <a:ln/>
        </p:spPr>
        <p:txBody>
          <a:bodyPr wrap="square" lIns="0" tIns="0" rIns="0" bIns="0" rtlCol="0" anchor="t"/>
          <a:lstStyle/>
          <a:p>
            <a:pPr algn="ctr" indent="0" marL="0">
              <a:lnSpc>
                <a:spcPct val="100000"/>
              </a:lnSpc>
              <a:buNone/>
            </a:pPr>
            <a:r>
              <a:rPr lang="en-US" sz="2184" dirty="0">
                <a:solidFill>
                  <a:srgbClr val="16181B"/>
                </a:solidFill>
                <a:latin typeface="Instrument Serif" pitchFamily="34" charset="0"/>
                <a:ea typeface="Instrument Serif" pitchFamily="34" charset="-122"/>
                <a:cs typeface="Instrument Serif" pitchFamily="34" charset="-120"/>
              </a:rPr>
              <a:t>0%</a:t>
            </a:r>
            <a:endParaRPr lang="en-US" sz="2184" dirty="0"/>
          </a:p>
        </p:txBody>
      </p:sp>
      <p:sp>
        <p:nvSpPr>
          <p:cNvPr id="16" name="Text 12"/>
          <p:cNvSpPr/>
          <p:nvPr/>
        </p:nvSpPr>
        <p:spPr>
          <a:xfrm>
            <a:off x="761970" y="5181630"/>
            <a:ext cx="2133570" cy="177759"/>
          </a:xfrm>
          <a:prstGeom prst="rect">
            <a:avLst/>
          </a:prstGeom>
          <a:noFill/>
          <a:ln/>
        </p:spPr>
        <p:txBody>
          <a:bodyPr wrap="square" lIns="0" tIns="0" rIns="0" bIns="0" rtlCol="0" anchor="t"/>
          <a:lstStyle/>
          <a:p>
            <a:pPr algn="ctr"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blank</a:t>
            </a:r>
            <a:endParaRPr lang="en-US" sz="850" dirty="0"/>
          </a:p>
        </p:txBody>
      </p:sp>
      <p:sp>
        <p:nvSpPr>
          <p:cNvPr id="17" name="Text 13"/>
          <p:cNvSpPr/>
          <p:nvPr/>
        </p:nvSpPr>
        <p:spPr>
          <a:xfrm>
            <a:off x="876270" y="5410230"/>
            <a:ext cx="1904970" cy="381030"/>
          </a:xfrm>
          <a:prstGeom prst="rect">
            <a:avLst/>
          </a:prstGeom>
          <a:noFill/>
          <a:ln/>
        </p:spPr>
        <p:txBody>
          <a:bodyPr wrap="square" lIns="0" tIns="0" rIns="0" bIns="0" rtlCol="0" anchor="t"/>
          <a:lstStyle/>
          <a:p>
            <a:pPr algn="ctr" indent="0" marL="0">
              <a:lnSpc>
                <a:spcPct val="140000"/>
              </a:lnSpc>
              <a:buNone/>
            </a:pPr>
            <a:r>
              <a:rPr lang="en-US" sz="1000" dirty="0">
                <a:solidFill>
                  <a:srgbClr val="4A4E55"/>
                </a:solidFill>
                <a:latin typeface="Inter" pitchFamily="34" charset="0"/>
                <a:ea typeface="Inter" pitchFamily="34" charset="-122"/>
                <a:cs typeface="Inter" pitchFamily="34" charset="-120"/>
              </a:rPr>
              <a:t>0:20 · dark, then blank. Lid open? No run.</a:t>
            </a:r>
            <a:endParaRPr lang="en-US" sz="1000" dirty="0"/>
          </a:p>
        </p:txBody>
      </p:sp>
      <p:sp>
        <p:nvSpPr>
          <p:cNvPr id="18" name="Shape 16"/>
          <p:cNvSpPr/>
          <p:nvPr/>
        </p:nvSpPr>
        <p:spPr>
          <a:xfrm>
            <a:off x="3486150" y="2286000"/>
            <a:ext cx="952530" cy="2349459"/>
          </a:xfrm>
          <a:prstGeom prst="roundRect">
            <a:avLst>
              <a:gd name="adj" fmla="val 49995"/>
            </a:avLst>
          </a:prstGeom>
          <a:solidFill>
            <a:srgbClr val="FFFFFF"/>
          </a:solidFill>
          <a:ln/>
        </p:spPr>
      </p:sp>
      <p:sp>
        <p:nvSpPr>
          <p:cNvPr id="19" name="Shape 17"/>
          <p:cNvSpPr/>
          <p:nvPr/>
        </p:nvSpPr>
        <p:spPr>
          <a:xfrm>
            <a:off x="3486150" y="2286000"/>
            <a:ext cx="952530" cy="2349459"/>
          </a:xfrm>
          <a:custGeom>
            <a:avLst/>
            <a:gdLst/>
            <a:ahLst/>
            <a:cxnLst/>
            <a:rect l="l" t="t" r="r" b="b"/>
            <a:pathLst>
              <a:path w="952530" h="2349459">
                <a:moveTo>
                  <a:pt x="952530" y="1832640"/>
                </a:moveTo>
                <a:lnTo>
                  <a:pt x="952530" y="1873240"/>
                </a:lnTo>
                <a:lnTo>
                  <a:pt x="948416" y="1935419"/>
                </a:lnTo>
                <a:lnTo>
                  <a:pt x="936254" y="1996501"/>
                </a:lnTo>
                <a:lnTo>
                  <a:pt x="916229" y="2055480"/>
                </a:lnTo>
                <a:lnTo>
                  <a:pt x="888705" y="2111350"/>
                </a:lnTo>
                <a:lnTo>
                  <a:pt x="854050" y="2163196"/>
                </a:lnTo>
                <a:lnTo>
                  <a:pt x="812993" y="2210013"/>
                </a:lnTo>
                <a:lnTo>
                  <a:pt x="766176" y="2251070"/>
                </a:lnTo>
                <a:lnTo>
                  <a:pt x="714421" y="2285726"/>
                </a:lnTo>
                <a:lnTo>
                  <a:pt x="658459" y="2313249"/>
                </a:lnTo>
                <a:lnTo>
                  <a:pt x="599481" y="2333274"/>
                </a:lnTo>
                <a:lnTo>
                  <a:pt x="538399" y="2345436"/>
                </a:lnTo>
                <a:lnTo>
                  <a:pt x="476220" y="2349459"/>
                </a:lnTo>
                <a:lnTo>
                  <a:pt x="414132" y="2345436"/>
                </a:lnTo>
                <a:lnTo>
                  <a:pt x="352958" y="2333274"/>
                </a:lnTo>
                <a:lnTo>
                  <a:pt x="293980" y="2313249"/>
                </a:lnTo>
                <a:lnTo>
                  <a:pt x="238110" y="2285726"/>
                </a:lnTo>
                <a:lnTo>
                  <a:pt x="186355" y="2251070"/>
                </a:lnTo>
                <a:lnTo>
                  <a:pt x="139446" y="2210013"/>
                </a:lnTo>
                <a:lnTo>
                  <a:pt x="98389" y="2163196"/>
                </a:lnTo>
                <a:lnTo>
                  <a:pt x="63825" y="2111350"/>
                </a:lnTo>
                <a:lnTo>
                  <a:pt x="36210" y="2055480"/>
                </a:lnTo>
                <a:lnTo>
                  <a:pt x="16185" y="1996501"/>
                </a:lnTo>
                <a:lnTo>
                  <a:pt x="4115" y="1935419"/>
                </a:lnTo>
                <a:lnTo>
                  <a:pt x="0" y="1873240"/>
                </a:lnTo>
                <a:lnTo>
                  <a:pt x="0" y="1832640"/>
                </a:lnTo>
                <a:close/>
              </a:path>
            </a:pathLst>
          </a:custGeom>
          <a:solidFill>
            <a:srgbClr val="4FB3FF"/>
          </a:solidFill>
          <a:ln/>
        </p:spPr>
      </p:sp>
      <p:sp>
        <p:nvSpPr>
          <p:cNvPr id="20" name="Shape 18"/>
          <p:cNvSpPr/>
          <p:nvPr/>
        </p:nvSpPr>
        <p:spPr>
          <a:xfrm>
            <a:off x="3486150" y="2286000"/>
            <a:ext cx="952530" cy="2349459"/>
          </a:xfrm>
          <a:prstGeom prst="roundRect">
            <a:avLst>
              <a:gd name="adj" fmla="val 49995"/>
            </a:avLst>
          </a:prstGeom>
          <a:ln w="31750">
            <a:solidFill>
              <a:srgbClr val="4FB3FF"/>
            </a:solidFill>
            <a:prstDash val="solid"/>
          </a:ln>
        </p:spPr>
      </p:sp>
      <p:sp>
        <p:nvSpPr>
          <p:cNvPr id="21" name="Shape 19"/>
          <p:cNvSpPr/>
          <p:nvPr/>
        </p:nvSpPr>
        <p:spPr>
          <a:xfrm>
            <a:off x="4559290" y="3397270"/>
            <a:ext cx="939820" cy="127010"/>
          </a:xfrm>
          <a:custGeom>
            <a:avLst/>
            <a:gdLst/>
            <a:ahLst/>
            <a:cxnLst/>
            <a:rect l="l" t="t" r="r" b="b"/>
            <a:pathLst>
              <a:path w="939820" h="127010">
                <a:moveTo>
                  <a:pt x="19020" y="63459"/>
                </a:moveTo>
                <a:lnTo>
                  <a:pt x="920709" y="63459"/>
                </a:lnTo>
                <a:moveTo>
                  <a:pt x="842620" y="106070"/>
                </a:moveTo>
                <a:lnTo>
                  <a:pt x="920709" y="63459"/>
                </a:lnTo>
                <a:lnTo>
                  <a:pt x="842620" y="20940"/>
                </a:lnTo>
              </a:path>
            </a:pathLst>
          </a:custGeom>
          <a:ln w="19050">
            <a:solidFill>
              <a:srgbClr val="16181B">
                <a:alpha val="18000"/>
              </a:srgbClr>
            </a:solidFill>
            <a:prstDash val="solid"/>
          </a:ln>
        </p:spPr>
      </p:sp>
      <p:sp>
        <p:nvSpPr>
          <p:cNvPr id="22" name="Text 16"/>
          <p:cNvSpPr/>
          <p:nvPr/>
        </p:nvSpPr>
        <p:spPr>
          <a:xfrm>
            <a:off x="2895630" y="4775180"/>
            <a:ext cx="2133570" cy="336591"/>
          </a:xfrm>
          <a:prstGeom prst="rect">
            <a:avLst/>
          </a:prstGeom>
          <a:noFill/>
          <a:ln/>
        </p:spPr>
        <p:txBody>
          <a:bodyPr wrap="square" lIns="0" tIns="0" rIns="0" bIns="0" rtlCol="0" anchor="t"/>
          <a:lstStyle/>
          <a:p>
            <a:pPr algn="ctr" indent="0" marL="0">
              <a:lnSpc>
                <a:spcPct val="100000"/>
              </a:lnSpc>
              <a:buNone/>
            </a:pPr>
            <a:r>
              <a:rPr lang="en-US" sz="2184" dirty="0">
                <a:solidFill>
                  <a:srgbClr val="16181B"/>
                </a:solidFill>
                <a:latin typeface="Instrument Serif" pitchFamily="34" charset="0"/>
                <a:ea typeface="Instrument Serif" pitchFamily="34" charset="-122"/>
                <a:cs typeface="Instrument Serif" pitchFamily="34" charset="-120"/>
              </a:rPr>
              <a:t>22%</a:t>
            </a:r>
            <a:endParaRPr lang="en-US" sz="2184" dirty="0"/>
          </a:p>
        </p:txBody>
      </p:sp>
      <p:sp>
        <p:nvSpPr>
          <p:cNvPr id="23" name="Text 17"/>
          <p:cNvSpPr/>
          <p:nvPr/>
        </p:nvSpPr>
        <p:spPr>
          <a:xfrm>
            <a:off x="2895630" y="5181630"/>
            <a:ext cx="2133570" cy="177759"/>
          </a:xfrm>
          <a:prstGeom prst="rect">
            <a:avLst/>
          </a:prstGeom>
          <a:noFill/>
          <a:ln/>
        </p:spPr>
        <p:txBody>
          <a:bodyPr wrap="square" lIns="0" tIns="0" rIns="0" bIns="0" rtlCol="0" anchor="t"/>
          <a:lstStyle/>
          <a:p>
            <a:pPr algn="ctr"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dissolving</a:t>
            </a:r>
            <a:endParaRPr lang="en-US" sz="850" dirty="0"/>
          </a:p>
        </p:txBody>
      </p:sp>
      <p:sp>
        <p:nvSpPr>
          <p:cNvPr id="24" name="Text 18"/>
          <p:cNvSpPr/>
          <p:nvPr/>
        </p:nvSpPr>
        <p:spPr>
          <a:xfrm>
            <a:off x="3009930" y="5410230"/>
            <a:ext cx="1904970" cy="381030"/>
          </a:xfrm>
          <a:prstGeom prst="rect">
            <a:avLst/>
          </a:prstGeom>
          <a:noFill/>
          <a:ln/>
        </p:spPr>
        <p:txBody>
          <a:bodyPr wrap="square" lIns="0" tIns="0" rIns="0" bIns="0" rtlCol="0" anchor="t"/>
          <a:lstStyle/>
          <a:p>
            <a:pPr algn="ctr" indent="0" marL="0">
              <a:lnSpc>
                <a:spcPct val="140000"/>
              </a:lnSpc>
              <a:buNone/>
            </a:pPr>
            <a:r>
              <a:rPr lang="en-US" sz="1000" dirty="0">
                <a:solidFill>
                  <a:srgbClr val="4A4E55"/>
                </a:solidFill>
                <a:latin typeface="Inter" pitchFamily="34" charset="0"/>
                <a:ea typeface="Inter" pitchFamily="34" charset="-122"/>
                <a:cs typeface="Inter" pitchFamily="34" charset="-120"/>
              </a:rPr>
              <a:t>0:40 · one tablet in. The paddle turns.</a:t>
            </a:r>
            <a:endParaRPr lang="en-US" sz="1000" dirty="0"/>
          </a:p>
        </p:txBody>
      </p:sp>
      <p:sp>
        <p:nvSpPr>
          <p:cNvPr id="25" name="Shape 23"/>
          <p:cNvSpPr/>
          <p:nvPr/>
        </p:nvSpPr>
        <p:spPr>
          <a:xfrm>
            <a:off x="5619720" y="2286000"/>
            <a:ext cx="952530" cy="2349459"/>
          </a:xfrm>
          <a:prstGeom prst="roundRect">
            <a:avLst>
              <a:gd name="adj" fmla="val 49995"/>
            </a:avLst>
          </a:prstGeom>
          <a:solidFill>
            <a:srgbClr val="FFFFFF"/>
          </a:solidFill>
          <a:ln/>
        </p:spPr>
      </p:sp>
      <p:sp>
        <p:nvSpPr>
          <p:cNvPr id="26" name="Shape 24"/>
          <p:cNvSpPr/>
          <p:nvPr/>
        </p:nvSpPr>
        <p:spPr>
          <a:xfrm>
            <a:off x="5619720" y="2286000"/>
            <a:ext cx="952530" cy="2349459"/>
          </a:xfrm>
          <a:custGeom>
            <a:avLst/>
            <a:gdLst/>
            <a:ahLst/>
            <a:cxnLst/>
            <a:rect l="l" t="t" r="r" b="b"/>
            <a:pathLst>
              <a:path w="952530" h="2349459">
                <a:moveTo>
                  <a:pt x="952530" y="1104229"/>
                </a:moveTo>
                <a:lnTo>
                  <a:pt x="952530" y="1873240"/>
                </a:lnTo>
                <a:lnTo>
                  <a:pt x="948416" y="1935419"/>
                </a:lnTo>
                <a:lnTo>
                  <a:pt x="936254" y="1996501"/>
                </a:lnTo>
                <a:lnTo>
                  <a:pt x="916229" y="2055480"/>
                </a:lnTo>
                <a:lnTo>
                  <a:pt x="888705" y="2111350"/>
                </a:lnTo>
                <a:lnTo>
                  <a:pt x="854050" y="2163196"/>
                </a:lnTo>
                <a:lnTo>
                  <a:pt x="812993" y="2210013"/>
                </a:lnTo>
                <a:lnTo>
                  <a:pt x="766176" y="2251070"/>
                </a:lnTo>
                <a:lnTo>
                  <a:pt x="714421" y="2285726"/>
                </a:lnTo>
                <a:lnTo>
                  <a:pt x="658459" y="2313249"/>
                </a:lnTo>
                <a:lnTo>
                  <a:pt x="599481" y="2333274"/>
                </a:lnTo>
                <a:lnTo>
                  <a:pt x="538399" y="2345436"/>
                </a:lnTo>
                <a:lnTo>
                  <a:pt x="476220" y="2349459"/>
                </a:lnTo>
                <a:lnTo>
                  <a:pt x="414132" y="2345436"/>
                </a:lnTo>
                <a:lnTo>
                  <a:pt x="352958" y="2333274"/>
                </a:lnTo>
                <a:lnTo>
                  <a:pt x="293980" y="2313249"/>
                </a:lnTo>
                <a:lnTo>
                  <a:pt x="238110" y="2285726"/>
                </a:lnTo>
                <a:lnTo>
                  <a:pt x="186355" y="2251070"/>
                </a:lnTo>
                <a:lnTo>
                  <a:pt x="139446" y="2210013"/>
                </a:lnTo>
                <a:lnTo>
                  <a:pt x="98389" y="2163196"/>
                </a:lnTo>
                <a:lnTo>
                  <a:pt x="63825" y="2111350"/>
                </a:lnTo>
                <a:lnTo>
                  <a:pt x="36210" y="2055480"/>
                </a:lnTo>
                <a:lnTo>
                  <a:pt x="16185" y="1996501"/>
                </a:lnTo>
                <a:lnTo>
                  <a:pt x="4115" y="1935419"/>
                </a:lnTo>
                <a:lnTo>
                  <a:pt x="0" y="1873240"/>
                </a:lnTo>
                <a:lnTo>
                  <a:pt x="0" y="1104229"/>
                </a:lnTo>
                <a:close/>
              </a:path>
            </a:pathLst>
          </a:custGeom>
          <a:solidFill>
            <a:srgbClr val="4FB3FF"/>
          </a:solidFill>
          <a:ln/>
        </p:spPr>
      </p:sp>
      <p:sp>
        <p:nvSpPr>
          <p:cNvPr id="27" name="Shape 25"/>
          <p:cNvSpPr/>
          <p:nvPr/>
        </p:nvSpPr>
        <p:spPr>
          <a:xfrm>
            <a:off x="5619720" y="2286000"/>
            <a:ext cx="952530" cy="2349459"/>
          </a:xfrm>
          <a:prstGeom prst="roundRect">
            <a:avLst>
              <a:gd name="adj" fmla="val 49995"/>
            </a:avLst>
          </a:prstGeom>
          <a:ln w="31750">
            <a:solidFill>
              <a:srgbClr val="4FB3FF"/>
            </a:solidFill>
            <a:prstDash val="solid"/>
          </a:ln>
        </p:spPr>
      </p:sp>
      <p:sp>
        <p:nvSpPr>
          <p:cNvPr id="28" name="Shape 26"/>
          <p:cNvSpPr/>
          <p:nvPr/>
        </p:nvSpPr>
        <p:spPr>
          <a:xfrm>
            <a:off x="6692859" y="3397270"/>
            <a:ext cx="939820" cy="127010"/>
          </a:xfrm>
          <a:custGeom>
            <a:avLst/>
            <a:gdLst/>
            <a:ahLst/>
            <a:cxnLst/>
            <a:rect l="l" t="t" r="r" b="b"/>
            <a:pathLst>
              <a:path w="939820" h="127010">
                <a:moveTo>
                  <a:pt x="19020" y="63459"/>
                </a:moveTo>
                <a:lnTo>
                  <a:pt x="920709" y="63459"/>
                </a:lnTo>
                <a:moveTo>
                  <a:pt x="842620" y="106070"/>
                </a:moveTo>
                <a:lnTo>
                  <a:pt x="920709" y="63459"/>
                </a:lnTo>
                <a:lnTo>
                  <a:pt x="842620" y="20940"/>
                </a:lnTo>
              </a:path>
            </a:pathLst>
          </a:custGeom>
          <a:ln w="19050">
            <a:solidFill>
              <a:srgbClr val="16181B">
                <a:alpha val="18000"/>
              </a:srgbClr>
            </a:solidFill>
            <a:prstDash val="solid"/>
          </a:ln>
        </p:spPr>
      </p:sp>
      <p:sp>
        <p:nvSpPr>
          <p:cNvPr id="29" name="Text 21"/>
          <p:cNvSpPr/>
          <p:nvPr/>
        </p:nvSpPr>
        <p:spPr>
          <a:xfrm>
            <a:off x="5029200" y="4775180"/>
            <a:ext cx="2133570" cy="336591"/>
          </a:xfrm>
          <a:prstGeom prst="rect">
            <a:avLst/>
          </a:prstGeom>
          <a:noFill/>
          <a:ln/>
        </p:spPr>
        <p:txBody>
          <a:bodyPr wrap="square" lIns="0" tIns="0" rIns="0" bIns="0" rtlCol="0" anchor="t"/>
          <a:lstStyle/>
          <a:p>
            <a:pPr algn="ctr" indent="0" marL="0">
              <a:lnSpc>
                <a:spcPct val="100000"/>
              </a:lnSpc>
              <a:buNone/>
            </a:pPr>
            <a:r>
              <a:rPr lang="en-US" sz="2184" dirty="0">
                <a:solidFill>
                  <a:srgbClr val="16181B"/>
                </a:solidFill>
                <a:latin typeface="Instrument Serif" pitchFamily="34" charset="0"/>
                <a:ea typeface="Instrument Serif" pitchFamily="34" charset="-122"/>
                <a:cs typeface="Instrument Serif" pitchFamily="34" charset="-120"/>
              </a:rPr>
              <a:t>53%</a:t>
            </a:r>
            <a:endParaRPr lang="en-US" sz="2184" dirty="0"/>
          </a:p>
        </p:txBody>
      </p:sp>
      <p:sp>
        <p:nvSpPr>
          <p:cNvPr id="30" name="Text 22"/>
          <p:cNvSpPr/>
          <p:nvPr/>
        </p:nvSpPr>
        <p:spPr>
          <a:xfrm>
            <a:off x="5029200" y="5181630"/>
            <a:ext cx="2133570" cy="177759"/>
          </a:xfrm>
          <a:prstGeom prst="rect">
            <a:avLst/>
          </a:prstGeom>
          <a:noFill/>
          <a:ln/>
        </p:spPr>
        <p:txBody>
          <a:bodyPr wrap="square" lIns="0" tIns="0" rIns="0" bIns="0" rtlCol="0" anchor="t"/>
          <a:lstStyle/>
          <a:p>
            <a:pPr algn="ctr"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dissolving</a:t>
            </a:r>
            <a:endParaRPr lang="en-US" sz="850" dirty="0"/>
          </a:p>
        </p:txBody>
      </p:sp>
      <p:sp>
        <p:nvSpPr>
          <p:cNvPr id="31" name="Text 23"/>
          <p:cNvSpPr/>
          <p:nvPr/>
        </p:nvSpPr>
        <p:spPr>
          <a:xfrm>
            <a:off x="5143500" y="5410230"/>
            <a:ext cx="1904970" cy="381030"/>
          </a:xfrm>
          <a:prstGeom prst="rect">
            <a:avLst/>
          </a:prstGeom>
          <a:noFill/>
          <a:ln/>
        </p:spPr>
        <p:txBody>
          <a:bodyPr wrap="square" lIns="0" tIns="0" rIns="0" bIns="0" rtlCol="0" anchor="t"/>
          <a:lstStyle/>
          <a:p>
            <a:pPr algn="ctr" indent="0" marL="0">
              <a:lnSpc>
                <a:spcPct val="140000"/>
              </a:lnSpc>
              <a:buNone/>
            </a:pPr>
            <a:r>
              <a:rPr lang="en-US" sz="1000" dirty="0">
                <a:solidFill>
                  <a:srgbClr val="4A4E55"/>
                </a:solidFill>
                <a:latin typeface="Inter" pitchFamily="34" charset="0"/>
                <a:ea typeface="Inter" pitchFamily="34" charset="-122"/>
                <a:cs typeface="Inter" pitchFamily="34" charset="-120"/>
              </a:rPr>
              <a:t>Blue light fades as the tablet dissolves.</a:t>
            </a:r>
            <a:endParaRPr lang="en-US" sz="1000" dirty="0"/>
          </a:p>
        </p:txBody>
      </p:sp>
      <p:sp>
        <p:nvSpPr>
          <p:cNvPr id="32" name="Shape 30"/>
          <p:cNvSpPr/>
          <p:nvPr/>
        </p:nvSpPr>
        <p:spPr>
          <a:xfrm>
            <a:off x="7753380" y="2286000"/>
            <a:ext cx="952530" cy="2349459"/>
          </a:xfrm>
          <a:prstGeom prst="roundRect">
            <a:avLst>
              <a:gd name="adj" fmla="val 49995"/>
            </a:avLst>
          </a:prstGeom>
          <a:solidFill>
            <a:srgbClr val="FFFFFF"/>
          </a:solidFill>
          <a:ln/>
        </p:spPr>
      </p:sp>
      <p:sp>
        <p:nvSpPr>
          <p:cNvPr id="33" name="Shape 31"/>
          <p:cNvSpPr/>
          <p:nvPr/>
        </p:nvSpPr>
        <p:spPr>
          <a:xfrm>
            <a:off x="7753380" y="2286000"/>
            <a:ext cx="952530" cy="2349459"/>
          </a:xfrm>
          <a:custGeom>
            <a:avLst/>
            <a:gdLst/>
            <a:ahLst/>
            <a:cxnLst/>
            <a:rect l="l" t="t" r="r" b="b"/>
            <a:pathLst>
              <a:path w="952530" h="2349459">
                <a:moveTo>
                  <a:pt x="0" y="476220"/>
                </a:moveTo>
                <a:lnTo>
                  <a:pt x="4115" y="414132"/>
                </a:lnTo>
                <a:lnTo>
                  <a:pt x="16185" y="352958"/>
                </a:lnTo>
                <a:lnTo>
                  <a:pt x="24414" y="328910"/>
                </a:lnTo>
                <a:lnTo>
                  <a:pt x="928116" y="328910"/>
                </a:lnTo>
                <a:lnTo>
                  <a:pt x="936254" y="352958"/>
                </a:lnTo>
                <a:lnTo>
                  <a:pt x="948416" y="414132"/>
                </a:lnTo>
                <a:lnTo>
                  <a:pt x="952530" y="476220"/>
                </a:lnTo>
                <a:lnTo>
                  <a:pt x="952530" y="1873240"/>
                </a:lnTo>
                <a:lnTo>
                  <a:pt x="948416" y="1935419"/>
                </a:lnTo>
                <a:lnTo>
                  <a:pt x="936254" y="1996501"/>
                </a:lnTo>
                <a:lnTo>
                  <a:pt x="916229" y="2055480"/>
                </a:lnTo>
                <a:lnTo>
                  <a:pt x="888705" y="2111350"/>
                </a:lnTo>
                <a:lnTo>
                  <a:pt x="854050" y="2163196"/>
                </a:lnTo>
                <a:lnTo>
                  <a:pt x="812993" y="2210013"/>
                </a:lnTo>
                <a:lnTo>
                  <a:pt x="766176" y="2251070"/>
                </a:lnTo>
                <a:lnTo>
                  <a:pt x="714421" y="2285726"/>
                </a:lnTo>
                <a:lnTo>
                  <a:pt x="658459" y="2313249"/>
                </a:lnTo>
                <a:lnTo>
                  <a:pt x="599481" y="2333274"/>
                </a:lnTo>
                <a:lnTo>
                  <a:pt x="538399" y="2345436"/>
                </a:lnTo>
                <a:lnTo>
                  <a:pt x="476220" y="2349459"/>
                </a:lnTo>
                <a:lnTo>
                  <a:pt x="414132" y="2345436"/>
                </a:lnTo>
                <a:lnTo>
                  <a:pt x="352958" y="2333274"/>
                </a:lnTo>
                <a:lnTo>
                  <a:pt x="293980" y="2313249"/>
                </a:lnTo>
                <a:lnTo>
                  <a:pt x="238110" y="2285726"/>
                </a:lnTo>
                <a:lnTo>
                  <a:pt x="186355" y="2251070"/>
                </a:lnTo>
                <a:lnTo>
                  <a:pt x="139446" y="2210013"/>
                </a:lnTo>
                <a:lnTo>
                  <a:pt x="98389" y="2163196"/>
                </a:lnTo>
                <a:lnTo>
                  <a:pt x="63825" y="2111350"/>
                </a:lnTo>
                <a:lnTo>
                  <a:pt x="36210" y="2055480"/>
                </a:lnTo>
                <a:lnTo>
                  <a:pt x="16185" y="1996501"/>
                </a:lnTo>
                <a:lnTo>
                  <a:pt x="4115" y="1935419"/>
                </a:lnTo>
                <a:lnTo>
                  <a:pt x="0" y="1873240"/>
                </a:lnTo>
                <a:close/>
              </a:path>
            </a:pathLst>
          </a:custGeom>
          <a:solidFill>
            <a:srgbClr val="4FB3FF"/>
          </a:solidFill>
          <a:ln/>
        </p:spPr>
      </p:sp>
      <p:sp>
        <p:nvSpPr>
          <p:cNvPr id="34" name="Shape 32"/>
          <p:cNvSpPr/>
          <p:nvPr/>
        </p:nvSpPr>
        <p:spPr>
          <a:xfrm>
            <a:off x="7753380" y="2286000"/>
            <a:ext cx="952530" cy="2349459"/>
          </a:xfrm>
          <a:prstGeom prst="roundRect">
            <a:avLst>
              <a:gd name="adj" fmla="val 49995"/>
            </a:avLst>
          </a:prstGeom>
          <a:ln w="31750">
            <a:solidFill>
              <a:srgbClr val="4FB3FF"/>
            </a:solidFill>
            <a:prstDash val="solid"/>
          </a:ln>
        </p:spPr>
      </p:sp>
      <p:sp>
        <p:nvSpPr>
          <p:cNvPr id="35" name="Shape 33"/>
          <p:cNvSpPr/>
          <p:nvPr/>
        </p:nvSpPr>
        <p:spPr>
          <a:xfrm>
            <a:off x="8826520" y="3397270"/>
            <a:ext cx="939820" cy="127010"/>
          </a:xfrm>
          <a:custGeom>
            <a:avLst/>
            <a:gdLst/>
            <a:ahLst/>
            <a:cxnLst/>
            <a:rect l="l" t="t" r="r" b="b"/>
            <a:pathLst>
              <a:path w="939820" h="127010">
                <a:moveTo>
                  <a:pt x="19020" y="63459"/>
                </a:moveTo>
                <a:lnTo>
                  <a:pt x="920709" y="63459"/>
                </a:lnTo>
                <a:moveTo>
                  <a:pt x="842620" y="106070"/>
                </a:moveTo>
                <a:lnTo>
                  <a:pt x="920709" y="63459"/>
                </a:lnTo>
                <a:lnTo>
                  <a:pt x="842620" y="20940"/>
                </a:lnTo>
              </a:path>
            </a:pathLst>
          </a:custGeom>
          <a:ln w="19050">
            <a:solidFill>
              <a:srgbClr val="16181B">
                <a:alpha val="18000"/>
              </a:srgbClr>
            </a:solidFill>
            <a:prstDash val="solid"/>
          </a:ln>
        </p:spPr>
      </p:sp>
      <p:sp>
        <p:nvSpPr>
          <p:cNvPr id="36" name="Text 26"/>
          <p:cNvSpPr/>
          <p:nvPr/>
        </p:nvSpPr>
        <p:spPr>
          <a:xfrm>
            <a:off x="7162770" y="4775180"/>
            <a:ext cx="2133570" cy="336591"/>
          </a:xfrm>
          <a:prstGeom prst="rect">
            <a:avLst/>
          </a:prstGeom>
          <a:noFill/>
          <a:ln/>
        </p:spPr>
        <p:txBody>
          <a:bodyPr wrap="square" lIns="0" tIns="0" rIns="0" bIns="0" rtlCol="0" anchor="t"/>
          <a:lstStyle/>
          <a:p>
            <a:pPr algn="ctr" indent="0" marL="0">
              <a:lnSpc>
                <a:spcPct val="100000"/>
              </a:lnSpc>
              <a:buNone/>
            </a:pPr>
            <a:r>
              <a:rPr lang="en-US" sz="2184" dirty="0">
                <a:solidFill>
                  <a:srgbClr val="16181B"/>
                </a:solidFill>
                <a:latin typeface="Instrument Serif" pitchFamily="34" charset="0"/>
                <a:ea typeface="Instrument Serif" pitchFamily="34" charset="-122"/>
                <a:cs typeface="Instrument Serif" pitchFamily="34" charset="-120"/>
              </a:rPr>
              <a:t>86%</a:t>
            </a:r>
            <a:endParaRPr lang="en-US" sz="2184" dirty="0"/>
          </a:p>
        </p:txBody>
      </p:sp>
      <p:sp>
        <p:nvSpPr>
          <p:cNvPr id="37" name="Text 27"/>
          <p:cNvSpPr/>
          <p:nvPr/>
        </p:nvSpPr>
        <p:spPr>
          <a:xfrm>
            <a:off x="7162770" y="5181630"/>
            <a:ext cx="2133570" cy="177759"/>
          </a:xfrm>
          <a:prstGeom prst="rect">
            <a:avLst/>
          </a:prstGeom>
          <a:noFill/>
          <a:ln/>
        </p:spPr>
        <p:txBody>
          <a:bodyPr wrap="square" lIns="0" tIns="0" rIns="0" bIns="0" rtlCol="0" anchor="t"/>
          <a:lstStyle/>
          <a:p>
            <a:pPr algn="ctr"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settling</a:t>
            </a:r>
            <a:endParaRPr lang="en-US" sz="850" dirty="0"/>
          </a:p>
        </p:txBody>
      </p:sp>
      <p:sp>
        <p:nvSpPr>
          <p:cNvPr id="38" name="Text 28"/>
          <p:cNvSpPr/>
          <p:nvPr/>
        </p:nvSpPr>
        <p:spPr>
          <a:xfrm>
            <a:off x="7277070" y="5410230"/>
            <a:ext cx="1904970" cy="203180"/>
          </a:xfrm>
          <a:prstGeom prst="rect">
            <a:avLst/>
          </a:prstGeom>
          <a:noFill/>
          <a:ln/>
        </p:spPr>
        <p:txBody>
          <a:bodyPr wrap="square" lIns="0" tIns="0" rIns="0" bIns="0" rtlCol="0" anchor="t"/>
          <a:lstStyle/>
          <a:p>
            <a:pPr algn="ctr" indent="0" marL="0">
              <a:lnSpc>
                <a:spcPct val="140000"/>
              </a:lnSpc>
              <a:buNone/>
            </a:pPr>
            <a:r>
              <a:rPr lang="en-US" sz="1000" dirty="0">
                <a:solidFill>
                  <a:srgbClr val="4A4E55"/>
                </a:solidFill>
                <a:latin typeface="Inter" pitchFamily="34" charset="0"/>
                <a:ea typeface="Inter" pitchFamily="34" charset="-122"/>
                <a:cs typeface="Inter" pitchFamily="34" charset="-120"/>
              </a:rPr>
              <a:t>The curve starts to flatten.</a:t>
            </a:r>
            <a:endParaRPr lang="en-US" sz="1000" dirty="0"/>
          </a:p>
        </p:txBody>
      </p:sp>
      <p:sp>
        <p:nvSpPr>
          <p:cNvPr id="39" name="Shape 37"/>
          <p:cNvSpPr/>
          <p:nvPr/>
        </p:nvSpPr>
        <p:spPr>
          <a:xfrm>
            <a:off x="9886950" y="2286000"/>
            <a:ext cx="952530" cy="2349459"/>
          </a:xfrm>
          <a:prstGeom prst="roundRect">
            <a:avLst>
              <a:gd name="adj" fmla="val 49995"/>
            </a:avLst>
          </a:prstGeom>
          <a:solidFill>
            <a:srgbClr val="FFFFFF"/>
          </a:solidFill>
          <a:ln/>
        </p:spPr>
      </p:sp>
      <p:sp>
        <p:nvSpPr>
          <p:cNvPr id="40" name="Shape 38"/>
          <p:cNvSpPr/>
          <p:nvPr/>
        </p:nvSpPr>
        <p:spPr>
          <a:xfrm>
            <a:off x="9886950" y="2286000"/>
            <a:ext cx="952530" cy="2349459"/>
          </a:xfrm>
          <a:custGeom>
            <a:avLst/>
            <a:gdLst/>
            <a:ahLst/>
            <a:cxnLst/>
            <a:rect l="l" t="t" r="r" b="b"/>
            <a:pathLst>
              <a:path w="952530" h="2349459">
                <a:moveTo>
                  <a:pt x="0" y="476220"/>
                </a:moveTo>
                <a:lnTo>
                  <a:pt x="4115" y="414132"/>
                </a:lnTo>
                <a:lnTo>
                  <a:pt x="16185" y="352958"/>
                </a:lnTo>
                <a:lnTo>
                  <a:pt x="36210" y="293980"/>
                </a:lnTo>
                <a:lnTo>
                  <a:pt x="63825" y="238110"/>
                </a:lnTo>
                <a:lnTo>
                  <a:pt x="98389" y="186355"/>
                </a:lnTo>
                <a:lnTo>
                  <a:pt x="139446" y="139446"/>
                </a:lnTo>
                <a:lnTo>
                  <a:pt x="186355" y="98389"/>
                </a:lnTo>
                <a:lnTo>
                  <a:pt x="238110" y="63825"/>
                </a:lnTo>
                <a:lnTo>
                  <a:pt x="293980" y="36210"/>
                </a:lnTo>
                <a:lnTo>
                  <a:pt x="352958" y="16185"/>
                </a:lnTo>
                <a:lnTo>
                  <a:pt x="414132" y="4115"/>
                </a:lnTo>
                <a:lnTo>
                  <a:pt x="476220" y="0"/>
                </a:lnTo>
                <a:lnTo>
                  <a:pt x="538399" y="4115"/>
                </a:lnTo>
                <a:lnTo>
                  <a:pt x="599481" y="16185"/>
                </a:lnTo>
                <a:lnTo>
                  <a:pt x="658459" y="36210"/>
                </a:lnTo>
                <a:lnTo>
                  <a:pt x="714329" y="63825"/>
                </a:lnTo>
                <a:lnTo>
                  <a:pt x="766176" y="98389"/>
                </a:lnTo>
                <a:lnTo>
                  <a:pt x="812993" y="139446"/>
                </a:lnTo>
                <a:lnTo>
                  <a:pt x="854050" y="186355"/>
                </a:lnTo>
                <a:lnTo>
                  <a:pt x="888705" y="238110"/>
                </a:lnTo>
                <a:lnTo>
                  <a:pt x="916229" y="293980"/>
                </a:lnTo>
                <a:lnTo>
                  <a:pt x="936254" y="352958"/>
                </a:lnTo>
                <a:lnTo>
                  <a:pt x="948416" y="414132"/>
                </a:lnTo>
                <a:lnTo>
                  <a:pt x="952530" y="476220"/>
                </a:lnTo>
                <a:lnTo>
                  <a:pt x="952530" y="1873240"/>
                </a:lnTo>
                <a:lnTo>
                  <a:pt x="948416" y="1935419"/>
                </a:lnTo>
                <a:lnTo>
                  <a:pt x="936254" y="1996501"/>
                </a:lnTo>
                <a:lnTo>
                  <a:pt x="916229" y="2055480"/>
                </a:lnTo>
                <a:lnTo>
                  <a:pt x="888705" y="2111350"/>
                </a:lnTo>
                <a:lnTo>
                  <a:pt x="854050" y="2163196"/>
                </a:lnTo>
                <a:lnTo>
                  <a:pt x="812993" y="2210013"/>
                </a:lnTo>
                <a:lnTo>
                  <a:pt x="766176" y="2251070"/>
                </a:lnTo>
                <a:lnTo>
                  <a:pt x="714421" y="2285726"/>
                </a:lnTo>
                <a:lnTo>
                  <a:pt x="658459" y="2313249"/>
                </a:lnTo>
                <a:lnTo>
                  <a:pt x="599481" y="2333274"/>
                </a:lnTo>
                <a:lnTo>
                  <a:pt x="538399" y="2345436"/>
                </a:lnTo>
                <a:lnTo>
                  <a:pt x="476220" y="2349459"/>
                </a:lnTo>
                <a:lnTo>
                  <a:pt x="414132" y="2345436"/>
                </a:lnTo>
                <a:lnTo>
                  <a:pt x="352958" y="2333274"/>
                </a:lnTo>
                <a:lnTo>
                  <a:pt x="293980" y="2313249"/>
                </a:lnTo>
                <a:lnTo>
                  <a:pt x="238110" y="2285726"/>
                </a:lnTo>
                <a:lnTo>
                  <a:pt x="186355" y="2251070"/>
                </a:lnTo>
                <a:lnTo>
                  <a:pt x="139446" y="2210013"/>
                </a:lnTo>
                <a:lnTo>
                  <a:pt x="98389" y="2163196"/>
                </a:lnTo>
                <a:lnTo>
                  <a:pt x="63825" y="2111350"/>
                </a:lnTo>
                <a:lnTo>
                  <a:pt x="36210" y="2055480"/>
                </a:lnTo>
                <a:lnTo>
                  <a:pt x="16185" y="1996501"/>
                </a:lnTo>
                <a:lnTo>
                  <a:pt x="4115" y="1935419"/>
                </a:lnTo>
                <a:lnTo>
                  <a:pt x="0" y="1873240"/>
                </a:lnTo>
                <a:close/>
              </a:path>
            </a:pathLst>
          </a:custGeom>
          <a:solidFill>
            <a:srgbClr val="5FD39A"/>
          </a:solidFill>
          <a:ln/>
        </p:spPr>
      </p:sp>
      <p:sp>
        <p:nvSpPr>
          <p:cNvPr id="41" name="Shape 39"/>
          <p:cNvSpPr/>
          <p:nvPr/>
        </p:nvSpPr>
        <p:spPr>
          <a:xfrm>
            <a:off x="9886950" y="2286000"/>
            <a:ext cx="952530" cy="2349459"/>
          </a:xfrm>
          <a:prstGeom prst="roundRect">
            <a:avLst>
              <a:gd name="adj" fmla="val 49995"/>
            </a:avLst>
          </a:prstGeom>
          <a:ln w="31750">
            <a:solidFill>
              <a:srgbClr val="5FD39A"/>
            </a:solidFill>
            <a:prstDash val="solid"/>
          </a:ln>
        </p:spPr>
      </p:sp>
      <p:sp>
        <p:nvSpPr>
          <p:cNvPr id="42" name="Text 30"/>
          <p:cNvSpPr/>
          <p:nvPr/>
        </p:nvSpPr>
        <p:spPr>
          <a:xfrm>
            <a:off x="9296430" y="4775180"/>
            <a:ext cx="2133570" cy="336591"/>
          </a:xfrm>
          <a:prstGeom prst="rect">
            <a:avLst/>
          </a:prstGeom>
          <a:noFill/>
          <a:ln/>
        </p:spPr>
        <p:txBody>
          <a:bodyPr wrap="square" lIns="0" tIns="0" rIns="0" bIns="0" rtlCol="0" anchor="t"/>
          <a:lstStyle/>
          <a:p>
            <a:pPr algn="ctr" indent="0" marL="0">
              <a:lnSpc>
                <a:spcPct val="100000"/>
              </a:lnSpc>
              <a:buNone/>
            </a:pPr>
            <a:r>
              <a:rPr lang="en-US" sz="2184" dirty="0">
                <a:solidFill>
                  <a:srgbClr val="16181B"/>
                </a:solidFill>
                <a:latin typeface="Instrument Serif" pitchFamily="34" charset="0"/>
                <a:ea typeface="Instrument Serif" pitchFamily="34" charset="-122"/>
                <a:cs typeface="Instrument Serif" pitchFamily="34" charset="-120"/>
              </a:rPr>
              <a:t>100%</a:t>
            </a:r>
            <a:endParaRPr lang="en-US" sz="2184" dirty="0"/>
          </a:p>
        </p:txBody>
      </p:sp>
      <p:sp>
        <p:nvSpPr>
          <p:cNvPr id="43" name="Text 31"/>
          <p:cNvSpPr/>
          <p:nvPr/>
        </p:nvSpPr>
        <p:spPr>
          <a:xfrm>
            <a:off x="9296430" y="5181630"/>
            <a:ext cx="2133570" cy="177759"/>
          </a:xfrm>
          <a:prstGeom prst="rect">
            <a:avLst/>
          </a:prstGeom>
          <a:noFill/>
          <a:ln/>
        </p:spPr>
        <p:txBody>
          <a:bodyPr wrap="square" lIns="0" tIns="0" rIns="0" bIns="0" rtlCol="0" anchor="t"/>
          <a:lstStyle/>
          <a:p>
            <a:pPr algn="ctr"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plateau</a:t>
            </a:r>
            <a:endParaRPr lang="en-US" sz="850" dirty="0"/>
          </a:p>
        </p:txBody>
      </p:sp>
      <p:sp>
        <p:nvSpPr>
          <p:cNvPr id="44" name="Text 32"/>
          <p:cNvSpPr/>
          <p:nvPr/>
        </p:nvSpPr>
        <p:spPr>
          <a:xfrm>
            <a:off x="9410730" y="5410230"/>
            <a:ext cx="1904970" cy="558790"/>
          </a:xfrm>
          <a:prstGeom prst="rect">
            <a:avLst/>
          </a:prstGeom>
          <a:noFill/>
          <a:ln/>
        </p:spPr>
        <p:txBody>
          <a:bodyPr wrap="square" lIns="0" tIns="0" rIns="0" bIns="0" rtlCol="0" anchor="t"/>
          <a:lstStyle/>
          <a:p>
            <a:pPr algn="ctr" indent="0" marL="0">
              <a:lnSpc>
                <a:spcPct val="140000"/>
              </a:lnSpc>
              <a:buNone/>
            </a:pPr>
            <a:r>
              <a:rPr lang="en-US" sz="1000" dirty="0">
                <a:solidFill>
                  <a:srgbClr val="4A4E55"/>
                </a:solidFill>
                <a:latin typeface="Inter" pitchFamily="34" charset="0"/>
                <a:ea typeface="Inter" pitchFamily="34" charset="-122"/>
                <a:cs typeface="Inter" pitchFamily="34" charset="-120"/>
              </a:rPr>
              <a:t>3:00 · seven rules, in order. The rule that fired is printed.</a:t>
            </a:r>
            <a:endParaRPr lang="en-US" sz="1000" dirty="0"/>
          </a:p>
        </p:txBody>
      </p:sp>
      <p:sp>
        <p:nvSpPr>
          <p:cNvPr id="45" name="Text 33"/>
          <p:cNvSpPr/>
          <p:nvPr/>
        </p:nvSpPr>
        <p:spPr>
          <a:xfrm>
            <a:off x="761970" y="6134070"/>
            <a:ext cx="10668030" cy="165141"/>
          </a:xfrm>
          <a:prstGeom prst="rect">
            <a:avLst/>
          </a:prstGeom>
          <a:noFill/>
          <a:ln/>
        </p:spPr>
        <p:txBody>
          <a:bodyPr wrap="square" lIns="0" tIns="0" rIns="0" bIns="0" rtlCol="0" anchor="t"/>
          <a:lstStyle/>
          <a:p>
            <a:pPr algn="l" indent="0" marL="0">
              <a:lnSpc>
                <a:spcPct val="140000"/>
              </a:lnSpc>
              <a:buNone/>
            </a:pPr>
            <a:r>
              <a:rPr lang="en-US" sz="800" dirty="0">
                <a:solidFill>
                  <a:srgbClr val="7C8188"/>
                </a:solidFill>
                <a:latin typeface="JetBrains Mono" pitchFamily="34" charset="0"/>
                <a:ea typeface="JetBrains Mono" pitchFamily="34" charset="-122"/>
                <a:cs typeface="JetBrains Mono" pitchFamily="34" charset="-120"/>
              </a:rPr>
              <a:t>Illustration · example levels; the app draws them live from the sensor stream.</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THREE ANSWERS</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06 / 20</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888980"/>
            <a:ext cx="9525030" cy="501640"/>
          </a:xfrm>
          <a:prstGeom prst="rect">
            <a:avLst/>
          </a:prstGeom>
          <a:noFill/>
          <a:ln/>
        </p:spPr>
        <p:txBody>
          <a:bodyPr wrap="square" lIns="0" tIns="0" rIns="0" bIns="0" rtlCol="0" anchor="t"/>
          <a:lstStyle/>
          <a:p>
            <a:pPr algn="l" indent="0" marL="0">
              <a:lnSpc>
                <a:spcPct val="100000"/>
              </a:lnSpc>
              <a:buNone/>
            </a:pPr>
            <a:r>
              <a:rPr lang="en-US" sz="3276" spc="-49" kern="0" dirty="0">
                <a:solidFill>
                  <a:srgbClr val="16181B"/>
                </a:solidFill>
                <a:latin typeface="Instrument Serif" pitchFamily="34" charset="0"/>
                <a:ea typeface="Instrument Serif" pitchFamily="34" charset="-122"/>
                <a:cs typeface="Instrument Serif" pitchFamily="34" charset="-120"/>
              </a:rPr>
              <a:t>Three answers. </a:t>
            </a:r>
            <a:pPr algn="l" indent="0" marL="0">
              <a:lnSpc>
                <a:spcPct val="100000"/>
              </a:lnSpc>
              <a:buNone/>
            </a:pPr>
            <a:r>
              <a:rPr lang="en-US" sz="3276" i="1" spc="-49" kern="0" dirty="0">
                <a:solidFill>
                  <a:srgbClr val="16181B"/>
                </a:solidFill>
                <a:latin typeface="Instrument Serif" pitchFamily="34" charset="0"/>
                <a:ea typeface="Instrument Serif" pitchFamily="34" charset="-122"/>
                <a:cs typeface="Instrument Serif" pitchFamily="34" charset="-120"/>
              </a:rPr>
              <a:t>Never a guess.</a:t>
            </a:r>
            <a:endParaRPr lang="en-US" sz="3276" dirty="0"/>
          </a:p>
        </p:txBody>
      </p:sp>
      <p:sp>
        <p:nvSpPr>
          <p:cNvPr id="11" name="Text 8"/>
          <p:cNvSpPr/>
          <p:nvPr/>
        </p:nvSpPr>
        <p:spPr>
          <a:xfrm>
            <a:off x="761970" y="1524030"/>
            <a:ext cx="9525030" cy="254020"/>
          </a:xfrm>
          <a:prstGeom prst="rect">
            <a:avLst/>
          </a:prstGeom>
          <a:noFill/>
          <a:ln/>
        </p:spPr>
        <p:txBody>
          <a:bodyPr wrap="square" lIns="0" tIns="0" rIns="0" bIns="0" rtlCol="0" anchor="t"/>
          <a:lstStyle/>
          <a:p>
            <a:pPr algn="l" indent="0" marL="0">
              <a:lnSpc>
                <a:spcPct val="145000"/>
              </a:lnSpc>
              <a:buNone/>
            </a:pPr>
            <a:r>
              <a:rPr lang="en-US" sz="1200" dirty="0">
                <a:solidFill>
                  <a:srgbClr val="4A4E55"/>
                </a:solidFill>
                <a:latin typeface="Inter" pitchFamily="34" charset="0"/>
                <a:ea typeface="Inter" pitchFamily="34" charset="-122"/>
                <a:cs typeface="Inter" pitchFamily="34" charset="-120"/>
              </a:rPr>
              <a:t>Seven rules, checked in order. A model writes the plain-English “why”; it never sets the verdict.</a:t>
            </a:r>
            <a:endParaRPr lang="en-US" sz="1200" dirty="0"/>
          </a:p>
        </p:txBody>
      </p:sp>
      <p:sp>
        <p:nvSpPr>
          <p:cNvPr id="12" name="Shape 10"/>
          <p:cNvSpPr/>
          <p:nvPr/>
        </p:nvSpPr>
        <p:spPr>
          <a:xfrm>
            <a:off x="761970" y="1930390"/>
            <a:ext cx="812810" cy="279441"/>
          </a:xfrm>
          <a:prstGeom prst="roundRect">
            <a:avLst>
              <a:gd name="adj" fmla="val 50000"/>
            </a:avLst>
          </a:prstGeom>
          <a:solidFill>
            <a:srgbClr val="5FD39A">
              <a:alpha val="16000"/>
            </a:srgbClr>
          </a:solidFill>
          <a:ln/>
        </p:spPr>
      </p:sp>
      <p:sp>
        <p:nvSpPr>
          <p:cNvPr id="13" name="Shape 11"/>
          <p:cNvSpPr/>
          <p:nvPr/>
        </p:nvSpPr>
        <p:spPr>
          <a:xfrm>
            <a:off x="901690" y="2038380"/>
            <a:ext cx="69860" cy="69860"/>
          </a:xfrm>
          <a:prstGeom prst="ellipse">
            <a:avLst/>
          </a:prstGeom>
          <a:solidFill>
            <a:srgbClr val="5FD39A"/>
          </a:solidFill>
          <a:ln/>
        </p:spPr>
      </p:sp>
      <p:sp>
        <p:nvSpPr>
          <p:cNvPr id="14" name="Text 11"/>
          <p:cNvSpPr/>
          <p:nvPr/>
        </p:nvSpPr>
        <p:spPr>
          <a:xfrm>
            <a:off x="1028700" y="1986260"/>
            <a:ext cx="463509" cy="196870"/>
          </a:xfrm>
          <a:prstGeom prst="rect">
            <a:avLst/>
          </a:prstGeom>
          <a:noFill/>
          <a:ln/>
        </p:spPr>
        <p:txBody>
          <a:bodyPr wrap="square" lIns="0" tIns="0" rIns="0" bIns="0" rtlCol="0" anchor="t"/>
          <a:lstStyle/>
          <a:p>
            <a:pPr algn="l" indent="0" marL="0">
              <a:lnSpc>
                <a:spcPct val="120000"/>
              </a:lnSpc>
              <a:buNone/>
            </a:pPr>
            <a:r>
              <a:rPr lang="en-US" sz="1100" b="1" spc="66" kern="0" dirty="0">
                <a:solidFill>
                  <a:srgbClr val="16181B"/>
                </a:solidFill>
                <a:latin typeface="JetBrains Mono" pitchFamily="34" charset="0"/>
                <a:ea typeface="JetBrains Mono" pitchFamily="34" charset="-122"/>
                <a:cs typeface="JetBrains Mono" pitchFamily="34" charset="-120"/>
              </a:rPr>
              <a:t>PASS</a:t>
            </a:r>
            <a:endParaRPr lang="en-US" sz="1100" dirty="0"/>
          </a:p>
        </p:txBody>
      </p:sp>
      <p:sp>
        <p:nvSpPr>
          <p:cNvPr id="15" name="Text 12"/>
          <p:cNvSpPr/>
          <p:nvPr/>
        </p:nvSpPr>
        <p:spPr>
          <a:xfrm>
            <a:off x="761970" y="2324130"/>
            <a:ext cx="3174980" cy="40005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Plateau in the reference band and the glow rose with it (P1).</a:t>
            </a:r>
            <a:endParaRPr lang="en-US" sz="1050" dirty="0"/>
          </a:p>
        </p:txBody>
      </p:sp>
      <p:sp>
        <p:nvSpPr>
          <p:cNvPr id="16" name="Shape 14"/>
          <p:cNvSpPr/>
          <p:nvPr/>
        </p:nvSpPr>
        <p:spPr>
          <a:xfrm>
            <a:off x="761970" y="2870210"/>
            <a:ext cx="2031980" cy="3251241"/>
          </a:xfrm>
          <a:prstGeom prst="roundRect">
            <a:avLst>
              <a:gd name="adj" fmla="val 13127"/>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17" name="Image 0" descr="Three answers: app-upgrade-b-evaluation-pass-390-390c">    </p:cNvPr>
          <p:cNvPicPr>
            <a:picLocks noChangeAspect="1"/>
          </p:cNvPicPr>
          <p:nvPr/>
        </p:nvPicPr>
        <p:blipFill>
          <a:blip r:embed="rId1"/>
          <a:stretch>
            <a:fillRect/>
          </a:stretch>
        </p:blipFill>
        <p:spPr>
          <a:xfrm>
            <a:off x="819120" y="2927360"/>
            <a:ext cx="1917680" cy="3136941"/>
          </a:xfrm>
          <a:prstGeom prst="rect">
            <a:avLst/>
          </a:prstGeom>
        </p:spPr>
      </p:pic>
      <p:sp>
        <p:nvSpPr>
          <p:cNvPr id="18" name="Shape 15"/>
          <p:cNvSpPr/>
          <p:nvPr/>
        </p:nvSpPr>
        <p:spPr>
          <a:xfrm>
            <a:off x="4381530" y="1930390"/>
            <a:ext cx="1276320" cy="279441"/>
          </a:xfrm>
          <a:prstGeom prst="roundRect">
            <a:avLst>
              <a:gd name="adj" fmla="val 50000"/>
            </a:avLst>
          </a:prstGeom>
          <a:solidFill>
            <a:srgbClr val="E09A3A">
              <a:alpha val="16000"/>
            </a:srgbClr>
          </a:solidFill>
          <a:ln/>
        </p:spPr>
      </p:sp>
      <p:sp>
        <p:nvSpPr>
          <p:cNvPr id="19" name="Shape 16"/>
          <p:cNvSpPr/>
          <p:nvPr/>
        </p:nvSpPr>
        <p:spPr>
          <a:xfrm>
            <a:off x="4521159" y="2038380"/>
            <a:ext cx="69860" cy="69860"/>
          </a:xfrm>
          <a:prstGeom prst="ellipse">
            <a:avLst/>
          </a:prstGeom>
          <a:solidFill>
            <a:srgbClr val="E09A3A"/>
          </a:solidFill>
          <a:ln/>
        </p:spPr>
      </p:sp>
      <p:sp>
        <p:nvSpPr>
          <p:cNvPr id="20" name="Text 17"/>
          <p:cNvSpPr/>
          <p:nvPr/>
        </p:nvSpPr>
        <p:spPr>
          <a:xfrm>
            <a:off x="4648170" y="1986260"/>
            <a:ext cx="927110" cy="196870"/>
          </a:xfrm>
          <a:prstGeom prst="rect">
            <a:avLst/>
          </a:prstGeom>
          <a:noFill/>
          <a:ln/>
        </p:spPr>
        <p:txBody>
          <a:bodyPr wrap="square" lIns="0" tIns="0" rIns="0" bIns="0" rtlCol="0" anchor="t"/>
          <a:lstStyle/>
          <a:p>
            <a:pPr algn="l" indent="0" marL="0">
              <a:lnSpc>
                <a:spcPct val="120000"/>
              </a:lnSpc>
              <a:buNone/>
            </a:pPr>
            <a:r>
              <a:rPr lang="en-US" sz="1100" b="1" spc="66" kern="0" dirty="0">
                <a:solidFill>
                  <a:srgbClr val="16181B"/>
                </a:solidFill>
                <a:latin typeface="JetBrains Mono" pitchFamily="34" charset="0"/>
                <a:ea typeface="JetBrains Mono" pitchFamily="34" charset="-122"/>
                <a:cs typeface="JetBrains Mono" pitchFamily="34" charset="-120"/>
              </a:rPr>
              <a:t>NEEDS LAB</a:t>
            </a:r>
            <a:endParaRPr lang="en-US" sz="1100" dirty="0"/>
          </a:p>
        </p:txBody>
      </p:sp>
      <p:sp>
        <p:nvSpPr>
          <p:cNvPr id="21" name="Text 18"/>
          <p:cNvSpPr/>
          <p:nvPr/>
        </p:nvSpPr>
        <p:spPr>
          <a:xfrm>
            <a:off x="4381530" y="2324130"/>
            <a:ext cx="3174980" cy="40005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Light dropped with no glow, no plateau, or a plateau outside the band (N1–N3).</a:t>
            </a:r>
            <a:endParaRPr lang="en-US" sz="1050" dirty="0"/>
          </a:p>
        </p:txBody>
      </p:sp>
      <p:sp>
        <p:nvSpPr>
          <p:cNvPr id="22" name="Shape 19"/>
          <p:cNvSpPr/>
          <p:nvPr/>
        </p:nvSpPr>
        <p:spPr>
          <a:xfrm>
            <a:off x="4381530" y="2870210"/>
            <a:ext cx="2031980" cy="3251241"/>
          </a:xfrm>
          <a:prstGeom prst="roundRect">
            <a:avLst>
              <a:gd name="adj" fmla="val 13127"/>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23" name="Image 1" descr="Three answers: app-upgrade-b-evaluation-needslab-390-390c">    </p:cNvPr>
          <p:cNvPicPr>
            <a:picLocks noChangeAspect="1"/>
          </p:cNvPicPr>
          <p:nvPr/>
        </p:nvPicPr>
        <p:blipFill>
          <a:blip r:embed="rId2"/>
          <a:stretch>
            <a:fillRect/>
          </a:stretch>
        </p:blipFill>
        <p:spPr>
          <a:xfrm>
            <a:off x="4438680" y="2927360"/>
            <a:ext cx="1917680" cy="3136941"/>
          </a:xfrm>
          <a:prstGeom prst="rect">
            <a:avLst/>
          </a:prstGeom>
        </p:spPr>
      </p:pic>
      <p:sp>
        <p:nvSpPr>
          <p:cNvPr id="24" name="Shape 20"/>
          <p:cNvSpPr/>
          <p:nvPr/>
        </p:nvSpPr>
        <p:spPr>
          <a:xfrm>
            <a:off x="8001000" y="1930390"/>
            <a:ext cx="1924080" cy="279441"/>
          </a:xfrm>
          <a:prstGeom prst="roundRect">
            <a:avLst>
              <a:gd name="adj" fmla="val 50000"/>
            </a:avLst>
          </a:prstGeom>
          <a:solidFill>
            <a:srgbClr val="9AA0A6">
              <a:alpha val="18000"/>
            </a:srgbClr>
          </a:solidFill>
          <a:ln/>
        </p:spPr>
      </p:sp>
      <p:sp>
        <p:nvSpPr>
          <p:cNvPr id="25" name="Shape 21"/>
          <p:cNvSpPr/>
          <p:nvPr/>
        </p:nvSpPr>
        <p:spPr>
          <a:xfrm>
            <a:off x="8140720" y="2038380"/>
            <a:ext cx="69860" cy="69860"/>
          </a:xfrm>
          <a:prstGeom prst="ellipse">
            <a:avLst/>
          </a:prstGeom>
          <a:solidFill>
            <a:srgbClr val="9AA0A6"/>
          </a:solidFill>
          <a:ln/>
        </p:spPr>
      </p:sp>
      <p:sp>
        <p:nvSpPr>
          <p:cNvPr id="26" name="Text 23"/>
          <p:cNvSpPr/>
          <p:nvPr/>
        </p:nvSpPr>
        <p:spPr>
          <a:xfrm>
            <a:off x="8267730" y="1986260"/>
            <a:ext cx="1574780" cy="196870"/>
          </a:xfrm>
          <a:prstGeom prst="rect">
            <a:avLst/>
          </a:prstGeom>
          <a:noFill/>
          <a:ln/>
        </p:spPr>
        <p:txBody>
          <a:bodyPr wrap="square" lIns="0" tIns="0" rIns="0" bIns="0" rtlCol="0" anchor="t"/>
          <a:lstStyle/>
          <a:p>
            <a:pPr algn="l" indent="0" marL="0">
              <a:lnSpc>
                <a:spcPct val="120000"/>
              </a:lnSpc>
              <a:buNone/>
            </a:pPr>
            <a:r>
              <a:rPr lang="en-US" sz="1100" b="1" spc="66" kern="0" dirty="0">
                <a:solidFill>
                  <a:srgbClr val="16181B"/>
                </a:solidFill>
                <a:latin typeface="JetBrains Mono" pitchFamily="34" charset="0"/>
                <a:ea typeface="JetBrains Mono" pitchFamily="34" charset="-122"/>
                <a:cs typeface="JetBrains Mono" pitchFamily="34" charset="-120"/>
              </a:rPr>
              <a:t>UNABLE TO VERIFY</a:t>
            </a:r>
            <a:endParaRPr lang="en-US" sz="1100" dirty="0"/>
          </a:p>
        </p:txBody>
      </p:sp>
      <p:sp>
        <p:nvSpPr>
          <p:cNvPr id="27" name="Text 24"/>
          <p:cNvSpPr/>
          <p:nvPr/>
        </p:nvSpPr>
        <p:spPr>
          <a:xfrm>
            <a:off x="8001000" y="2324130"/>
            <a:ext cx="3174980" cy="40005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No reference for this drug, a fault, or too little data (U1–U3).</a:t>
            </a:r>
            <a:endParaRPr lang="en-US" sz="1050" dirty="0"/>
          </a:p>
        </p:txBody>
      </p:sp>
      <p:sp>
        <p:nvSpPr>
          <p:cNvPr id="28" name="Shape 24"/>
          <p:cNvSpPr/>
          <p:nvPr/>
        </p:nvSpPr>
        <p:spPr>
          <a:xfrm>
            <a:off x="8001000" y="2870210"/>
            <a:ext cx="2031980" cy="3251241"/>
          </a:xfrm>
          <a:prstGeom prst="roundRect">
            <a:avLst>
              <a:gd name="adj" fmla="val 13127"/>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29" name="Image 2" descr="Three answers: app-pillmotion-eval-u1-phone-390c">    </p:cNvPr>
          <p:cNvPicPr>
            <a:picLocks noChangeAspect="1"/>
          </p:cNvPicPr>
          <p:nvPr/>
        </p:nvPicPr>
        <p:blipFill>
          <a:blip r:embed="rId3"/>
          <a:stretch>
            <a:fillRect/>
          </a:stretch>
        </p:blipFill>
        <p:spPr>
          <a:xfrm>
            <a:off x="8058150" y="2927360"/>
            <a:ext cx="1917680" cy="313694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CLINIC MODE · THE PAYMENT GATE</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07 / 20</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7937541" cy="552480"/>
          </a:xfrm>
          <a:prstGeom prst="rect">
            <a:avLst/>
          </a:prstGeom>
          <a:noFill/>
          <a:ln/>
        </p:spPr>
        <p:txBody>
          <a:bodyPr wrap="square" lIns="0" tIns="0" rIns="0" bIns="0" rtlCol="0" anchor="t"/>
          <a:lstStyle/>
          <a:p>
            <a:pPr algn="l" indent="0" marL="0">
              <a:lnSpc>
                <a:spcPct val="100000"/>
              </a:lnSpc>
              <a:buNone/>
            </a:pPr>
            <a:r>
              <a:rPr lang="en-US" sz="3588" spc="-54" kern="0" dirty="0">
                <a:solidFill>
                  <a:srgbClr val="16181B"/>
                </a:solidFill>
                <a:latin typeface="Instrument Serif" pitchFamily="34" charset="0"/>
                <a:ea typeface="Instrument Serif" pitchFamily="34" charset="-122"/>
                <a:cs typeface="Instrument Serif" pitchFamily="34" charset="-120"/>
              </a:rPr>
              <a:t>The verdict holds the payment.</a:t>
            </a:r>
            <a:endParaRPr lang="en-US" sz="3588" dirty="0"/>
          </a:p>
        </p:txBody>
      </p:sp>
      <p:sp>
        <p:nvSpPr>
          <p:cNvPr id="11" name="Shape 9"/>
          <p:cNvSpPr/>
          <p:nvPr/>
        </p:nvSpPr>
        <p:spPr>
          <a:xfrm>
            <a:off x="761970" y="1714500"/>
            <a:ext cx="1746230" cy="254020"/>
          </a:xfrm>
          <a:prstGeom prst="roundRect">
            <a:avLst>
              <a:gd name="adj" fmla="val 50000"/>
            </a:avLst>
          </a:prstGeom>
          <a:solidFill>
            <a:srgbClr val="E09A3A">
              <a:alpha val="16000"/>
            </a:srgbClr>
          </a:solidFill>
          <a:ln/>
        </p:spPr>
      </p:sp>
      <p:sp>
        <p:nvSpPr>
          <p:cNvPr id="12" name="Shape 10"/>
          <p:cNvSpPr/>
          <p:nvPr/>
        </p:nvSpPr>
        <p:spPr>
          <a:xfrm>
            <a:off x="888980" y="1809780"/>
            <a:ext cx="63459" cy="63459"/>
          </a:xfrm>
          <a:prstGeom prst="ellipse">
            <a:avLst/>
          </a:prstGeom>
          <a:solidFill>
            <a:srgbClr val="E09A3A"/>
          </a:solidFill>
          <a:ln/>
        </p:spPr>
      </p:sp>
      <p:sp>
        <p:nvSpPr>
          <p:cNvPr id="13" name="Text 10"/>
          <p:cNvSpPr/>
          <p:nvPr/>
        </p:nvSpPr>
        <p:spPr>
          <a:xfrm>
            <a:off x="1003280" y="1765341"/>
            <a:ext cx="142875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SANDBOX · NESSIE</a:t>
            </a:r>
            <a:endParaRPr lang="en-US" sz="1000" dirty="0"/>
          </a:p>
        </p:txBody>
      </p:sp>
      <p:sp>
        <p:nvSpPr>
          <p:cNvPr id="14" name="Shape 12"/>
          <p:cNvSpPr/>
          <p:nvPr/>
        </p:nvSpPr>
        <p:spPr>
          <a:xfrm>
            <a:off x="2597170" y="1714500"/>
            <a:ext cx="2247870" cy="254020"/>
          </a:xfrm>
          <a:prstGeom prst="roundRect">
            <a:avLst>
              <a:gd name="adj" fmla="val 50000"/>
            </a:avLst>
          </a:prstGeom>
          <a:solidFill>
            <a:srgbClr val="7A5CFF">
              <a:alpha val="10000"/>
            </a:srgbClr>
          </a:solidFill>
          <a:ln/>
        </p:spPr>
      </p:sp>
      <p:sp>
        <p:nvSpPr>
          <p:cNvPr id="15" name="Shape 13"/>
          <p:cNvSpPr/>
          <p:nvPr/>
        </p:nvSpPr>
        <p:spPr>
          <a:xfrm>
            <a:off x="2724180" y="1809780"/>
            <a:ext cx="63459" cy="63459"/>
          </a:xfrm>
          <a:prstGeom prst="ellipse">
            <a:avLst/>
          </a:prstGeom>
          <a:solidFill>
            <a:srgbClr val="7A5CFF"/>
          </a:solidFill>
          <a:ln/>
        </p:spPr>
      </p:sp>
      <p:sp>
        <p:nvSpPr>
          <p:cNvPr id="16" name="Text 13"/>
          <p:cNvSpPr/>
          <p:nvPr/>
        </p:nvSpPr>
        <p:spPr>
          <a:xfrm>
            <a:off x="2838480" y="1765341"/>
            <a:ext cx="193039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TESTNET · BASE SEPOLIA</a:t>
            </a:r>
            <a:endParaRPr lang="en-US" sz="1000" dirty="0"/>
          </a:p>
        </p:txBody>
      </p:sp>
      <p:sp>
        <p:nvSpPr>
          <p:cNvPr id="17" name="Text 14"/>
          <p:cNvSpPr/>
          <p:nvPr/>
        </p:nvSpPr>
        <p:spPr>
          <a:xfrm>
            <a:off x="761970" y="2158990"/>
            <a:ext cx="7492959" cy="514350"/>
          </a:xfrm>
          <a:prstGeom prst="rect">
            <a:avLst/>
          </a:prstGeom>
          <a:noFill/>
          <a:ln/>
        </p:spPr>
        <p:txBody>
          <a:bodyPr wrap="square" lIns="0" tIns="0" rIns="0" bIns="0" rtlCol="0" anchor="t"/>
          <a:lstStyle/>
          <a:p>
            <a:pPr algn="l" indent="0" marL="0">
              <a:lnSpc>
                <a:spcPct val="145000"/>
              </a:lnSpc>
              <a:buNone/>
            </a:pPr>
            <a:r>
              <a:rPr lang="en-US" sz="1300" dirty="0">
                <a:solidFill>
                  <a:srgbClr val="4A4E55"/>
                </a:solidFill>
                <a:latin typeface="Inter" pitchFamily="34" charset="0"/>
                <a:ea typeface="Inter" pitchFamily="34" charset="-122"/>
                <a:cs typeface="Inter" pitchFamily="34" charset="-120"/>
              </a:rPr>
              <a:t>A clinic samples one tablet from each delivery. The policy agent reads the verdict, the recall check and the spend cap, and proposes. Only a pharmacist’s tap releases money.</a:t>
            </a:r>
            <a:endParaRPr lang="en-US" sz="1300" dirty="0"/>
          </a:p>
        </p:txBody>
      </p:sp>
      <p:sp>
        <p:nvSpPr>
          <p:cNvPr id="18" name="Shape 16"/>
          <p:cNvSpPr/>
          <p:nvPr/>
        </p:nvSpPr>
        <p:spPr>
          <a:xfrm>
            <a:off x="761970" y="3111520"/>
            <a:ext cx="2031980" cy="1206459"/>
          </a:xfrm>
          <a:prstGeom prst="roundRect">
            <a:avLst>
              <a:gd name="adj" fmla="val 12635"/>
            </a:avLst>
          </a:prstGeom>
          <a:solidFill>
            <a:srgbClr val="FFFFFF"/>
          </a:solidFill>
          <a:ln w="12700">
            <a:solidFill>
              <a:srgbClr val="16181B">
                <a:alpha val="10000"/>
              </a:srgbClr>
            </a:solidFill>
            <a:prstDash val="solid"/>
          </a:ln>
        </p:spPr>
      </p:sp>
      <p:sp>
        <p:nvSpPr>
          <p:cNvPr id="19" name="Text 16"/>
          <p:cNvSpPr/>
          <p:nvPr/>
        </p:nvSpPr>
        <p:spPr>
          <a:xfrm>
            <a:off x="939820" y="3263859"/>
            <a:ext cx="1676370" cy="266730"/>
          </a:xfrm>
          <a:prstGeom prst="rect">
            <a:avLst/>
          </a:prstGeom>
          <a:noFill/>
          <a:ln/>
        </p:spPr>
        <p:txBody>
          <a:bodyPr wrap="square" lIns="0" tIns="0" rIns="0" bIns="0" rtlCol="0" anchor="t"/>
          <a:lstStyle/>
          <a:p>
            <a:pPr algn="l" indent="0" marL="0">
              <a:lnSpc>
                <a:spcPct val="120000"/>
              </a:lnSpc>
              <a:buNone/>
            </a:pPr>
            <a:r>
              <a:rPr lang="en-US" sz="1500" b="1" dirty="0">
                <a:solidFill>
                  <a:srgbClr val="16181B"/>
                </a:solidFill>
                <a:latin typeface="Inter" pitchFamily="34" charset="0"/>
                <a:ea typeface="Inter" pitchFamily="34" charset="-122"/>
                <a:cs typeface="Inter" pitchFamily="34" charset="-120"/>
              </a:rPr>
              <a:t>Clinic</a:t>
            </a:r>
            <a:endParaRPr lang="en-US" sz="1500" dirty="0"/>
          </a:p>
        </p:txBody>
      </p:sp>
      <p:sp>
        <p:nvSpPr>
          <p:cNvPr id="20" name="Text 17"/>
          <p:cNvSpPr/>
          <p:nvPr/>
        </p:nvSpPr>
        <p:spPr>
          <a:xfrm>
            <a:off x="939820" y="3543300"/>
            <a:ext cx="1676370"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wallet · USDC on Base</a:t>
            </a:r>
            <a:endParaRPr lang="en-US" sz="850" dirty="0"/>
          </a:p>
        </p:txBody>
      </p:sp>
      <p:sp>
        <p:nvSpPr>
          <p:cNvPr id="21" name="Text 18"/>
          <p:cNvSpPr/>
          <p:nvPr/>
        </p:nvSpPr>
        <p:spPr>
          <a:xfrm>
            <a:off x="939820" y="3784610"/>
            <a:ext cx="1676370" cy="40005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pays into escrow when the delivery is logged</a:t>
            </a:r>
            <a:endParaRPr lang="en-US" sz="1050" dirty="0"/>
          </a:p>
        </p:txBody>
      </p:sp>
      <p:sp>
        <p:nvSpPr>
          <p:cNvPr id="22" name="Shape 20"/>
          <p:cNvSpPr/>
          <p:nvPr/>
        </p:nvSpPr>
        <p:spPr>
          <a:xfrm>
            <a:off x="3619470" y="3111520"/>
            <a:ext cx="2158990" cy="1206459"/>
          </a:xfrm>
          <a:prstGeom prst="roundRect">
            <a:avLst>
              <a:gd name="adj" fmla="val 12635"/>
            </a:avLst>
          </a:prstGeom>
          <a:solidFill>
            <a:srgbClr val="4FB3FF">
              <a:alpha val="14000"/>
            </a:srgbClr>
          </a:solidFill>
          <a:ln w="12700">
            <a:solidFill>
              <a:srgbClr val="4FB3FF">
                <a:alpha val="40000"/>
              </a:srgbClr>
            </a:solidFill>
            <a:prstDash val="solid"/>
          </a:ln>
        </p:spPr>
      </p:sp>
      <p:sp>
        <p:nvSpPr>
          <p:cNvPr id="23" name="Text 20"/>
          <p:cNvSpPr/>
          <p:nvPr/>
        </p:nvSpPr>
        <p:spPr>
          <a:xfrm>
            <a:off x="3797320" y="3263859"/>
            <a:ext cx="1803380" cy="266730"/>
          </a:xfrm>
          <a:prstGeom prst="rect">
            <a:avLst/>
          </a:prstGeom>
          <a:noFill/>
          <a:ln/>
        </p:spPr>
        <p:txBody>
          <a:bodyPr wrap="square" lIns="0" tIns="0" rIns="0" bIns="0" rtlCol="0" anchor="t"/>
          <a:lstStyle/>
          <a:p>
            <a:pPr algn="l" indent="0" marL="0">
              <a:lnSpc>
                <a:spcPct val="120000"/>
              </a:lnSpc>
              <a:buNone/>
            </a:pPr>
            <a:r>
              <a:rPr lang="en-US" sz="1500" b="1" dirty="0">
                <a:solidFill>
                  <a:srgbClr val="16181B"/>
                </a:solidFill>
                <a:latin typeface="Inter" pitchFamily="34" charset="0"/>
                <a:ea typeface="Inter" pitchFamily="34" charset="-122"/>
                <a:cs typeface="Inter" pitchFamily="34" charset="-120"/>
              </a:rPr>
              <a:t>Escrow</a:t>
            </a:r>
            <a:endParaRPr lang="en-US" sz="1500" dirty="0"/>
          </a:p>
        </p:txBody>
      </p:sp>
      <p:sp>
        <p:nvSpPr>
          <p:cNvPr id="24" name="Text 21"/>
          <p:cNvSpPr/>
          <p:nvPr/>
        </p:nvSpPr>
        <p:spPr>
          <a:xfrm>
            <a:off x="3797320" y="3543300"/>
            <a:ext cx="1803380"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Pill escrow</a:t>
            </a:r>
            <a:endParaRPr lang="en-US" sz="850" dirty="0"/>
          </a:p>
        </p:txBody>
      </p:sp>
      <p:sp>
        <p:nvSpPr>
          <p:cNvPr id="25" name="Text 22"/>
          <p:cNvSpPr/>
          <p:nvPr/>
        </p:nvSpPr>
        <p:spPr>
          <a:xfrm>
            <a:off x="3797320" y="3784610"/>
            <a:ext cx="1803380" cy="40005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holds it until a PASS and a pharmacist’s tap</a:t>
            </a:r>
            <a:endParaRPr lang="en-US" sz="1050" dirty="0"/>
          </a:p>
        </p:txBody>
      </p:sp>
      <p:sp>
        <p:nvSpPr>
          <p:cNvPr id="26" name="Shape 24"/>
          <p:cNvSpPr/>
          <p:nvPr/>
        </p:nvSpPr>
        <p:spPr>
          <a:xfrm>
            <a:off x="6603980" y="3111520"/>
            <a:ext cx="2031980" cy="1206459"/>
          </a:xfrm>
          <a:prstGeom prst="roundRect">
            <a:avLst>
              <a:gd name="adj" fmla="val 12635"/>
            </a:avLst>
          </a:prstGeom>
          <a:solidFill>
            <a:srgbClr val="FFFFFF"/>
          </a:solidFill>
          <a:ln w="12700">
            <a:solidFill>
              <a:srgbClr val="16181B">
                <a:alpha val="10000"/>
              </a:srgbClr>
            </a:solidFill>
            <a:prstDash val="solid"/>
          </a:ln>
        </p:spPr>
      </p:sp>
      <p:sp>
        <p:nvSpPr>
          <p:cNvPr id="27" name="Text 24"/>
          <p:cNvSpPr/>
          <p:nvPr/>
        </p:nvSpPr>
        <p:spPr>
          <a:xfrm>
            <a:off x="6781830" y="3263859"/>
            <a:ext cx="1676370" cy="266730"/>
          </a:xfrm>
          <a:prstGeom prst="rect">
            <a:avLst/>
          </a:prstGeom>
          <a:noFill/>
          <a:ln/>
        </p:spPr>
        <p:txBody>
          <a:bodyPr wrap="square" lIns="0" tIns="0" rIns="0" bIns="0" rtlCol="0" anchor="t"/>
          <a:lstStyle/>
          <a:p>
            <a:pPr algn="l" indent="0" marL="0">
              <a:lnSpc>
                <a:spcPct val="120000"/>
              </a:lnSpc>
              <a:buNone/>
            </a:pPr>
            <a:r>
              <a:rPr lang="en-US" sz="1500" b="1" dirty="0">
                <a:solidFill>
                  <a:srgbClr val="16181B"/>
                </a:solidFill>
                <a:latin typeface="Inter" pitchFamily="34" charset="0"/>
                <a:ea typeface="Inter" pitchFamily="34" charset="-122"/>
                <a:cs typeface="Inter" pitchFamily="34" charset="-120"/>
              </a:rPr>
              <a:t>Supplier</a:t>
            </a:r>
            <a:endParaRPr lang="en-US" sz="1500" dirty="0"/>
          </a:p>
        </p:txBody>
      </p:sp>
      <p:sp>
        <p:nvSpPr>
          <p:cNvPr id="28" name="Text 25"/>
          <p:cNvSpPr/>
          <p:nvPr/>
        </p:nvSpPr>
        <p:spPr>
          <a:xfrm>
            <a:off x="6781830" y="3543300"/>
            <a:ext cx="1676370"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wallet · USDC on Base</a:t>
            </a:r>
            <a:endParaRPr lang="en-US" sz="850" dirty="0"/>
          </a:p>
        </p:txBody>
      </p:sp>
      <p:sp>
        <p:nvSpPr>
          <p:cNvPr id="29" name="Text 26"/>
          <p:cNvSpPr/>
          <p:nvPr/>
        </p:nvSpPr>
        <p:spPr>
          <a:xfrm>
            <a:off x="6781830" y="3784610"/>
            <a:ext cx="1676370" cy="21589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paid only on release</a:t>
            </a:r>
            <a:endParaRPr lang="en-US" sz="1050" dirty="0"/>
          </a:p>
        </p:txBody>
      </p:sp>
      <p:sp>
        <p:nvSpPr>
          <p:cNvPr id="30" name="Shape 28"/>
          <p:cNvSpPr/>
          <p:nvPr/>
        </p:nvSpPr>
        <p:spPr>
          <a:xfrm>
            <a:off x="2851191" y="3651291"/>
            <a:ext cx="711220" cy="127010"/>
          </a:xfrm>
          <a:custGeom>
            <a:avLst/>
            <a:gdLst/>
            <a:ahLst/>
            <a:cxnLst/>
            <a:rect l="l" t="t" r="r" b="b"/>
            <a:pathLst>
              <a:path w="711220" h="127010">
                <a:moveTo>
                  <a:pt x="19020" y="63459"/>
                </a:moveTo>
                <a:lnTo>
                  <a:pt x="692109" y="63459"/>
                </a:lnTo>
                <a:moveTo>
                  <a:pt x="614020" y="106070"/>
                </a:moveTo>
                <a:lnTo>
                  <a:pt x="692109" y="63459"/>
                </a:lnTo>
                <a:lnTo>
                  <a:pt x="614020" y="20940"/>
                </a:lnTo>
              </a:path>
            </a:pathLst>
          </a:custGeom>
          <a:ln w="19050">
            <a:solidFill>
              <a:srgbClr val="4FB3FF"/>
            </a:solidFill>
            <a:prstDash val="dash"/>
          </a:ln>
        </p:spPr>
      </p:sp>
      <p:sp>
        <p:nvSpPr>
          <p:cNvPr id="31" name="Shape 29"/>
          <p:cNvSpPr/>
          <p:nvPr/>
        </p:nvSpPr>
        <p:spPr>
          <a:xfrm>
            <a:off x="5835609" y="3651291"/>
            <a:ext cx="711220" cy="127010"/>
          </a:xfrm>
          <a:custGeom>
            <a:avLst/>
            <a:gdLst/>
            <a:ahLst/>
            <a:cxnLst/>
            <a:rect l="l" t="t" r="r" b="b"/>
            <a:pathLst>
              <a:path w="711220" h="127010">
                <a:moveTo>
                  <a:pt x="19020" y="63459"/>
                </a:moveTo>
                <a:lnTo>
                  <a:pt x="692109" y="63459"/>
                </a:lnTo>
                <a:moveTo>
                  <a:pt x="614020" y="106070"/>
                </a:moveTo>
                <a:lnTo>
                  <a:pt x="692109" y="63459"/>
                </a:lnTo>
                <a:lnTo>
                  <a:pt x="614020" y="20940"/>
                </a:lnTo>
              </a:path>
            </a:pathLst>
          </a:custGeom>
          <a:ln w="19050">
            <a:solidFill>
              <a:srgbClr val="4FB3FF"/>
            </a:solidFill>
            <a:prstDash val="solid"/>
          </a:ln>
        </p:spPr>
      </p:sp>
      <p:sp>
        <p:nvSpPr>
          <p:cNvPr id="32" name="Shape 30"/>
          <p:cNvSpPr/>
          <p:nvPr/>
        </p:nvSpPr>
        <p:spPr>
          <a:xfrm>
            <a:off x="761970" y="4635459"/>
            <a:ext cx="1904970" cy="254020"/>
          </a:xfrm>
          <a:prstGeom prst="roundRect">
            <a:avLst>
              <a:gd name="adj" fmla="val 50000"/>
            </a:avLst>
          </a:prstGeom>
          <a:solidFill>
            <a:srgbClr val="5FD39A">
              <a:alpha val="16000"/>
            </a:srgbClr>
          </a:solidFill>
          <a:ln/>
        </p:spPr>
      </p:sp>
      <p:sp>
        <p:nvSpPr>
          <p:cNvPr id="33" name="Shape 31"/>
          <p:cNvSpPr/>
          <p:nvPr/>
        </p:nvSpPr>
        <p:spPr>
          <a:xfrm>
            <a:off x="888980" y="4730740"/>
            <a:ext cx="63459" cy="63459"/>
          </a:xfrm>
          <a:prstGeom prst="ellipse">
            <a:avLst/>
          </a:prstGeom>
          <a:solidFill>
            <a:srgbClr val="5FD39A"/>
          </a:solidFill>
          <a:ln/>
        </p:spPr>
      </p:sp>
      <p:sp>
        <p:nvSpPr>
          <p:cNvPr id="34" name="Text 31"/>
          <p:cNvSpPr/>
          <p:nvPr/>
        </p:nvSpPr>
        <p:spPr>
          <a:xfrm>
            <a:off x="1003280" y="4686300"/>
            <a:ext cx="158749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PASS</a:t>
            </a:r>
            <a:endParaRPr lang="en-US" sz="1000" dirty="0"/>
          </a:p>
        </p:txBody>
      </p:sp>
      <p:sp>
        <p:nvSpPr>
          <p:cNvPr id="35" name="Shape 33"/>
          <p:cNvSpPr/>
          <p:nvPr/>
        </p:nvSpPr>
        <p:spPr>
          <a:xfrm>
            <a:off x="2755910" y="4718030"/>
            <a:ext cx="495330" cy="88880"/>
          </a:xfrm>
          <a:custGeom>
            <a:avLst/>
            <a:gdLst/>
            <a:ahLst/>
            <a:cxnLst/>
            <a:rect l="l" t="t" r="r" b="b"/>
            <a:pathLst>
              <a:path w="495330" h="88880">
                <a:moveTo>
                  <a:pt x="12710" y="44440"/>
                </a:moveTo>
                <a:lnTo>
                  <a:pt x="482620" y="44440"/>
                </a:lnTo>
                <a:moveTo>
                  <a:pt x="426750" y="74889"/>
                </a:moveTo>
                <a:lnTo>
                  <a:pt x="482620" y="44440"/>
                </a:lnTo>
                <a:lnTo>
                  <a:pt x="426750" y="13990"/>
                </a:lnTo>
              </a:path>
            </a:pathLst>
          </a:custGeom>
          <a:ln w="12700">
            <a:solidFill>
              <a:srgbClr val="16181B">
                <a:alpha val="18000"/>
              </a:srgbClr>
            </a:solidFill>
            <a:prstDash val="solid"/>
          </a:ln>
        </p:spPr>
      </p:sp>
      <p:sp>
        <p:nvSpPr>
          <p:cNvPr id="36" name="Text 33"/>
          <p:cNvSpPr/>
          <p:nvPr/>
        </p:nvSpPr>
        <p:spPr>
          <a:xfrm>
            <a:off x="3352830" y="4660880"/>
            <a:ext cx="5333970" cy="228600"/>
          </a:xfrm>
          <a:prstGeom prst="rect">
            <a:avLst/>
          </a:prstGeom>
          <a:noFill/>
          <a:ln/>
        </p:spPr>
        <p:txBody>
          <a:bodyPr wrap="square" lIns="0" tIns="0" rIns="0" bIns="0" rtlCol="0" anchor="t"/>
          <a:lstStyle/>
          <a:p>
            <a:pPr algn="l" indent="0" marL="0">
              <a:lnSpc>
                <a:spcPct val="130000"/>
              </a:lnSpc>
              <a:buNone/>
            </a:pPr>
            <a:r>
              <a:rPr lang="en-US" sz="1200" dirty="0">
                <a:solidFill>
                  <a:srgbClr val="16181B"/>
                </a:solidFill>
                <a:latin typeface="Inter" pitchFamily="34" charset="0"/>
                <a:ea typeface="Inter" pitchFamily="34" charset="-122"/>
                <a:cs typeface="Inter" pitchFamily="34" charset="-120"/>
              </a:rPr>
              <a:t>+ the pharmacist’s tap → escrow pays the supplier (P1)</a:t>
            </a:r>
            <a:endParaRPr lang="en-US" sz="1200" dirty="0"/>
          </a:p>
        </p:txBody>
      </p:sp>
      <p:sp>
        <p:nvSpPr>
          <p:cNvPr id="37" name="Shape 35"/>
          <p:cNvSpPr/>
          <p:nvPr/>
        </p:nvSpPr>
        <p:spPr>
          <a:xfrm>
            <a:off x="761970" y="5105370"/>
            <a:ext cx="1904970" cy="254020"/>
          </a:xfrm>
          <a:prstGeom prst="roundRect">
            <a:avLst>
              <a:gd name="adj" fmla="val 50000"/>
            </a:avLst>
          </a:prstGeom>
          <a:solidFill>
            <a:srgbClr val="E09A3A">
              <a:alpha val="16000"/>
            </a:srgbClr>
          </a:solidFill>
          <a:ln/>
        </p:spPr>
      </p:sp>
      <p:sp>
        <p:nvSpPr>
          <p:cNvPr id="38" name="Shape 36"/>
          <p:cNvSpPr/>
          <p:nvPr/>
        </p:nvSpPr>
        <p:spPr>
          <a:xfrm>
            <a:off x="888980" y="5200650"/>
            <a:ext cx="63459" cy="63459"/>
          </a:xfrm>
          <a:prstGeom prst="ellipse">
            <a:avLst/>
          </a:prstGeom>
          <a:solidFill>
            <a:srgbClr val="E09A3A"/>
          </a:solidFill>
          <a:ln/>
        </p:spPr>
      </p:sp>
      <p:sp>
        <p:nvSpPr>
          <p:cNvPr id="39" name="Text 36"/>
          <p:cNvSpPr/>
          <p:nvPr/>
        </p:nvSpPr>
        <p:spPr>
          <a:xfrm>
            <a:off x="1003280" y="5156210"/>
            <a:ext cx="158749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NEEDS LAB</a:t>
            </a:r>
            <a:endParaRPr lang="en-US" sz="1000" dirty="0"/>
          </a:p>
        </p:txBody>
      </p:sp>
      <p:sp>
        <p:nvSpPr>
          <p:cNvPr id="40" name="Shape 38"/>
          <p:cNvSpPr/>
          <p:nvPr/>
        </p:nvSpPr>
        <p:spPr>
          <a:xfrm>
            <a:off x="2755910" y="5187940"/>
            <a:ext cx="495330" cy="88880"/>
          </a:xfrm>
          <a:custGeom>
            <a:avLst/>
            <a:gdLst/>
            <a:ahLst/>
            <a:cxnLst/>
            <a:rect l="l" t="t" r="r" b="b"/>
            <a:pathLst>
              <a:path w="495330" h="88880">
                <a:moveTo>
                  <a:pt x="12710" y="44440"/>
                </a:moveTo>
                <a:lnTo>
                  <a:pt x="482620" y="44440"/>
                </a:lnTo>
                <a:moveTo>
                  <a:pt x="426750" y="74889"/>
                </a:moveTo>
                <a:lnTo>
                  <a:pt x="482620" y="44440"/>
                </a:lnTo>
                <a:lnTo>
                  <a:pt x="426750" y="13990"/>
                </a:lnTo>
              </a:path>
            </a:pathLst>
          </a:custGeom>
          <a:ln w="12700">
            <a:solidFill>
              <a:srgbClr val="16181B">
                <a:alpha val="18000"/>
              </a:srgbClr>
            </a:solidFill>
            <a:prstDash val="solid"/>
          </a:ln>
        </p:spPr>
      </p:sp>
      <p:sp>
        <p:nvSpPr>
          <p:cNvPr id="41" name="Text 38"/>
          <p:cNvSpPr/>
          <p:nvPr/>
        </p:nvSpPr>
        <p:spPr>
          <a:xfrm>
            <a:off x="3352830" y="5130790"/>
            <a:ext cx="5333970" cy="228600"/>
          </a:xfrm>
          <a:prstGeom prst="rect">
            <a:avLst/>
          </a:prstGeom>
          <a:noFill/>
          <a:ln/>
        </p:spPr>
        <p:txBody>
          <a:bodyPr wrap="square" lIns="0" tIns="0" rIns="0" bIns="0" rtlCol="0" anchor="t"/>
          <a:lstStyle/>
          <a:p>
            <a:pPr algn="l" indent="0" marL="0">
              <a:lnSpc>
                <a:spcPct val="130000"/>
              </a:lnSpc>
              <a:buNone/>
            </a:pPr>
            <a:r>
              <a:rPr lang="en-US" sz="1200" dirty="0">
                <a:solidFill>
                  <a:srgbClr val="16181B"/>
                </a:solidFill>
                <a:latin typeface="Inter" pitchFamily="34" charset="0"/>
                <a:ea typeface="Inter" pitchFamily="34" charset="-122"/>
                <a:cs typeface="Inter" pitchFamily="34" charset="-120"/>
              </a:rPr>
              <a:t>held; the lab referral is drafted with the curve (P2)</a:t>
            </a:r>
            <a:endParaRPr lang="en-US" sz="1200" dirty="0"/>
          </a:p>
        </p:txBody>
      </p:sp>
      <p:sp>
        <p:nvSpPr>
          <p:cNvPr id="42" name="Shape 40"/>
          <p:cNvSpPr/>
          <p:nvPr/>
        </p:nvSpPr>
        <p:spPr>
          <a:xfrm>
            <a:off x="761970" y="5575280"/>
            <a:ext cx="1904970" cy="254020"/>
          </a:xfrm>
          <a:prstGeom prst="roundRect">
            <a:avLst>
              <a:gd name="adj" fmla="val 50000"/>
            </a:avLst>
          </a:prstGeom>
          <a:solidFill>
            <a:srgbClr val="9AA0A6">
              <a:alpha val="18000"/>
            </a:srgbClr>
          </a:solidFill>
          <a:ln/>
        </p:spPr>
      </p:sp>
      <p:sp>
        <p:nvSpPr>
          <p:cNvPr id="43" name="Shape 41"/>
          <p:cNvSpPr/>
          <p:nvPr/>
        </p:nvSpPr>
        <p:spPr>
          <a:xfrm>
            <a:off x="888980" y="5670560"/>
            <a:ext cx="63459" cy="63459"/>
          </a:xfrm>
          <a:prstGeom prst="ellipse">
            <a:avLst/>
          </a:prstGeom>
          <a:solidFill>
            <a:srgbClr val="9AA0A6"/>
          </a:solidFill>
          <a:ln/>
        </p:spPr>
      </p:sp>
      <p:sp>
        <p:nvSpPr>
          <p:cNvPr id="44" name="Text 41"/>
          <p:cNvSpPr/>
          <p:nvPr/>
        </p:nvSpPr>
        <p:spPr>
          <a:xfrm>
            <a:off x="1003280" y="5626120"/>
            <a:ext cx="158749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UNABLE TO VERIFY</a:t>
            </a:r>
            <a:endParaRPr lang="en-US" sz="1000" dirty="0"/>
          </a:p>
        </p:txBody>
      </p:sp>
      <p:sp>
        <p:nvSpPr>
          <p:cNvPr id="45" name="Shape 43"/>
          <p:cNvSpPr/>
          <p:nvPr/>
        </p:nvSpPr>
        <p:spPr>
          <a:xfrm>
            <a:off x="2755910" y="5657850"/>
            <a:ext cx="495330" cy="88880"/>
          </a:xfrm>
          <a:custGeom>
            <a:avLst/>
            <a:gdLst/>
            <a:ahLst/>
            <a:cxnLst/>
            <a:rect l="l" t="t" r="r" b="b"/>
            <a:pathLst>
              <a:path w="495330" h="88880">
                <a:moveTo>
                  <a:pt x="12710" y="44440"/>
                </a:moveTo>
                <a:lnTo>
                  <a:pt x="482620" y="44440"/>
                </a:lnTo>
                <a:moveTo>
                  <a:pt x="426750" y="74889"/>
                </a:moveTo>
                <a:lnTo>
                  <a:pt x="482620" y="44440"/>
                </a:lnTo>
                <a:lnTo>
                  <a:pt x="426750" y="13990"/>
                </a:lnTo>
              </a:path>
            </a:pathLst>
          </a:custGeom>
          <a:ln w="12700">
            <a:solidFill>
              <a:srgbClr val="16181B">
                <a:alpha val="18000"/>
              </a:srgbClr>
            </a:solidFill>
            <a:prstDash val="solid"/>
          </a:ln>
        </p:spPr>
      </p:sp>
      <p:sp>
        <p:nvSpPr>
          <p:cNvPr id="46" name="Text 43"/>
          <p:cNvSpPr/>
          <p:nvPr/>
        </p:nvSpPr>
        <p:spPr>
          <a:xfrm>
            <a:off x="3352830" y="5600700"/>
            <a:ext cx="5333970" cy="228600"/>
          </a:xfrm>
          <a:prstGeom prst="rect">
            <a:avLst/>
          </a:prstGeom>
          <a:noFill/>
          <a:ln/>
        </p:spPr>
        <p:txBody>
          <a:bodyPr wrap="square" lIns="0" tIns="0" rIns="0" bIns="0" rtlCol="0" anchor="t"/>
          <a:lstStyle/>
          <a:p>
            <a:pPr algn="l" indent="0" marL="0">
              <a:lnSpc>
                <a:spcPct val="130000"/>
              </a:lnSpc>
              <a:buNone/>
            </a:pPr>
            <a:r>
              <a:rPr lang="en-US" sz="1200" dirty="0">
                <a:solidFill>
                  <a:srgbClr val="16181B"/>
                </a:solidFill>
                <a:latin typeface="Inter" pitchFamily="34" charset="0"/>
                <a:ea typeface="Inter" pitchFamily="34" charset="-122"/>
                <a:cs typeface="Inter" pitchFamily="34" charset="-120"/>
              </a:rPr>
              <a:t>escalated to a person; no money moves (P3)</a:t>
            </a:r>
            <a:endParaRPr lang="en-US" sz="1200" dirty="0"/>
          </a:p>
        </p:txBody>
      </p:sp>
      <p:sp>
        <p:nvSpPr>
          <p:cNvPr id="47" name="Shape 45"/>
          <p:cNvSpPr/>
          <p:nvPr/>
        </p:nvSpPr>
        <p:spPr>
          <a:xfrm>
            <a:off x="9144000" y="952530"/>
            <a:ext cx="2286000" cy="5080041"/>
          </a:xfrm>
          <a:prstGeom prst="roundRect">
            <a:avLst>
              <a:gd name="adj" fmla="val 13056"/>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48" name="Image 0" descr="Clinic mode: app-upgrade-b-delivery-held-390-390c">    </p:cNvPr>
          <p:cNvPicPr>
            <a:picLocks noChangeAspect="1"/>
          </p:cNvPicPr>
          <p:nvPr/>
        </p:nvPicPr>
        <p:blipFill>
          <a:blip r:embed="rId1"/>
          <a:stretch>
            <a:fillRect/>
          </a:stretch>
        </p:blipFill>
        <p:spPr>
          <a:xfrm>
            <a:off x="9207459" y="1015990"/>
            <a:ext cx="2158990" cy="4953030"/>
          </a:xfrm>
          <a:prstGeom prst="rect">
            <a:avLst/>
          </a:prstGeom>
        </p:spPr>
      </p:pic>
      <p:sp>
        <p:nvSpPr>
          <p:cNvPr id="49" name="Text 46"/>
          <p:cNvSpPr/>
          <p:nvPr/>
        </p:nvSpPr>
        <p:spPr>
          <a:xfrm>
            <a:off x="9144000" y="6108741"/>
            <a:ext cx="2286000" cy="165141"/>
          </a:xfrm>
          <a:prstGeom prst="rect">
            <a:avLst/>
          </a:prstGeom>
          <a:noFill/>
          <a:ln/>
        </p:spPr>
        <p:txBody>
          <a:bodyPr wrap="square" lIns="0" tIns="0" rIns="0" bIns="0" rtlCol="0" anchor="t"/>
          <a:lstStyle/>
          <a:p>
            <a:pPr algn="ctr" indent="0" marL="0">
              <a:lnSpc>
                <a:spcPct val="140000"/>
              </a:lnSpc>
              <a:buNone/>
            </a:pPr>
            <a:r>
              <a:rPr lang="en-US" sz="800" dirty="0">
                <a:solidFill>
                  <a:srgbClr val="7C8188"/>
                </a:solidFill>
                <a:latin typeface="JetBrains Mono" pitchFamily="34" charset="0"/>
                <a:ea typeface="JetBrains Mono" pitchFamily="34" charset="-122"/>
                <a:cs typeface="JetBrains Mono" pitchFamily="34" charset="-120"/>
              </a:rPr>
              <a:t>app · delivery held under P2</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970" cy="6858000"/>
          </a:xfrm>
          <a:prstGeom prst="rect">
            <a:avLst/>
          </a:prstGeom>
          <a:solidFill>
            <a:srgbClr val="7A5CFF">
              <a:alpha val="10000"/>
            </a:srgbClr>
          </a:solidFill>
          <a:ln/>
        </p:spPr>
      </p:sp>
      <p:sp>
        <p:nvSpPr>
          <p:cNvPr id="3" name="Shape 1"/>
          <p:cNvSpPr/>
          <p:nvPr/>
        </p:nvSpPr>
        <p:spPr>
          <a:xfrm>
            <a:off x="761970" y="355610"/>
            <a:ext cx="325161" cy="142281"/>
          </a:xfrm>
          <a:prstGeom prst="roundRect">
            <a:avLst>
              <a:gd name="adj" fmla="val 50000"/>
            </a:avLst>
          </a:prstGeom>
          <a:solidFill>
            <a:srgbClr val="FFFFFF"/>
          </a:solidFill>
          <a:ln/>
        </p:spPr>
      </p:sp>
      <p:sp>
        <p:nvSpPr>
          <p:cNvPr id="4" name="Shape 2"/>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5" name="Shape 3"/>
          <p:cNvSpPr/>
          <p:nvPr/>
        </p:nvSpPr>
        <p:spPr>
          <a:xfrm>
            <a:off x="761970" y="355610"/>
            <a:ext cx="325161" cy="142281"/>
          </a:xfrm>
          <a:prstGeom prst="roundRect">
            <a:avLst>
              <a:gd name="adj" fmla="val 50000"/>
            </a:avLst>
          </a:prstGeom>
          <a:ln w="12700">
            <a:solidFill>
              <a:srgbClr val="16181B"/>
            </a:solidFill>
            <a:prstDash val="solid"/>
          </a:ln>
        </p:spPr>
      </p:sp>
      <p:sp>
        <p:nvSpPr>
          <p:cNvPr id="6" name="Text 3"/>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7" name="Text 4"/>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COINBASE · X402 · PAYMENT AGENTS</a:t>
            </a:r>
            <a:endParaRPr lang="en-US" sz="900" dirty="0"/>
          </a:p>
        </p:txBody>
      </p:sp>
      <p:sp>
        <p:nvSpPr>
          <p:cNvPr id="8" name="Text 5"/>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08 / 20</a:t>
            </a:r>
            <a:endParaRPr lang="en-US" sz="900" dirty="0"/>
          </a:p>
        </p:txBody>
      </p:sp>
      <p:sp>
        <p:nvSpPr>
          <p:cNvPr id="9" name="Shape 7"/>
          <p:cNvSpPr/>
          <p:nvPr/>
        </p:nvSpPr>
        <p:spPr>
          <a:xfrm>
            <a:off x="761970" y="6413510"/>
            <a:ext cx="10668030" cy="12710"/>
          </a:xfrm>
          <a:prstGeom prst="rect">
            <a:avLst/>
          </a:prstGeom>
          <a:solidFill>
            <a:srgbClr val="16181B">
              <a:alpha val="10000"/>
            </a:srgbClr>
          </a:solidFill>
          <a:ln/>
        </p:spPr>
      </p:sp>
      <p:sp>
        <p:nvSpPr>
          <p:cNvPr id="10" name="Text 7"/>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1" name="Title"/>
          <p:cNvSpPr/>
          <p:nvPr/>
        </p:nvSpPr>
        <p:spPr>
          <a:xfrm>
            <a:off x="761970" y="952530"/>
            <a:ext cx="7937541" cy="571500"/>
          </a:xfrm>
          <a:prstGeom prst="rect">
            <a:avLst/>
          </a:prstGeom>
          <a:noFill/>
          <a:ln/>
        </p:spPr>
        <p:txBody>
          <a:bodyPr wrap="square" lIns="0" tIns="0" rIns="0" bIns="0" rtlCol="0" anchor="t"/>
          <a:lstStyle/>
          <a:p>
            <a:pPr algn="l" indent="0" marL="0">
              <a:lnSpc>
                <a:spcPct val="100000"/>
              </a:lnSpc>
              <a:buNone/>
            </a:pPr>
            <a:r>
              <a:rPr lang="en-US" sz="3744" spc="-56" kern="0" dirty="0">
                <a:solidFill>
                  <a:srgbClr val="16181B"/>
                </a:solidFill>
                <a:latin typeface="Instrument Serif" pitchFamily="34" charset="0"/>
                <a:ea typeface="Instrument Serif" pitchFamily="34" charset="-122"/>
                <a:cs typeface="Instrument Serif" pitchFamily="34" charset="-120"/>
              </a:rPr>
              <a:t>The verdict is the invoice.</a:t>
            </a:r>
            <a:endParaRPr lang="en-US" sz="3744" dirty="0"/>
          </a:p>
        </p:txBody>
      </p:sp>
      <p:sp>
        <p:nvSpPr>
          <p:cNvPr id="12" name="Shape 10"/>
          <p:cNvSpPr/>
          <p:nvPr/>
        </p:nvSpPr>
        <p:spPr>
          <a:xfrm>
            <a:off x="761970" y="1790670"/>
            <a:ext cx="2247870" cy="254020"/>
          </a:xfrm>
          <a:prstGeom prst="roundRect">
            <a:avLst>
              <a:gd name="adj" fmla="val 50000"/>
            </a:avLst>
          </a:prstGeom>
          <a:solidFill>
            <a:srgbClr val="7A5CFF">
              <a:alpha val="16000"/>
            </a:srgbClr>
          </a:solidFill>
          <a:ln/>
        </p:spPr>
      </p:sp>
      <p:sp>
        <p:nvSpPr>
          <p:cNvPr id="13" name="Shape 11"/>
          <p:cNvSpPr/>
          <p:nvPr/>
        </p:nvSpPr>
        <p:spPr>
          <a:xfrm>
            <a:off x="888980" y="1885950"/>
            <a:ext cx="63459" cy="63459"/>
          </a:xfrm>
          <a:prstGeom prst="ellipse">
            <a:avLst/>
          </a:prstGeom>
          <a:solidFill>
            <a:srgbClr val="7A5CFF"/>
          </a:solidFill>
          <a:ln/>
        </p:spPr>
      </p:sp>
      <p:sp>
        <p:nvSpPr>
          <p:cNvPr id="14" name="Text 11"/>
          <p:cNvSpPr/>
          <p:nvPr/>
        </p:nvSpPr>
        <p:spPr>
          <a:xfrm>
            <a:off x="1003280" y="1841510"/>
            <a:ext cx="193039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TESTNET · BASE SEPOLIA</a:t>
            </a:r>
            <a:endParaRPr lang="en-US" sz="1000" dirty="0"/>
          </a:p>
        </p:txBody>
      </p:sp>
      <p:sp>
        <p:nvSpPr>
          <p:cNvPr id="15" name="Shape 13"/>
          <p:cNvSpPr/>
          <p:nvPr/>
        </p:nvSpPr>
        <p:spPr>
          <a:xfrm>
            <a:off x="3098810" y="1790670"/>
            <a:ext cx="2038380" cy="254020"/>
          </a:xfrm>
          <a:prstGeom prst="roundRect">
            <a:avLst>
              <a:gd name="adj" fmla="val 50000"/>
            </a:avLst>
          </a:prstGeom>
          <a:solidFill>
            <a:srgbClr val="FFFFFF"/>
          </a:solidFill>
          <a:ln w="12700">
            <a:solidFill>
              <a:srgbClr val="16181B">
                <a:alpha val="18000"/>
              </a:srgbClr>
            </a:solidFill>
            <a:prstDash val="solid"/>
          </a:ln>
        </p:spPr>
      </p:sp>
      <p:sp>
        <p:nvSpPr>
          <p:cNvPr id="16" name="Text 13"/>
          <p:cNvSpPr/>
          <p:nvPr/>
        </p:nvSpPr>
        <p:spPr>
          <a:xfrm>
            <a:off x="3098810" y="1841510"/>
            <a:ext cx="2038380" cy="177759"/>
          </a:xfrm>
          <a:prstGeom prst="rect">
            <a:avLst/>
          </a:prstGeom>
          <a:noFill/>
          <a:ln/>
        </p:spPr>
        <p:txBody>
          <a:bodyPr wrap="square" lIns="0" tIns="0" rIns="0" bIns="0" rtlCol="0" anchor="t"/>
          <a:lstStyle/>
          <a:p>
            <a:pPr algn="ctr"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0.05 USDC PER VERDICT</a:t>
            </a:r>
            <a:endParaRPr lang="en-US" sz="1000" dirty="0"/>
          </a:p>
        </p:txBody>
      </p:sp>
      <p:sp>
        <p:nvSpPr>
          <p:cNvPr id="17" name="Shape 15"/>
          <p:cNvSpPr/>
          <p:nvPr/>
        </p:nvSpPr>
        <p:spPr>
          <a:xfrm>
            <a:off x="761970" y="2413010"/>
            <a:ext cx="1714500" cy="1841510"/>
          </a:xfrm>
          <a:prstGeom prst="roundRect">
            <a:avLst>
              <a:gd name="adj" fmla="val 8891"/>
            </a:avLst>
          </a:prstGeom>
          <a:solidFill>
            <a:srgbClr val="FFFFFF"/>
          </a:solidFill>
          <a:ln w="12700">
            <a:solidFill>
              <a:srgbClr val="7A5CFF">
                <a:alpha val="30000"/>
              </a:srgbClr>
            </a:solidFill>
            <a:prstDash val="solid"/>
          </a:ln>
        </p:spPr>
      </p:sp>
      <p:sp>
        <p:nvSpPr>
          <p:cNvPr id="18" name="Shape 16"/>
          <p:cNvSpPr/>
          <p:nvPr/>
        </p:nvSpPr>
        <p:spPr>
          <a:xfrm>
            <a:off x="939820" y="2590770"/>
            <a:ext cx="304770" cy="38130"/>
          </a:xfrm>
          <a:prstGeom prst="roundRect">
            <a:avLst>
              <a:gd name="adj" fmla="val 49881"/>
            </a:avLst>
          </a:prstGeom>
          <a:solidFill>
            <a:srgbClr val="7A5CFF"/>
          </a:solidFill>
          <a:ln/>
        </p:spPr>
      </p:sp>
      <p:sp>
        <p:nvSpPr>
          <p:cNvPr id="19" name="Text 16"/>
          <p:cNvSpPr/>
          <p:nvPr/>
        </p:nvSpPr>
        <p:spPr>
          <a:xfrm>
            <a:off x="939820" y="2730490"/>
            <a:ext cx="1358890" cy="450891"/>
          </a:xfrm>
          <a:prstGeom prst="rect">
            <a:avLst/>
          </a:prstGeom>
          <a:noFill/>
          <a:ln/>
        </p:spPr>
        <p:txBody>
          <a:bodyPr wrap="square" lIns="0" tIns="0" rIns="0" bIns="0" rtlCol="0" anchor="t"/>
          <a:lstStyle/>
          <a:p>
            <a:pPr algn="l" indent="0" marL="0">
              <a:lnSpc>
                <a:spcPct val="110000"/>
              </a:lnSpc>
              <a:buNone/>
            </a:pPr>
            <a:r>
              <a:rPr lang="en-US" sz="2700" b="1" dirty="0">
                <a:solidFill>
                  <a:srgbClr val="16181B"/>
                </a:solidFill>
                <a:latin typeface="JetBrains Mono" pitchFamily="34" charset="0"/>
                <a:ea typeface="JetBrains Mono" pitchFamily="34" charset="-122"/>
                <a:cs typeface="JetBrains Mono" pitchFamily="34" charset="-120"/>
              </a:rPr>
              <a:t>402</a:t>
            </a:r>
            <a:endParaRPr lang="en-US" sz="2700" dirty="0"/>
          </a:p>
        </p:txBody>
      </p:sp>
      <p:sp>
        <p:nvSpPr>
          <p:cNvPr id="20" name="Text 17"/>
          <p:cNvSpPr/>
          <p:nvPr/>
        </p:nvSpPr>
        <p:spPr>
          <a:xfrm>
            <a:off x="939820" y="3251241"/>
            <a:ext cx="1358890" cy="704820"/>
          </a:xfrm>
          <a:prstGeom prst="rect">
            <a:avLst/>
          </a:prstGeom>
          <a:noFill/>
          <a:ln/>
        </p:spPr>
        <p:txBody>
          <a:bodyPr wrap="square" lIns="0" tIns="0" rIns="0" bIns="0" rtlCol="0" anchor="t"/>
          <a:lstStyle/>
          <a:p>
            <a:pPr algn="l" indent="0" marL="0">
              <a:lnSpc>
                <a:spcPct val="140000"/>
              </a:lnSpc>
              <a:buNone/>
            </a:pPr>
            <a:r>
              <a:rPr lang="en-US" sz="950" dirty="0">
                <a:solidFill>
                  <a:srgbClr val="4A4E55"/>
                </a:solidFill>
                <a:latin typeface="Inter" pitchFamily="34" charset="0"/>
                <a:ea typeface="Inter" pitchFamily="34" charset="-122"/>
                <a:cs typeface="Inter" pitchFamily="34" charset="-120"/>
              </a:rPr>
              <a:t>The server answers “Payment Required”: 0.05 USDC on Base Sepolia.</a:t>
            </a:r>
            <a:endParaRPr lang="en-US" sz="950" dirty="0"/>
          </a:p>
        </p:txBody>
      </p:sp>
      <p:sp>
        <p:nvSpPr>
          <p:cNvPr id="21" name="Shape 19"/>
          <p:cNvSpPr/>
          <p:nvPr/>
        </p:nvSpPr>
        <p:spPr>
          <a:xfrm>
            <a:off x="2508291" y="3282970"/>
            <a:ext cx="254020" cy="101590"/>
          </a:xfrm>
          <a:custGeom>
            <a:avLst/>
            <a:gdLst/>
            <a:ahLst/>
            <a:cxnLst/>
            <a:rect l="l" t="t" r="r" b="b"/>
            <a:pathLst>
              <a:path w="254020" h="101590">
                <a:moveTo>
                  <a:pt x="19020" y="50841"/>
                </a:moveTo>
                <a:lnTo>
                  <a:pt x="234909" y="50841"/>
                </a:lnTo>
                <a:moveTo>
                  <a:pt x="179040" y="81290"/>
                </a:moveTo>
                <a:lnTo>
                  <a:pt x="234909" y="50841"/>
                </a:lnTo>
                <a:lnTo>
                  <a:pt x="179040" y="20300"/>
                </a:lnTo>
              </a:path>
            </a:pathLst>
          </a:custGeom>
          <a:ln w="19050">
            <a:solidFill>
              <a:srgbClr val="7A5CFF"/>
            </a:solidFill>
            <a:prstDash val="solid"/>
          </a:ln>
        </p:spPr>
      </p:sp>
      <p:sp>
        <p:nvSpPr>
          <p:cNvPr id="22" name="Shape 20"/>
          <p:cNvSpPr/>
          <p:nvPr/>
        </p:nvSpPr>
        <p:spPr>
          <a:xfrm>
            <a:off x="2794041" y="2413010"/>
            <a:ext cx="1714500" cy="1841510"/>
          </a:xfrm>
          <a:prstGeom prst="roundRect">
            <a:avLst>
              <a:gd name="adj" fmla="val 8891"/>
            </a:avLst>
          </a:prstGeom>
          <a:solidFill>
            <a:srgbClr val="FFFFFF"/>
          </a:solidFill>
          <a:ln w="12700">
            <a:solidFill>
              <a:srgbClr val="7A5CFF">
                <a:alpha val="30000"/>
              </a:srgbClr>
            </a:solidFill>
            <a:prstDash val="solid"/>
          </a:ln>
        </p:spPr>
      </p:sp>
      <p:sp>
        <p:nvSpPr>
          <p:cNvPr id="23" name="Shape 21"/>
          <p:cNvSpPr/>
          <p:nvPr/>
        </p:nvSpPr>
        <p:spPr>
          <a:xfrm>
            <a:off x="2971800" y="2590770"/>
            <a:ext cx="304770" cy="38130"/>
          </a:xfrm>
          <a:prstGeom prst="roundRect">
            <a:avLst>
              <a:gd name="adj" fmla="val 49881"/>
            </a:avLst>
          </a:prstGeom>
          <a:solidFill>
            <a:srgbClr val="7A5CFF"/>
          </a:solidFill>
          <a:ln/>
        </p:spPr>
      </p:sp>
      <p:sp>
        <p:nvSpPr>
          <p:cNvPr id="24" name="Text 21"/>
          <p:cNvSpPr/>
          <p:nvPr/>
        </p:nvSpPr>
        <p:spPr>
          <a:xfrm>
            <a:off x="2971800" y="2730490"/>
            <a:ext cx="1358890" cy="450891"/>
          </a:xfrm>
          <a:prstGeom prst="rect">
            <a:avLst/>
          </a:prstGeom>
          <a:noFill/>
          <a:ln/>
        </p:spPr>
        <p:txBody>
          <a:bodyPr wrap="square" lIns="0" tIns="0" rIns="0" bIns="0" rtlCol="0" anchor="t"/>
          <a:lstStyle/>
          <a:p>
            <a:pPr algn="l" indent="0" marL="0">
              <a:lnSpc>
                <a:spcPct val="110000"/>
              </a:lnSpc>
              <a:buNone/>
            </a:pPr>
            <a:r>
              <a:rPr lang="en-US" sz="2700" b="1" dirty="0">
                <a:solidFill>
                  <a:srgbClr val="16181B"/>
                </a:solidFill>
                <a:latin typeface="JetBrains Mono" pitchFamily="34" charset="0"/>
                <a:ea typeface="JetBrains Mono" pitchFamily="34" charset="-122"/>
                <a:cs typeface="JetBrains Mono" pitchFamily="34" charset="-120"/>
              </a:rPr>
              <a:t>sign</a:t>
            </a:r>
            <a:endParaRPr lang="en-US" sz="2700" dirty="0"/>
          </a:p>
        </p:txBody>
      </p:sp>
      <p:sp>
        <p:nvSpPr>
          <p:cNvPr id="25" name="Text 22"/>
          <p:cNvSpPr/>
          <p:nvPr/>
        </p:nvSpPr>
        <p:spPr>
          <a:xfrm>
            <a:off x="2971800" y="3251241"/>
            <a:ext cx="1358890" cy="869960"/>
          </a:xfrm>
          <a:prstGeom prst="rect">
            <a:avLst/>
          </a:prstGeom>
          <a:noFill/>
          <a:ln/>
        </p:spPr>
        <p:txBody>
          <a:bodyPr wrap="square" lIns="0" tIns="0" rIns="0" bIns="0" rtlCol="0" anchor="t"/>
          <a:lstStyle/>
          <a:p>
            <a:pPr algn="l" indent="0" marL="0">
              <a:lnSpc>
                <a:spcPct val="140000"/>
              </a:lnSpc>
              <a:buNone/>
            </a:pPr>
            <a:r>
              <a:rPr lang="en-US" sz="950" dirty="0">
                <a:solidFill>
                  <a:srgbClr val="4A4E55"/>
                </a:solidFill>
                <a:latin typeface="Inter" pitchFamily="34" charset="0"/>
                <a:ea typeface="Inter" pitchFamily="34" charset="-122"/>
                <a:cs typeface="Inter" pitchFamily="34" charset="-120"/>
              </a:rPr>
              <a:t>The buyer’s wallet signs that exact payment; over its spend cap, it refuses.</a:t>
            </a:r>
            <a:endParaRPr lang="en-US" sz="950" dirty="0"/>
          </a:p>
        </p:txBody>
      </p:sp>
      <p:sp>
        <p:nvSpPr>
          <p:cNvPr id="26" name="Shape 24"/>
          <p:cNvSpPr/>
          <p:nvPr/>
        </p:nvSpPr>
        <p:spPr>
          <a:xfrm>
            <a:off x="4540270" y="3282970"/>
            <a:ext cx="254020" cy="101590"/>
          </a:xfrm>
          <a:custGeom>
            <a:avLst/>
            <a:gdLst/>
            <a:ahLst/>
            <a:cxnLst/>
            <a:rect l="l" t="t" r="r" b="b"/>
            <a:pathLst>
              <a:path w="254020" h="101590">
                <a:moveTo>
                  <a:pt x="19020" y="50841"/>
                </a:moveTo>
                <a:lnTo>
                  <a:pt x="234909" y="50841"/>
                </a:lnTo>
                <a:moveTo>
                  <a:pt x="179040" y="81290"/>
                </a:moveTo>
                <a:lnTo>
                  <a:pt x="234909" y="50841"/>
                </a:lnTo>
                <a:lnTo>
                  <a:pt x="179040" y="20300"/>
                </a:lnTo>
              </a:path>
            </a:pathLst>
          </a:custGeom>
          <a:ln w="19050">
            <a:solidFill>
              <a:srgbClr val="7A5CFF"/>
            </a:solidFill>
            <a:prstDash val="solid"/>
          </a:ln>
        </p:spPr>
      </p:sp>
      <p:sp>
        <p:nvSpPr>
          <p:cNvPr id="27" name="Shape 25"/>
          <p:cNvSpPr/>
          <p:nvPr/>
        </p:nvSpPr>
        <p:spPr>
          <a:xfrm>
            <a:off x="4826020" y="2413010"/>
            <a:ext cx="1714500" cy="1841510"/>
          </a:xfrm>
          <a:prstGeom prst="roundRect">
            <a:avLst>
              <a:gd name="adj" fmla="val 8891"/>
            </a:avLst>
          </a:prstGeom>
          <a:solidFill>
            <a:srgbClr val="FFFFFF"/>
          </a:solidFill>
          <a:ln w="12700">
            <a:solidFill>
              <a:srgbClr val="7A5CFF">
                <a:alpha val="30000"/>
              </a:srgbClr>
            </a:solidFill>
            <a:prstDash val="solid"/>
          </a:ln>
        </p:spPr>
      </p:sp>
      <p:sp>
        <p:nvSpPr>
          <p:cNvPr id="28" name="Shape 26"/>
          <p:cNvSpPr/>
          <p:nvPr/>
        </p:nvSpPr>
        <p:spPr>
          <a:xfrm>
            <a:off x="5003780" y="2590770"/>
            <a:ext cx="304770" cy="38130"/>
          </a:xfrm>
          <a:prstGeom prst="roundRect">
            <a:avLst>
              <a:gd name="adj" fmla="val 49881"/>
            </a:avLst>
          </a:prstGeom>
          <a:solidFill>
            <a:srgbClr val="7A5CFF"/>
          </a:solidFill>
          <a:ln/>
        </p:spPr>
      </p:sp>
      <p:sp>
        <p:nvSpPr>
          <p:cNvPr id="29" name="Text 26"/>
          <p:cNvSpPr/>
          <p:nvPr/>
        </p:nvSpPr>
        <p:spPr>
          <a:xfrm>
            <a:off x="5003780" y="2730490"/>
            <a:ext cx="1358890" cy="450891"/>
          </a:xfrm>
          <a:prstGeom prst="rect">
            <a:avLst/>
          </a:prstGeom>
          <a:noFill/>
          <a:ln/>
        </p:spPr>
        <p:txBody>
          <a:bodyPr wrap="square" lIns="0" tIns="0" rIns="0" bIns="0" rtlCol="0" anchor="t"/>
          <a:lstStyle/>
          <a:p>
            <a:pPr algn="l" indent="0" marL="0">
              <a:lnSpc>
                <a:spcPct val="110000"/>
              </a:lnSpc>
              <a:buNone/>
            </a:pPr>
            <a:r>
              <a:rPr lang="en-US" sz="2700" b="1" dirty="0">
                <a:solidFill>
                  <a:srgbClr val="16181B"/>
                </a:solidFill>
                <a:latin typeface="JetBrains Mono" pitchFamily="34" charset="0"/>
                <a:ea typeface="JetBrains Mono" pitchFamily="34" charset="-122"/>
                <a:cs typeface="JetBrains Mono" pitchFamily="34" charset="-120"/>
              </a:rPr>
              <a:t>settle</a:t>
            </a:r>
            <a:endParaRPr lang="en-US" sz="2700" dirty="0"/>
          </a:p>
        </p:txBody>
      </p:sp>
      <p:sp>
        <p:nvSpPr>
          <p:cNvPr id="30" name="Text 27"/>
          <p:cNvSpPr/>
          <p:nvPr/>
        </p:nvSpPr>
        <p:spPr>
          <a:xfrm>
            <a:off x="5003780" y="3251241"/>
            <a:ext cx="1358890" cy="704820"/>
          </a:xfrm>
          <a:prstGeom prst="rect">
            <a:avLst/>
          </a:prstGeom>
          <a:noFill/>
          <a:ln/>
        </p:spPr>
        <p:txBody>
          <a:bodyPr wrap="square" lIns="0" tIns="0" rIns="0" bIns="0" rtlCol="0" anchor="t"/>
          <a:lstStyle/>
          <a:p>
            <a:pPr algn="l" indent="0" marL="0">
              <a:lnSpc>
                <a:spcPct val="140000"/>
              </a:lnSpc>
              <a:buNone/>
            </a:pPr>
            <a:r>
              <a:rPr lang="en-US" sz="950" dirty="0">
                <a:solidFill>
                  <a:srgbClr val="4A4E55"/>
                </a:solidFill>
                <a:latin typeface="Inter" pitchFamily="34" charset="0"/>
                <a:ea typeface="Inter" pitchFamily="34" charset="-122"/>
                <a:cs typeface="Inter" pitchFamily="34" charset="-120"/>
              </a:rPr>
              <a:t>The facilitator settles it on Base Sepolia. TESTNET USDC only.</a:t>
            </a:r>
            <a:endParaRPr lang="en-US" sz="950" dirty="0"/>
          </a:p>
        </p:txBody>
      </p:sp>
      <p:sp>
        <p:nvSpPr>
          <p:cNvPr id="31" name="Shape 29"/>
          <p:cNvSpPr/>
          <p:nvPr/>
        </p:nvSpPr>
        <p:spPr>
          <a:xfrm>
            <a:off x="6572250" y="3282970"/>
            <a:ext cx="254020" cy="101590"/>
          </a:xfrm>
          <a:custGeom>
            <a:avLst/>
            <a:gdLst/>
            <a:ahLst/>
            <a:cxnLst/>
            <a:rect l="l" t="t" r="r" b="b"/>
            <a:pathLst>
              <a:path w="254020" h="101590">
                <a:moveTo>
                  <a:pt x="19020" y="50841"/>
                </a:moveTo>
                <a:lnTo>
                  <a:pt x="234909" y="50841"/>
                </a:lnTo>
                <a:moveTo>
                  <a:pt x="179040" y="81290"/>
                </a:moveTo>
                <a:lnTo>
                  <a:pt x="234909" y="50841"/>
                </a:lnTo>
                <a:lnTo>
                  <a:pt x="179040" y="20300"/>
                </a:lnTo>
              </a:path>
            </a:pathLst>
          </a:custGeom>
          <a:ln w="19050">
            <a:solidFill>
              <a:srgbClr val="7A5CFF"/>
            </a:solidFill>
            <a:prstDash val="solid"/>
          </a:ln>
        </p:spPr>
      </p:sp>
      <p:sp>
        <p:nvSpPr>
          <p:cNvPr id="32" name="Shape 30"/>
          <p:cNvSpPr/>
          <p:nvPr/>
        </p:nvSpPr>
        <p:spPr>
          <a:xfrm>
            <a:off x="6858000" y="2413010"/>
            <a:ext cx="1714500" cy="1841510"/>
          </a:xfrm>
          <a:prstGeom prst="roundRect">
            <a:avLst>
              <a:gd name="adj" fmla="val 8891"/>
            </a:avLst>
          </a:prstGeom>
          <a:solidFill>
            <a:srgbClr val="FFFFFF"/>
          </a:solidFill>
          <a:ln w="12700">
            <a:solidFill>
              <a:srgbClr val="7A5CFF">
                <a:alpha val="30000"/>
              </a:srgbClr>
            </a:solidFill>
            <a:prstDash val="solid"/>
          </a:ln>
        </p:spPr>
      </p:sp>
      <p:sp>
        <p:nvSpPr>
          <p:cNvPr id="33" name="Shape 31"/>
          <p:cNvSpPr/>
          <p:nvPr/>
        </p:nvSpPr>
        <p:spPr>
          <a:xfrm>
            <a:off x="7035759" y="2590770"/>
            <a:ext cx="304770" cy="38130"/>
          </a:xfrm>
          <a:prstGeom prst="roundRect">
            <a:avLst>
              <a:gd name="adj" fmla="val 49881"/>
            </a:avLst>
          </a:prstGeom>
          <a:solidFill>
            <a:srgbClr val="7A5CFF"/>
          </a:solidFill>
          <a:ln/>
        </p:spPr>
      </p:sp>
      <p:sp>
        <p:nvSpPr>
          <p:cNvPr id="34" name="Text 31"/>
          <p:cNvSpPr/>
          <p:nvPr/>
        </p:nvSpPr>
        <p:spPr>
          <a:xfrm>
            <a:off x="7035759" y="2730490"/>
            <a:ext cx="1358890" cy="450891"/>
          </a:xfrm>
          <a:prstGeom prst="rect">
            <a:avLst/>
          </a:prstGeom>
          <a:noFill/>
          <a:ln/>
        </p:spPr>
        <p:txBody>
          <a:bodyPr wrap="square" lIns="0" tIns="0" rIns="0" bIns="0" rtlCol="0" anchor="t"/>
          <a:lstStyle/>
          <a:p>
            <a:pPr algn="l" indent="0" marL="0">
              <a:lnSpc>
                <a:spcPct val="110000"/>
              </a:lnSpc>
              <a:buNone/>
            </a:pPr>
            <a:r>
              <a:rPr lang="en-US" sz="2700" b="1" dirty="0">
                <a:solidFill>
                  <a:srgbClr val="16181B"/>
                </a:solidFill>
                <a:latin typeface="JetBrains Mono" pitchFamily="34" charset="0"/>
                <a:ea typeface="JetBrains Mono" pitchFamily="34" charset="-122"/>
                <a:cs typeface="JetBrains Mono" pitchFamily="34" charset="-120"/>
              </a:rPr>
              <a:t>200</a:t>
            </a:r>
            <a:endParaRPr lang="en-US" sz="2700" dirty="0"/>
          </a:p>
        </p:txBody>
      </p:sp>
      <p:sp>
        <p:nvSpPr>
          <p:cNvPr id="35" name="Text 32"/>
          <p:cNvSpPr/>
          <p:nvPr/>
        </p:nvSpPr>
        <p:spPr>
          <a:xfrm>
            <a:off x="7035759" y="3251241"/>
            <a:ext cx="1358890" cy="704820"/>
          </a:xfrm>
          <a:prstGeom prst="rect">
            <a:avLst/>
          </a:prstGeom>
          <a:noFill/>
          <a:ln/>
        </p:spPr>
        <p:txBody>
          <a:bodyPr wrap="square" lIns="0" tIns="0" rIns="0" bIns="0" rtlCol="0" anchor="t"/>
          <a:lstStyle/>
          <a:p>
            <a:pPr algn="l" indent="0" marL="0">
              <a:lnSpc>
                <a:spcPct val="140000"/>
              </a:lnSpc>
              <a:buNone/>
            </a:pPr>
            <a:r>
              <a:rPr lang="en-US" sz="950" dirty="0">
                <a:solidFill>
                  <a:srgbClr val="4A4E55"/>
                </a:solidFill>
                <a:latin typeface="Inter" pitchFamily="34" charset="0"/>
                <a:ea typeface="Inter" pitchFamily="34" charset="-122"/>
                <a:cs typeface="Inter" pitchFamily="34" charset="-120"/>
              </a:rPr>
              <a:t>The server answers with the verdict and the rule id that fired.</a:t>
            </a:r>
            <a:endParaRPr lang="en-US" sz="950" dirty="0"/>
          </a:p>
        </p:txBody>
      </p:sp>
      <p:sp>
        <p:nvSpPr>
          <p:cNvPr id="36" name="Shape 34"/>
          <p:cNvSpPr/>
          <p:nvPr/>
        </p:nvSpPr>
        <p:spPr>
          <a:xfrm>
            <a:off x="761970" y="4610130"/>
            <a:ext cx="38130" cy="952530"/>
          </a:xfrm>
          <a:prstGeom prst="roundRect">
            <a:avLst>
              <a:gd name="adj" fmla="val 49881"/>
            </a:avLst>
          </a:prstGeom>
          <a:solidFill>
            <a:srgbClr val="7A5CFF"/>
          </a:solidFill>
          <a:ln/>
        </p:spPr>
      </p:sp>
      <p:sp>
        <p:nvSpPr>
          <p:cNvPr id="37" name="Text 34"/>
          <p:cNvSpPr/>
          <p:nvPr/>
        </p:nvSpPr>
        <p:spPr>
          <a:xfrm>
            <a:off x="939820" y="4610130"/>
            <a:ext cx="2286000" cy="18416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JetBrains Mono" pitchFamily="34" charset="0"/>
                <a:ea typeface="JetBrains Mono" pitchFamily="34" charset="-122"/>
                <a:cs typeface="JetBrains Mono" pitchFamily="34" charset="-120"/>
              </a:rPr>
              <a:t>01</a:t>
            </a:r>
            <a:endParaRPr lang="en-US" sz="900" dirty="0"/>
          </a:p>
        </p:txBody>
      </p:sp>
      <p:sp>
        <p:nvSpPr>
          <p:cNvPr id="38" name="Text 35"/>
          <p:cNvSpPr/>
          <p:nvPr/>
        </p:nvSpPr>
        <p:spPr>
          <a:xfrm>
            <a:off x="939820" y="4800600"/>
            <a:ext cx="2286000" cy="266730"/>
          </a:xfrm>
          <a:prstGeom prst="rect">
            <a:avLst/>
          </a:prstGeom>
          <a:noFill/>
          <a:ln/>
        </p:spPr>
        <p:txBody>
          <a:bodyPr wrap="square" lIns="0" tIns="0" rIns="0" bIns="0" rtlCol="0" anchor="t"/>
          <a:lstStyle/>
          <a:p>
            <a:pPr algn="l" indent="0" marL="0">
              <a:lnSpc>
                <a:spcPct val="120000"/>
              </a:lnSpc>
              <a:buNone/>
            </a:pPr>
            <a:r>
              <a:rPr lang="en-US" sz="1500" b="1" dirty="0">
                <a:solidFill>
                  <a:srgbClr val="16181B"/>
                </a:solidFill>
                <a:latin typeface="Inter" pitchFamily="34" charset="0"/>
                <a:ea typeface="Inter" pitchFamily="34" charset="-122"/>
                <a:cs typeface="Inter" pitchFamily="34" charset="-120"/>
              </a:rPr>
              <a:t>Pay</a:t>
            </a:r>
            <a:endParaRPr lang="en-US" sz="1500" dirty="0"/>
          </a:p>
        </p:txBody>
      </p:sp>
      <p:sp>
        <p:nvSpPr>
          <p:cNvPr id="39" name="Text 36"/>
          <p:cNvSpPr/>
          <p:nvPr/>
        </p:nvSpPr>
        <p:spPr>
          <a:xfrm>
            <a:off x="939820" y="5080041"/>
            <a:ext cx="2349459" cy="40005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Escrow → supplier in USDC, only after PASS and a pharmacist’s tap.</a:t>
            </a:r>
            <a:endParaRPr lang="en-US" sz="1050" dirty="0"/>
          </a:p>
        </p:txBody>
      </p:sp>
      <p:sp>
        <p:nvSpPr>
          <p:cNvPr id="40" name="Shape 38"/>
          <p:cNvSpPr/>
          <p:nvPr/>
        </p:nvSpPr>
        <p:spPr>
          <a:xfrm>
            <a:off x="3492459" y="4610130"/>
            <a:ext cx="38130" cy="952530"/>
          </a:xfrm>
          <a:prstGeom prst="roundRect">
            <a:avLst>
              <a:gd name="adj" fmla="val 49881"/>
            </a:avLst>
          </a:prstGeom>
          <a:solidFill>
            <a:srgbClr val="7A5CFF"/>
          </a:solidFill>
          <a:ln/>
        </p:spPr>
      </p:sp>
      <p:sp>
        <p:nvSpPr>
          <p:cNvPr id="41" name="Text 38"/>
          <p:cNvSpPr/>
          <p:nvPr/>
        </p:nvSpPr>
        <p:spPr>
          <a:xfrm>
            <a:off x="3670310" y="4610130"/>
            <a:ext cx="2286000" cy="18416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JetBrains Mono" pitchFamily="34" charset="0"/>
                <a:ea typeface="JetBrains Mono" pitchFamily="34" charset="-122"/>
                <a:cs typeface="JetBrains Mono" pitchFamily="34" charset="-120"/>
              </a:rPr>
              <a:t>02</a:t>
            </a:r>
            <a:endParaRPr lang="en-US" sz="900" dirty="0"/>
          </a:p>
        </p:txBody>
      </p:sp>
      <p:sp>
        <p:nvSpPr>
          <p:cNvPr id="42" name="Text 39"/>
          <p:cNvSpPr/>
          <p:nvPr/>
        </p:nvSpPr>
        <p:spPr>
          <a:xfrm>
            <a:off x="3670310" y="4800600"/>
            <a:ext cx="2286000" cy="266730"/>
          </a:xfrm>
          <a:prstGeom prst="rect">
            <a:avLst/>
          </a:prstGeom>
          <a:noFill/>
          <a:ln/>
        </p:spPr>
        <p:txBody>
          <a:bodyPr wrap="square" lIns="0" tIns="0" rIns="0" bIns="0" rtlCol="0" anchor="t"/>
          <a:lstStyle/>
          <a:p>
            <a:pPr algn="l" indent="0" marL="0">
              <a:lnSpc>
                <a:spcPct val="120000"/>
              </a:lnSpc>
              <a:buNone/>
            </a:pPr>
            <a:r>
              <a:rPr lang="en-US" sz="1500" b="1" dirty="0">
                <a:solidFill>
                  <a:srgbClr val="16181B"/>
                </a:solidFill>
                <a:latin typeface="Inter" pitchFamily="34" charset="0"/>
                <a:ea typeface="Inter" pitchFamily="34" charset="-122"/>
                <a:cs typeface="Inter" pitchFamily="34" charset="-120"/>
              </a:rPr>
              <a:t>Buy</a:t>
            </a:r>
            <a:endParaRPr lang="en-US" sz="1500" dirty="0"/>
          </a:p>
        </p:txBody>
      </p:sp>
      <p:sp>
        <p:nvSpPr>
          <p:cNvPr id="43" name="Text 40"/>
          <p:cNvSpPr/>
          <p:nvPr/>
        </p:nvSpPr>
        <p:spPr>
          <a:xfrm>
            <a:off x="3670310" y="5080041"/>
            <a:ext cx="2349459" cy="59052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No local reference? Buy a verdict from another station over x402, capped per day.</a:t>
            </a:r>
            <a:endParaRPr lang="en-US" sz="1050" dirty="0"/>
          </a:p>
        </p:txBody>
      </p:sp>
      <p:sp>
        <p:nvSpPr>
          <p:cNvPr id="44" name="Shape 42"/>
          <p:cNvSpPr/>
          <p:nvPr/>
        </p:nvSpPr>
        <p:spPr>
          <a:xfrm>
            <a:off x="6223041" y="4610130"/>
            <a:ext cx="38130" cy="952530"/>
          </a:xfrm>
          <a:prstGeom prst="roundRect">
            <a:avLst>
              <a:gd name="adj" fmla="val 49881"/>
            </a:avLst>
          </a:prstGeom>
          <a:solidFill>
            <a:srgbClr val="7A5CFF"/>
          </a:solidFill>
          <a:ln/>
        </p:spPr>
      </p:sp>
      <p:sp>
        <p:nvSpPr>
          <p:cNvPr id="45" name="Text 42"/>
          <p:cNvSpPr/>
          <p:nvPr/>
        </p:nvSpPr>
        <p:spPr>
          <a:xfrm>
            <a:off x="6400800" y="4610130"/>
            <a:ext cx="2286000" cy="18416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JetBrains Mono" pitchFamily="34" charset="0"/>
                <a:ea typeface="JetBrains Mono" pitchFamily="34" charset="-122"/>
                <a:cs typeface="JetBrains Mono" pitchFamily="34" charset="-120"/>
              </a:rPr>
              <a:t>03</a:t>
            </a:r>
            <a:endParaRPr lang="en-US" sz="900" dirty="0"/>
          </a:p>
        </p:txBody>
      </p:sp>
      <p:sp>
        <p:nvSpPr>
          <p:cNvPr id="46" name="Text 43"/>
          <p:cNvSpPr/>
          <p:nvPr/>
        </p:nvSpPr>
        <p:spPr>
          <a:xfrm>
            <a:off x="6400800" y="4800600"/>
            <a:ext cx="2286000" cy="266730"/>
          </a:xfrm>
          <a:prstGeom prst="rect">
            <a:avLst/>
          </a:prstGeom>
          <a:noFill/>
          <a:ln/>
        </p:spPr>
        <p:txBody>
          <a:bodyPr wrap="square" lIns="0" tIns="0" rIns="0" bIns="0" rtlCol="0" anchor="t"/>
          <a:lstStyle/>
          <a:p>
            <a:pPr algn="l" indent="0" marL="0">
              <a:lnSpc>
                <a:spcPct val="120000"/>
              </a:lnSpc>
              <a:buNone/>
            </a:pPr>
            <a:r>
              <a:rPr lang="en-US" sz="1500" b="1" dirty="0">
                <a:solidFill>
                  <a:srgbClr val="16181B"/>
                </a:solidFill>
                <a:latin typeface="Inter" pitchFamily="34" charset="0"/>
                <a:ea typeface="Inter" pitchFamily="34" charset="-122"/>
                <a:cs typeface="Inter" pitchFamily="34" charset="-120"/>
              </a:rPr>
              <a:t>Earn</a:t>
            </a:r>
            <a:endParaRPr lang="en-US" sz="1500" dirty="0"/>
          </a:p>
        </p:txBody>
      </p:sp>
      <p:sp>
        <p:nvSpPr>
          <p:cNvPr id="47" name="Text 44"/>
          <p:cNvSpPr/>
          <p:nvPr/>
        </p:nvSpPr>
        <p:spPr>
          <a:xfrm>
            <a:off x="6400800" y="5080041"/>
            <a:ext cx="2349459" cy="40005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Every station can sell /verify to other clinics.</a:t>
            </a:r>
            <a:endParaRPr lang="en-US" sz="1050" dirty="0"/>
          </a:p>
        </p:txBody>
      </p:sp>
      <p:sp>
        <p:nvSpPr>
          <p:cNvPr id="48" name="Shape 46"/>
          <p:cNvSpPr/>
          <p:nvPr/>
        </p:nvSpPr>
        <p:spPr>
          <a:xfrm>
            <a:off x="9207459" y="952530"/>
            <a:ext cx="2222541" cy="5080041"/>
          </a:xfrm>
          <a:prstGeom prst="roundRect">
            <a:avLst>
              <a:gd name="adj" fmla="val 13141"/>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49" name="Image 0" descr="Coinbase: app-upgrade-b-verify-390-390c">    </p:cNvPr>
          <p:cNvPicPr>
            <a:picLocks noChangeAspect="1"/>
          </p:cNvPicPr>
          <p:nvPr/>
        </p:nvPicPr>
        <p:blipFill>
          <a:blip r:embed="rId1"/>
          <a:stretch>
            <a:fillRect/>
          </a:stretch>
        </p:blipFill>
        <p:spPr>
          <a:xfrm>
            <a:off x="9271010" y="1015990"/>
            <a:ext cx="2095530" cy="4953030"/>
          </a:xfrm>
          <a:prstGeom prst="rect">
            <a:avLst/>
          </a:prstGeom>
        </p:spPr>
      </p:pic>
      <p:sp>
        <p:nvSpPr>
          <p:cNvPr id="50" name="Text 47"/>
          <p:cNvSpPr/>
          <p:nvPr/>
        </p:nvSpPr>
        <p:spPr>
          <a:xfrm>
            <a:off x="9207459" y="6108741"/>
            <a:ext cx="2222541" cy="165141"/>
          </a:xfrm>
          <a:prstGeom prst="rect">
            <a:avLst/>
          </a:prstGeom>
          <a:noFill/>
          <a:ln/>
        </p:spPr>
        <p:txBody>
          <a:bodyPr wrap="square" lIns="0" tIns="0" rIns="0" bIns="0" rtlCol="0" anchor="t"/>
          <a:lstStyle/>
          <a:p>
            <a:pPr algn="ctr" indent="0" marL="0">
              <a:lnSpc>
                <a:spcPct val="140000"/>
              </a:lnSpc>
              <a:buNone/>
            </a:pPr>
            <a:r>
              <a:rPr lang="en-US" sz="800" dirty="0">
                <a:solidFill>
                  <a:srgbClr val="7C8188"/>
                </a:solidFill>
                <a:latin typeface="JetBrains Mono" pitchFamily="34" charset="0"/>
                <a:ea typeface="JetBrains Mono" pitchFamily="34" charset="-122"/>
                <a:cs typeface="JetBrains Mono" pitchFamily="34" charset="-120"/>
              </a:rPr>
              <a:t>app · /verify over x402</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THE APP</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09 / 20</a:t>
            </a:r>
            <a:endParaRPr lang="en-US" sz="900" dirty="0"/>
          </a:p>
        </p:txBody>
      </p:sp>
      <p:sp>
        <p:nvSpPr>
          <p:cNvPr id="8" name="Title"/>
          <p:cNvSpPr/>
          <p:nvPr/>
        </p:nvSpPr>
        <p:spPr>
          <a:xfrm>
            <a:off x="761970" y="812810"/>
            <a:ext cx="6985010" cy="374630"/>
          </a:xfrm>
          <a:prstGeom prst="rect">
            <a:avLst/>
          </a:prstGeom>
          <a:noFill/>
          <a:ln/>
        </p:spPr>
        <p:txBody>
          <a:bodyPr wrap="square" lIns="0" tIns="0" rIns="0" bIns="0" rtlCol="0" anchor="t"/>
          <a:lstStyle/>
          <a:p>
            <a:pPr algn="l" indent="0" marL="0">
              <a:lnSpc>
                <a:spcPct val="100000"/>
              </a:lnSpc>
              <a:buNone/>
            </a:pPr>
            <a:r>
              <a:rPr lang="en-US" sz="2432" spc="-36" kern="0" dirty="0">
                <a:solidFill>
                  <a:srgbClr val="16181B"/>
                </a:solidFill>
                <a:latin typeface="Instrument Serif" pitchFamily="34" charset="0"/>
                <a:ea typeface="Instrument Serif" pitchFamily="34" charset="-122"/>
                <a:cs typeface="Instrument Serif" pitchFamily="34" charset="-120"/>
              </a:rPr>
              <a:t>One app: the touchscreen and the phone.</a:t>
            </a:r>
            <a:endParaRPr lang="en-US" sz="2432" dirty="0"/>
          </a:p>
        </p:txBody>
      </p:sp>
      <p:sp>
        <p:nvSpPr>
          <p:cNvPr id="9" name="Text 6"/>
          <p:cNvSpPr/>
          <p:nvPr/>
        </p:nvSpPr>
        <p:spPr>
          <a:xfrm>
            <a:off x="7937541" y="812810"/>
            <a:ext cx="3492459" cy="533370"/>
          </a:xfrm>
          <a:prstGeom prst="rect">
            <a:avLst/>
          </a:prstGeom>
          <a:noFill/>
          <a:ln/>
        </p:spPr>
        <p:txBody>
          <a:bodyPr wrap="square" lIns="0" tIns="0" rIns="0" bIns="0" rtlCol="0" anchor="t"/>
          <a:lstStyle/>
          <a:p>
            <a:pPr algn="l" indent="0" marL="0">
              <a:lnSpc>
                <a:spcPct val="140000"/>
              </a:lnSpc>
              <a:buNone/>
            </a:pPr>
            <a:r>
              <a:rPr lang="en-US" sz="950" dirty="0">
                <a:solidFill>
                  <a:srgbClr val="4A4E55"/>
                </a:solidFill>
                <a:latin typeface="Inter" pitchFamily="34" charset="0"/>
                <a:ea typeface="Inter" pitchFamily="34" charset="-122"/>
                <a:cs typeface="Inter" pitchFamily="34" charset="-120"/>
              </a:rPr>
              <a:t>20 routes in React. All 296 app screenshots go into the Design file, one frame each, labelled with their route. These twelve are the newest pass.</a:t>
            </a:r>
            <a:endParaRPr lang="en-US" sz="950" dirty="0"/>
          </a:p>
        </p:txBody>
      </p:sp>
      <p:sp>
        <p:nvSpPr>
          <p:cNvPr id="10" name="Shape 8"/>
          <p:cNvSpPr/>
          <p:nvPr/>
        </p:nvSpPr>
        <p:spPr>
          <a:xfrm>
            <a:off x="761970" y="149861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11" name="Image 0" descr="App screens: app-upgrade-a-onboarding-390-390c">    </p:cNvPr>
          <p:cNvPicPr>
            <a:picLocks noChangeAspect="1"/>
          </p:cNvPicPr>
          <p:nvPr/>
        </p:nvPicPr>
        <p:blipFill>
          <a:blip r:embed="rId1"/>
          <a:stretch>
            <a:fillRect/>
          </a:stretch>
        </p:blipFill>
        <p:spPr>
          <a:xfrm>
            <a:off x="806409" y="1543050"/>
            <a:ext cx="1524030" cy="2146280"/>
          </a:xfrm>
          <a:prstGeom prst="rect">
            <a:avLst/>
          </a:prstGeom>
        </p:spPr>
      </p:pic>
      <p:sp>
        <p:nvSpPr>
          <p:cNvPr id="12" name="Text 9"/>
          <p:cNvSpPr/>
          <p:nvPr/>
        </p:nvSpPr>
        <p:spPr>
          <a:xfrm>
            <a:off x="761970" y="379732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welcome</a:t>
            </a:r>
            <a:endParaRPr lang="en-US" sz="800" dirty="0"/>
          </a:p>
        </p:txBody>
      </p:sp>
      <p:sp>
        <p:nvSpPr>
          <p:cNvPr id="13" name="Shape 10"/>
          <p:cNvSpPr/>
          <p:nvPr/>
        </p:nvSpPr>
        <p:spPr>
          <a:xfrm>
            <a:off x="2571750" y="149861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14" name="Image 1" descr="App screens: app-upgrade-b-bottle-390-390c">    </p:cNvPr>
          <p:cNvPicPr>
            <a:picLocks noChangeAspect="1"/>
          </p:cNvPicPr>
          <p:nvPr/>
        </p:nvPicPr>
        <p:blipFill>
          <a:blip r:embed="rId2"/>
          <a:stretch>
            <a:fillRect/>
          </a:stretch>
        </p:blipFill>
        <p:spPr>
          <a:xfrm>
            <a:off x="2616190" y="1543050"/>
            <a:ext cx="1524030" cy="2146280"/>
          </a:xfrm>
          <a:prstGeom prst="rect">
            <a:avLst/>
          </a:prstGeom>
        </p:spPr>
      </p:pic>
      <p:sp>
        <p:nvSpPr>
          <p:cNvPr id="15" name="Text 12"/>
          <p:cNvSpPr/>
          <p:nvPr/>
        </p:nvSpPr>
        <p:spPr>
          <a:xfrm>
            <a:off x="2571750" y="379732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bottle</a:t>
            </a:r>
            <a:endParaRPr lang="en-US" sz="800" dirty="0"/>
          </a:p>
        </p:txBody>
      </p:sp>
      <p:sp>
        <p:nvSpPr>
          <p:cNvPr id="16" name="Shape 12"/>
          <p:cNvSpPr/>
          <p:nvPr/>
        </p:nvSpPr>
        <p:spPr>
          <a:xfrm>
            <a:off x="4381530" y="149861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17" name="Image 2" descr="App screens: app-upgrade-b-place-390-390c">    </p:cNvPr>
          <p:cNvPicPr>
            <a:picLocks noChangeAspect="1"/>
          </p:cNvPicPr>
          <p:nvPr/>
        </p:nvPicPr>
        <p:blipFill>
          <a:blip r:embed="rId3"/>
          <a:stretch>
            <a:fillRect/>
          </a:stretch>
        </p:blipFill>
        <p:spPr>
          <a:xfrm>
            <a:off x="4425970" y="1543050"/>
            <a:ext cx="1524030" cy="2146280"/>
          </a:xfrm>
          <a:prstGeom prst="rect">
            <a:avLst/>
          </a:prstGeom>
        </p:spPr>
      </p:pic>
      <p:sp>
        <p:nvSpPr>
          <p:cNvPr id="18" name="Text 15"/>
          <p:cNvSpPr/>
          <p:nvPr/>
        </p:nvSpPr>
        <p:spPr>
          <a:xfrm>
            <a:off x="4381530" y="379732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place</a:t>
            </a:r>
            <a:endParaRPr lang="en-US" sz="800" dirty="0"/>
          </a:p>
        </p:txBody>
      </p:sp>
      <p:sp>
        <p:nvSpPr>
          <p:cNvPr id="19" name="Shape 14"/>
          <p:cNvSpPr/>
          <p:nvPr/>
        </p:nvSpPr>
        <p:spPr>
          <a:xfrm>
            <a:off x="6191220" y="149861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20" name="Image 3" descr="App screens: app-upgrade-b-run-390-390c">    </p:cNvPr>
          <p:cNvPicPr>
            <a:picLocks noChangeAspect="1"/>
          </p:cNvPicPr>
          <p:nvPr/>
        </p:nvPicPr>
        <p:blipFill>
          <a:blip r:embed="rId4"/>
          <a:stretch>
            <a:fillRect/>
          </a:stretch>
        </p:blipFill>
        <p:spPr>
          <a:xfrm>
            <a:off x="6235659" y="1543050"/>
            <a:ext cx="1524030" cy="2146280"/>
          </a:xfrm>
          <a:prstGeom prst="rect">
            <a:avLst/>
          </a:prstGeom>
        </p:spPr>
      </p:pic>
      <p:sp>
        <p:nvSpPr>
          <p:cNvPr id="21" name="Text 18"/>
          <p:cNvSpPr/>
          <p:nvPr/>
        </p:nvSpPr>
        <p:spPr>
          <a:xfrm>
            <a:off x="6191220" y="379732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run</a:t>
            </a:r>
            <a:endParaRPr lang="en-US" sz="800" dirty="0"/>
          </a:p>
        </p:txBody>
      </p:sp>
      <p:sp>
        <p:nvSpPr>
          <p:cNvPr id="22" name="Shape 16"/>
          <p:cNvSpPr/>
          <p:nvPr/>
        </p:nvSpPr>
        <p:spPr>
          <a:xfrm>
            <a:off x="8001000" y="149861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23" name="Image 4" descr="App screens: app-upgrade-b-evaluation-pass-390-390c">    </p:cNvPr>
          <p:cNvPicPr>
            <a:picLocks noChangeAspect="1"/>
          </p:cNvPicPr>
          <p:nvPr/>
        </p:nvPicPr>
        <p:blipFill>
          <a:blip r:embed="rId5"/>
          <a:stretch>
            <a:fillRect/>
          </a:stretch>
        </p:blipFill>
        <p:spPr>
          <a:xfrm>
            <a:off x="8045440" y="1543050"/>
            <a:ext cx="1524030" cy="2146280"/>
          </a:xfrm>
          <a:prstGeom prst="rect">
            <a:avLst/>
          </a:prstGeom>
        </p:spPr>
      </p:pic>
      <p:sp>
        <p:nvSpPr>
          <p:cNvPr id="24" name="Text 21"/>
          <p:cNvSpPr/>
          <p:nvPr/>
        </p:nvSpPr>
        <p:spPr>
          <a:xfrm>
            <a:off x="8001000" y="379732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PASS</a:t>
            </a:r>
            <a:endParaRPr lang="en-US" sz="800" dirty="0"/>
          </a:p>
        </p:txBody>
      </p:sp>
      <p:sp>
        <p:nvSpPr>
          <p:cNvPr id="25" name="Shape 18"/>
          <p:cNvSpPr/>
          <p:nvPr/>
        </p:nvSpPr>
        <p:spPr>
          <a:xfrm>
            <a:off x="9810780" y="149861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26" name="Image 5" descr="App screens: app-upgrade-b-evaluation-needslab-390-390c">    </p:cNvPr>
          <p:cNvPicPr>
            <a:picLocks noChangeAspect="1"/>
          </p:cNvPicPr>
          <p:nvPr/>
        </p:nvPicPr>
        <p:blipFill>
          <a:blip r:embed="rId6"/>
          <a:stretch>
            <a:fillRect/>
          </a:stretch>
        </p:blipFill>
        <p:spPr>
          <a:xfrm>
            <a:off x="9855220" y="1543050"/>
            <a:ext cx="1524030" cy="2146280"/>
          </a:xfrm>
          <a:prstGeom prst="rect">
            <a:avLst/>
          </a:prstGeom>
        </p:spPr>
      </p:pic>
      <p:sp>
        <p:nvSpPr>
          <p:cNvPr id="27" name="Text 24"/>
          <p:cNvSpPr/>
          <p:nvPr/>
        </p:nvSpPr>
        <p:spPr>
          <a:xfrm>
            <a:off x="9810780" y="379732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NEEDS LAB</a:t>
            </a:r>
            <a:endParaRPr lang="en-US" sz="800" dirty="0"/>
          </a:p>
        </p:txBody>
      </p:sp>
      <p:sp>
        <p:nvSpPr>
          <p:cNvPr id="28" name="Shape 20"/>
          <p:cNvSpPr/>
          <p:nvPr/>
        </p:nvSpPr>
        <p:spPr>
          <a:xfrm>
            <a:off x="761970" y="410209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29" name="Image 6" descr="App screens: app-upgrade-b-delivery-held-policy-390-390c">    </p:cNvPr>
          <p:cNvPicPr>
            <a:picLocks noChangeAspect="1"/>
          </p:cNvPicPr>
          <p:nvPr/>
        </p:nvPicPr>
        <p:blipFill>
          <a:blip r:embed="rId7"/>
          <a:stretch>
            <a:fillRect/>
          </a:stretch>
        </p:blipFill>
        <p:spPr>
          <a:xfrm>
            <a:off x="806409" y="4146530"/>
            <a:ext cx="1524030" cy="2146280"/>
          </a:xfrm>
          <a:prstGeom prst="rect">
            <a:avLst/>
          </a:prstGeom>
        </p:spPr>
      </p:pic>
      <p:sp>
        <p:nvSpPr>
          <p:cNvPr id="30" name="Text 27"/>
          <p:cNvSpPr/>
          <p:nvPr/>
        </p:nvSpPr>
        <p:spPr>
          <a:xfrm>
            <a:off x="761970" y="640080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held · P2</a:t>
            </a:r>
            <a:endParaRPr lang="en-US" sz="800" dirty="0"/>
          </a:p>
        </p:txBody>
      </p:sp>
      <p:sp>
        <p:nvSpPr>
          <p:cNvPr id="31" name="Shape 22"/>
          <p:cNvSpPr/>
          <p:nvPr/>
        </p:nvSpPr>
        <p:spPr>
          <a:xfrm>
            <a:off x="2571750" y="410209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32" name="Image 7" descr="App screens: app-upgrade-b-delivery-released-390-390c">    </p:cNvPr>
          <p:cNvPicPr>
            <a:picLocks noChangeAspect="1"/>
          </p:cNvPicPr>
          <p:nvPr/>
        </p:nvPicPr>
        <p:blipFill>
          <a:blip r:embed="rId8"/>
          <a:stretch>
            <a:fillRect/>
          </a:stretch>
        </p:blipFill>
        <p:spPr>
          <a:xfrm>
            <a:off x="2616190" y="4146530"/>
            <a:ext cx="1524030" cy="2146280"/>
          </a:xfrm>
          <a:prstGeom prst="rect">
            <a:avLst/>
          </a:prstGeom>
        </p:spPr>
      </p:pic>
      <p:sp>
        <p:nvSpPr>
          <p:cNvPr id="33" name="Text 30"/>
          <p:cNvSpPr/>
          <p:nvPr/>
        </p:nvSpPr>
        <p:spPr>
          <a:xfrm>
            <a:off x="2571750" y="640080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released</a:t>
            </a:r>
            <a:endParaRPr lang="en-US" sz="800" dirty="0"/>
          </a:p>
        </p:txBody>
      </p:sp>
      <p:sp>
        <p:nvSpPr>
          <p:cNvPr id="34" name="Shape 24"/>
          <p:cNvSpPr/>
          <p:nvPr/>
        </p:nvSpPr>
        <p:spPr>
          <a:xfrm>
            <a:off x="4381530" y="410209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35" name="Image 8" descr="App screens: app-upgrade-b-verify-390-390c">    </p:cNvPr>
          <p:cNvPicPr>
            <a:picLocks noChangeAspect="1"/>
          </p:cNvPicPr>
          <p:nvPr/>
        </p:nvPicPr>
        <p:blipFill>
          <a:blip r:embed="rId9"/>
          <a:stretch>
            <a:fillRect/>
          </a:stretch>
        </p:blipFill>
        <p:spPr>
          <a:xfrm>
            <a:off x="4425970" y="4146530"/>
            <a:ext cx="1524030" cy="2146280"/>
          </a:xfrm>
          <a:prstGeom prst="rect">
            <a:avLst/>
          </a:prstGeom>
        </p:spPr>
      </p:pic>
      <p:sp>
        <p:nvSpPr>
          <p:cNvPr id="36" name="Text 33"/>
          <p:cNvSpPr/>
          <p:nvPr/>
        </p:nvSpPr>
        <p:spPr>
          <a:xfrm>
            <a:off x="4381530" y="640080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/verify · x402</a:t>
            </a:r>
            <a:endParaRPr lang="en-US" sz="800" dirty="0"/>
          </a:p>
        </p:txBody>
      </p:sp>
      <p:sp>
        <p:nvSpPr>
          <p:cNvPr id="37" name="Shape 26"/>
          <p:cNvSpPr/>
          <p:nvPr/>
        </p:nvSpPr>
        <p:spPr>
          <a:xfrm>
            <a:off x="6191220" y="410209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38" name="Image 9" descr="App screens: app-upgrade-a-home-390-390c">    </p:cNvPr>
          <p:cNvPicPr>
            <a:picLocks noChangeAspect="1"/>
          </p:cNvPicPr>
          <p:nvPr/>
        </p:nvPicPr>
        <p:blipFill>
          <a:blip r:embed="rId10"/>
          <a:stretch>
            <a:fillRect/>
          </a:stretch>
        </p:blipFill>
        <p:spPr>
          <a:xfrm>
            <a:off x="6235659" y="4146530"/>
            <a:ext cx="1524030" cy="2146280"/>
          </a:xfrm>
          <a:prstGeom prst="rect">
            <a:avLst/>
          </a:prstGeom>
        </p:spPr>
      </p:pic>
      <p:sp>
        <p:nvSpPr>
          <p:cNvPr id="39" name="Text 36"/>
          <p:cNvSpPr/>
          <p:nvPr/>
        </p:nvSpPr>
        <p:spPr>
          <a:xfrm>
            <a:off x="6191220" y="640080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home</a:t>
            </a:r>
            <a:endParaRPr lang="en-US" sz="800" dirty="0"/>
          </a:p>
        </p:txBody>
      </p:sp>
      <p:sp>
        <p:nvSpPr>
          <p:cNvPr id="40" name="Shape 28"/>
          <p:cNvSpPr/>
          <p:nvPr/>
        </p:nvSpPr>
        <p:spPr>
          <a:xfrm>
            <a:off x="8001000" y="410209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41" name="Image 10" descr="App screens: app-upgrade-a-medicines-390-390c">    </p:cNvPr>
          <p:cNvPicPr>
            <a:picLocks noChangeAspect="1"/>
          </p:cNvPicPr>
          <p:nvPr/>
        </p:nvPicPr>
        <p:blipFill>
          <a:blip r:embed="rId11"/>
          <a:stretch>
            <a:fillRect/>
          </a:stretch>
        </p:blipFill>
        <p:spPr>
          <a:xfrm>
            <a:off x="8045440" y="4146530"/>
            <a:ext cx="1524030" cy="2146280"/>
          </a:xfrm>
          <a:prstGeom prst="rect">
            <a:avLst/>
          </a:prstGeom>
        </p:spPr>
      </p:pic>
      <p:sp>
        <p:nvSpPr>
          <p:cNvPr id="42" name="Text 39"/>
          <p:cNvSpPr/>
          <p:nvPr/>
        </p:nvSpPr>
        <p:spPr>
          <a:xfrm>
            <a:off x="8001000" y="640080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medicines</a:t>
            </a:r>
            <a:endParaRPr lang="en-US" sz="800" dirty="0"/>
          </a:p>
        </p:txBody>
      </p:sp>
      <p:sp>
        <p:nvSpPr>
          <p:cNvPr id="43" name="Shape 30"/>
          <p:cNvSpPr/>
          <p:nvPr/>
        </p:nvSpPr>
        <p:spPr>
          <a:xfrm>
            <a:off x="9810780" y="410209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44" name="Image 11" descr="App screens: app-upgrade-b-ask-390-390c">    </p:cNvPr>
          <p:cNvPicPr>
            <a:picLocks noChangeAspect="1"/>
          </p:cNvPicPr>
          <p:nvPr/>
        </p:nvPicPr>
        <p:blipFill>
          <a:blip r:embed="rId12"/>
          <a:stretch>
            <a:fillRect/>
          </a:stretch>
        </p:blipFill>
        <p:spPr>
          <a:xfrm>
            <a:off x="9855220" y="4146530"/>
            <a:ext cx="1524030" cy="2146280"/>
          </a:xfrm>
          <a:prstGeom prst="rect">
            <a:avLst/>
          </a:prstGeom>
        </p:spPr>
      </p:pic>
      <p:sp>
        <p:nvSpPr>
          <p:cNvPr id="45" name="Text 42"/>
          <p:cNvSpPr/>
          <p:nvPr/>
        </p:nvSpPr>
        <p:spPr>
          <a:xfrm>
            <a:off x="9810780" y="640080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ask</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THE RUN, PHASE BY PHASE</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10 / 20</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812810"/>
            <a:ext cx="6349959" cy="431780"/>
          </a:xfrm>
          <a:prstGeom prst="rect">
            <a:avLst/>
          </a:prstGeom>
          <a:noFill/>
          <a:ln/>
        </p:spPr>
        <p:txBody>
          <a:bodyPr wrap="square" lIns="0" tIns="0" rIns="0" bIns="0" rtlCol="0" anchor="t"/>
          <a:lstStyle/>
          <a:p>
            <a:pPr algn="l" indent="0" marL="0">
              <a:lnSpc>
                <a:spcPct val="100000"/>
              </a:lnSpc>
              <a:buNone/>
            </a:pPr>
            <a:r>
              <a:rPr lang="en-US" sz="2808" spc="-42" kern="0" dirty="0">
                <a:solidFill>
                  <a:srgbClr val="16181B"/>
                </a:solidFill>
                <a:latin typeface="Instrument Serif" pitchFamily="34" charset="0"/>
                <a:ea typeface="Instrument Serif" pitchFamily="34" charset="-122"/>
                <a:cs typeface="Instrument Serif" pitchFamily="34" charset="-120"/>
              </a:rPr>
              <a:t>Six phases, one run.</a:t>
            </a:r>
            <a:endParaRPr lang="en-US" sz="2808" dirty="0"/>
          </a:p>
        </p:txBody>
      </p:sp>
      <p:sp>
        <p:nvSpPr>
          <p:cNvPr id="11" name="Text 8"/>
          <p:cNvSpPr/>
          <p:nvPr/>
        </p:nvSpPr>
        <p:spPr>
          <a:xfrm>
            <a:off x="7492959" y="838230"/>
            <a:ext cx="3937041" cy="533370"/>
          </a:xfrm>
          <a:prstGeom prst="rect">
            <a:avLst/>
          </a:prstGeom>
          <a:noFill/>
          <a:ln/>
        </p:spPr>
        <p:txBody>
          <a:bodyPr wrap="square" lIns="0" tIns="0" rIns="0" bIns="0" rtlCol="0" anchor="t"/>
          <a:lstStyle/>
          <a:p>
            <a:pPr algn="l" indent="0" marL="0">
              <a:lnSpc>
                <a:spcPct val="140000"/>
              </a:lnSpc>
              <a:buNone/>
            </a:pPr>
            <a:r>
              <a:rPr lang="en-US" sz="950" dirty="0">
                <a:solidFill>
                  <a:srgbClr val="4A4E55"/>
                </a:solidFill>
                <a:latin typeface="Inter" pitchFamily="34" charset="0"/>
                <a:ea typeface="Inter" pitchFamily="34" charset="-122"/>
                <a:cs typeface="Inter" pitchFamily="34" charset="-120"/>
              </a:rPr>
              <a:t>The app follows the station’s own state machine. Each phase has its own time, its own look and its own check; a failed check stops the run and says why.</a:t>
            </a:r>
            <a:endParaRPr lang="en-US" sz="950" dirty="0"/>
          </a:p>
        </p:txBody>
      </p:sp>
      <p:sp>
        <p:nvSpPr>
          <p:cNvPr id="12" name="Shape 10"/>
          <p:cNvSpPr/>
          <p:nvPr/>
        </p:nvSpPr>
        <p:spPr>
          <a:xfrm>
            <a:off x="838230" y="1885950"/>
            <a:ext cx="8966241" cy="12710"/>
          </a:xfrm>
          <a:prstGeom prst="rect">
            <a:avLst/>
          </a:prstGeom>
          <a:solidFill>
            <a:srgbClr val="16181B">
              <a:alpha val="18000"/>
            </a:srgbClr>
          </a:solidFill>
          <a:ln/>
        </p:spPr>
      </p:sp>
      <p:sp>
        <p:nvSpPr>
          <p:cNvPr id="13" name="Shape 11"/>
          <p:cNvSpPr/>
          <p:nvPr/>
        </p:nvSpPr>
        <p:spPr>
          <a:xfrm>
            <a:off x="761970" y="1816090"/>
            <a:ext cx="152430" cy="152430"/>
          </a:xfrm>
          <a:prstGeom prst="ellipse">
            <a:avLst/>
          </a:prstGeom>
          <a:solidFill>
            <a:srgbClr val="0E1216"/>
          </a:solidFill>
          <a:ln w="25400">
            <a:solidFill>
              <a:srgbClr val="FFFFFF"/>
            </a:solidFill>
            <a:prstDash val="solid"/>
          </a:ln>
        </p:spPr>
      </p:sp>
      <p:sp>
        <p:nvSpPr>
          <p:cNvPr id="14" name="Text 11"/>
          <p:cNvSpPr/>
          <p:nvPr/>
        </p:nvSpPr>
        <p:spPr>
          <a:xfrm>
            <a:off x="1015990" y="1822491"/>
            <a:ext cx="1270010" cy="165141"/>
          </a:xfrm>
          <a:prstGeom prst="rect">
            <a:avLst/>
          </a:prstGeom>
          <a:noFill/>
          <a:ln/>
        </p:spPr>
        <p:txBody>
          <a:bodyPr wrap="square" lIns="0" tIns="0" rIns="0" bIns="0" rtlCol="0" anchor="t"/>
          <a:lstStyle/>
          <a:p>
            <a:pPr algn="l" indent="0" marL="0">
              <a:lnSpc>
                <a:spcPct val="130000"/>
              </a:lnSpc>
              <a:buNone/>
            </a:pPr>
            <a:r>
              <a:rPr lang="en-US" sz="850" spc="85" kern="0" dirty="0">
                <a:solidFill>
                  <a:srgbClr val="7C8188"/>
                </a:solidFill>
                <a:latin typeface="JetBrains Mono" pitchFamily="34" charset="0"/>
                <a:ea typeface="JetBrains Mono" pitchFamily="34" charset="-122"/>
                <a:cs typeface="JetBrains Mono" pitchFamily="34" charset="-120"/>
              </a:rPr>
              <a:t>01</a:t>
            </a:r>
            <a:endParaRPr lang="en-US" sz="850" dirty="0"/>
          </a:p>
        </p:txBody>
      </p:sp>
      <p:sp>
        <p:nvSpPr>
          <p:cNvPr id="15" name="Text 12"/>
          <p:cNvSpPr/>
          <p:nvPr/>
        </p:nvSpPr>
        <p:spPr>
          <a:xfrm>
            <a:off x="761970" y="2120859"/>
            <a:ext cx="162562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Lights off</a:t>
            </a:r>
            <a:endParaRPr lang="en-US" sz="1350" dirty="0"/>
          </a:p>
        </p:txBody>
      </p:sp>
      <p:sp>
        <p:nvSpPr>
          <p:cNvPr id="16" name="Shape 14"/>
          <p:cNvSpPr/>
          <p:nvPr/>
        </p:nvSpPr>
        <p:spPr>
          <a:xfrm>
            <a:off x="761970" y="2400300"/>
            <a:ext cx="425470" cy="203180"/>
          </a:xfrm>
          <a:prstGeom prst="roundRect">
            <a:avLst>
              <a:gd name="adj" fmla="val 50000"/>
            </a:avLst>
          </a:prstGeom>
          <a:solidFill>
            <a:srgbClr val="9AA0A6">
              <a:alpha val="18000"/>
            </a:srgbClr>
          </a:solidFill>
          <a:ln/>
        </p:spPr>
      </p:sp>
      <p:sp>
        <p:nvSpPr>
          <p:cNvPr id="17" name="Text 14"/>
          <p:cNvSpPr/>
          <p:nvPr/>
        </p:nvSpPr>
        <p:spPr>
          <a:xfrm>
            <a:off x="761970" y="2440899"/>
            <a:ext cx="425470" cy="146030"/>
          </a:xfrm>
          <a:prstGeom prst="rect">
            <a:avLst/>
          </a:prstGeom>
          <a:noFill/>
          <a:ln/>
        </p:spPr>
        <p:txBody>
          <a:bodyPr wrap="square" lIns="0" tIns="0" rIns="0" bIns="0" rtlCol="0" anchor="t"/>
          <a:lstStyle/>
          <a:p>
            <a:pPr algn="ctr" indent="0" marL="0">
              <a:lnSpc>
                <a:spcPct val="120000"/>
              </a:lnSpc>
              <a:buNone/>
            </a:pPr>
            <a:r>
              <a:rPr lang="en-US" sz="800" b="1" spc="48" kern="0" dirty="0">
                <a:solidFill>
                  <a:srgbClr val="16181B"/>
                </a:solidFill>
                <a:latin typeface="JetBrains Mono" pitchFamily="34" charset="0"/>
                <a:ea typeface="JetBrains Mono" pitchFamily="34" charset="-122"/>
                <a:cs typeface="JetBrains Mono" pitchFamily="34" charset="-120"/>
              </a:rPr>
              <a:t>3 s</a:t>
            </a:r>
            <a:endParaRPr lang="en-US" sz="800" dirty="0"/>
          </a:p>
        </p:txBody>
      </p:sp>
      <p:sp>
        <p:nvSpPr>
          <p:cNvPr id="18" name="Text 15"/>
          <p:cNvSpPr/>
          <p:nvPr/>
        </p:nvSpPr>
        <p:spPr>
          <a:xfrm>
            <a:off x="761970" y="2717780"/>
            <a:ext cx="1625620" cy="62865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LEDs off. The box must read dark; a light leak means the lid is open, and the run stops.</a:t>
            </a:r>
            <a:endParaRPr lang="en-US" sz="850" dirty="0"/>
          </a:p>
        </p:txBody>
      </p:sp>
      <p:sp>
        <p:nvSpPr>
          <p:cNvPr id="19" name="Shape 17"/>
          <p:cNvSpPr/>
          <p:nvPr/>
        </p:nvSpPr>
        <p:spPr>
          <a:xfrm>
            <a:off x="761970" y="3429000"/>
            <a:ext cx="1460480" cy="2603480"/>
          </a:xfrm>
          <a:prstGeom prst="roundRect">
            <a:avLst>
              <a:gd name="adj" fmla="val 13042"/>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20" name="Image 0" descr="Six phases: app-phases-02-dark-390-320c">    </p:cNvPr>
          <p:cNvPicPr>
            <a:picLocks noChangeAspect="1"/>
          </p:cNvPicPr>
          <p:nvPr/>
        </p:nvPicPr>
        <p:blipFill>
          <a:blip r:embed="rId1"/>
          <a:stretch>
            <a:fillRect/>
          </a:stretch>
        </p:blipFill>
        <p:spPr>
          <a:xfrm>
            <a:off x="800100" y="3467130"/>
            <a:ext cx="1384310" cy="2527310"/>
          </a:xfrm>
          <a:prstGeom prst="rect">
            <a:avLst/>
          </a:prstGeom>
        </p:spPr>
      </p:pic>
      <p:sp>
        <p:nvSpPr>
          <p:cNvPr id="21" name="Shape 18"/>
          <p:cNvSpPr/>
          <p:nvPr/>
        </p:nvSpPr>
        <p:spPr>
          <a:xfrm>
            <a:off x="2540020" y="1816090"/>
            <a:ext cx="152430" cy="152430"/>
          </a:xfrm>
          <a:prstGeom prst="ellipse">
            <a:avLst/>
          </a:prstGeom>
          <a:solidFill>
            <a:srgbClr val="4FB3FF"/>
          </a:solidFill>
          <a:ln w="25400">
            <a:solidFill>
              <a:srgbClr val="FFFFFF"/>
            </a:solidFill>
            <a:prstDash val="solid"/>
          </a:ln>
        </p:spPr>
      </p:sp>
      <p:sp>
        <p:nvSpPr>
          <p:cNvPr id="22" name="Text 19"/>
          <p:cNvSpPr/>
          <p:nvPr/>
        </p:nvSpPr>
        <p:spPr>
          <a:xfrm>
            <a:off x="2794041" y="1822491"/>
            <a:ext cx="1270010" cy="165141"/>
          </a:xfrm>
          <a:prstGeom prst="rect">
            <a:avLst/>
          </a:prstGeom>
          <a:noFill/>
          <a:ln/>
        </p:spPr>
        <p:txBody>
          <a:bodyPr wrap="square" lIns="0" tIns="0" rIns="0" bIns="0" rtlCol="0" anchor="t"/>
          <a:lstStyle/>
          <a:p>
            <a:pPr algn="l" indent="0" marL="0">
              <a:lnSpc>
                <a:spcPct val="130000"/>
              </a:lnSpc>
              <a:buNone/>
            </a:pPr>
            <a:r>
              <a:rPr lang="en-US" sz="850" spc="85" kern="0" dirty="0">
                <a:solidFill>
                  <a:srgbClr val="7C8188"/>
                </a:solidFill>
                <a:latin typeface="JetBrains Mono" pitchFamily="34" charset="0"/>
                <a:ea typeface="JetBrains Mono" pitchFamily="34" charset="-122"/>
                <a:cs typeface="JetBrains Mono" pitchFamily="34" charset="-120"/>
              </a:rPr>
              <a:t>02</a:t>
            </a:r>
            <a:endParaRPr lang="en-US" sz="850" dirty="0"/>
          </a:p>
        </p:txBody>
      </p:sp>
      <p:sp>
        <p:nvSpPr>
          <p:cNvPr id="23" name="Text 20"/>
          <p:cNvSpPr/>
          <p:nvPr/>
        </p:nvSpPr>
        <p:spPr>
          <a:xfrm>
            <a:off x="2540020" y="2120859"/>
            <a:ext cx="162562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Clear water</a:t>
            </a:r>
            <a:endParaRPr lang="en-US" sz="1350" dirty="0"/>
          </a:p>
        </p:txBody>
      </p:sp>
      <p:sp>
        <p:nvSpPr>
          <p:cNvPr id="24" name="Shape 21"/>
          <p:cNvSpPr/>
          <p:nvPr/>
        </p:nvSpPr>
        <p:spPr>
          <a:xfrm>
            <a:off x="2540020" y="2400300"/>
            <a:ext cx="488930" cy="203180"/>
          </a:xfrm>
          <a:prstGeom prst="roundRect">
            <a:avLst>
              <a:gd name="adj" fmla="val 50000"/>
            </a:avLst>
          </a:prstGeom>
          <a:solidFill>
            <a:srgbClr val="4FB3FF">
              <a:alpha val="14000"/>
            </a:srgbClr>
          </a:solidFill>
          <a:ln/>
        </p:spPr>
      </p:sp>
      <p:sp>
        <p:nvSpPr>
          <p:cNvPr id="25" name="Text 22"/>
          <p:cNvSpPr/>
          <p:nvPr/>
        </p:nvSpPr>
        <p:spPr>
          <a:xfrm>
            <a:off x="2540020" y="2440899"/>
            <a:ext cx="488930" cy="146030"/>
          </a:xfrm>
          <a:prstGeom prst="rect">
            <a:avLst/>
          </a:prstGeom>
          <a:noFill/>
          <a:ln/>
        </p:spPr>
        <p:txBody>
          <a:bodyPr wrap="square" lIns="0" tIns="0" rIns="0" bIns="0" rtlCol="0" anchor="t"/>
          <a:lstStyle/>
          <a:p>
            <a:pPr algn="ctr" indent="0" marL="0">
              <a:lnSpc>
                <a:spcPct val="120000"/>
              </a:lnSpc>
              <a:buNone/>
            </a:pPr>
            <a:r>
              <a:rPr lang="en-US" sz="800" b="1" spc="48" kern="0" dirty="0">
                <a:solidFill>
                  <a:srgbClr val="16181B"/>
                </a:solidFill>
                <a:latin typeface="JetBrains Mono" pitchFamily="34" charset="0"/>
                <a:ea typeface="JetBrains Mono" pitchFamily="34" charset="-122"/>
                <a:cs typeface="JetBrains Mono" pitchFamily="34" charset="-120"/>
              </a:rPr>
              <a:t>10 s</a:t>
            </a:r>
            <a:endParaRPr lang="en-US" sz="800" dirty="0"/>
          </a:p>
        </p:txBody>
      </p:sp>
      <p:sp>
        <p:nvSpPr>
          <p:cNvPr id="26" name="Text 23"/>
          <p:cNvSpPr/>
          <p:nvPr/>
        </p:nvSpPr>
        <p:spPr>
          <a:xfrm>
            <a:off x="2540020" y="2717780"/>
            <a:ext cx="1625620" cy="62865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Plain water, paddle on. The blank must hold steady (CV under 2 %) or it retries, up to 3 times.</a:t>
            </a:r>
            <a:endParaRPr lang="en-US" sz="850" dirty="0"/>
          </a:p>
        </p:txBody>
      </p:sp>
      <p:sp>
        <p:nvSpPr>
          <p:cNvPr id="27" name="Shape 24"/>
          <p:cNvSpPr/>
          <p:nvPr/>
        </p:nvSpPr>
        <p:spPr>
          <a:xfrm>
            <a:off x="2540020" y="3429000"/>
            <a:ext cx="1460480" cy="2603480"/>
          </a:xfrm>
          <a:prstGeom prst="roundRect">
            <a:avLst>
              <a:gd name="adj" fmla="val 13042"/>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28" name="Image 1" descr="Six phases: app-phases-03-water-390-320c">    </p:cNvPr>
          <p:cNvPicPr>
            <a:picLocks noChangeAspect="1"/>
          </p:cNvPicPr>
          <p:nvPr/>
        </p:nvPicPr>
        <p:blipFill>
          <a:blip r:embed="rId2"/>
          <a:stretch>
            <a:fillRect/>
          </a:stretch>
        </p:blipFill>
        <p:spPr>
          <a:xfrm>
            <a:off x="2578059" y="3467130"/>
            <a:ext cx="1384310" cy="2527310"/>
          </a:xfrm>
          <a:prstGeom prst="rect">
            <a:avLst/>
          </a:prstGeom>
        </p:spPr>
      </p:pic>
      <p:sp>
        <p:nvSpPr>
          <p:cNvPr id="29" name="Shape 25"/>
          <p:cNvSpPr/>
          <p:nvPr/>
        </p:nvSpPr>
        <p:spPr>
          <a:xfrm>
            <a:off x="4317980" y="1816090"/>
            <a:ext cx="152430" cy="152430"/>
          </a:xfrm>
          <a:prstGeom prst="ellipse">
            <a:avLst/>
          </a:prstGeom>
          <a:solidFill>
            <a:srgbClr val="7A5CFF"/>
          </a:solidFill>
          <a:ln w="25400">
            <a:solidFill>
              <a:srgbClr val="FFFFFF"/>
            </a:solidFill>
            <a:prstDash val="solid"/>
          </a:ln>
        </p:spPr>
      </p:sp>
      <p:sp>
        <p:nvSpPr>
          <p:cNvPr id="30" name="Text 27"/>
          <p:cNvSpPr/>
          <p:nvPr/>
        </p:nvSpPr>
        <p:spPr>
          <a:xfrm>
            <a:off x="4572000" y="1822491"/>
            <a:ext cx="1270010" cy="165141"/>
          </a:xfrm>
          <a:prstGeom prst="rect">
            <a:avLst/>
          </a:prstGeom>
          <a:noFill/>
          <a:ln/>
        </p:spPr>
        <p:txBody>
          <a:bodyPr wrap="square" lIns="0" tIns="0" rIns="0" bIns="0" rtlCol="0" anchor="t"/>
          <a:lstStyle/>
          <a:p>
            <a:pPr algn="l" indent="0" marL="0">
              <a:lnSpc>
                <a:spcPct val="130000"/>
              </a:lnSpc>
              <a:buNone/>
            </a:pPr>
            <a:r>
              <a:rPr lang="en-US" sz="850" spc="85" kern="0" dirty="0">
                <a:solidFill>
                  <a:srgbClr val="7C8188"/>
                </a:solidFill>
                <a:latin typeface="JetBrains Mono" pitchFamily="34" charset="0"/>
                <a:ea typeface="JetBrains Mono" pitchFamily="34" charset="-122"/>
                <a:cs typeface="JetBrains Mono" pitchFamily="34" charset="-120"/>
              </a:rPr>
              <a:t>03</a:t>
            </a:r>
            <a:endParaRPr lang="en-US" sz="850" dirty="0"/>
          </a:p>
        </p:txBody>
      </p:sp>
      <p:sp>
        <p:nvSpPr>
          <p:cNvPr id="31" name="Text 28"/>
          <p:cNvSpPr/>
          <p:nvPr/>
        </p:nvSpPr>
        <p:spPr>
          <a:xfrm>
            <a:off x="4317980" y="2120859"/>
            <a:ext cx="162562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Drop the tablet</a:t>
            </a:r>
            <a:endParaRPr lang="en-US" sz="1350" dirty="0"/>
          </a:p>
        </p:txBody>
      </p:sp>
      <p:sp>
        <p:nvSpPr>
          <p:cNvPr id="32" name="Shape 28"/>
          <p:cNvSpPr/>
          <p:nvPr/>
        </p:nvSpPr>
        <p:spPr>
          <a:xfrm>
            <a:off x="4317980" y="2400300"/>
            <a:ext cx="628650" cy="203180"/>
          </a:xfrm>
          <a:prstGeom prst="roundRect">
            <a:avLst>
              <a:gd name="adj" fmla="val 50000"/>
            </a:avLst>
          </a:prstGeom>
          <a:solidFill>
            <a:srgbClr val="7A5CFF">
              <a:alpha val="10000"/>
            </a:srgbClr>
          </a:solidFill>
          <a:ln/>
        </p:spPr>
      </p:sp>
      <p:sp>
        <p:nvSpPr>
          <p:cNvPr id="33" name="Text 30"/>
          <p:cNvSpPr/>
          <p:nvPr/>
        </p:nvSpPr>
        <p:spPr>
          <a:xfrm>
            <a:off x="4317980" y="2440899"/>
            <a:ext cx="628650" cy="146030"/>
          </a:xfrm>
          <a:prstGeom prst="rect">
            <a:avLst/>
          </a:prstGeom>
          <a:noFill/>
          <a:ln/>
        </p:spPr>
        <p:txBody>
          <a:bodyPr wrap="square" lIns="0" tIns="0" rIns="0" bIns="0" rtlCol="0" anchor="t"/>
          <a:lstStyle/>
          <a:p>
            <a:pPr algn="ctr" indent="0" marL="0">
              <a:lnSpc>
                <a:spcPct val="120000"/>
              </a:lnSpc>
              <a:buNone/>
            </a:pPr>
            <a:r>
              <a:rPr lang="en-US" sz="800" b="1" spc="48" kern="0" dirty="0">
                <a:solidFill>
                  <a:srgbClr val="16181B"/>
                </a:solidFill>
                <a:latin typeface="JetBrains Mono" pitchFamily="34" charset="0"/>
                <a:ea typeface="JetBrains Mono" pitchFamily="34" charset="-122"/>
                <a:cs typeface="JetBrains Mono" pitchFamily="34" charset="-120"/>
              </a:rPr>
              <a:t>≤ 30 s</a:t>
            </a:r>
            <a:endParaRPr lang="en-US" sz="800" dirty="0"/>
          </a:p>
        </p:txBody>
      </p:sp>
      <p:sp>
        <p:nvSpPr>
          <p:cNvPr id="34" name="Text 31"/>
          <p:cNvSpPr/>
          <p:nvPr/>
        </p:nvSpPr>
        <p:spPr>
          <a:xfrm>
            <a:off x="4317980" y="2717780"/>
            <a:ext cx="1625620" cy="47622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It waits for the inline reading to fall 6 %. After 30 s the screen prompts.</a:t>
            </a:r>
            <a:endParaRPr lang="en-US" sz="850" dirty="0"/>
          </a:p>
        </p:txBody>
      </p:sp>
      <p:sp>
        <p:nvSpPr>
          <p:cNvPr id="35" name="Shape 31"/>
          <p:cNvSpPr/>
          <p:nvPr/>
        </p:nvSpPr>
        <p:spPr>
          <a:xfrm>
            <a:off x="4317980" y="3429000"/>
            <a:ext cx="1460480" cy="2603480"/>
          </a:xfrm>
          <a:prstGeom prst="roundRect">
            <a:avLst>
              <a:gd name="adj" fmla="val 13042"/>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36" name="Image 2" descr="Six phases: app-phases-04-drop-390-320c">    </p:cNvPr>
          <p:cNvPicPr>
            <a:picLocks noChangeAspect="1"/>
          </p:cNvPicPr>
          <p:nvPr/>
        </p:nvPicPr>
        <p:blipFill>
          <a:blip r:embed="rId3"/>
          <a:stretch>
            <a:fillRect/>
          </a:stretch>
        </p:blipFill>
        <p:spPr>
          <a:xfrm>
            <a:off x="4356110" y="3467130"/>
            <a:ext cx="1384310" cy="2527310"/>
          </a:xfrm>
          <a:prstGeom prst="rect">
            <a:avLst/>
          </a:prstGeom>
        </p:spPr>
      </p:pic>
      <p:sp>
        <p:nvSpPr>
          <p:cNvPr id="37" name="Shape 32"/>
          <p:cNvSpPr/>
          <p:nvPr/>
        </p:nvSpPr>
        <p:spPr>
          <a:xfrm>
            <a:off x="6096030" y="1816090"/>
            <a:ext cx="152430" cy="152430"/>
          </a:xfrm>
          <a:prstGeom prst="ellipse">
            <a:avLst/>
          </a:prstGeom>
          <a:solidFill>
            <a:srgbClr val="2A8FE0"/>
          </a:solidFill>
          <a:ln w="25400">
            <a:solidFill>
              <a:srgbClr val="FFFFFF"/>
            </a:solidFill>
            <a:prstDash val="solid"/>
          </a:ln>
        </p:spPr>
      </p:sp>
      <p:sp>
        <p:nvSpPr>
          <p:cNvPr id="38" name="Text 35"/>
          <p:cNvSpPr/>
          <p:nvPr/>
        </p:nvSpPr>
        <p:spPr>
          <a:xfrm>
            <a:off x="6349959" y="1822491"/>
            <a:ext cx="1270010" cy="165141"/>
          </a:xfrm>
          <a:prstGeom prst="rect">
            <a:avLst/>
          </a:prstGeom>
          <a:noFill/>
          <a:ln/>
        </p:spPr>
        <p:txBody>
          <a:bodyPr wrap="square" lIns="0" tIns="0" rIns="0" bIns="0" rtlCol="0" anchor="t"/>
          <a:lstStyle/>
          <a:p>
            <a:pPr algn="l" indent="0" marL="0">
              <a:lnSpc>
                <a:spcPct val="130000"/>
              </a:lnSpc>
              <a:buNone/>
            </a:pPr>
            <a:r>
              <a:rPr lang="en-US" sz="850" spc="85" kern="0" dirty="0">
                <a:solidFill>
                  <a:srgbClr val="7C8188"/>
                </a:solidFill>
                <a:latin typeface="JetBrains Mono" pitchFamily="34" charset="0"/>
                <a:ea typeface="JetBrains Mono" pitchFamily="34" charset="-122"/>
                <a:cs typeface="JetBrains Mono" pitchFamily="34" charset="-120"/>
              </a:rPr>
              <a:t>04</a:t>
            </a:r>
            <a:endParaRPr lang="en-US" sz="850" dirty="0"/>
          </a:p>
        </p:txBody>
      </p:sp>
      <p:sp>
        <p:nvSpPr>
          <p:cNvPr id="39" name="Text 36"/>
          <p:cNvSpPr/>
          <p:nvPr/>
        </p:nvSpPr>
        <p:spPr>
          <a:xfrm>
            <a:off x="6096030" y="2120859"/>
            <a:ext cx="162562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Dissolving</a:t>
            </a:r>
            <a:endParaRPr lang="en-US" sz="1350" dirty="0"/>
          </a:p>
        </p:txBody>
      </p:sp>
      <p:sp>
        <p:nvSpPr>
          <p:cNvPr id="40" name="Shape 35"/>
          <p:cNvSpPr/>
          <p:nvPr/>
        </p:nvSpPr>
        <p:spPr>
          <a:xfrm>
            <a:off x="6096030" y="2400300"/>
            <a:ext cx="692109" cy="203180"/>
          </a:xfrm>
          <a:prstGeom prst="roundRect">
            <a:avLst>
              <a:gd name="adj" fmla="val 50000"/>
            </a:avLst>
          </a:prstGeom>
          <a:solidFill>
            <a:srgbClr val="4FB3FF">
              <a:alpha val="14000"/>
            </a:srgbClr>
          </a:solidFill>
          <a:ln/>
        </p:spPr>
      </p:sp>
      <p:sp>
        <p:nvSpPr>
          <p:cNvPr id="41" name="Text 38"/>
          <p:cNvSpPr/>
          <p:nvPr/>
        </p:nvSpPr>
        <p:spPr>
          <a:xfrm>
            <a:off x="6096030" y="2440899"/>
            <a:ext cx="692109" cy="146030"/>
          </a:xfrm>
          <a:prstGeom prst="rect">
            <a:avLst/>
          </a:prstGeom>
          <a:noFill/>
          <a:ln/>
        </p:spPr>
        <p:txBody>
          <a:bodyPr wrap="square" lIns="0" tIns="0" rIns="0" bIns="0" rtlCol="0" anchor="t"/>
          <a:lstStyle/>
          <a:p>
            <a:pPr algn="ctr" indent="0" marL="0">
              <a:lnSpc>
                <a:spcPct val="120000"/>
              </a:lnSpc>
              <a:buNone/>
            </a:pPr>
            <a:r>
              <a:rPr lang="en-US" sz="800" b="1" spc="48" kern="0" dirty="0">
                <a:solidFill>
                  <a:srgbClr val="16181B"/>
                </a:solidFill>
                <a:latin typeface="JetBrains Mono" pitchFamily="34" charset="0"/>
                <a:ea typeface="JetBrains Mono" pitchFamily="34" charset="-122"/>
                <a:cs typeface="JetBrains Mono" pitchFamily="34" charset="-120"/>
              </a:rPr>
              <a:t>1–2 min</a:t>
            </a:r>
            <a:endParaRPr lang="en-US" sz="800" dirty="0"/>
          </a:p>
        </p:txBody>
      </p:sp>
      <p:sp>
        <p:nvSpPr>
          <p:cNvPr id="42" name="Text 39"/>
          <p:cNvSpPr/>
          <p:nvPr/>
        </p:nvSpPr>
        <p:spPr>
          <a:xfrm>
            <a:off x="6096030" y="2717780"/>
            <a:ext cx="1625620" cy="62865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The pill fills, the curve falls, the glow rises. Glow flat while blue falls: the amber moment.</a:t>
            </a:r>
            <a:endParaRPr lang="en-US" sz="850" dirty="0"/>
          </a:p>
        </p:txBody>
      </p:sp>
      <p:sp>
        <p:nvSpPr>
          <p:cNvPr id="43" name="Shape 38"/>
          <p:cNvSpPr/>
          <p:nvPr/>
        </p:nvSpPr>
        <p:spPr>
          <a:xfrm>
            <a:off x="6096030" y="3429000"/>
            <a:ext cx="1460480" cy="2603480"/>
          </a:xfrm>
          <a:prstGeom prst="roundRect">
            <a:avLst>
              <a:gd name="adj" fmla="val 13042"/>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44" name="Image 3" descr="Six phases: app-phases-05-dissolving-390-320c">    </p:cNvPr>
          <p:cNvPicPr>
            <a:picLocks noChangeAspect="1"/>
          </p:cNvPicPr>
          <p:nvPr/>
        </p:nvPicPr>
        <p:blipFill>
          <a:blip r:embed="rId4"/>
          <a:stretch>
            <a:fillRect/>
          </a:stretch>
        </p:blipFill>
        <p:spPr>
          <a:xfrm>
            <a:off x="6134070" y="3467130"/>
            <a:ext cx="1384310" cy="2527310"/>
          </a:xfrm>
          <a:prstGeom prst="rect">
            <a:avLst/>
          </a:prstGeom>
        </p:spPr>
      </p:pic>
      <p:sp>
        <p:nvSpPr>
          <p:cNvPr id="45" name="Shape 39"/>
          <p:cNvSpPr/>
          <p:nvPr/>
        </p:nvSpPr>
        <p:spPr>
          <a:xfrm>
            <a:off x="7873990" y="1816090"/>
            <a:ext cx="152430" cy="152430"/>
          </a:xfrm>
          <a:prstGeom prst="ellipse">
            <a:avLst/>
          </a:prstGeom>
          <a:solidFill>
            <a:srgbClr val="9AA0A6"/>
          </a:solidFill>
          <a:ln w="25400">
            <a:solidFill>
              <a:srgbClr val="FFFFFF"/>
            </a:solidFill>
            <a:prstDash val="solid"/>
          </a:ln>
        </p:spPr>
      </p:sp>
      <p:sp>
        <p:nvSpPr>
          <p:cNvPr id="46" name="Text 43"/>
          <p:cNvSpPr/>
          <p:nvPr/>
        </p:nvSpPr>
        <p:spPr>
          <a:xfrm>
            <a:off x="8128010" y="1822491"/>
            <a:ext cx="1270010" cy="165141"/>
          </a:xfrm>
          <a:prstGeom prst="rect">
            <a:avLst/>
          </a:prstGeom>
          <a:noFill/>
          <a:ln/>
        </p:spPr>
        <p:txBody>
          <a:bodyPr wrap="square" lIns="0" tIns="0" rIns="0" bIns="0" rtlCol="0" anchor="t"/>
          <a:lstStyle/>
          <a:p>
            <a:pPr algn="l" indent="0" marL="0">
              <a:lnSpc>
                <a:spcPct val="130000"/>
              </a:lnSpc>
              <a:buNone/>
            </a:pPr>
            <a:r>
              <a:rPr lang="en-US" sz="850" spc="85" kern="0" dirty="0">
                <a:solidFill>
                  <a:srgbClr val="7C8188"/>
                </a:solidFill>
                <a:latin typeface="JetBrains Mono" pitchFamily="34" charset="0"/>
                <a:ea typeface="JetBrains Mono" pitchFamily="34" charset="-122"/>
                <a:cs typeface="JetBrains Mono" pitchFamily="34" charset="-120"/>
              </a:rPr>
              <a:t>05</a:t>
            </a:r>
            <a:endParaRPr lang="en-US" sz="850" dirty="0"/>
          </a:p>
        </p:txBody>
      </p:sp>
      <p:sp>
        <p:nvSpPr>
          <p:cNvPr id="47" name="Text 44"/>
          <p:cNvSpPr/>
          <p:nvPr/>
        </p:nvSpPr>
        <p:spPr>
          <a:xfrm>
            <a:off x="7873990" y="2120859"/>
            <a:ext cx="162562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Settling</a:t>
            </a:r>
            <a:endParaRPr lang="en-US" sz="1350" dirty="0"/>
          </a:p>
        </p:txBody>
      </p:sp>
      <p:sp>
        <p:nvSpPr>
          <p:cNvPr id="48" name="Shape 42"/>
          <p:cNvSpPr/>
          <p:nvPr/>
        </p:nvSpPr>
        <p:spPr>
          <a:xfrm>
            <a:off x="7873990" y="2400300"/>
            <a:ext cx="958840" cy="203180"/>
          </a:xfrm>
          <a:prstGeom prst="roundRect">
            <a:avLst>
              <a:gd name="adj" fmla="val 50000"/>
            </a:avLst>
          </a:prstGeom>
          <a:solidFill>
            <a:srgbClr val="9AA0A6">
              <a:alpha val="18000"/>
            </a:srgbClr>
          </a:solidFill>
          <a:ln/>
        </p:spPr>
      </p:sp>
      <p:sp>
        <p:nvSpPr>
          <p:cNvPr id="49" name="Text 46"/>
          <p:cNvSpPr/>
          <p:nvPr/>
        </p:nvSpPr>
        <p:spPr>
          <a:xfrm>
            <a:off x="7873990" y="2440899"/>
            <a:ext cx="958840" cy="146030"/>
          </a:xfrm>
          <a:prstGeom prst="rect">
            <a:avLst/>
          </a:prstGeom>
          <a:noFill/>
          <a:ln/>
        </p:spPr>
        <p:txBody>
          <a:bodyPr wrap="square" lIns="0" tIns="0" rIns="0" bIns="0" rtlCol="0" anchor="t"/>
          <a:lstStyle/>
          <a:p>
            <a:pPr algn="ctr" indent="0" marL="0">
              <a:lnSpc>
                <a:spcPct val="120000"/>
              </a:lnSpc>
              <a:buNone/>
            </a:pPr>
            <a:r>
              <a:rPr lang="en-US" sz="800" b="1" spc="48" kern="0" dirty="0">
                <a:solidFill>
                  <a:srgbClr val="16181B"/>
                </a:solidFill>
                <a:latin typeface="JetBrains Mono" pitchFamily="34" charset="0"/>
                <a:ea typeface="JetBrains Mono" pitchFamily="34" charset="-122"/>
                <a:cs typeface="JetBrains Mono" pitchFamily="34" charset="-120"/>
              </a:rPr>
              <a:t>20 s window</a:t>
            </a:r>
            <a:endParaRPr lang="en-US" sz="800" dirty="0"/>
          </a:p>
        </p:txBody>
      </p:sp>
      <p:sp>
        <p:nvSpPr>
          <p:cNvPr id="50" name="Text 47"/>
          <p:cNvSpPr/>
          <p:nvPr/>
        </p:nvSpPr>
        <p:spPr>
          <a:xfrm>
            <a:off x="7873990" y="2717780"/>
            <a:ext cx="1625620" cy="47622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Flat for 20 s (|dA/dt| &lt; ε) means plateau. No plateau by 180 s: timeout.</a:t>
            </a:r>
            <a:endParaRPr lang="en-US" sz="850" dirty="0"/>
          </a:p>
        </p:txBody>
      </p:sp>
      <p:sp>
        <p:nvSpPr>
          <p:cNvPr id="51" name="Shape 45"/>
          <p:cNvSpPr/>
          <p:nvPr/>
        </p:nvSpPr>
        <p:spPr>
          <a:xfrm>
            <a:off x="7873990" y="3429000"/>
            <a:ext cx="1460480" cy="2603480"/>
          </a:xfrm>
          <a:prstGeom prst="roundRect">
            <a:avLst>
              <a:gd name="adj" fmla="val 13042"/>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52" name="Image 4" descr="Six phases: app-phases-06-settling-390-320c">    </p:cNvPr>
          <p:cNvPicPr>
            <a:picLocks noChangeAspect="1"/>
          </p:cNvPicPr>
          <p:nvPr/>
        </p:nvPicPr>
        <p:blipFill>
          <a:blip r:embed="rId5"/>
          <a:stretch>
            <a:fillRect/>
          </a:stretch>
        </p:blipFill>
        <p:spPr>
          <a:xfrm>
            <a:off x="7912120" y="3467130"/>
            <a:ext cx="1384310" cy="2527310"/>
          </a:xfrm>
          <a:prstGeom prst="rect">
            <a:avLst/>
          </a:prstGeom>
        </p:spPr>
      </p:pic>
      <p:sp>
        <p:nvSpPr>
          <p:cNvPr id="53" name="Shape 46"/>
          <p:cNvSpPr/>
          <p:nvPr/>
        </p:nvSpPr>
        <p:spPr>
          <a:xfrm>
            <a:off x="9652041" y="1816090"/>
            <a:ext cx="152430" cy="152430"/>
          </a:xfrm>
          <a:prstGeom prst="ellipse">
            <a:avLst/>
          </a:prstGeom>
          <a:solidFill>
            <a:srgbClr val="5FD39A"/>
          </a:solidFill>
          <a:ln w="25400">
            <a:solidFill>
              <a:srgbClr val="FFFFFF"/>
            </a:solidFill>
            <a:prstDash val="solid"/>
          </a:ln>
        </p:spPr>
      </p:sp>
      <p:sp>
        <p:nvSpPr>
          <p:cNvPr id="54" name="Text 51"/>
          <p:cNvSpPr/>
          <p:nvPr/>
        </p:nvSpPr>
        <p:spPr>
          <a:xfrm>
            <a:off x="9905970" y="1822491"/>
            <a:ext cx="1270010" cy="165141"/>
          </a:xfrm>
          <a:prstGeom prst="rect">
            <a:avLst/>
          </a:prstGeom>
          <a:noFill/>
          <a:ln/>
        </p:spPr>
        <p:txBody>
          <a:bodyPr wrap="square" lIns="0" tIns="0" rIns="0" bIns="0" rtlCol="0" anchor="t"/>
          <a:lstStyle/>
          <a:p>
            <a:pPr algn="l" indent="0" marL="0">
              <a:lnSpc>
                <a:spcPct val="130000"/>
              </a:lnSpc>
              <a:buNone/>
            </a:pPr>
            <a:r>
              <a:rPr lang="en-US" sz="850" spc="85" kern="0" dirty="0">
                <a:solidFill>
                  <a:srgbClr val="7C8188"/>
                </a:solidFill>
                <a:latin typeface="JetBrains Mono" pitchFamily="34" charset="0"/>
                <a:ea typeface="JetBrains Mono" pitchFamily="34" charset="-122"/>
                <a:cs typeface="JetBrains Mono" pitchFamily="34" charset="-120"/>
              </a:rPr>
              <a:t>06</a:t>
            </a:r>
            <a:endParaRPr lang="en-US" sz="850" dirty="0"/>
          </a:p>
        </p:txBody>
      </p:sp>
      <p:sp>
        <p:nvSpPr>
          <p:cNvPr id="55" name="Text 52"/>
          <p:cNvSpPr/>
          <p:nvPr/>
        </p:nvSpPr>
        <p:spPr>
          <a:xfrm>
            <a:off x="9652041" y="2120859"/>
            <a:ext cx="162562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Verdict</a:t>
            </a:r>
            <a:endParaRPr lang="en-US" sz="1350" dirty="0"/>
          </a:p>
        </p:txBody>
      </p:sp>
      <p:sp>
        <p:nvSpPr>
          <p:cNvPr id="56" name="Shape 49"/>
          <p:cNvSpPr/>
          <p:nvPr/>
        </p:nvSpPr>
        <p:spPr>
          <a:xfrm>
            <a:off x="9652041" y="2400300"/>
            <a:ext cx="692109" cy="203180"/>
          </a:xfrm>
          <a:prstGeom prst="roundRect">
            <a:avLst>
              <a:gd name="adj" fmla="val 50000"/>
            </a:avLst>
          </a:prstGeom>
          <a:solidFill>
            <a:srgbClr val="5FD39A">
              <a:alpha val="16000"/>
            </a:srgbClr>
          </a:solidFill>
          <a:ln/>
        </p:spPr>
      </p:sp>
      <p:sp>
        <p:nvSpPr>
          <p:cNvPr id="57" name="Text 54"/>
          <p:cNvSpPr/>
          <p:nvPr/>
        </p:nvSpPr>
        <p:spPr>
          <a:xfrm>
            <a:off x="9652041" y="2440899"/>
            <a:ext cx="692109" cy="146030"/>
          </a:xfrm>
          <a:prstGeom prst="rect">
            <a:avLst/>
          </a:prstGeom>
          <a:noFill/>
          <a:ln/>
        </p:spPr>
        <p:txBody>
          <a:bodyPr wrap="square" lIns="0" tIns="0" rIns="0" bIns="0" rtlCol="0" anchor="t"/>
          <a:lstStyle/>
          <a:p>
            <a:pPr algn="ctr" indent="0" marL="0">
              <a:lnSpc>
                <a:spcPct val="120000"/>
              </a:lnSpc>
              <a:buNone/>
            </a:pPr>
            <a:r>
              <a:rPr lang="en-US" sz="800" b="1" spc="48" kern="0" dirty="0">
                <a:solidFill>
                  <a:srgbClr val="16181B"/>
                </a:solidFill>
                <a:latin typeface="JetBrains Mono" pitchFamily="34" charset="0"/>
                <a:ea typeface="JetBrains Mono" pitchFamily="34" charset="-122"/>
                <a:cs typeface="JetBrains Mono" pitchFamily="34" charset="-120"/>
              </a:rPr>
              <a:t>7 rules</a:t>
            </a:r>
            <a:endParaRPr lang="en-US" sz="800" dirty="0"/>
          </a:p>
        </p:txBody>
      </p:sp>
      <p:sp>
        <p:nvSpPr>
          <p:cNvPr id="58" name="Text 55"/>
          <p:cNvSpPr/>
          <p:nvPr/>
        </p:nvSpPr>
        <p:spPr>
          <a:xfrm>
            <a:off x="9652041" y="2717780"/>
            <a:ext cx="1625620" cy="47622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Seven rules, in order. The rule that fired is printed with the word.</a:t>
            </a:r>
            <a:endParaRPr lang="en-US" sz="850" dirty="0"/>
          </a:p>
        </p:txBody>
      </p:sp>
      <p:sp>
        <p:nvSpPr>
          <p:cNvPr id="59" name="Shape 52"/>
          <p:cNvSpPr/>
          <p:nvPr/>
        </p:nvSpPr>
        <p:spPr>
          <a:xfrm>
            <a:off x="9652041" y="3429000"/>
            <a:ext cx="1460480" cy="2603480"/>
          </a:xfrm>
          <a:prstGeom prst="roundRect">
            <a:avLst>
              <a:gd name="adj" fmla="val 13042"/>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60" name="Image 5" descr="Six phases: app-phases-07-verdict-390-320c">    </p:cNvPr>
          <p:cNvPicPr>
            <a:picLocks noChangeAspect="1"/>
          </p:cNvPicPr>
          <p:nvPr/>
        </p:nvPicPr>
        <p:blipFill>
          <a:blip r:embed="rId6"/>
          <a:stretch>
            <a:fillRect/>
          </a:stretch>
        </p:blipFill>
        <p:spPr>
          <a:xfrm>
            <a:off x="9690080" y="3467130"/>
            <a:ext cx="1384310" cy="252731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GEMINI CHECKS THE SENSOR</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11 / 20</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812810"/>
            <a:ext cx="4317980" cy="787390"/>
          </a:xfrm>
          <a:prstGeom prst="rect">
            <a:avLst/>
          </a:prstGeom>
          <a:noFill/>
          <a:ln/>
        </p:spPr>
        <p:txBody>
          <a:bodyPr wrap="square" lIns="0" tIns="0" rIns="0" bIns="0" rtlCol="0" anchor="t"/>
          <a:lstStyle/>
          <a:p>
            <a:pPr algn="l" indent="0" marL="0">
              <a:lnSpc>
                <a:spcPct val="100000"/>
              </a:lnSpc>
              <a:buNone/>
            </a:pPr>
            <a:r>
              <a:rPr lang="en-US" sz="2808" spc="-42" kern="0" dirty="0">
                <a:solidFill>
                  <a:srgbClr val="16181B"/>
                </a:solidFill>
                <a:latin typeface="Instrument Serif" pitchFamily="34" charset="0"/>
                <a:ea typeface="Instrument Serif" pitchFamily="34" charset="-122"/>
                <a:cs typeface="Instrument Serif" pitchFamily="34" charset="-120"/>
              </a:rPr>
              <a:t>Gemini checks what the sensor says.</a:t>
            </a:r>
            <a:endParaRPr lang="en-US" sz="2808" dirty="0"/>
          </a:p>
        </p:txBody>
      </p:sp>
      <p:sp>
        <p:nvSpPr>
          <p:cNvPr id="11" name="Text 8"/>
          <p:cNvSpPr/>
          <p:nvPr/>
        </p:nvSpPr>
        <p:spPr>
          <a:xfrm>
            <a:off x="761970" y="1904970"/>
            <a:ext cx="4063959" cy="609630"/>
          </a:xfrm>
          <a:prstGeom prst="rect">
            <a:avLst/>
          </a:prstGeom>
          <a:noFill/>
          <a:ln/>
        </p:spPr>
        <p:txBody>
          <a:bodyPr wrap="square" lIns="0" tIns="0" rIns="0" bIns="0" rtlCol="0" anchor="t"/>
          <a:lstStyle/>
          <a:p>
            <a:pPr algn="l" indent="0" marL="0">
              <a:lnSpc>
                <a:spcPct val="145000"/>
              </a:lnSpc>
              <a:buNone/>
            </a:pPr>
            <a:r>
              <a:rPr lang="en-US" sz="1050" dirty="0">
                <a:solidFill>
                  <a:srgbClr val="4A4E55"/>
                </a:solidFill>
                <a:latin typeface="Inter" pitchFamily="34" charset="0"/>
                <a:ea typeface="Inter" pitchFamily="34" charset="-122"/>
                <a:cs typeface="Inter" pitchFamily="34" charset="-120"/>
              </a:rPr>
              <a:t>After the run, Gemini reads the label, looks at the cup and checks for a recall, then compares that with the sensor. Six steps, each logged with its own time.</a:t>
            </a:r>
            <a:endParaRPr lang="en-US" sz="1050" dirty="0"/>
          </a:p>
        </p:txBody>
      </p:sp>
      <p:sp>
        <p:nvSpPr>
          <p:cNvPr id="12" name="Shape 10"/>
          <p:cNvSpPr/>
          <p:nvPr/>
        </p:nvSpPr>
        <p:spPr>
          <a:xfrm>
            <a:off x="761970" y="2984510"/>
            <a:ext cx="228600" cy="228600"/>
          </a:xfrm>
          <a:prstGeom prst="ellipse">
            <a:avLst/>
          </a:prstGeom>
          <a:solidFill>
            <a:srgbClr val="4FB3FF">
              <a:alpha val="14000"/>
            </a:srgbClr>
          </a:solidFill>
          <a:ln/>
        </p:spPr>
      </p:sp>
      <p:sp>
        <p:nvSpPr>
          <p:cNvPr id="13" name="Text 10"/>
          <p:cNvSpPr/>
          <p:nvPr/>
        </p:nvSpPr>
        <p:spPr>
          <a:xfrm>
            <a:off x="761970" y="3028950"/>
            <a:ext cx="228600" cy="165141"/>
          </a:xfrm>
          <a:prstGeom prst="rect">
            <a:avLst/>
          </a:prstGeom>
          <a:noFill/>
          <a:ln/>
        </p:spPr>
        <p:txBody>
          <a:bodyPr wrap="square" lIns="0" tIns="0" rIns="0" bIns="0" rtlCol="0" anchor="t"/>
          <a:lstStyle/>
          <a:p>
            <a:pPr algn="ctr" indent="0" marL="0">
              <a:lnSpc>
                <a:spcPct val="130000"/>
              </a:lnSpc>
              <a:buNone/>
            </a:pPr>
            <a:r>
              <a:rPr lang="en-US" sz="850" b="1" dirty="0">
                <a:solidFill>
                  <a:srgbClr val="16181B"/>
                </a:solidFill>
                <a:latin typeface="JetBrains Mono" pitchFamily="34" charset="0"/>
                <a:ea typeface="JetBrains Mono" pitchFamily="34" charset="-122"/>
                <a:cs typeface="JetBrains Mono" pitchFamily="34" charset="-120"/>
              </a:rPr>
              <a:t>1</a:t>
            </a:r>
            <a:endParaRPr lang="en-US" sz="850" dirty="0"/>
          </a:p>
        </p:txBody>
      </p:sp>
      <p:sp>
        <p:nvSpPr>
          <p:cNvPr id="14" name="Text 11"/>
          <p:cNvSpPr/>
          <p:nvPr/>
        </p:nvSpPr>
        <p:spPr>
          <a:xfrm>
            <a:off x="1104870" y="3003530"/>
            <a:ext cx="2540020" cy="215890"/>
          </a:xfrm>
          <a:prstGeom prst="rect">
            <a:avLst/>
          </a:prstGeom>
          <a:noFill/>
          <a:ln/>
        </p:spPr>
        <p:txBody>
          <a:bodyPr wrap="square" lIns="0" tIns="0" rIns="0" bIns="0" rtlCol="0" anchor="t"/>
          <a:lstStyle/>
          <a:p>
            <a:pPr algn="l" indent="0" marL="0">
              <a:lnSpc>
                <a:spcPct val="140000"/>
              </a:lnSpc>
              <a:buNone/>
            </a:pPr>
            <a:r>
              <a:rPr lang="en-US" sz="1050" b="1" dirty="0">
                <a:solidFill>
                  <a:srgbClr val="16181B"/>
                </a:solidFill>
                <a:latin typeface="Inter" pitchFamily="34" charset="0"/>
                <a:ea typeface="Inter" pitchFamily="34" charset="-122"/>
                <a:cs typeface="Inter" pitchFamily="34" charset="-120"/>
              </a:rPr>
              <a:t>Read the label</a:t>
            </a:r>
            <a:endParaRPr lang="en-US" sz="1050" dirty="0"/>
          </a:p>
        </p:txBody>
      </p:sp>
      <p:sp>
        <p:nvSpPr>
          <p:cNvPr id="15" name="Text 12"/>
          <p:cNvSpPr/>
          <p:nvPr/>
        </p:nvSpPr>
        <p:spPr>
          <a:xfrm>
            <a:off x="3556010" y="3035259"/>
            <a:ext cx="1270010" cy="152430"/>
          </a:xfrm>
          <a:prstGeom prst="rect">
            <a:avLst/>
          </a:prstGeom>
          <a:noFill/>
          <a:ln/>
        </p:spPr>
        <p:txBody>
          <a:bodyPr wrap="square" lIns="0" tIns="0" rIns="0" bIns="0" rtlCol="0" anchor="t"/>
          <a:lstStyle/>
          <a:p>
            <a:pPr algn="r" indent="0" marL="0">
              <a:lnSpc>
                <a:spcPct val="130000"/>
              </a:lnSpc>
              <a:buNone/>
            </a:pPr>
            <a:r>
              <a:rPr lang="en-US" sz="800" dirty="0">
                <a:solidFill>
                  <a:srgbClr val="7C8188"/>
                </a:solidFill>
                <a:latin typeface="JetBrains Mono" pitchFamily="34" charset="0"/>
                <a:ea typeface="JetBrains Mono" pitchFamily="34" charset="-122"/>
                <a:cs typeface="JetBrains Mono" pitchFamily="34" charset="-120"/>
              </a:rPr>
              <a:t>gemini vision</a:t>
            </a:r>
            <a:endParaRPr lang="en-US" sz="800" dirty="0"/>
          </a:p>
        </p:txBody>
      </p:sp>
      <p:sp>
        <p:nvSpPr>
          <p:cNvPr id="16" name="Shape 14"/>
          <p:cNvSpPr/>
          <p:nvPr/>
        </p:nvSpPr>
        <p:spPr>
          <a:xfrm>
            <a:off x="761970" y="3340120"/>
            <a:ext cx="228600" cy="228600"/>
          </a:xfrm>
          <a:prstGeom prst="ellipse">
            <a:avLst/>
          </a:prstGeom>
          <a:solidFill>
            <a:srgbClr val="4FB3FF">
              <a:alpha val="14000"/>
            </a:srgbClr>
          </a:solidFill>
          <a:ln/>
        </p:spPr>
      </p:sp>
      <p:sp>
        <p:nvSpPr>
          <p:cNvPr id="17" name="Text 14"/>
          <p:cNvSpPr/>
          <p:nvPr/>
        </p:nvSpPr>
        <p:spPr>
          <a:xfrm>
            <a:off x="761970" y="3384560"/>
            <a:ext cx="228600" cy="165141"/>
          </a:xfrm>
          <a:prstGeom prst="rect">
            <a:avLst/>
          </a:prstGeom>
          <a:noFill/>
          <a:ln/>
        </p:spPr>
        <p:txBody>
          <a:bodyPr wrap="square" lIns="0" tIns="0" rIns="0" bIns="0" rtlCol="0" anchor="t"/>
          <a:lstStyle/>
          <a:p>
            <a:pPr algn="ctr" indent="0" marL="0">
              <a:lnSpc>
                <a:spcPct val="130000"/>
              </a:lnSpc>
              <a:buNone/>
            </a:pPr>
            <a:r>
              <a:rPr lang="en-US" sz="850" b="1" dirty="0">
                <a:solidFill>
                  <a:srgbClr val="16181B"/>
                </a:solidFill>
                <a:latin typeface="JetBrains Mono" pitchFamily="34" charset="0"/>
                <a:ea typeface="JetBrains Mono" pitchFamily="34" charset="-122"/>
                <a:cs typeface="JetBrains Mono" pitchFamily="34" charset="-120"/>
              </a:rPr>
              <a:t>2</a:t>
            </a:r>
            <a:endParaRPr lang="en-US" sz="850" dirty="0"/>
          </a:p>
        </p:txBody>
      </p:sp>
      <p:sp>
        <p:nvSpPr>
          <p:cNvPr id="18" name="Text 15"/>
          <p:cNvSpPr/>
          <p:nvPr/>
        </p:nvSpPr>
        <p:spPr>
          <a:xfrm>
            <a:off x="1104870" y="3359140"/>
            <a:ext cx="2540020" cy="215890"/>
          </a:xfrm>
          <a:prstGeom prst="rect">
            <a:avLst/>
          </a:prstGeom>
          <a:noFill/>
          <a:ln/>
        </p:spPr>
        <p:txBody>
          <a:bodyPr wrap="square" lIns="0" tIns="0" rIns="0" bIns="0" rtlCol="0" anchor="t"/>
          <a:lstStyle/>
          <a:p>
            <a:pPr algn="l" indent="0" marL="0">
              <a:lnSpc>
                <a:spcPct val="140000"/>
              </a:lnSpc>
              <a:buNone/>
            </a:pPr>
            <a:r>
              <a:rPr lang="en-US" sz="1050" b="1" dirty="0">
                <a:solidFill>
                  <a:srgbClr val="16181B"/>
                </a:solidFill>
                <a:latin typeface="Inter" pitchFamily="34" charset="0"/>
                <a:ea typeface="Inter" pitchFamily="34" charset="-122"/>
                <a:cs typeface="Inter" pitchFamily="34" charset="-120"/>
              </a:rPr>
              <a:t>Look at the cup</a:t>
            </a:r>
            <a:endParaRPr lang="en-US" sz="1050" dirty="0"/>
          </a:p>
        </p:txBody>
      </p:sp>
      <p:sp>
        <p:nvSpPr>
          <p:cNvPr id="19" name="Text 16"/>
          <p:cNvSpPr/>
          <p:nvPr/>
        </p:nvSpPr>
        <p:spPr>
          <a:xfrm>
            <a:off x="3556010" y="3390870"/>
            <a:ext cx="1270010" cy="152430"/>
          </a:xfrm>
          <a:prstGeom prst="rect">
            <a:avLst/>
          </a:prstGeom>
          <a:noFill/>
          <a:ln/>
        </p:spPr>
        <p:txBody>
          <a:bodyPr wrap="square" lIns="0" tIns="0" rIns="0" bIns="0" rtlCol="0" anchor="t"/>
          <a:lstStyle/>
          <a:p>
            <a:pPr algn="r" indent="0" marL="0">
              <a:lnSpc>
                <a:spcPct val="130000"/>
              </a:lnSpc>
              <a:buNone/>
            </a:pPr>
            <a:r>
              <a:rPr lang="en-US" sz="800" dirty="0">
                <a:solidFill>
                  <a:srgbClr val="7C8188"/>
                </a:solidFill>
                <a:latin typeface="JetBrains Mono" pitchFamily="34" charset="0"/>
                <a:ea typeface="JetBrains Mono" pitchFamily="34" charset="-122"/>
                <a:cs typeface="JetBrains Mono" pitchFamily="34" charset="-120"/>
              </a:rPr>
              <a:t>gemini vision</a:t>
            </a:r>
            <a:endParaRPr lang="en-US" sz="800" dirty="0"/>
          </a:p>
        </p:txBody>
      </p:sp>
      <p:sp>
        <p:nvSpPr>
          <p:cNvPr id="20" name="Shape 18"/>
          <p:cNvSpPr/>
          <p:nvPr/>
        </p:nvSpPr>
        <p:spPr>
          <a:xfrm>
            <a:off x="761970" y="3695730"/>
            <a:ext cx="228600" cy="228600"/>
          </a:xfrm>
          <a:prstGeom prst="ellipse">
            <a:avLst/>
          </a:prstGeom>
          <a:solidFill>
            <a:srgbClr val="4FB3FF">
              <a:alpha val="14000"/>
            </a:srgbClr>
          </a:solidFill>
          <a:ln/>
        </p:spPr>
      </p:sp>
      <p:sp>
        <p:nvSpPr>
          <p:cNvPr id="21" name="Text 18"/>
          <p:cNvSpPr/>
          <p:nvPr/>
        </p:nvSpPr>
        <p:spPr>
          <a:xfrm>
            <a:off x="761970" y="3740170"/>
            <a:ext cx="228600" cy="165141"/>
          </a:xfrm>
          <a:prstGeom prst="rect">
            <a:avLst/>
          </a:prstGeom>
          <a:noFill/>
          <a:ln/>
        </p:spPr>
        <p:txBody>
          <a:bodyPr wrap="square" lIns="0" tIns="0" rIns="0" bIns="0" rtlCol="0" anchor="t"/>
          <a:lstStyle/>
          <a:p>
            <a:pPr algn="ctr" indent="0" marL="0">
              <a:lnSpc>
                <a:spcPct val="130000"/>
              </a:lnSpc>
              <a:buNone/>
            </a:pPr>
            <a:r>
              <a:rPr lang="en-US" sz="850" b="1" dirty="0">
                <a:solidFill>
                  <a:srgbClr val="16181B"/>
                </a:solidFill>
                <a:latin typeface="JetBrains Mono" pitchFamily="34" charset="0"/>
                <a:ea typeface="JetBrains Mono" pitchFamily="34" charset="-122"/>
                <a:cs typeface="JetBrains Mono" pitchFamily="34" charset="-120"/>
              </a:rPr>
              <a:t>3</a:t>
            </a:r>
            <a:endParaRPr lang="en-US" sz="850" dirty="0"/>
          </a:p>
        </p:txBody>
      </p:sp>
      <p:sp>
        <p:nvSpPr>
          <p:cNvPr id="22" name="Text 19"/>
          <p:cNvSpPr/>
          <p:nvPr/>
        </p:nvSpPr>
        <p:spPr>
          <a:xfrm>
            <a:off x="1104870" y="3714750"/>
            <a:ext cx="2540020" cy="215890"/>
          </a:xfrm>
          <a:prstGeom prst="rect">
            <a:avLst/>
          </a:prstGeom>
          <a:noFill/>
          <a:ln/>
        </p:spPr>
        <p:txBody>
          <a:bodyPr wrap="square" lIns="0" tIns="0" rIns="0" bIns="0" rtlCol="0" anchor="t"/>
          <a:lstStyle/>
          <a:p>
            <a:pPr algn="l" indent="0" marL="0">
              <a:lnSpc>
                <a:spcPct val="140000"/>
              </a:lnSpc>
              <a:buNone/>
            </a:pPr>
            <a:r>
              <a:rPr lang="en-US" sz="1050" b="1" dirty="0">
                <a:solidFill>
                  <a:srgbClr val="16181B"/>
                </a:solidFill>
                <a:latin typeface="Inter" pitchFamily="34" charset="0"/>
                <a:ea typeface="Inter" pitchFamily="34" charset="-122"/>
                <a:cs typeface="Inter" pitchFamily="34" charset="-120"/>
              </a:rPr>
              <a:t>Check for a recall</a:t>
            </a:r>
            <a:endParaRPr lang="en-US" sz="1050" dirty="0"/>
          </a:p>
        </p:txBody>
      </p:sp>
      <p:sp>
        <p:nvSpPr>
          <p:cNvPr id="23" name="Text 20"/>
          <p:cNvSpPr/>
          <p:nvPr/>
        </p:nvSpPr>
        <p:spPr>
          <a:xfrm>
            <a:off x="3556010" y="3746480"/>
            <a:ext cx="1270010" cy="152430"/>
          </a:xfrm>
          <a:prstGeom prst="rect">
            <a:avLst/>
          </a:prstGeom>
          <a:noFill/>
          <a:ln/>
        </p:spPr>
        <p:txBody>
          <a:bodyPr wrap="square" lIns="0" tIns="0" rIns="0" bIns="0" rtlCol="0" anchor="t"/>
          <a:lstStyle/>
          <a:p>
            <a:pPr algn="r" indent="0" marL="0">
              <a:lnSpc>
                <a:spcPct val="130000"/>
              </a:lnSpc>
              <a:buNone/>
            </a:pPr>
            <a:r>
              <a:rPr lang="en-US" sz="800" dirty="0">
                <a:solidFill>
                  <a:srgbClr val="7C8188"/>
                </a:solidFill>
                <a:latin typeface="JetBrains Mono" pitchFamily="34" charset="0"/>
                <a:ea typeface="JetBrains Mono" pitchFamily="34" charset="-122"/>
                <a:cs typeface="JetBrains Mono" pitchFamily="34" charset="-120"/>
              </a:rPr>
              <a:t>openFDA</a:t>
            </a:r>
            <a:endParaRPr lang="en-US" sz="800" dirty="0"/>
          </a:p>
        </p:txBody>
      </p:sp>
      <p:sp>
        <p:nvSpPr>
          <p:cNvPr id="24" name="Shape 22"/>
          <p:cNvSpPr/>
          <p:nvPr/>
        </p:nvSpPr>
        <p:spPr>
          <a:xfrm>
            <a:off x="761970" y="4051341"/>
            <a:ext cx="228600" cy="228600"/>
          </a:xfrm>
          <a:prstGeom prst="ellipse">
            <a:avLst/>
          </a:prstGeom>
          <a:solidFill>
            <a:srgbClr val="4FB3FF">
              <a:alpha val="14000"/>
            </a:srgbClr>
          </a:solidFill>
          <a:ln/>
        </p:spPr>
      </p:sp>
      <p:sp>
        <p:nvSpPr>
          <p:cNvPr id="25" name="Text 22"/>
          <p:cNvSpPr/>
          <p:nvPr/>
        </p:nvSpPr>
        <p:spPr>
          <a:xfrm>
            <a:off x="761970" y="4095780"/>
            <a:ext cx="228600" cy="165141"/>
          </a:xfrm>
          <a:prstGeom prst="rect">
            <a:avLst/>
          </a:prstGeom>
          <a:noFill/>
          <a:ln/>
        </p:spPr>
        <p:txBody>
          <a:bodyPr wrap="square" lIns="0" tIns="0" rIns="0" bIns="0" rtlCol="0" anchor="t"/>
          <a:lstStyle/>
          <a:p>
            <a:pPr algn="ctr" indent="0" marL="0">
              <a:lnSpc>
                <a:spcPct val="130000"/>
              </a:lnSpc>
              <a:buNone/>
            </a:pPr>
            <a:r>
              <a:rPr lang="en-US" sz="850" b="1" dirty="0">
                <a:solidFill>
                  <a:srgbClr val="16181B"/>
                </a:solidFill>
                <a:latin typeface="JetBrains Mono" pitchFamily="34" charset="0"/>
                <a:ea typeface="JetBrains Mono" pitchFamily="34" charset="-122"/>
                <a:cs typeface="JetBrains Mono" pitchFamily="34" charset="-120"/>
              </a:rPr>
              <a:t>4</a:t>
            </a:r>
            <a:endParaRPr lang="en-US" sz="850" dirty="0"/>
          </a:p>
        </p:txBody>
      </p:sp>
      <p:sp>
        <p:nvSpPr>
          <p:cNvPr id="26" name="Text 23"/>
          <p:cNvSpPr/>
          <p:nvPr/>
        </p:nvSpPr>
        <p:spPr>
          <a:xfrm>
            <a:off x="1104870" y="4070360"/>
            <a:ext cx="2540020" cy="215890"/>
          </a:xfrm>
          <a:prstGeom prst="rect">
            <a:avLst/>
          </a:prstGeom>
          <a:noFill/>
          <a:ln/>
        </p:spPr>
        <p:txBody>
          <a:bodyPr wrap="square" lIns="0" tIns="0" rIns="0" bIns="0" rtlCol="0" anchor="t"/>
          <a:lstStyle/>
          <a:p>
            <a:pPr algn="l" indent="0" marL="0">
              <a:lnSpc>
                <a:spcPct val="140000"/>
              </a:lnSpc>
              <a:buNone/>
            </a:pPr>
            <a:r>
              <a:rPr lang="en-US" sz="1050" b="1" dirty="0">
                <a:solidFill>
                  <a:srgbClr val="16181B"/>
                </a:solidFill>
                <a:latin typeface="Inter" pitchFamily="34" charset="0"/>
                <a:ea typeface="Inter" pitchFamily="34" charset="-122"/>
                <a:cs typeface="Inter" pitchFamily="34" charset="-120"/>
              </a:rPr>
              <a:t>Check expiry, drug and lot</a:t>
            </a:r>
            <a:endParaRPr lang="en-US" sz="1050" dirty="0"/>
          </a:p>
        </p:txBody>
      </p:sp>
      <p:sp>
        <p:nvSpPr>
          <p:cNvPr id="27" name="Text 24"/>
          <p:cNvSpPr/>
          <p:nvPr/>
        </p:nvSpPr>
        <p:spPr>
          <a:xfrm>
            <a:off x="3556010" y="4102090"/>
            <a:ext cx="1270010" cy="152430"/>
          </a:xfrm>
          <a:prstGeom prst="rect">
            <a:avLst/>
          </a:prstGeom>
          <a:noFill/>
          <a:ln/>
        </p:spPr>
        <p:txBody>
          <a:bodyPr wrap="square" lIns="0" tIns="0" rIns="0" bIns="0" rtlCol="0" anchor="t"/>
          <a:lstStyle/>
          <a:p>
            <a:pPr algn="r" indent="0" marL="0">
              <a:lnSpc>
                <a:spcPct val="130000"/>
              </a:lnSpc>
              <a:buNone/>
            </a:pPr>
            <a:r>
              <a:rPr lang="en-US" sz="800" dirty="0">
                <a:solidFill>
                  <a:srgbClr val="7C8188"/>
                </a:solidFill>
                <a:latin typeface="JetBrains Mono" pitchFamily="34" charset="0"/>
                <a:ea typeface="JetBrains Mono" pitchFamily="34" charset="-122"/>
                <a:cs typeface="JetBrains Mono" pitchFamily="34" charset="-120"/>
              </a:rPr>
              <a:t>code</a:t>
            </a:r>
            <a:endParaRPr lang="en-US" sz="800" dirty="0"/>
          </a:p>
        </p:txBody>
      </p:sp>
      <p:sp>
        <p:nvSpPr>
          <p:cNvPr id="28" name="Shape 26"/>
          <p:cNvSpPr/>
          <p:nvPr/>
        </p:nvSpPr>
        <p:spPr>
          <a:xfrm>
            <a:off x="761970" y="4406859"/>
            <a:ext cx="228600" cy="228600"/>
          </a:xfrm>
          <a:prstGeom prst="ellipse">
            <a:avLst/>
          </a:prstGeom>
          <a:solidFill>
            <a:srgbClr val="4FB3FF">
              <a:alpha val="14000"/>
            </a:srgbClr>
          </a:solidFill>
          <a:ln/>
        </p:spPr>
      </p:sp>
      <p:sp>
        <p:nvSpPr>
          <p:cNvPr id="29" name="Text 26"/>
          <p:cNvSpPr/>
          <p:nvPr/>
        </p:nvSpPr>
        <p:spPr>
          <a:xfrm>
            <a:off x="761970" y="4451391"/>
            <a:ext cx="228600" cy="165141"/>
          </a:xfrm>
          <a:prstGeom prst="rect">
            <a:avLst/>
          </a:prstGeom>
          <a:noFill/>
          <a:ln/>
        </p:spPr>
        <p:txBody>
          <a:bodyPr wrap="square" lIns="0" tIns="0" rIns="0" bIns="0" rtlCol="0" anchor="t"/>
          <a:lstStyle/>
          <a:p>
            <a:pPr algn="ctr" indent="0" marL="0">
              <a:lnSpc>
                <a:spcPct val="130000"/>
              </a:lnSpc>
              <a:buNone/>
            </a:pPr>
            <a:r>
              <a:rPr lang="en-US" sz="850" b="1" dirty="0">
                <a:solidFill>
                  <a:srgbClr val="16181B"/>
                </a:solidFill>
                <a:latin typeface="JetBrains Mono" pitchFamily="34" charset="0"/>
                <a:ea typeface="JetBrains Mono" pitchFamily="34" charset="-122"/>
                <a:cs typeface="JetBrains Mono" pitchFamily="34" charset="-120"/>
              </a:rPr>
              <a:t>5</a:t>
            </a:r>
            <a:endParaRPr lang="en-US" sz="850" dirty="0"/>
          </a:p>
        </p:txBody>
      </p:sp>
      <p:sp>
        <p:nvSpPr>
          <p:cNvPr id="30" name="Text 27"/>
          <p:cNvSpPr/>
          <p:nvPr/>
        </p:nvSpPr>
        <p:spPr>
          <a:xfrm>
            <a:off x="1104870" y="4425970"/>
            <a:ext cx="2540020" cy="215890"/>
          </a:xfrm>
          <a:prstGeom prst="rect">
            <a:avLst/>
          </a:prstGeom>
          <a:noFill/>
          <a:ln/>
        </p:spPr>
        <p:txBody>
          <a:bodyPr wrap="square" lIns="0" tIns="0" rIns="0" bIns="0" rtlCol="0" anchor="t"/>
          <a:lstStyle/>
          <a:p>
            <a:pPr algn="l" indent="0" marL="0">
              <a:lnSpc>
                <a:spcPct val="140000"/>
              </a:lnSpc>
              <a:buNone/>
            </a:pPr>
            <a:r>
              <a:rPr lang="en-US" sz="1050" b="1" dirty="0">
                <a:solidFill>
                  <a:srgbClr val="16181B"/>
                </a:solidFill>
                <a:latin typeface="Inter" pitchFamily="34" charset="0"/>
                <a:ea typeface="Inter" pitchFamily="34" charset="-122"/>
                <a:cs typeface="Inter" pitchFamily="34" charset="-120"/>
              </a:rPr>
              <a:t>Compare with the sensor</a:t>
            </a:r>
            <a:endParaRPr lang="en-US" sz="1050" dirty="0"/>
          </a:p>
        </p:txBody>
      </p:sp>
      <p:sp>
        <p:nvSpPr>
          <p:cNvPr id="31" name="Text 28"/>
          <p:cNvSpPr/>
          <p:nvPr/>
        </p:nvSpPr>
        <p:spPr>
          <a:xfrm>
            <a:off x="3556010" y="4457700"/>
            <a:ext cx="1270010" cy="152430"/>
          </a:xfrm>
          <a:prstGeom prst="rect">
            <a:avLst/>
          </a:prstGeom>
          <a:noFill/>
          <a:ln/>
        </p:spPr>
        <p:txBody>
          <a:bodyPr wrap="square" lIns="0" tIns="0" rIns="0" bIns="0" rtlCol="0" anchor="t"/>
          <a:lstStyle/>
          <a:p>
            <a:pPr algn="r" indent="0" marL="0">
              <a:lnSpc>
                <a:spcPct val="130000"/>
              </a:lnSpc>
              <a:buNone/>
            </a:pPr>
            <a:r>
              <a:rPr lang="en-US" sz="800" dirty="0">
                <a:solidFill>
                  <a:srgbClr val="7C8188"/>
                </a:solidFill>
                <a:latin typeface="JetBrains Mono" pitchFamily="34" charset="0"/>
                <a:ea typeface="JetBrains Mono" pitchFamily="34" charset="-122"/>
                <a:cs typeface="JetBrains Mono" pitchFamily="34" charset="-120"/>
              </a:rPr>
              <a:t>code</a:t>
            </a:r>
            <a:endParaRPr lang="en-US" sz="800" dirty="0"/>
          </a:p>
        </p:txBody>
      </p:sp>
      <p:sp>
        <p:nvSpPr>
          <p:cNvPr id="32" name="Shape 30"/>
          <p:cNvSpPr/>
          <p:nvPr/>
        </p:nvSpPr>
        <p:spPr>
          <a:xfrm>
            <a:off x="761970" y="4762470"/>
            <a:ext cx="228600" cy="228600"/>
          </a:xfrm>
          <a:prstGeom prst="ellipse">
            <a:avLst/>
          </a:prstGeom>
          <a:solidFill>
            <a:srgbClr val="4FB3FF">
              <a:alpha val="14000"/>
            </a:srgbClr>
          </a:solidFill>
          <a:ln/>
        </p:spPr>
      </p:sp>
      <p:sp>
        <p:nvSpPr>
          <p:cNvPr id="33" name="Text 30"/>
          <p:cNvSpPr/>
          <p:nvPr/>
        </p:nvSpPr>
        <p:spPr>
          <a:xfrm>
            <a:off x="761970" y="4806909"/>
            <a:ext cx="228600" cy="165141"/>
          </a:xfrm>
          <a:prstGeom prst="rect">
            <a:avLst/>
          </a:prstGeom>
          <a:noFill/>
          <a:ln/>
        </p:spPr>
        <p:txBody>
          <a:bodyPr wrap="square" lIns="0" tIns="0" rIns="0" bIns="0" rtlCol="0" anchor="t"/>
          <a:lstStyle/>
          <a:p>
            <a:pPr algn="ctr" indent="0" marL="0">
              <a:lnSpc>
                <a:spcPct val="130000"/>
              </a:lnSpc>
              <a:buNone/>
            </a:pPr>
            <a:r>
              <a:rPr lang="en-US" sz="850" b="1" dirty="0">
                <a:solidFill>
                  <a:srgbClr val="16181B"/>
                </a:solidFill>
                <a:latin typeface="JetBrains Mono" pitchFamily="34" charset="0"/>
                <a:ea typeface="JetBrains Mono" pitchFamily="34" charset="-122"/>
                <a:cs typeface="JetBrains Mono" pitchFamily="34" charset="-120"/>
              </a:rPr>
              <a:t>6</a:t>
            </a:r>
            <a:endParaRPr lang="en-US" sz="850" dirty="0"/>
          </a:p>
        </p:txBody>
      </p:sp>
      <p:sp>
        <p:nvSpPr>
          <p:cNvPr id="34" name="Text 31"/>
          <p:cNvSpPr/>
          <p:nvPr/>
        </p:nvSpPr>
        <p:spPr>
          <a:xfrm>
            <a:off x="1104870" y="4781580"/>
            <a:ext cx="2540020" cy="215890"/>
          </a:xfrm>
          <a:prstGeom prst="rect">
            <a:avLst/>
          </a:prstGeom>
          <a:noFill/>
          <a:ln/>
        </p:spPr>
        <p:txBody>
          <a:bodyPr wrap="square" lIns="0" tIns="0" rIns="0" bIns="0" rtlCol="0" anchor="t"/>
          <a:lstStyle/>
          <a:p>
            <a:pPr algn="l" indent="0" marL="0">
              <a:lnSpc>
                <a:spcPct val="140000"/>
              </a:lnSpc>
              <a:buNone/>
            </a:pPr>
            <a:r>
              <a:rPr lang="en-US" sz="1050" b="1" dirty="0">
                <a:solidFill>
                  <a:srgbClr val="16181B"/>
                </a:solidFill>
                <a:latin typeface="Inter" pitchFamily="34" charset="0"/>
                <a:ea typeface="Inter" pitchFamily="34" charset="-122"/>
                <a:cs typeface="Inter" pitchFamily="34" charset="-120"/>
              </a:rPr>
              <a:t>Say it in plain words</a:t>
            </a:r>
            <a:endParaRPr lang="en-US" sz="1050" dirty="0"/>
          </a:p>
        </p:txBody>
      </p:sp>
      <p:sp>
        <p:nvSpPr>
          <p:cNvPr id="35" name="Text 32"/>
          <p:cNvSpPr/>
          <p:nvPr/>
        </p:nvSpPr>
        <p:spPr>
          <a:xfrm>
            <a:off x="3556010" y="4813310"/>
            <a:ext cx="1270010" cy="152430"/>
          </a:xfrm>
          <a:prstGeom prst="rect">
            <a:avLst/>
          </a:prstGeom>
          <a:noFill/>
          <a:ln/>
        </p:spPr>
        <p:txBody>
          <a:bodyPr wrap="square" lIns="0" tIns="0" rIns="0" bIns="0" rtlCol="0" anchor="t"/>
          <a:lstStyle/>
          <a:p>
            <a:pPr algn="r" indent="0" marL="0">
              <a:lnSpc>
                <a:spcPct val="130000"/>
              </a:lnSpc>
              <a:buNone/>
            </a:pPr>
            <a:r>
              <a:rPr lang="en-US" sz="800" dirty="0">
                <a:solidFill>
                  <a:srgbClr val="7C8188"/>
                </a:solidFill>
                <a:latin typeface="JetBrains Mono" pitchFamily="34" charset="0"/>
                <a:ea typeface="JetBrains Mono" pitchFamily="34" charset="-122"/>
                <a:cs typeface="JetBrains Mono" pitchFamily="34" charset="-120"/>
              </a:rPr>
              <a:t>gemini · filtered</a:t>
            </a:r>
            <a:endParaRPr lang="en-US" sz="800" dirty="0"/>
          </a:p>
        </p:txBody>
      </p:sp>
      <p:sp>
        <p:nvSpPr>
          <p:cNvPr id="36" name="Shape 34"/>
          <p:cNvSpPr/>
          <p:nvPr/>
        </p:nvSpPr>
        <p:spPr>
          <a:xfrm>
            <a:off x="761970" y="5270510"/>
            <a:ext cx="4063959" cy="761970"/>
          </a:xfrm>
          <a:prstGeom prst="roundRect">
            <a:avLst>
              <a:gd name="adj" fmla="val 23329"/>
            </a:avLst>
          </a:prstGeom>
          <a:solidFill>
            <a:srgbClr val="5FD39A">
              <a:alpha val="16000"/>
            </a:srgbClr>
          </a:solidFill>
          <a:ln w="12700">
            <a:solidFill>
              <a:srgbClr val="5FD39A">
                <a:alpha val="45000"/>
              </a:srgbClr>
            </a:solidFill>
            <a:prstDash val="solid"/>
          </a:ln>
        </p:spPr>
      </p:sp>
      <p:sp>
        <p:nvSpPr>
          <p:cNvPr id="37" name="Text 34"/>
          <p:cNvSpPr/>
          <p:nvPr/>
        </p:nvSpPr>
        <p:spPr>
          <a:xfrm>
            <a:off x="939820" y="5410230"/>
            <a:ext cx="3708441" cy="381030"/>
          </a:xfrm>
          <a:prstGeom prst="rect">
            <a:avLst/>
          </a:prstGeom>
          <a:noFill/>
          <a:ln/>
        </p:spPr>
        <p:txBody>
          <a:bodyPr wrap="square" lIns="0" tIns="0" rIns="0" bIns="0" rtlCol="0" anchor="t"/>
          <a:lstStyle/>
          <a:p>
            <a:pPr algn="l" indent="0" marL="0">
              <a:lnSpc>
                <a:spcPct val="140000"/>
              </a:lnSpc>
              <a:buNone/>
            </a:pPr>
            <a:r>
              <a:rPr lang="en-US" sz="1000" dirty="0">
                <a:solidFill>
                  <a:srgbClr val="16181B"/>
                </a:solidFill>
                <a:latin typeface="Inter" pitchFamily="34" charset="0"/>
                <a:ea typeface="Inter" pitchFamily="34" charset="-122"/>
                <a:cs typeface="Inter" pitchFamily="34" charset="-120"/>
              </a:rPr>
              <a:t>The sensor decides. The checker explains and never changes the word. A pharmacist or doctor decides.</a:t>
            </a:r>
            <a:endParaRPr lang="en-US" sz="1000" dirty="0"/>
          </a:p>
        </p:txBody>
      </p:sp>
      <p:sp>
        <p:nvSpPr>
          <p:cNvPr id="38" name="Shape 36"/>
          <p:cNvSpPr/>
          <p:nvPr/>
        </p:nvSpPr>
        <p:spPr>
          <a:xfrm>
            <a:off x="5206959" y="1244590"/>
            <a:ext cx="1904970" cy="4063959"/>
          </a:xfrm>
          <a:prstGeom prst="roundRect">
            <a:avLst>
              <a:gd name="adj" fmla="val 12999"/>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39" name="Image 0" descr="Gemini checker: app-gemini-checker-steps-390-340c">    </p:cNvPr>
          <p:cNvPicPr>
            <a:picLocks noChangeAspect="1"/>
          </p:cNvPicPr>
          <p:nvPr/>
        </p:nvPicPr>
        <p:blipFill>
          <a:blip r:embed="rId1"/>
          <a:stretch>
            <a:fillRect/>
          </a:stretch>
        </p:blipFill>
        <p:spPr>
          <a:xfrm>
            <a:off x="5257800" y="1295430"/>
            <a:ext cx="1803380" cy="3962370"/>
          </a:xfrm>
          <a:prstGeom prst="rect">
            <a:avLst/>
          </a:prstGeom>
        </p:spPr>
      </p:pic>
      <p:sp>
        <p:nvSpPr>
          <p:cNvPr id="40" name="Text 37"/>
          <p:cNvSpPr/>
          <p:nvPr/>
        </p:nvSpPr>
        <p:spPr>
          <a:xfrm>
            <a:off x="5206959" y="5410230"/>
            <a:ext cx="190497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Checker · the step log</a:t>
            </a:r>
            <a:endParaRPr lang="en-US" sz="800" dirty="0"/>
          </a:p>
        </p:txBody>
      </p:sp>
      <p:sp>
        <p:nvSpPr>
          <p:cNvPr id="41" name="Shape 38"/>
          <p:cNvSpPr/>
          <p:nvPr/>
        </p:nvSpPr>
        <p:spPr>
          <a:xfrm>
            <a:off x="7302490" y="1244590"/>
            <a:ext cx="1904970" cy="4063959"/>
          </a:xfrm>
          <a:prstGeom prst="roundRect">
            <a:avLst>
              <a:gd name="adj" fmla="val 12999"/>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42" name="Image 1" descr="Gemini checker: app-gemini-checker-report-390-340c">    </p:cNvPr>
          <p:cNvPicPr>
            <a:picLocks noChangeAspect="1"/>
          </p:cNvPicPr>
          <p:nvPr/>
        </p:nvPicPr>
        <p:blipFill>
          <a:blip r:embed="rId2"/>
          <a:stretch>
            <a:fillRect/>
          </a:stretch>
        </p:blipFill>
        <p:spPr>
          <a:xfrm>
            <a:off x="7353330" y="1295430"/>
            <a:ext cx="1803380" cy="3962370"/>
          </a:xfrm>
          <a:prstGeom prst="rect">
            <a:avLst/>
          </a:prstGeom>
        </p:spPr>
      </p:pic>
      <p:sp>
        <p:nvSpPr>
          <p:cNvPr id="43" name="Text 40"/>
          <p:cNvSpPr/>
          <p:nvPr/>
        </p:nvSpPr>
        <p:spPr>
          <a:xfrm>
            <a:off x="7302490" y="5410230"/>
            <a:ext cx="190497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Checker · the report</a:t>
            </a:r>
            <a:endParaRPr lang="en-US" sz="800" dirty="0"/>
          </a:p>
        </p:txBody>
      </p:sp>
      <p:sp>
        <p:nvSpPr>
          <p:cNvPr id="44" name="Shape 40"/>
          <p:cNvSpPr/>
          <p:nvPr/>
        </p:nvSpPr>
        <p:spPr>
          <a:xfrm>
            <a:off x="9398020" y="1244590"/>
            <a:ext cx="1904970" cy="4063959"/>
          </a:xfrm>
          <a:prstGeom prst="roundRect">
            <a:avLst>
              <a:gd name="adj" fmla="val 12999"/>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45" name="Image 2" descr="Gemini checker: app-gemini-follower-open-390-340c">    </p:cNvPr>
          <p:cNvPicPr>
            <a:picLocks noChangeAspect="1"/>
          </p:cNvPicPr>
          <p:nvPr/>
        </p:nvPicPr>
        <p:blipFill>
          <a:blip r:embed="rId3"/>
          <a:stretch>
            <a:fillRect/>
          </a:stretch>
        </p:blipFill>
        <p:spPr>
          <a:xfrm>
            <a:off x="9448770" y="1295430"/>
            <a:ext cx="1803380" cy="3962370"/>
          </a:xfrm>
          <a:prstGeom prst="rect">
            <a:avLst/>
          </a:prstGeom>
        </p:spPr>
      </p:pic>
      <p:sp>
        <p:nvSpPr>
          <p:cNvPr id="46" name="Text 43"/>
          <p:cNvSpPr/>
          <p:nvPr/>
        </p:nvSpPr>
        <p:spPr>
          <a:xfrm>
            <a:off x="9398020" y="5410230"/>
            <a:ext cx="190497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Follower · on every screen</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THE WEBSITE</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12 / 20</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6349959" cy="476220"/>
          </a:xfrm>
          <a:prstGeom prst="rect">
            <a:avLst/>
          </a:prstGeom>
          <a:noFill/>
          <a:ln/>
        </p:spPr>
        <p:txBody>
          <a:bodyPr wrap="square" lIns="0" tIns="0" rIns="0" bIns="0" rtlCol="0" anchor="t"/>
          <a:lstStyle/>
          <a:p>
            <a:pPr algn="l" indent="0" marL="0">
              <a:lnSpc>
                <a:spcPct val="100000"/>
              </a:lnSpc>
              <a:buNone/>
            </a:pPr>
            <a:r>
              <a:rPr lang="en-US" sz="3120" spc="-47" kern="0" dirty="0">
                <a:solidFill>
                  <a:srgbClr val="16181B"/>
                </a:solidFill>
                <a:latin typeface="Instrument Serif" pitchFamily="34" charset="0"/>
                <a:ea typeface="Instrument Serif" pitchFamily="34" charset="-122"/>
                <a:cs typeface="Instrument Serif" pitchFamily="34" charset="-120"/>
              </a:rPr>
              <a:t>pill-site.vercel.app</a:t>
            </a:r>
            <a:endParaRPr lang="en-US" sz="3120" dirty="0"/>
          </a:p>
        </p:txBody>
      </p:sp>
      <p:sp>
        <p:nvSpPr>
          <p:cNvPr id="11" name="Text 8"/>
          <p:cNvSpPr/>
          <p:nvPr/>
        </p:nvSpPr>
        <p:spPr>
          <a:xfrm>
            <a:off x="761970" y="1625620"/>
            <a:ext cx="10159990" cy="495330"/>
          </a:xfrm>
          <a:prstGeom prst="rect">
            <a:avLst/>
          </a:prstGeom>
          <a:noFill/>
          <a:ln/>
        </p:spPr>
        <p:txBody>
          <a:bodyPr wrap="square" lIns="0" tIns="0" rIns="0" bIns="0" rtlCol="0" anchor="t"/>
          <a:lstStyle/>
          <a:p>
            <a:pPr algn="l" indent="0" marL="0">
              <a:lnSpc>
                <a:spcPct val="145000"/>
              </a:lnSpc>
              <a:buNone/>
            </a:pPr>
            <a:r>
              <a:rPr lang="en-US" sz="1250" dirty="0">
                <a:solidFill>
                  <a:srgbClr val="4A4E55"/>
                </a:solidFill>
                <a:latin typeface="Inter" pitchFamily="34" charset="0"/>
                <a:ea typeface="Inter" pitchFamily="34" charset="-122"/>
                <a:cs typeface="Inter" pitchFamily="34" charset="-120"/>
              </a:rPr>
              <a:t>Built code-first (Vite + anime.js) after a 16-persona panel scored a plain, honest page 8.0 against a copied storytelling site at 3.7. Words stay ink; colour lives in backgrounds and lines.</a:t>
            </a:r>
            <a:endParaRPr lang="en-US" sz="1250" dirty="0"/>
          </a:p>
        </p:txBody>
      </p:sp>
      <p:sp>
        <p:nvSpPr>
          <p:cNvPr id="12" name="Shape 10"/>
          <p:cNvSpPr/>
          <p:nvPr/>
        </p:nvSpPr>
        <p:spPr>
          <a:xfrm>
            <a:off x="761970" y="2286000"/>
            <a:ext cx="5460980" cy="3530590"/>
          </a:xfrm>
          <a:prstGeom prst="roundRect">
            <a:avLst>
              <a:gd name="adj" fmla="val 3957"/>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sp>
        <p:nvSpPr>
          <p:cNvPr id="13" name="Shape 11"/>
          <p:cNvSpPr/>
          <p:nvPr/>
        </p:nvSpPr>
        <p:spPr>
          <a:xfrm>
            <a:off x="901690" y="2381280"/>
            <a:ext cx="88880" cy="88880"/>
          </a:xfrm>
          <a:prstGeom prst="ellipse">
            <a:avLst/>
          </a:prstGeom>
          <a:solidFill>
            <a:srgbClr val="FF6159"/>
          </a:solidFill>
          <a:ln/>
        </p:spPr>
      </p:sp>
      <p:sp>
        <p:nvSpPr>
          <p:cNvPr id="14" name="Shape 12"/>
          <p:cNvSpPr/>
          <p:nvPr/>
        </p:nvSpPr>
        <p:spPr>
          <a:xfrm>
            <a:off x="1054120" y="2381280"/>
            <a:ext cx="88880" cy="88880"/>
          </a:xfrm>
          <a:prstGeom prst="ellipse">
            <a:avLst/>
          </a:prstGeom>
          <a:solidFill>
            <a:srgbClr val="FFBD2E"/>
          </a:solidFill>
          <a:ln/>
        </p:spPr>
      </p:sp>
      <p:sp>
        <p:nvSpPr>
          <p:cNvPr id="15" name="Shape 13"/>
          <p:cNvSpPr/>
          <p:nvPr/>
        </p:nvSpPr>
        <p:spPr>
          <a:xfrm>
            <a:off x="1206459" y="2381280"/>
            <a:ext cx="88880" cy="88880"/>
          </a:xfrm>
          <a:prstGeom prst="ellipse">
            <a:avLst/>
          </a:prstGeom>
          <a:solidFill>
            <a:srgbClr val="28C941"/>
          </a:solidFill>
          <a:ln/>
        </p:spPr>
      </p:sp>
      <p:pic>
        <p:nvPicPr>
          <p:cNvPr id="16" name="Image 0" descr="Website: figma-art-site-hero-1100">    </p:cNvPr>
          <p:cNvPicPr>
            <a:picLocks noChangeAspect="1"/>
          </p:cNvPicPr>
          <p:nvPr/>
        </p:nvPicPr>
        <p:blipFill>
          <a:blip r:embed="rId1"/>
          <a:stretch>
            <a:fillRect/>
          </a:stretch>
        </p:blipFill>
        <p:spPr>
          <a:xfrm>
            <a:off x="774680" y="2565441"/>
            <a:ext cx="5435559" cy="3238530"/>
          </a:xfrm>
          <a:prstGeom prst="rect">
            <a:avLst/>
          </a:prstGeom>
        </p:spPr>
      </p:pic>
      <p:sp>
        <p:nvSpPr>
          <p:cNvPr id="17" name="Text 14"/>
          <p:cNvSpPr/>
          <p:nvPr/>
        </p:nvSpPr>
        <p:spPr>
          <a:xfrm>
            <a:off x="761970" y="5880141"/>
            <a:ext cx="5460980"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Hero · the binary pill, drawn in characters by pill.js</a:t>
            </a:r>
            <a:endParaRPr lang="en-US" sz="850" dirty="0"/>
          </a:p>
        </p:txBody>
      </p:sp>
      <p:sp>
        <p:nvSpPr>
          <p:cNvPr id="18" name="Shape 15"/>
          <p:cNvSpPr/>
          <p:nvPr/>
        </p:nvSpPr>
        <p:spPr>
          <a:xfrm>
            <a:off x="6413510" y="2286000"/>
            <a:ext cx="5016490" cy="1689080"/>
          </a:xfrm>
          <a:prstGeom prst="roundRect">
            <a:avLst>
              <a:gd name="adj" fmla="val 8272"/>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sp>
        <p:nvSpPr>
          <p:cNvPr id="19" name="Shape 16"/>
          <p:cNvSpPr/>
          <p:nvPr/>
        </p:nvSpPr>
        <p:spPr>
          <a:xfrm>
            <a:off x="6553230" y="2381280"/>
            <a:ext cx="88880" cy="88880"/>
          </a:xfrm>
          <a:prstGeom prst="ellipse">
            <a:avLst/>
          </a:prstGeom>
          <a:solidFill>
            <a:srgbClr val="FF6159"/>
          </a:solidFill>
          <a:ln/>
        </p:spPr>
      </p:sp>
      <p:sp>
        <p:nvSpPr>
          <p:cNvPr id="20" name="Shape 17"/>
          <p:cNvSpPr/>
          <p:nvPr/>
        </p:nvSpPr>
        <p:spPr>
          <a:xfrm>
            <a:off x="6705570" y="2381280"/>
            <a:ext cx="88880" cy="88880"/>
          </a:xfrm>
          <a:prstGeom prst="ellipse">
            <a:avLst/>
          </a:prstGeom>
          <a:solidFill>
            <a:srgbClr val="FFBD2E"/>
          </a:solidFill>
          <a:ln/>
        </p:spPr>
      </p:sp>
      <p:sp>
        <p:nvSpPr>
          <p:cNvPr id="21" name="Shape 18"/>
          <p:cNvSpPr/>
          <p:nvPr/>
        </p:nvSpPr>
        <p:spPr>
          <a:xfrm>
            <a:off x="6858000" y="2381280"/>
            <a:ext cx="88880" cy="88880"/>
          </a:xfrm>
          <a:prstGeom prst="ellipse">
            <a:avLst/>
          </a:prstGeom>
          <a:solidFill>
            <a:srgbClr val="28C941"/>
          </a:solidFill>
          <a:ln/>
        </p:spPr>
      </p:sp>
      <p:pic>
        <p:nvPicPr>
          <p:cNvPr id="22" name="Image 1" descr="Website: figma-art-site-verdicts-900">    </p:cNvPr>
          <p:cNvPicPr>
            <a:picLocks noChangeAspect="1"/>
          </p:cNvPicPr>
          <p:nvPr/>
        </p:nvPicPr>
        <p:blipFill>
          <a:blip r:embed="rId2"/>
          <a:stretch>
            <a:fillRect/>
          </a:stretch>
        </p:blipFill>
        <p:spPr>
          <a:xfrm>
            <a:off x="6426220" y="2565441"/>
            <a:ext cx="4991070" cy="1397020"/>
          </a:xfrm>
          <a:prstGeom prst="rect">
            <a:avLst/>
          </a:prstGeom>
        </p:spPr>
      </p:pic>
      <p:sp>
        <p:nvSpPr>
          <p:cNvPr id="23" name="Text 20"/>
          <p:cNvSpPr/>
          <p:nvPr/>
        </p:nvSpPr>
        <p:spPr>
          <a:xfrm>
            <a:off x="6413510" y="4038630"/>
            <a:ext cx="5016490"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Fig 3 · three answers, the same screen as the app</a:t>
            </a:r>
            <a:endParaRPr lang="en-US" sz="850" dirty="0"/>
          </a:p>
        </p:txBody>
      </p:sp>
      <p:sp>
        <p:nvSpPr>
          <p:cNvPr id="24" name="Shape 20"/>
          <p:cNvSpPr/>
          <p:nvPr/>
        </p:nvSpPr>
        <p:spPr>
          <a:xfrm>
            <a:off x="6413510" y="4292559"/>
            <a:ext cx="5016490" cy="1524030"/>
          </a:xfrm>
          <a:prstGeom prst="roundRect">
            <a:avLst>
              <a:gd name="adj" fmla="val 9168"/>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sp>
        <p:nvSpPr>
          <p:cNvPr id="25" name="Shape 21"/>
          <p:cNvSpPr/>
          <p:nvPr/>
        </p:nvSpPr>
        <p:spPr>
          <a:xfrm>
            <a:off x="6553230" y="4387840"/>
            <a:ext cx="88880" cy="88880"/>
          </a:xfrm>
          <a:prstGeom prst="ellipse">
            <a:avLst/>
          </a:prstGeom>
          <a:solidFill>
            <a:srgbClr val="FF6159"/>
          </a:solidFill>
          <a:ln/>
        </p:spPr>
      </p:sp>
      <p:sp>
        <p:nvSpPr>
          <p:cNvPr id="26" name="Shape 22"/>
          <p:cNvSpPr/>
          <p:nvPr/>
        </p:nvSpPr>
        <p:spPr>
          <a:xfrm>
            <a:off x="6705570" y="4387840"/>
            <a:ext cx="88880" cy="88880"/>
          </a:xfrm>
          <a:prstGeom prst="ellipse">
            <a:avLst/>
          </a:prstGeom>
          <a:solidFill>
            <a:srgbClr val="FFBD2E"/>
          </a:solidFill>
          <a:ln/>
        </p:spPr>
      </p:sp>
      <p:sp>
        <p:nvSpPr>
          <p:cNvPr id="27" name="Shape 23"/>
          <p:cNvSpPr/>
          <p:nvPr/>
        </p:nvSpPr>
        <p:spPr>
          <a:xfrm>
            <a:off x="6858000" y="4387840"/>
            <a:ext cx="88880" cy="88880"/>
          </a:xfrm>
          <a:prstGeom prst="ellipse">
            <a:avLst/>
          </a:prstGeom>
          <a:solidFill>
            <a:srgbClr val="28C941"/>
          </a:solidFill>
          <a:ln/>
        </p:spPr>
      </p:sp>
      <p:pic>
        <p:nvPicPr>
          <p:cNvPr id="28" name="Image 2" descr="Website: figma-art-site-payments-900">    </p:cNvPr>
          <p:cNvPicPr>
            <a:picLocks noChangeAspect="1"/>
          </p:cNvPicPr>
          <p:nvPr/>
        </p:nvPicPr>
        <p:blipFill>
          <a:blip r:embed="rId3"/>
          <a:stretch>
            <a:fillRect/>
          </a:stretch>
        </p:blipFill>
        <p:spPr>
          <a:xfrm>
            <a:off x="6426220" y="4572000"/>
            <a:ext cx="4991070" cy="1231880"/>
          </a:xfrm>
          <a:prstGeom prst="rect">
            <a:avLst/>
          </a:prstGeom>
        </p:spPr>
      </p:pic>
      <p:sp>
        <p:nvSpPr>
          <p:cNvPr id="29" name="Text 26"/>
          <p:cNvSpPr/>
          <p:nvPr/>
        </p:nvSpPr>
        <p:spPr>
          <a:xfrm>
            <a:off x="6413510" y="5880141"/>
            <a:ext cx="5016490"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Payments · the verdict is the invoice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WORKFLOW · IDEA TO DEMO</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13 / 20</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9525030" cy="527060"/>
          </a:xfrm>
          <a:prstGeom prst="rect">
            <a:avLst/>
          </a:prstGeom>
          <a:noFill/>
          <a:ln/>
        </p:spPr>
        <p:txBody>
          <a:bodyPr wrap="square" lIns="0" tIns="0" rIns="0" bIns="0" rtlCol="0" anchor="t"/>
          <a:lstStyle/>
          <a:p>
            <a:pPr algn="l" indent="0" marL="0">
              <a:lnSpc>
                <a:spcPct val="100000"/>
              </a:lnSpc>
              <a:buNone/>
            </a:pPr>
            <a:r>
              <a:rPr lang="en-US" sz="3432" spc="-51" kern="0" dirty="0">
                <a:solidFill>
                  <a:srgbClr val="16181B"/>
                </a:solidFill>
                <a:latin typeface="Instrument Serif" pitchFamily="34" charset="0"/>
                <a:ea typeface="Instrument Serif" pitchFamily="34" charset="-122"/>
                <a:cs typeface="Instrument Serif" pitchFamily="34" charset="-120"/>
              </a:rPr>
              <a:t>Code first, then Figma from the code.</a:t>
            </a:r>
            <a:endParaRPr lang="en-US" sz="3432" dirty="0"/>
          </a:p>
        </p:txBody>
      </p:sp>
      <p:sp>
        <p:nvSpPr>
          <p:cNvPr id="11" name="Shape 9"/>
          <p:cNvSpPr/>
          <p:nvPr/>
        </p:nvSpPr>
        <p:spPr>
          <a:xfrm>
            <a:off x="908091" y="2324130"/>
            <a:ext cx="10414010" cy="127010"/>
          </a:xfrm>
          <a:custGeom>
            <a:avLst/>
            <a:gdLst/>
            <a:ahLst/>
            <a:cxnLst/>
            <a:rect l="l" t="t" r="r" b="b"/>
            <a:pathLst>
              <a:path w="10414010" h="127010">
                <a:moveTo>
                  <a:pt x="19020" y="63459"/>
                </a:moveTo>
                <a:lnTo>
                  <a:pt x="10394991" y="63459"/>
                </a:lnTo>
                <a:moveTo>
                  <a:pt x="10316809" y="106070"/>
                </a:moveTo>
                <a:lnTo>
                  <a:pt x="10394991" y="63459"/>
                </a:lnTo>
                <a:lnTo>
                  <a:pt x="10316809" y="20940"/>
                </a:lnTo>
              </a:path>
            </a:pathLst>
          </a:custGeom>
          <a:ln w="19050">
            <a:solidFill>
              <a:srgbClr val="4FB3FF"/>
            </a:solidFill>
            <a:prstDash val="solid"/>
          </a:ln>
        </p:spPr>
      </p:sp>
      <p:sp>
        <p:nvSpPr>
          <p:cNvPr id="12" name="Text 9"/>
          <p:cNvSpPr/>
          <p:nvPr/>
        </p:nvSpPr>
        <p:spPr>
          <a:xfrm>
            <a:off x="10287000" y="2095530"/>
            <a:ext cx="1015990" cy="177759"/>
          </a:xfrm>
          <a:prstGeom prst="rect">
            <a:avLst/>
          </a:prstGeom>
          <a:noFill/>
          <a:ln/>
        </p:spPr>
        <p:txBody>
          <a:bodyPr wrap="square" lIns="0" tIns="0" rIns="0" bIns="0" rtlCol="0" anchor="t"/>
          <a:lstStyle/>
          <a:p>
            <a:pPr algn="r" indent="0" marL="0">
              <a:lnSpc>
                <a:spcPct val="140000"/>
              </a:lnSpc>
              <a:buNone/>
            </a:pPr>
            <a:r>
              <a:rPr lang="en-US" sz="850" dirty="0">
                <a:solidFill>
                  <a:srgbClr val="4A4E55"/>
                </a:solidFill>
                <a:latin typeface="JetBrains Mono" pitchFamily="34" charset="0"/>
                <a:ea typeface="JetBrains Mono" pitchFamily="34" charset="-122"/>
                <a:cs typeface="JetBrains Mono" pitchFamily="34" charset="-120"/>
              </a:rPr>
              <a:t>demo</a:t>
            </a:r>
            <a:endParaRPr lang="en-US" sz="850" dirty="0"/>
          </a:p>
        </p:txBody>
      </p:sp>
      <p:sp>
        <p:nvSpPr>
          <p:cNvPr id="13" name="Shape 11"/>
          <p:cNvSpPr/>
          <p:nvPr/>
        </p:nvSpPr>
        <p:spPr>
          <a:xfrm>
            <a:off x="761970" y="2222541"/>
            <a:ext cx="330190" cy="330190"/>
          </a:xfrm>
          <a:prstGeom prst="ellipse">
            <a:avLst/>
          </a:prstGeom>
          <a:solidFill>
            <a:srgbClr val="FFFFFF"/>
          </a:solidFill>
          <a:ln w="25400">
            <a:solidFill>
              <a:srgbClr val="4FB3FF"/>
            </a:solidFill>
            <a:prstDash val="solid"/>
          </a:ln>
        </p:spPr>
      </p:sp>
      <p:sp>
        <p:nvSpPr>
          <p:cNvPr id="14" name="Text 11"/>
          <p:cNvSpPr/>
          <p:nvPr/>
        </p:nvSpPr>
        <p:spPr>
          <a:xfrm>
            <a:off x="761970" y="2692359"/>
            <a:ext cx="1904970" cy="18416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JetBrains Mono" pitchFamily="34" charset="0"/>
                <a:ea typeface="JetBrains Mono" pitchFamily="34" charset="-122"/>
                <a:cs typeface="JetBrains Mono" pitchFamily="34" charset="-120"/>
              </a:rPr>
              <a:t>01</a:t>
            </a:r>
            <a:endParaRPr lang="en-US" sz="900" dirty="0"/>
          </a:p>
        </p:txBody>
      </p:sp>
      <p:sp>
        <p:nvSpPr>
          <p:cNvPr id="15" name="Text 12"/>
          <p:cNvSpPr/>
          <p:nvPr/>
        </p:nvSpPr>
        <p:spPr>
          <a:xfrm>
            <a:off x="761970" y="2870210"/>
            <a:ext cx="2540020" cy="285750"/>
          </a:xfrm>
          <a:prstGeom prst="rect">
            <a:avLst/>
          </a:prstGeom>
          <a:noFill/>
          <a:ln/>
        </p:spPr>
        <p:txBody>
          <a:bodyPr wrap="square" lIns="0" tIns="0" rIns="0" bIns="0" rtlCol="0" anchor="t"/>
          <a:lstStyle/>
          <a:p>
            <a:pPr algn="l" indent="0" marL="0">
              <a:lnSpc>
                <a:spcPct val="100000"/>
              </a:lnSpc>
              <a:buNone/>
            </a:pPr>
            <a:r>
              <a:rPr lang="en-US" sz="1872" dirty="0">
                <a:solidFill>
                  <a:srgbClr val="16181B"/>
                </a:solidFill>
                <a:latin typeface="Instrument Serif" pitchFamily="34" charset="0"/>
                <a:ea typeface="Instrument Serif" pitchFamily="34" charset="-122"/>
                <a:cs typeface="Instrument Serif" pitchFamily="34" charset="-120"/>
              </a:rPr>
              <a:t>Ideation</a:t>
            </a:r>
            <a:endParaRPr lang="en-US" sz="1872" dirty="0"/>
          </a:p>
        </p:txBody>
      </p:sp>
      <p:sp>
        <p:nvSpPr>
          <p:cNvPr id="16" name="Text 13"/>
          <p:cNvSpPr/>
          <p:nvPr/>
        </p:nvSpPr>
        <p:spPr>
          <a:xfrm>
            <a:off x="761970" y="3289280"/>
            <a:ext cx="1904970" cy="133320"/>
          </a:xfrm>
          <a:prstGeom prst="rect">
            <a:avLst/>
          </a:prstGeom>
          <a:noFill/>
          <a:ln/>
        </p:spPr>
        <p:txBody>
          <a:bodyPr wrap="square" lIns="0" tIns="0" rIns="0" bIns="0" rtlCol="0" anchor="t"/>
          <a:lstStyle/>
          <a:p>
            <a:pPr algn="l" indent="0" marL="0">
              <a:lnSpc>
                <a:spcPct val="120000"/>
              </a:lnSpc>
              <a:buNone/>
            </a:pPr>
            <a:r>
              <a:rPr lang="en-US" sz="750" spc="105" kern="0" dirty="0">
                <a:solidFill>
                  <a:srgbClr val="7C8188"/>
                </a:solidFill>
                <a:latin typeface="JetBrains Mono" pitchFamily="34" charset="0"/>
                <a:ea typeface="JetBrains Mono" pitchFamily="34" charset="-122"/>
                <a:cs typeface="JetBrains Mono" pitchFamily="34" charset="-120"/>
              </a:rPr>
              <a:t>CODE</a:t>
            </a:r>
            <a:endParaRPr lang="en-US" sz="750" dirty="0"/>
          </a:p>
        </p:txBody>
      </p:sp>
      <p:sp>
        <p:nvSpPr>
          <p:cNvPr id="17" name="Shape 15"/>
          <p:cNvSpPr/>
          <p:nvPr/>
        </p:nvSpPr>
        <p:spPr>
          <a:xfrm>
            <a:off x="761970" y="3454420"/>
            <a:ext cx="1447770" cy="215890"/>
          </a:xfrm>
          <a:prstGeom prst="roundRect">
            <a:avLst>
              <a:gd name="adj" fmla="val 50021"/>
            </a:avLst>
          </a:prstGeom>
          <a:solidFill>
            <a:srgbClr val="FFFFFF"/>
          </a:solidFill>
          <a:ln w="12700">
            <a:solidFill>
              <a:srgbClr val="16181B">
                <a:alpha val="18000"/>
              </a:srgbClr>
            </a:solidFill>
            <a:prstDash val="solid"/>
          </a:ln>
        </p:spPr>
      </p:sp>
      <p:sp>
        <p:nvSpPr>
          <p:cNvPr id="18" name="Text 15"/>
          <p:cNvSpPr/>
          <p:nvPr/>
        </p:nvSpPr>
        <p:spPr>
          <a:xfrm>
            <a:off x="761970" y="3497580"/>
            <a:ext cx="1447770" cy="152430"/>
          </a:xfrm>
          <a:prstGeom prst="rect">
            <a:avLst/>
          </a:prstGeom>
          <a:noFill/>
          <a:ln/>
        </p:spPr>
        <p:txBody>
          <a:bodyPr wrap="square" lIns="0" tIns="0" rIns="0" bIns="0" rtlCol="0" anchor="t"/>
          <a:lstStyle/>
          <a:p>
            <a:pPr algn="ctr"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AI persona panels</a:t>
            </a:r>
            <a:endParaRPr lang="en-US" sz="850" dirty="0"/>
          </a:p>
        </p:txBody>
      </p:sp>
      <p:sp>
        <p:nvSpPr>
          <p:cNvPr id="19" name="Shape 17"/>
          <p:cNvSpPr/>
          <p:nvPr/>
        </p:nvSpPr>
        <p:spPr>
          <a:xfrm>
            <a:off x="761970" y="3771900"/>
            <a:ext cx="1092159" cy="215890"/>
          </a:xfrm>
          <a:prstGeom prst="roundRect">
            <a:avLst>
              <a:gd name="adj" fmla="val 50021"/>
            </a:avLst>
          </a:prstGeom>
          <a:solidFill>
            <a:srgbClr val="FFFFFF"/>
          </a:solidFill>
          <a:ln w="12700">
            <a:solidFill>
              <a:srgbClr val="16181B">
                <a:alpha val="18000"/>
              </a:srgbClr>
            </a:solidFill>
            <a:prstDash val="solid"/>
          </a:ln>
        </p:spPr>
      </p:sp>
      <p:sp>
        <p:nvSpPr>
          <p:cNvPr id="20" name="Text 17"/>
          <p:cNvSpPr/>
          <p:nvPr/>
        </p:nvSpPr>
        <p:spPr>
          <a:xfrm>
            <a:off x="761970" y="3815060"/>
            <a:ext cx="1092159" cy="152430"/>
          </a:xfrm>
          <a:prstGeom prst="rect">
            <a:avLst/>
          </a:prstGeom>
          <a:noFill/>
          <a:ln/>
        </p:spPr>
        <p:txBody>
          <a:bodyPr wrap="square" lIns="0" tIns="0" rIns="0" bIns="0" rtlCol="0" anchor="t"/>
          <a:lstStyle/>
          <a:p>
            <a:pPr algn="ctr"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Web research</a:t>
            </a:r>
            <a:endParaRPr lang="en-US" sz="850" dirty="0"/>
          </a:p>
        </p:txBody>
      </p:sp>
      <p:sp>
        <p:nvSpPr>
          <p:cNvPr id="21" name="Text 18"/>
          <p:cNvSpPr/>
          <p:nvPr/>
        </p:nvSpPr>
        <p:spPr>
          <a:xfrm>
            <a:off x="761970" y="4343400"/>
            <a:ext cx="1904970" cy="133320"/>
          </a:xfrm>
          <a:prstGeom prst="rect">
            <a:avLst/>
          </a:prstGeom>
          <a:noFill/>
          <a:ln/>
        </p:spPr>
        <p:txBody>
          <a:bodyPr wrap="square" lIns="0" tIns="0" rIns="0" bIns="0" rtlCol="0" anchor="t"/>
          <a:lstStyle/>
          <a:p>
            <a:pPr algn="l" indent="0" marL="0">
              <a:lnSpc>
                <a:spcPct val="120000"/>
              </a:lnSpc>
              <a:buNone/>
            </a:pPr>
            <a:r>
              <a:rPr lang="en-US" sz="750" spc="105" kern="0" dirty="0">
                <a:solidFill>
                  <a:srgbClr val="7C8188"/>
                </a:solidFill>
                <a:latin typeface="JetBrains Mono" pitchFamily="34" charset="0"/>
                <a:ea typeface="JetBrains Mono" pitchFamily="34" charset="-122"/>
                <a:cs typeface="JetBrains Mono" pitchFamily="34" charset="-120"/>
              </a:rPr>
              <a:t>FIGMA</a:t>
            </a:r>
            <a:endParaRPr lang="en-US" sz="750" dirty="0"/>
          </a:p>
        </p:txBody>
      </p:sp>
      <p:sp>
        <p:nvSpPr>
          <p:cNvPr id="22" name="Shape 20"/>
          <p:cNvSpPr/>
          <p:nvPr/>
        </p:nvSpPr>
        <p:spPr>
          <a:xfrm>
            <a:off x="761970" y="4533870"/>
            <a:ext cx="1200150" cy="215890"/>
          </a:xfrm>
          <a:prstGeom prst="roundRect">
            <a:avLst>
              <a:gd name="adj" fmla="val 50021"/>
            </a:avLst>
          </a:prstGeom>
          <a:solidFill>
            <a:srgbClr val="7A5CFF">
              <a:alpha val="10000"/>
            </a:srgbClr>
          </a:solidFill>
          <a:ln/>
        </p:spPr>
      </p:sp>
      <p:sp>
        <p:nvSpPr>
          <p:cNvPr id="23" name="Shape 21"/>
          <p:cNvSpPr/>
          <p:nvPr/>
        </p:nvSpPr>
        <p:spPr>
          <a:xfrm>
            <a:off x="869960" y="4616440"/>
            <a:ext cx="57150" cy="57150"/>
          </a:xfrm>
          <a:prstGeom prst="ellipse">
            <a:avLst/>
          </a:prstGeom>
          <a:solidFill>
            <a:srgbClr val="7A5CFF"/>
          </a:solidFill>
          <a:ln/>
        </p:spPr>
      </p:sp>
      <p:sp>
        <p:nvSpPr>
          <p:cNvPr id="24" name="Text 21"/>
          <p:cNvSpPr/>
          <p:nvPr/>
        </p:nvSpPr>
        <p:spPr>
          <a:xfrm>
            <a:off x="971550" y="4577121"/>
            <a:ext cx="927110" cy="152430"/>
          </a:xfrm>
          <a:prstGeom prst="rect">
            <a:avLst/>
          </a:prstGeom>
          <a:noFill/>
          <a:ln/>
        </p:spPr>
        <p:txBody>
          <a:bodyPr wrap="square" lIns="0" tIns="0" rIns="0" bIns="0" rtlCol="0" anchor="t"/>
          <a:lstStyle/>
          <a:p>
            <a:pPr algn="l"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FigJam board</a:t>
            </a:r>
            <a:endParaRPr lang="en-US" sz="850" dirty="0"/>
          </a:p>
        </p:txBody>
      </p:sp>
      <p:sp>
        <p:nvSpPr>
          <p:cNvPr id="25" name="Text 22"/>
          <p:cNvSpPr/>
          <p:nvPr/>
        </p:nvSpPr>
        <p:spPr>
          <a:xfrm>
            <a:off x="761970" y="4940320"/>
            <a:ext cx="2540020" cy="184160"/>
          </a:xfrm>
          <a:prstGeom prst="rect">
            <a:avLst/>
          </a:prstGeom>
          <a:noFill/>
          <a:ln/>
        </p:spPr>
        <p:txBody>
          <a:bodyPr wrap="square" lIns="0" tIns="0" rIns="0" bIns="0" rtlCol="0" anchor="t"/>
          <a:lstStyle/>
          <a:p>
            <a:pPr algn="l" indent="0" marL="0">
              <a:lnSpc>
                <a:spcPct val="140000"/>
              </a:lnSpc>
              <a:buNone/>
            </a:pPr>
            <a:r>
              <a:rPr lang="en-US" sz="900" dirty="0">
                <a:solidFill>
                  <a:srgbClr val="16181B"/>
                </a:solidFill>
                <a:latin typeface="JetBrains Mono" pitchFamily="34" charset="0"/>
                <a:ea typeface="JetBrains Mono" pitchFamily="34" charset="-122"/>
                <a:cs typeface="JetBrains Mono" pitchFamily="34" charset="-120"/>
              </a:rPr>
              <a:t>≈255 min · 4/5</a:t>
            </a:r>
            <a:endParaRPr lang="en-US" sz="900" dirty="0"/>
          </a:p>
        </p:txBody>
      </p:sp>
      <p:sp>
        <p:nvSpPr>
          <p:cNvPr id="26" name="Shape 24"/>
          <p:cNvSpPr/>
          <p:nvPr/>
        </p:nvSpPr>
        <p:spPr>
          <a:xfrm>
            <a:off x="761970" y="5143500"/>
            <a:ext cx="1339870" cy="190470"/>
          </a:xfrm>
          <a:prstGeom prst="roundRect">
            <a:avLst>
              <a:gd name="adj" fmla="val 50024"/>
            </a:avLst>
          </a:prstGeom>
          <a:solidFill>
            <a:srgbClr val="9AA0A6">
              <a:alpha val="18000"/>
            </a:srgbClr>
          </a:solidFill>
          <a:ln/>
        </p:spPr>
      </p:sp>
      <p:sp>
        <p:nvSpPr>
          <p:cNvPr id="27" name="Text 24"/>
          <p:cNvSpPr/>
          <p:nvPr/>
        </p:nvSpPr>
        <p:spPr>
          <a:xfrm>
            <a:off x="761970" y="5181630"/>
            <a:ext cx="1339870" cy="133320"/>
          </a:xfrm>
          <a:prstGeom prst="rect">
            <a:avLst/>
          </a:prstGeom>
          <a:noFill/>
          <a:ln/>
        </p:spPr>
        <p:txBody>
          <a:bodyPr wrap="square" lIns="0" tIns="0" rIns="0" bIns="0" rtlCol="0" anchor="t"/>
          <a:lstStyle/>
          <a:p>
            <a:pPr algn="ctr" indent="0" marL="0">
              <a:lnSpc>
                <a:spcPct val="120000"/>
              </a:lnSpc>
              <a:buNone/>
            </a:pPr>
            <a:r>
              <a:rPr lang="en-US" sz="750" b="1" spc="45" kern="0" dirty="0">
                <a:solidFill>
                  <a:srgbClr val="16181B"/>
                </a:solidFill>
                <a:latin typeface="JetBrains Mono" pitchFamily="34" charset="0"/>
                <a:ea typeface="JetBrains Mono" pitchFamily="34" charset="-122"/>
                <a:cs typeface="JetBrains Mono" pitchFamily="34" charset="-120"/>
              </a:rPr>
              <a:t>FIGMA STEP PENDING</a:t>
            </a:r>
            <a:endParaRPr lang="en-US" sz="750" dirty="0"/>
          </a:p>
        </p:txBody>
      </p:sp>
      <p:sp>
        <p:nvSpPr>
          <p:cNvPr id="28" name="Shape 26"/>
          <p:cNvSpPr/>
          <p:nvPr/>
        </p:nvSpPr>
        <p:spPr>
          <a:xfrm>
            <a:off x="3556010" y="2222541"/>
            <a:ext cx="330190" cy="330190"/>
          </a:xfrm>
          <a:prstGeom prst="ellipse">
            <a:avLst/>
          </a:prstGeom>
          <a:solidFill>
            <a:srgbClr val="FFFFFF"/>
          </a:solidFill>
          <a:ln w="25400">
            <a:solidFill>
              <a:srgbClr val="4FB3FF"/>
            </a:solidFill>
            <a:prstDash val="solid"/>
          </a:ln>
        </p:spPr>
      </p:sp>
      <p:sp>
        <p:nvSpPr>
          <p:cNvPr id="29" name="Text 26"/>
          <p:cNvSpPr/>
          <p:nvPr/>
        </p:nvSpPr>
        <p:spPr>
          <a:xfrm>
            <a:off x="3556010" y="2692359"/>
            <a:ext cx="1904970" cy="18416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JetBrains Mono" pitchFamily="34" charset="0"/>
                <a:ea typeface="JetBrains Mono" pitchFamily="34" charset="-122"/>
                <a:cs typeface="JetBrains Mono" pitchFamily="34" charset="-120"/>
              </a:rPr>
              <a:t>02</a:t>
            </a:r>
            <a:endParaRPr lang="en-US" sz="900" dirty="0"/>
          </a:p>
        </p:txBody>
      </p:sp>
      <p:sp>
        <p:nvSpPr>
          <p:cNvPr id="30" name="Text 27"/>
          <p:cNvSpPr/>
          <p:nvPr/>
        </p:nvSpPr>
        <p:spPr>
          <a:xfrm>
            <a:off x="3556010" y="2870210"/>
            <a:ext cx="2540020" cy="285750"/>
          </a:xfrm>
          <a:prstGeom prst="rect">
            <a:avLst/>
          </a:prstGeom>
          <a:noFill/>
          <a:ln/>
        </p:spPr>
        <p:txBody>
          <a:bodyPr wrap="square" lIns="0" tIns="0" rIns="0" bIns="0" rtlCol="0" anchor="t"/>
          <a:lstStyle/>
          <a:p>
            <a:pPr algn="l" indent="0" marL="0">
              <a:lnSpc>
                <a:spcPct val="100000"/>
              </a:lnSpc>
              <a:buNone/>
            </a:pPr>
            <a:r>
              <a:rPr lang="en-US" sz="1872" dirty="0">
                <a:solidFill>
                  <a:srgbClr val="16181B"/>
                </a:solidFill>
                <a:latin typeface="Instrument Serif" pitchFamily="34" charset="0"/>
                <a:ea typeface="Instrument Serif" pitchFamily="34" charset="-122"/>
                <a:cs typeface="Instrument Serif" pitchFamily="34" charset="-120"/>
              </a:rPr>
              <a:t>Prototyping</a:t>
            </a:r>
            <a:endParaRPr lang="en-US" sz="1872" dirty="0"/>
          </a:p>
        </p:txBody>
      </p:sp>
      <p:sp>
        <p:nvSpPr>
          <p:cNvPr id="31" name="Text 28"/>
          <p:cNvSpPr/>
          <p:nvPr/>
        </p:nvSpPr>
        <p:spPr>
          <a:xfrm>
            <a:off x="3556010" y="3289280"/>
            <a:ext cx="1904970" cy="133320"/>
          </a:xfrm>
          <a:prstGeom prst="rect">
            <a:avLst/>
          </a:prstGeom>
          <a:noFill/>
          <a:ln/>
        </p:spPr>
        <p:txBody>
          <a:bodyPr wrap="square" lIns="0" tIns="0" rIns="0" bIns="0" rtlCol="0" anchor="t"/>
          <a:lstStyle/>
          <a:p>
            <a:pPr algn="l" indent="0" marL="0">
              <a:lnSpc>
                <a:spcPct val="120000"/>
              </a:lnSpc>
              <a:buNone/>
            </a:pPr>
            <a:r>
              <a:rPr lang="en-US" sz="750" spc="105" kern="0" dirty="0">
                <a:solidFill>
                  <a:srgbClr val="7C8188"/>
                </a:solidFill>
                <a:latin typeface="JetBrains Mono" pitchFamily="34" charset="0"/>
                <a:ea typeface="JetBrains Mono" pitchFamily="34" charset="-122"/>
                <a:cs typeface="JetBrains Mono" pitchFamily="34" charset="-120"/>
              </a:rPr>
              <a:t>CODE</a:t>
            </a:r>
            <a:endParaRPr lang="en-US" sz="750" dirty="0"/>
          </a:p>
        </p:txBody>
      </p:sp>
      <p:sp>
        <p:nvSpPr>
          <p:cNvPr id="32" name="Shape 30"/>
          <p:cNvSpPr/>
          <p:nvPr/>
        </p:nvSpPr>
        <p:spPr>
          <a:xfrm>
            <a:off x="3556010" y="3454420"/>
            <a:ext cx="1377909" cy="215890"/>
          </a:xfrm>
          <a:prstGeom prst="roundRect">
            <a:avLst>
              <a:gd name="adj" fmla="val 50021"/>
            </a:avLst>
          </a:prstGeom>
          <a:solidFill>
            <a:srgbClr val="FFFFFF"/>
          </a:solidFill>
          <a:ln w="12700">
            <a:solidFill>
              <a:srgbClr val="16181B">
                <a:alpha val="18000"/>
              </a:srgbClr>
            </a:solidFill>
            <a:prstDash val="solid"/>
          </a:ln>
        </p:spPr>
      </p:sp>
      <p:sp>
        <p:nvSpPr>
          <p:cNvPr id="33" name="Text 30"/>
          <p:cNvSpPr/>
          <p:nvPr/>
        </p:nvSpPr>
        <p:spPr>
          <a:xfrm>
            <a:off x="3556010" y="3497580"/>
            <a:ext cx="1377909" cy="152430"/>
          </a:xfrm>
          <a:prstGeom prst="rect">
            <a:avLst/>
          </a:prstGeom>
          <a:noFill/>
          <a:ln/>
        </p:spPr>
        <p:txBody>
          <a:bodyPr wrap="square" lIns="0" tIns="0" rIns="0" bIns="0" rtlCol="0" anchor="t"/>
          <a:lstStyle/>
          <a:p>
            <a:pPr algn="ctr"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binary-pill.html</a:t>
            </a:r>
            <a:endParaRPr lang="en-US" sz="850" dirty="0"/>
          </a:p>
        </p:txBody>
      </p:sp>
      <p:sp>
        <p:nvSpPr>
          <p:cNvPr id="34" name="Shape 32"/>
          <p:cNvSpPr/>
          <p:nvPr/>
        </p:nvSpPr>
        <p:spPr>
          <a:xfrm>
            <a:off x="3556010" y="3771900"/>
            <a:ext cx="1447770" cy="215890"/>
          </a:xfrm>
          <a:prstGeom prst="roundRect">
            <a:avLst>
              <a:gd name="adj" fmla="val 50021"/>
            </a:avLst>
          </a:prstGeom>
          <a:solidFill>
            <a:srgbClr val="FFFFFF"/>
          </a:solidFill>
          <a:ln w="12700">
            <a:solidFill>
              <a:srgbClr val="16181B">
                <a:alpha val="18000"/>
              </a:srgbClr>
            </a:solidFill>
            <a:prstDash val="solid"/>
          </a:ln>
        </p:spPr>
      </p:sp>
      <p:sp>
        <p:nvSpPr>
          <p:cNvPr id="35" name="Text 32"/>
          <p:cNvSpPr/>
          <p:nvPr/>
        </p:nvSpPr>
        <p:spPr>
          <a:xfrm>
            <a:off x="3556010" y="3815060"/>
            <a:ext cx="1447770" cy="152430"/>
          </a:xfrm>
          <a:prstGeom prst="rect">
            <a:avLst/>
          </a:prstGeom>
          <a:noFill/>
          <a:ln/>
        </p:spPr>
        <p:txBody>
          <a:bodyPr wrap="square" lIns="0" tIns="0" rIns="0" bIns="0" rtlCol="0" anchor="t"/>
          <a:lstStyle/>
          <a:p>
            <a:pPr algn="ctr"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Phone mock (Vite)</a:t>
            </a:r>
            <a:endParaRPr lang="en-US" sz="850" dirty="0"/>
          </a:p>
        </p:txBody>
      </p:sp>
      <p:sp>
        <p:nvSpPr>
          <p:cNvPr id="36" name="Text 33"/>
          <p:cNvSpPr/>
          <p:nvPr/>
        </p:nvSpPr>
        <p:spPr>
          <a:xfrm>
            <a:off x="3556010" y="4343400"/>
            <a:ext cx="1904970" cy="133320"/>
          </a:xfrm>
          <a:prstGeom prst="rect">
            <a:avLst/>
          </a:prstGeom>
          <a:noFill/>
          <a:ln/>
        </p:spPr>
        <p:txBody>
          <a:bodyPr wrap="square" lIns="0" tIns="0" rIns="0" bIns="0" rtlCol="0" anchor="t"/>
          <a:lstStyle/>
          <a:p>
            <a:pPr algn="l" indent="0" marL="0">
              <a:lnSpc>
                <a:spcPct val="120000"/>
              </a:lnSpc>
              <a:buNone/>
            </a:pPr>
            <a:r>
              <a:rPr lang="en-US" sz="750" spc="105" kern="0" dirty="0">
                <a:solidFill>
                  <a:srgbClr val="7C8188"/>
                </a:solidFill>
                <a:latin typeface="JetBrains Mono" pitchFamily="34" charset="0"/>
                <a:ea typeface="JetBrains Mono" pitchFamily="34" charset="-122"/>
                <a:cs typeface="JetBrains Mono" pitchFamily="34" charset="-120"/>
              </a:rPr>
              <a:t>FIGMA</a:t>
            </a:r>
            <a:endParaRPr lang="en-US" sz="750" dirty="0"/>
          </a:p>
        </p:txBody>
      </p:sp>
      <p:sp>
        <p:nvSpPr>
          <p:cNvPr id="37" name="Shape 35"/>
          <p:cNvSpPr/>
          <p:nvPr/>
        </p:nvSpPr>
        <p:spPr>
          <a:xfrm>
            <a:off x="3556010" y="4533870"/>
            <a:ext cx="1555760" cy="215890"/>
          </a:xfrm>
          <a:prstGeom prst="roundRect">
            <a:avLst>
              <a:gd name="adj" fmla="val 50021"/>
            </a:avLst>
          </a:prstGeom>
          <a:solidFill>
            <a:srgbClr val="7A5CFF">
              <a:alpha val="10000"/>
            </a:srgbClr>
          </a:solidFill>
          <a:ln/>
        </p:spPr>
      </p:sp>
      <p:sp>
        <p:nvSpPr>
          <p:cNvPr id="38" name="Shape 36"/>
          <p:cNvSpPr/>
          <p:nvPr/>
        </p:nvSpPr>
        <p:spPr>
          <a:xfrm>
            <a:off x="3663909" y="4616440"/>
            <a:ext cx="57150" cy="57150"/>
          </a:xfrm>
          <a:prstGeom prst="ellipse">
            <a:avLst/>
          </a:prstGeom>
          <a:solidFill>
            <a:srgbClr val="7A5CFF"/>
          </a:solidFill>
          <a:ln/>
        </p:spPr>
      </p:sp>
      <p:sp>
        <p:nvSpPr>
          <p:cNvPr id="39" name="Text 36"/>
          <p:cNvSpPr/>
          <p:nvPr/>
        </p:nvSpPr>
        <p:spPr>
          <a:xfrm>
            <a:off x="3765591" y="4577121"/>
            <a:ext cx="1282720" cy="152430"/>
          </a:xfrm>
          <a:prstGeom prst="rect">
            <a:avLst/>
          </a:prstGeom>
          <a:noFill/>
          <a:ln/>
        </p:spPr>
        <p:txBody>
          <a:bodyPr wrap="square" lIns="0" tIns="0" rIns="0" bIns="0" rtlCol="0" anchor="t"/>
          <a:lstStyle/>
          <a:p>
            <a:pPr algn="l"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Figma Make prompt</a:t>
            </a:r>
            <a:endParaRPr lang="en-US" sz="850" dirty="0"/>
          </a:p>
        </p:txBody>
      </p:sp>
      <p:sp>
        <p:nvSpPr>
          <p:cNvPr id="40" name="Text 37"/>
          <p:cNvSpPr/>
          <p:nvPr/>
        </p:nvSpPr>
        <p:spPr>
          <a:xfrm>
            <a:off x="3556010" y="4940320"/>
            <a:ext cx="2540020" cy="184160"/>
          </a:xfrm>
          <a:prstGeom prst="rect">
            <a:avLst/>
          </a:prstGeom>
          <a:noFill/>
          <a:ln/>
        </p:spPr>
        <p:txBody>
          <a:bodyPr wrap="square" lIns="0" tIns="0" rIns="0" bIns="0" rtlCol="0" anchor="t"/>
          <a:lstStyle/>
          <a:p>
            <a:pPr algn="l" indent="0" marL="0">
              <a:lnSpc>
                <a:spcPct val="140000"/>
              </a:lnSpc>
              <a:buNone/>
            </a:pPr>
            <a:r>
              <a:rPr lang="en-US" sz="900" dirty="0">
                <a:solidFill>
                  <a:srgbClr val="16181B"/>
                </a:solidFill>
                <a:latin typeface="JetBrains Mono" pitchFamily="34" charset="0"/>
                <a:ea typeface="JetBrains Mono" pitchFamily="34" charset="-122"/>
                <a:cs typeface="JetBrains Mono" pitchFamily="34" charset="-120"/>
              </a:rPr>
              <a:t>≈65 min · 3/5</a:t>
            </a:r>
            <a:endParaRPr lang="en-US" sz="900" dirty="0"/>
          </a:p>
        </p:txBody>
      </p:sp>
      <p:sp>
        <p:nvSpPr>
          <p:cNvPr id="41" name="Shape 39"/>
          <p:cNvSpPr/>
          <p:nvPr/>
        </p:nvSpPr>
        <p:spPr>
          <a:xfrm>
            <a:off x="3556010" y="5143500"/>
            <a:ext cx="1339870" cy="190470"/>
          </a:xfrm>
          <a:prstGeom prst="roundRect">
            <a:avLst>
              <a:gd name="adj" fmla="val 50024"/>
            </a:avLst>
          </a:prstGeom>
          <a:solidFill>
            <a:srgbClr val="9AA0A6">
              <a:alpha val="18000"/>
            </a:srgbClr>
          </a:solidFill>
          <a:ln/>
        </p:spPr>
      </p:sp>
      <p:sp>
        <p:nvSpPr>
          <p:cNvPr id="42" name="Text 39"/>
          <p:cNvSpPr/>
          <p:nvPr/>
        </p:nvSpPr>
        <p:spPr>
          <a:xfrm>
            <a:off x="3556010" y="5181630"/>
            <a:ext cx="1339870" cy="133320"/>
          </a:xfrm>
          <a:prstGeom prst="rect">
            <a:avLst/>
          </a:prstGeom>
          <a:noFill/>
          <a:ln/>
        </p:spPr>
        <p:txBody>
          <a:bodyPr wrap="square" lIns="0" tIns="0" rIns="0" bIns="0" rtlCol="0" anchor="t"/>
          <a:lstStyle/>
          <a:p>
            <a:pPr algn="ctr" indent="0" marL="0">
              <a:lnSpc>
                <a:spcPct val="120000"/>
              </a:lnSpc>
              <a:buNone/>
            </a:pPr>
            <a:r>
              <a:rPr lang="en-US" sz="750" b="1" spc="45" kern="0" dirty="0">
                <a:solidFill>
                  <a:srgbClr val="16181B"/>
                </a:solidFill>
                <a:latin typeface="JetBrains Mono" pitchFamily="34" charset="0"/>
                <a:ea typeface="JetBrains Mono" pitchFamily="34" charset="-122"/>
                <a:cs typeface="JetBrains Mono" pitchFamily="34" charset="-120"/>
              </a:rPr>
              <a:t>FIGMA STEP PENDING</a:t>
            </a:r>
            <a:endParaRPr lang="en-US" sz="750" dirty="0"/>
          </a:p>
        </p:txBody>
      </p:sp>
      <p:sp>
        <p:nvSpPr>
          <p:cNvPr id="43" name="Shape 41"/>
          <p:cNvSpPr/>
          <p:nvPr/>
        </p:nvSpPr>
        <p:spPr>
          <a:xfrm>
            <a:off x="6349959" y="2222541"/>
            <a:ext cx="330190" cy="330190"/>
          </a:xfrm>
          <a:prstGeom prst="ellipse">
            <a:avLst/>
          </a:prstGeom>
          <a:solidFill>
            <a:srgbClr val="FFFFFF"/>
          </a:solidFill>
          <a:ln w="25400">
            <a:solidFill>
              <a:srgbClr val="4FB3FF"/>
            </a:solidFill>
            <a:prstDash val="solid"/>
          </a:ln>
        </p:spPr>
      </p:sp>
      <p:sp>
        <p:nvSpPr>
          <p:cNvPr id="44" name="Text 41"/>
          <p:cNvSpPr/>
          <p:nvPr/>
        </p:nvSpPr>
        <p:spPr>
          <a:xfrm>
            <a:off x="6349959" y="2692359"/>
            <a:ext cx="1904970" cy="18416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JetBrains Mono" pitchFamily="34" charset="0"/>
                <a:ea typeface="JetBrains Mono" pitchFamily="34" charset="-122"/>
                <a:cs typeface="JetBrains Mono" pitchFamily="34" charset="-120"/>
              </a:rPr>
              <a:t>03</a:t>
            </a:r>
            <a:endParaRPr lang="en-US" sz="900" dirty="0"/>
          </a:p>
        </p:txBody>
      </p:sp>
      <p:sp>
        <p:nvSpPr>
          <p:cNvPr id="45" name="Text 42"/>
          <p:cNvSpPr/>
          <p:nvPr/>
        </p:nvSpPr>
        <p:spPr>
          <a:xfrm>
            <a:off x="6349959" y="2870210"/>
            <a:ext cx="2540020" cy="285750"/>
          </a:xfrm>
          <a:prstGeom prst="rect">
            <a:avLst/>
          </a:prstGeom>
          <a:noFill/>
          <a:ln/>
        </p:spPr>
        <p:txBody>
          <a:bodyPr wrap="square" lIns="0" tIns="0" rIns="0" bIns="0" rtlCol="0" anchor="t"/>
          <a:lstStyle/>
          <a:p>
            <a:pPr algn="l" indent="0" marL="0">
              <a:lnSpc>
                <a:spcPct val="100000"/>
              </a:lnSpc>
              <a:buNone/>
            </a:pPr>
            <a:r>
              <a:rPr lang="en-US" sz="1872" dirty="0">
                <a:solidFill>
                  <a:srgbClr val="16181B"/>
                </a:solidFill>
                <a:latin typeface="Instrument Serif" pitchFamily="34" charset="0"/>
                <a:ea typeface="Instrument Serif" pitchFamily="34" charset="-122"/>
                <a:cs typeface="Instrument Serif" pitchFamily="34" charset="-120"/>
              </a:rPr>
              <a:t>Handoff</a:t>
            </a:r>
            <a:endParaRPr lang="en-US" sz="1872" dirty="0"/>
          </a:p>
        </p:txBody>
      </p:sp>
      <p:sp>
        <p:nvSpPr>
          <p:cNvPr id="46" name="Text 43"/>
          <p:cNvSpPr/>
          <p:nvPr/>
        </p:nvSpPr>
        <p:spPr>
          <a:xfrm>
            <a:off x="6349959" y="3289280"/>
            <a:ext cx="1904970" cy="133320"/>
          </a:xfrm>
          <a:prstGeom prst="rect">
            <a:avLst/>
          </a:prstGeom>
          <a:noFill/>
          <a:ln/>
        </p:spPr>
        <p:txBody>
          <a:bodyPr wrap="square" lIns="0" tIns="0" rIns="0" bIns="0" rtlCol="0" anchor="t"/>
          <a:lstStyle/>
          <a:p>
            <a:pPr algn="l" indent="0" marL="0">
              <a:lnSpc>
                <a:spcPct val="120000"/>
              </a:lnSpc>
              <a:buNone/>
            </a:pPr>
            <a:r>
              <a:rPr lang="en-US" sz="750" spc="105" kern="0" dirty="0">
                <a:solidFill>
                  <a:srgbClr val="7C8188"/>
                </a:solidFill>
                <a:latin typeface="JetBrains Mono" pitchFamily="34" charset="0"/>
                <a:ea typeface="JetBrains Mono" pitchFamily="34" charset="-122"/>
                <a:cs typeface="JetBrains Mono" pitchFamily="34" charset="-120"/>
              </a:rPr>
              <a:t>CODE</a:t>
            </a:r>
            <a:endParaRPr lang="en-US" sz="750" dirty="0"/>
          </a:p>
        </p:txBody>
      </p:sp>
      <p:sp>
        <p:nvSpPr>
          <p:cNvPr id="47" name="Shape 45"/>
          <p:cNvSpPr/>
          <p:nvPr/>
        </p:nvSpPr>
        <p:spPr>
          <a:xfrm>
            <a:off x="6349959" y="3454420"/>
            <a:ext cx="1517630" cy="215890"/>
          </a:xfrm>
          <a:prstGeom prst="roundRect">
            <a:avLst>
              <a:gd name="adj" fmla="val 50021"/>
            </a:avLst>
          </a:prstGeom>
          <a:solidFill>
            <a:srgbClr val="FFFFFF"/>
          </a:solidFill>
          <a:ln w="12700">
            <a:solidFill>
              <a:srgbClr val="16181B">
                <a:alpha val="18000"/>
              </a:srgbClr>
            </a:solidFill>
            <a:prstDash val="solid"/>
          </a:ln>
        </p:spPr>
      </p:sp>
      <p:sp>
        <p:nvSpPr>
          <p:cNvPr id="48" name="Text 45"/>
          <p:cNvSpPr/>
          <p:nvPr/>
        </p:nvSpPr>
        <p:spPr>
          <a:xfrm>
            <a:off x="6349959" y="3497580"/>
            <a:ext cx="1517630" cy="152430"/>
          </a:xfrm>
          <a:prstGeom prst="rect">
            <a:avLst/>
          </a:prstGeom>
          <a:noFill/>
          <a:ln/>
        </p:spPr>
        <p:txBody>
          <a:bodyPr wrap="square" lIns="0" tIns="0" rIns="0" bIns="0" rtlCol="0" anchor="t"/>
          <a:lstStyle/>
          <a:p>
            <a:pPr algn="ctr"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CSS :root, by hand</a:t>
            </a:r>
            <a:endParaRPr lang="en-US" sz="850" dirty="0"/>
          </a:p>
        </p:txBody>
      </p:sp>
      <p:sp>
        <p:nvSpPr>
          <p:cNvPr id="49" name="Text 46"/>
          <p:cNvSpPr/>
          <p:nvPr/>
        </p:nvSpPr>
        <p:spPr>
          <a:xfrm>
            <a:off x="6349959" y="4025920"/>
            <a:ext cx="1904970" cy="133320"/>
          </a:xfrm>
          <a:prstGeom prst="rect">
            <a:avLst/>
          </a:prstGeom>
          <a:noFill/>
          <a:ln/>
        </p:spPr>
        <p:txBody>
          <a:bodyPr wrap="square" lIns="0" tIns="0" rIns="0" bIns="0" rtlCol="0" anchor="t"/>
          <a:lstStyle/>
          <a:p>
            <a:pPr algn="l" indent="0" marL="0">
              <a:lnSpc>
                <a:spcPct val="120000"/>
              </a:lnSpc>
              <a:buNone/>
            </a:pPr>
            <a:r>
              <a:rPr lang="en-US" sz="750" spc="105" kern="0" dirty="0">
                <a:solidFill>
                  <a:srgbClr val="7C8188"/>
                </a:solidFill>
                <a:latin typeface="JetBrains Mono" pitchFamily="34" charset="0"/>
                <a:ea typeface="JetBrains Mono" pitchFamily="34" charset="-122"/>
                <a:cs typeface="JetBrains Mono" pitchFamily="34" charset="-120"/>
              </a:rPr>
              <a:t>FIGMA</a:t>
            </a:r>
            <a:endParaRPr lang="en-US" sz="750" dirty="0"/>
          </a:p>
        </p:txBody>
      </p:sp>
      <p:sp>
        <p:nvSpPr>
          <p:cNvPr id="50" name="Shape 48"/>
          <p:cNvSpPr/>
          <p:nvPr/>
        </p:nvSpPr>
        <p:spPr>
          <a:xfrm>
            <a:off x="6349959" y="4216390"/>
            <a:ext cx="1625620" cy="215890"/>
          </a:xfrm>
          <a:prstGeom prst="roundRect">
            <a:avLst>
              <a:gd name="adj" fmla="val 50021"/>
            </a:avLst>
          </a:prstGeom>
          <a:solidFill>
            <a:srgbClr val="7A5CFF">
              <a:alpha val="10000"/>
            </a:srgbClr>
          </a:solidFill>
          <a:ln/>
        </p:spPr>
      </p:sp>
      <p:sp>
        <p:nvSpPr>
          <p:cNvPr id="51" name="Shape 49"/>
          <p:cNvSpPr/>
          <p:nvPr/>
        </p:nvSpPr>
        <p:spPr>
          <a:xfrm>
            <a:off x="6457950" y="4298960"/>
            <a:ext cx="57150" cy="57150"/>
          </a:xfrm>
          <a:prstGeom prst="ellipse">
            <a:avLst/>
          </a:prstGeom>
          <a:solidFill>
            <a:srgbClr val="7A5CFF"/>
          </a:solidFill>
          <a:ln/>
        </p:spPr>
      </p:sp>
      <p:sp>
        <p:nvSpPr>
          <p:cNvPr id="52" name="Text 49"/>
          <p:cNvSpPr/>
          <p:nvPr/>
        </p:nvSpPr>
        <p:spPr>
          <a:xfrm>
            <a:off x="6559540" y="4259550"/>
            <a:ext cx="1352580" cy="152430"/>
          </a:xfrm>
          <a:prstGeom prst="rect">
            <a:avLst/>
          </a:prstGeom>
          <a:noFill/>
          <a:ln/>
        </p:spPr>
        <p:txBody>
          <a:bodyPr wrap="square" lIns="0" tIns="0" rIns="0" bIns="0" rtlCol="0" anchor="t"/>
          <a:lstStyle/>
          <a:p>
            <a:pPr algn="l"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Styles + variables</a:t>
            </a:r>
            <a:endParaRPr lang="en-US" sz="850" dirty="0"/>
          </a:p>
        </p:txBody>
      </p:sp>
      <p:sp>
        <p:nvSpPr>
          <p:cNvPr id="53" name="Shape 51"/>
          <p:cNvSpPr/>
          <p:nvPr/>
        </p:nvSpPr>
        <p:spPr>
          <a:xfrm>
            <a:off x="6349959" y="4533870"/>
            <a:ext cx="1339870" cy="215890"/>
          </a:xfrm>
          <a:prstGeom prst="roundRect">
            <a:avLst>
              <a:gd name="adj" fmla="val 50021"/>
            </a:avLst>
          </a:prstGeom>
          <a:solidFill>
            <a:srgbClr val="7A5CFF">
              <a:alpha val="10000"/>
            </a:srgbClr>
          </a:solidFill>
          <a:ln/>
        </p:spPr>
      </p:sp>
      <p:sp>
        <p:nvSpPr>
          <p:cNvPr id="54" name="Shape 52"/>
          <p:cNvSpPr/>
          <p:nvPr/>
        </p:nvSpPr>
        <p:spPr>
          <a:xfrm>
            <a:off x="6457950" y="4616440"/>
            <a:ext cx="57150" cy="57150"/>
          </a:xfrm>
          <a:prstGeom prst="ellipse">
            <a:avLst/>
          </a:prstGeom>
          <a:solidFill>
            <a:srgbClr val="7A5CFF"/>
          </a:solidFill>
          <a:ln/>
        </p:spPr>
      </p:sp>
      <p:sp>
        <p:nvSpPr>
          <p:cNvPr id="55" name="Text 52"/>
          <p:cNvSpPr/>
          <p:nvPr/>
        </p:nvSpPr>
        <p:spPr>
          <a:xfrm>
            <a:off x="6559540" y="4577121"/>
            <a:ext cx="1066830" cy="152430"/>
          </a:xfrm>
          <a:prstGeom prst="rect">
            <a:avLst/>
          </a:prstGeom>
          <a:noFill/>
          <a:ln/>
        </p:spPr>
        <p:txBody>
          <a:bodyPr wrap="square" lIns="0" tIns="0" rIns="0" bIns="0" rtlCol="0" anchor="t"/>
          <a:lstStyle/>
          <a:p>
            <a:pPr algn="l"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Composio → CSS</a:t>
            </a:r>
            <a:endParaRPr lang="en-US" sz="850" dirty="0"/>
          </a:p>
        </p:txBody>
      </p:sp>
      <p:sp>
        <p:nvSpPr>
          <p:cNvPr id="56" name="Text 53"/>
          <p:cNvSpPr/>
          <p:nvPr/>
        </p:nvSpPr>
        <p:spPr>
          <a:xfrm>
            <a:off x="6349959" y="4940320"/>
            <a:ext cx="2540020" cy="184160"/>
          </a:xfrm>
          <a:prstGeom prst="rect">
            <a:avLst/>
          </a:prstGeom>
          <a:noFill/>
          <a:ln/>
        </p:spPr>
        <p:txBody>
          <a:bodyPr wrap="square" lIns="0" tIns="0" rIns="0" bIns="0" rtlCol="0" anchor="t"/>
          <a:lstStyle/>
          <a:p>
            <a:pPr algn="l" indent="0" marL="0">
              <a:lnSpc>
                <a:spcPct val="140000"/>
              </a:lnSpc>
              <a:buNone/>
            </a:pPr>
            <a:r>
              <a:rPr lang="en-US" sz="900" dirty="0">
                <a:solidFill>
                  <a:srgbClr val="16181B"/>
                </a:solidFill>
                <a:latin typeface="JetBrains Mono" pitchFamily="34" charset="0"/>
                <a:ea typeface="JetBrains Mono" pitchFamily="34" charset="-122"/>
                <a:cs typeface="JetBrains Mono" pitchFamily="34" charset="-120"/>
              </a:rPr>
              <a:t>≈7 min · 2/5</a:t>
            </a:r>
            <a:endParaRPr lang="en-US" sz="900" dirty="0"/>
          </a:p>
        </p:txBody>
      </p:sp>
      <p:sp>
        <p:nvSpPr>
          <p:cNvPr id="57" name="Shape 55"/>
          <p:cNvSpPr/>
          <p:nvPr/>
        </p:nvSpPr>
        <p:spPr>
          <a:xfrm>
            <a:off x="6349959" y="5143500"/>
            <a:ext cx="1339870" cy="190470"/>
          </a:xfrm>
          <a:prstGeom prst="roundRect">
            <a:avLst>
              <a:gd name="adj" fmla="val 50024"/>
            </a:avLst>
          </a:prstGeom>
          <a:solidFill>
            <a:srgbClr val="9AA0A6">
              <a:alpha val="18000"/>
            </a:srgbClr>
          </a:solidFill>
          <a:ln/>
        </p:spPr>
      </p:sp>
      <p:sp>
        <p:nvSpPr>
          <p:cNvPr id="58" name="Text 55"/>
          <p:cNvSpPr/>
          <p:nvPr/>
        </p:nvSpPr>
        <p:spPr>
          <a:xfrm>
            <a:off x="6349959" y="5181630"/>
            <a:ext cx="1339870" cy="133320"/>
          </a:xfrm>
          <a:prstGeom prst="rect">
            <a:avLst/>
          </a:prstGeom>
          <a:noFill/>
          <a:ln/>
        </p:spPr>
        <p:txBody>
          <a:bodyPr wrap="square" lIns="0" tIns="0" rIns="0" bIns="0" rtlCol="0" anchor="t"/>
          <a:lstStyle/>
          <a:p>
            <a:pPr algn="ctr" indent="0" marL="0">
              <a:lnSpc>
                <a:spcPct val="120000"/>
              </a:lnSpc>
              <a:buNone/>
            </a:pPr>
            <a:r>
              <a:rPr lang="en-US" sz="750" b="1" spc="45" kern="0" dirty="0">
                <a:solidFill>
                  <a:srgbClr val="16181B"/>
                </a:solidFill>
                <a:latin typeface="JetBrains Mono" pitchFamily="34" charset="0"/>
                <a:ea typeface="JetBrains Mono" pitchFamily="34" charset="-122"/>
                <a:cs typeface="JetBrains Mono" pitchFamily="34" charset="-120"/>
              </a:rPr>
              <a:t>FIGMA STEP PENDING</a:t>
            </a:r>
            <a:endParaRPr lang="en-US" sz="750" dirty="0"/>
          </a:p>
        </p:txBody>
      </p:sp>
      <p:sp>
        <p:nvSpPr>
          <p:cNvPr id="59" name="Shape 57"/>
          <p:cNvSpPr/>
          <p:nvPr/>
        </p:nvSpPr>
        <p:spPr>
          <a:xfrm>
            <a:off x="9144000" y="2222541"/>
            <a:ext cx="330190" cy="330190"/>
          </a:xfrm>
          <a:prstGeom prst="ellipse">
            <a:avLst/>
          </a:prstGeom>
          <a:solidFill>
            <a:srgbClr val="4FB3FF"/>
          </a:solidFill>
          <a:ln w="25400">
            <a:solidFill>
              <a:srgbClr val="4FB3FF"/>
            </a:solidFill>
            <a:prstDash val="solid"/>
          </a:ln>
        </p:spPr>
      </p:sp>
      <p:sp>
        <p:nvSpPr>
          <p:cNvPr id="60" name="Text 57"/>
          <p:cNvSpPr/>
          <p:nvPr/>
        </p:nvSpPr>
        <p:spPr>
          <a:xfrm>
            <a:off x="9144000" y="2692359"/>
            <a:ext cx="1904970" cy="18416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JetBrains Mono" pitchFamily="34" charset="0"/>
                <a:ea typeface="JetBrains Mono" pitchFamily="34" charset="-122"/>
                <a:cs typeface="JetBrains Mono" pitchFamily="34" charset="-120"/>
              </a:rPr>
              <a:t>04</a:t>
            </a:r>
            <a:endParaRPr lang="en-US" sz="900" dirty="0"/>
          </a:p>
        </p:txBody>
      </p:sp>
      <p:sp>
        <p:nvSpPr>
          <p:cNvPr id="61" name="Text 58"/>
          <p:cNvSpPr/>
          <p:nvPr/>
        </p:nvSpPr>
        <p:spPr>
          <a:xfrm>
            <a:off x="9144000" y="2870210"/>
            <a:ext cx="2540020" cy="285750"/>
          </a:xfrm>
          <a:prstGeom prst="rect">
            <a:avLst/>
          </a:prstGeom>
          <a:noFill/>
          <a:ln/>
        </p:spPr>
        <p:txBody>
          <a:bodyPr wrap="square" lIns="0" tIns="0" rIns="0" bIns="0" rtlCol="0" anchor="t"/>
          <a:lstStyle/>
          <a:p>
            <a:pPr algn="l" indent="0" marL="0">
              <a:lnSpc>
                <a:spcPct val="100000"/>
              </a:lnSpc>
              <a:buNone/>
            </a:pPr>
            <a:r>
              <a:rPr lang="en-US" sz="1872" dirty="0">
                <a:solidFill>
                  <a:srgbClr val="16181B"/>
                </a:solidFill>
                <a:latin typeface="Instrument Serif" pitchFamily="34" charset="0"/>
                <a:ea typeface="Instrument Serif" pitchFamily="34" charset="-122"/>
                <a:cs typeface="Instrument Serif" pitchFamily="34" charset="-120"/>
              </a:rPr>
              <a:t>Code generation</a:t>
            </a:r>
            <a:endParaRPr lang="en-US" sz="1872" dirty="0"/>
          </a:p>
        </p:txBody>
      </p:sp>
      <p:sp>
        <p:nvSpPr>
          <p:cNvPr id="62" name="Text 59"/>
          <p:cNvSpPr/>
          <p:nvPr/>
        </p:nvSpPr>
        <p:spPr>
          <a:xfrm>
            <a:off x="9144000" y="3289280"/>
            <a:ext cx="1904970" cy="133320"/>
          </a:xfrm>
          <a:prstGeom prst="rect">
            <a:avLst/>
          </a:prstGeom>
          <a:noFill/>
          <a:ln/>
        </p:spPr>
        <p:txBody>
          <a:bodyPr wrap="square" lIns="0" tIns="0" rIns="0" bIns="0" rtlCol="0" anchor="t"/>
          <a:lstStyle/>
          <a:p>
            <a:pPr algn="l" indent="0" marL="0">
              <a:lnSpc>
                <a:spcPct val="120000"/>
              </a:lnSpc>
              <a:buNone/>
            </a:pPr>
            <a:r>
              <a:rPr lang="en-US" sz="750" spc="105" kern="0" dirty="0">
                <a:solidFill>
                  <a:srgbClr val="7C8188"/>
                </a:solidFill>
                <a:latin typeface="JetBrains Mono" pitchFamily="34" charset="0"/>
                <a:ea typeface="JetBrains Mono" pitchFamily="34" charset="-122"/>
                <a:cs typeface="JetBrains Mono" pitchFamily="34" charset="-120"/>
              </a:rPr>
              <a:t>CODE</a:t>
            </a:r>
            <a:endParaRPr lang="en-US" sz="750" dirty="0"/>
          </a:p>
        </p:txBody>
      </p:sp>
      <p:sp>
        <p:nvSpPr>
          <p:cNvPr id="63" name="Shape 61"/>
          <p:cNvSpPr/>
          <p:nvPr/>
        </p:nvSpPr>
        <p:spPr>
          <a:xfrm>
            <a:off x="9144000" y="3454420"/>
            <a:ext cx="1949409" cy="215890"/>
          </a:xfrm>
          <a:prstGeom prst="roundRect">
            <a:avLst>
              <a:gd name="adj" fmla="val 50021"/>
            </a:avLst>
          </a:prstGeom>
          <a:solidFill>
            <a:srgbClr val="FFFFFF"/>
          </a:solidFill>
          <a:ln w="12700">
            <a:solidFill>
              <a:srgbClr val="16181B">
                <a:alpha val="18000"/>
              </a:srgbClr>
            </a:solidFill>
            <a:prstDash val="solid"/>
          </a:ln>
        </p:spPr>
      </p:sp>
      <p:sp>
        <p:nvSpPr>
          <p:cNvPr id="64" name="Text 61"/>
          <p:cNvSpPr/>
          <p:nvPr/>
        </p:nvSpPr>
        <p:spPr>
          <a:xfrm>
            <a:off x="9144000" y="3497580"/>
            <a:ext cx="1949409" cy="152430"/>
          </a:xfrm>
          <a:prstGeom prst="rect">
            <a:avLst/>
          </a:prstGeom>
          <a:noFill/>
          <a:ln/>
        </p:spPr>
        <p:txBody>
          <a:bodyPr wrap="square" lIns="0" tIns="0" rIns="0" bIns="0" rtlCol="0" anchor="t"/>
          <a:lstStyle/>
          <a:p>
            <a:pPr algn="ctr"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Claude Code + 3 builders</a:t>
            </a:r>
            <a:endParaRPr lang="en-US" sz="850" dirty="0"/>
          </a:p>
        </p:txBody>
      </p:sp>
      <p:sp>
        <p:nvSpPr>
          <p:cNvPr id="65" name="Text 62"/>
          <p:cNvSpPr/>
          <p:nvPr/>
        </p:nvSpPr>
        <p:spPr>
          <a:xfrm>
            <a:off x="9144000" y="4025920"/>
            <a:ext cx="1904970" cy="133320"/>
          </a:xfrm>
          <a:prstGeom prst="rect">
            <a:avLst/>
          </a:prstGeom>
          <a:noFill/>
          <a:ln/>
        </p:spPr>
        <p:txBody>
          <a:bodyPr wrap="square" lIns="0" tIns="0" rIns="0" bIns="0" rtlCol="0" anchor="t"/>
          <a:lstStyle/>
          <a:p>
            <a:pPr algn="l" indent="0" marL="0">
              <a:lnSpc>
                <a:spcPct val="120000"/>
              </a:lnSpc>
              <a:buNone/>
            </a:pPr>
            <a:r>
              <a:rPr lang="en-US" sz="750" spc="105" kern="0" dirty="0">
                <a:solidFill>
                  <a:srgbClr val="7C8188"/>
                </a:solidFill>
                <a:latin typeface="JetBrains Mono" pitchFamily="34" charset="0"/>
                <a:ea typeface="JetBrains Mono" pitchFamily="34" charset="-122"/>
                <a:cs typeface="JetBrains Mono" pitchFamily="34" charset="-120"/>
              </a:rPr>
              <a:t>FIGMA</a:t>
            </a:r>
            <a:endParaRPr lang="en-US" sz="750" dirty="0"/>
          </a:p>
        </p:txBody>
      </p:sp>
      <p:sp>
        <p:nvSpPr>
          <p:cNvPr id="66" name="Shape 64"/>
          <p:cNvSpPr/>
          <p:nvPr/>
        </p:nvSpPr>
        <p:spPr>
          <a:xfrm>
            <a:off x="9144000" y="4216390"/>
            <a:ext cx="1701790" cy="215890"/>
          </a:xfrm>
          <a:prstGeom prst="roundRect">
            <a:avLst>
              <a:gd name="adj" fmla="val 50021"/>
            </a:avLst>
          </a:prstGeom>
          <a:solidFill>
            <a:srgbClr val="7A5CFF">
              <a:alpha val="10000"/>
            </a:srgbClr>
          </a:solidFill>
          <a:ln/>
        </p:spPr>
      </p:sp>
      <p:sp>
        <p:nvSpPr>
          <p:cNvPr id="67" name="Shape 65"/>
          <p:cNvSpPr/>
          <p:nvPr/>
        </p:nvSpPr>
        <p:spPr>
          <a:xfrm>
            <a:off x="9251991" y="4298960"/>
            <a:ext cx="57150" cy="57150"/>
          </a:xfrm>
          <a:prstGeom prst="ellipse">
            <a:avLst/>
          </a:prstGeom>
          <a:solidFill>
            <a:srgbClr val="7A5CFF"/>
          </a:solidFill>
          <a:ln/>
        </p:spPr>
      </p:sp>
      <p:sp>
        <p:nvSpPr>
          <p:cNvPr id="68" name="Text 65"/>
          <p:cNvSpPr/>
          <p:nvPr/>
        </p:nvSpPr>
        <p:spPr>
          <a:xfrm>
            <a:off x="9353580" y="4259550"/>
            <a:ext cx="1428750" cy="152430"/>
          </a:xfrm>
          <a:prstGeom prst="rect">
            <a:avLst/>
          </a:prstGeom>
          <a:noFill/>
          <a:ln/>
        </p:spPr>
        <p:txBody>
          <a:bodyPr wrap="square" lIns="0" tIns="0" rIns="0" bIns="0" rtlCol="0" anchor="t"/>
          <a:lstStyle/>
          <a:p>
            <a:pPr algn="l"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Pill → Figma plugin</a:t>
            </a:r>
            <a:endParaRPr lang="en-US" sz="850" dirty="0"/>
          </a:p>
        </p:txBody>
      </p:sp>
      <p:sp>
        <p:nvSpPr>
          <p:cNvPr id="69" name="Text 66"/>
          <p:cNvSpPr/>
          <p:nvPr/>
        </p:nvSpPr>
        <p:spPr>
          <a:xfrm>
            <a:off x="9144000" y="4622841"/>
            <a:ext cx="2540020" cy="184160"/>
          </a:xfrm>
          <a:prstGeom prst="rect">
            <a:avLst/>
          </a:prstGeom>
          <a:noFill/>
          <a:ln/>
        </p:spPr>
        <p:txBody>
          <a:bodyPr wrap="square" lIns="0" tIns="0" rIns="0" bIns="0" rtlCol="0" anchor="t"/>
          <a:lstStyle/>
          <a:p>
            <a:pPr algn="l" indent="0" marL="0">
              <a:lnSpc>
                <a:spcPct val="140000"/>
              </a:lnSpc>
              <a:buNone/>
            </a:pPr>
            <a:r>
              <a:rPr lang="en-US" sz="900" dirty="0">
                <a:solidFill>
                  <a:srgbClr val="16181B"/>
                </a:solidFill>
                <a:latin typeface="JetBrains Mono" pitchFamily="34" charset="0"/>
                <a:ea typeface="JetBrains Mono" pitchFamily="34" charset="-122"/>
                <a:cs typeface="JetBrains Mono" pitchFamily="34" charset="-120"/>
              </a:rPr>
              <a:t>≈92 min · 4/5</a:t>
            </a:r>
            <a:endParaRPr lang="en-US" sz="900" dirty="0"/>
          </a:p>
        </p:txBody>
      </p:sp>
      <p:sp>
        <p:nvSpPr>
          <p:cNvPr id="70" name="Shape 68"/>
          <p:cNvSpPr/>
          <p:nvPr/>
        </p:nvSpPr>
        <p:spPr>
          <a:xfrm>
            <a:off x="9144000" y="4826020"/>
            <a:ext cx="1339870" cy="190470"/>
          </a:xfrm>
          <a:prstGeom prst="roundRect">
            <a:avLst>
              <a:gd name="adj" fmla="val 50024"/>
            </a:avLst>
          </a:prstGeom>
          <a:solidFill>
            <a:srgbClr val="9AA0A6">
              <a:alpha val="18000"/>
            </a:srgbClr>
          </a:solidFill>
          <a:ln/>
        </p:spPr>
      </p:sp>
      <p:sp>
        <p:nvSpPr>
          <p:cNvPr id="71" name="Text 68"/>
          <p:cNvSpPr/>
          <p:nvPr/>
        </p:nvSpPr>
        <p:spPr>
          <a:xfrm>
            <a:off x="9144000" y="4864059"/>
            <a:ext cx="1339870" cy="133320"/>
          </a:xfrm>
          <a:prstGeom prst="rect">
            <a:avLst/>
          </a:prstGeom>
          <a:noFill/>
          <a:ln/>
        </p:spPr>
        <p:txBody>
          <a:bodyPr wrap="square" lIns="0" tIns="0" rIns="0" bIns="0" rtlCol="0" anchor="t"/>
          <a:lstStyle/>
          <a:p>
            <a:pPr algn="ctr" indent="0" marL="0">
              <a:lnSpc>
                <a:spcPct val="120000"/>
              </a:lnSpc>
              <a:buNone/>
            </a:pPr>
            <a:r>
              <a:rPr lang="en-US" sz="750" b="1" spc="45" kern="0" dirty="0">
                <a:solidFill>
                  <a:srgbClr val="16181B"/>
                </a:solidFill>
                <a:latin typeface="JetBrains Mono" pitchFamily="34" charset="0"/>
                <a:ea typeface="JetBrains Mono" pitchFamily="34" charset="-122"/>
                <a:cs typeface="JetBrains Mono" pitchFamily="34" charset="-120"/>
              </a:rPr>
              <a:t>FIGMA STEP PENDING</a:t>
            </a:r>
            <a:endParaRPr lang="en-US" sz="750" dirty="0"/>
          </a:p>
        </p:txBody>
      </p:sp>
      <p:sp>
        <p:nvSpPr>
          <p:cNvPr id="72" name="Text 69"/>
          <p:cNvSpPr/>
          <p:nvPr/>
        </p:nvSpPr>
        <p:spPr>
          <a:xfrm>
            <a:off x="761970" y="6083320"/>
            <a:ext cx="10668030" cy="228600"/>
          </a:xfrm>
          <a:prstGeom prst="rect">
            <a:avLst/>
          </a:prstGeom>
          <a:noFill/>
          <a:ln/>
        </p:spPr>
        <p:txBody>
          <a:bodyPr wrap="square" lIns="0" tIns="0" rIns="0" bIns="0" rtlCol="0" anchor="t"/>
          <a:lstStyle/>
          <a:p>
            <a:pPr algn="l" indent="0" marL="0">
              <a:lnSpc>
                <a:spcPct val="140000"/>
              </a:lnSpc>
              <a:buNone/>
            </a:pPr>
            <a:r>
              <a:rPr lang="en-US" sz="1100" dirty="0">
                <a:solidFill>
                  <a:srgbClr val="4A4E55"/>
                </a:solidFill>
                <a:latin typeface="Inter" pitchFamily="34" charset="0"/>
                <a:ea typeface="Inter" pitchFamily="34" charset="-122"/>
                <a:cs typeface="Inter" pitchFamily="34" charset="-120"/>
              </a:rPr>
              <a:t>Honest order: no Figma was used Friday or Saturday morning. The Figma files are generated from the repo, and the log says so.</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THE FIGMA STEP</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14 / 20</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9525030" cy="527060"/>
          </a:xfrm>
          <a:prstGeom prst="rect">
            <a:avLst/>
          </a:prstGeom>
          <a:noFill/>
          <a:ln/>
        </p:spPr>
        <p:txBody>
          <a:bodyPr wrap="square" lIns="0" tIns="0" rIns="0" bIns="0" rtlCol="0" anchor="t"/>
          <a:lstStyle/>
          <a:p>
            <a:pPr algn="l" indent="0" marL="0">
              <a:lnSpc>
                <a:spcPct val="100000"/>
              </a:lnSpc>
              <a:buNone/>
            </a:pPr>
            <a:r>
              <a:rPr lang="en-US" sz="3432" spc="-51" kern="0" dirty="0">
                <a:solidFill>
                  <a:srgbClr val="16181B"/>
                </a:solidFill>
                <a:latin typeface="Instrument Serif" pitchFamily="34" charset="0"/>
                <a:ea typeface="Instrument Serif" pitchFamily="34" charset="-122"/>
                <a:cs typeface="Instrument Serif" pitchFamily="34" charset="-120"/>
              </a:rPr>
              <a:t>This deck was </a:t>
            </a:r>
            <a:pPr algn="l" indent="0" marL="0">
              <a:lnSpc>
                <a:spcPct val="100000"/>
              </a:lnSpc>
              <a:buNone/>
            </a:pPr>
            <a:r>
              <a:rPr lang="en-US" sz="3432" i="1" spc="-51" kern="0" dirty="0">
                <a:solidFill>
                  <a:srgbClr val="16181B"/>
                </a:solidFill>
                <a:latin typeface="Instrument Serif" pitchFamily="34" charset="0"/>
                <a:ea typeface="Instrument Serif" pitchFamily="34" charset="-122"/>
                <a:cs typeface="Instrument Serif" pitchFamily="34" charset="-120"/>
              </a:rPr>
              <a:t>generated from the repo.</a:t>
            </a:r>
            <a:endParaRPr lang="en-US" sz="3432" dirty="0"/>
          </a:p>
        </p:txBody>
      </p:sp>
      <p:sp>
        <p:nvSpPr>
          <p:cNvPr id="11" name="Shape 9"/>
          <p:cNvSpPr/>
          <p:nvPr/>
        </p:nvSpPr>
        <p:spPr>
          <a:xfrm>
            <a:off x="761970" y="2508291"/>
            <a:ext cx="1460480" cy="952530"/>
          </a:xfrm>
          <a:prstGeom prst="roundRect">
            <a:avLst>
              <a:gd name="adj" fmla="val 14668"/>
            </a:avLst>
          </a:prstGeom>
          <a:solidFill>
            <a:srgbClr val="FFFFFF"/>
          </a:solidFill>
          <a:ln w="12700">
            <a:solidFill>
              <a:srgbClr val="16181B">
                <a:alpha val="10000"/>
              </a:srgbClr>
            </a:solidFill>
            <a:prstDash val="solid"/>
          </a:ln>
        </p:spPr>
      </p:sp>
      <p:sp>
        <p:nvSpPr>
          <p:cNvPr id="12" name="Text 9"/>
          <p:cNvSpPr/>
          <p:nvPr/>
        </p:nvSpPr>
        <p:spPr>
          <a:xfrm>
            <a:off x="914400" y="2647920"/>
            <a:ext cx="1155710" cy="203180"/>
          </a:xfrm>
          <a:prstGeom prst="rect">
            <a:avLst/>
          </a:prstGeom>
          <a:noFill/>
          <a:ln/>
        </p:spPr>
        <p:txBody>
          <a:bodyPr wrap="square" lIns="0" tIns="0" rIns="0" bIns="0" rtlCol="0" anchor="t"/>
          <a:lstStyle/>
          <a:p>
            <a:pPr algn="l" indent="0" marL="0">
              <a:lnSpc>
                <a:spcPct val="130000"/>
              </a:lnSpc>
              <a:buNone/>
            </a:pPr>
            <a:r>
              <a:rPr lang="en-US" sz="1050" b="1" dirty="0">
                <a:solidFill>
                  <a:srgbClr val="16181B"/>
                </a:solidFill>
                <a:latin typeface="JetBrains Mono" pitchFamily="34" charset="0"/>
                <a:ea typeface="JetBrains Mono" pitchFamily="34" charset="-122"/>
                <a:cs typeface="JetBrains Mono" pitchFamily="34" charset="-120"/>
              </a:rPr>
              <a:t>repo</a:t>
            </a:r>
            <a:endParaRPr lang="en-US" sz="1050" dirty="0"/>
          </a:p>
        </p:txBody>
      </p:sp>
      <p:sp>
        <p:nvSpPr>
          <p:cNvPr id="13" name="Text 10"/>
          <p:cNvSpPr/>
          <p:nvPr/>
        </p:nvSpPr>
        <p:spPr>
          <a:xfrm>
            <a:off x="914400" y="2876520"/>
            <a:ext cx="1155710" cy="47622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screenshots · CSS :root · debate JSON · stage log</a:t>
            </a:r>
            <a:endParaRPr lang="en-US" sz="850" dirty="0"/>
          </a:p>
        </p:txBody>
      </p:sp>
      <p:sp>
        <p:nvSpPr>
          <p:cNvPr id="14" name="Shape 12"/>
          <p:cNvSpPr/>
          <p:nvPr/>
        </p:nvSpPr>
        <p:spPr>
          <a:xfrm>
            <a:off x="2603480" y="2508291"/>
            <a:ext cx="1587490" cy="952530"/>
          </a:xfrm>
          <a:prstGeom prst="roundRect">
            <a:avLst>
              <a:gd name="adj" fmla="val 14668"/>
            </a:avLst>
          </a:prstGeom>
          <a:solidFill>
            <a:srgbClr val="FFFFFF"/>
          </a:solidFill>
          <a:ln w="12700">
            <a:solidFill>
              <a:srgbClr val="16181B">
                <a:alpha val="10000"/>
              </a:srgbClr>
            </a:solidFill>
            <a:prstDash val="solid"/>
          </a:ln>
        </p:spPr>
      </p:sp>
      <p:sp>
        <p:nvSpPr>
          <p:cNvPr id="15" name="Text 12"/>
          <p:cNvSpPr/>
          <p:nvPr/>
        </p:nvSpPr>
        <p:spPr>
          <a:xfrm>
            <a:off x="2755910" y="2647920"/>
            <a:ext cx="1282720" cy="203180"/>
          </a:xfrm>
          <a:prstGeom prst="rect">
            <a:avLst/>
          </a:prstGeom>
          <a:noFill/>
          <a:ln/>
        </p:spPr>
        <p:txBody>
          <a:bodyPr wrap="square" lIns="0" tIns="0" rIns="0" bIns="0" rtlCol="0" anchor="t"/>
          <a:lstStyle/>
          <a:p>
            <a:pPr algn="l" indent="0" marL="0">
              <a:lnSpc>
                <a:spcPct val="130000"/>
              </a:lnSpc>
              <a:buNone/>
            </a:pPr>
            <a:r>
              <a:rPr lang="en-US" sz="1050" b="1" dirty="0">
                <a:solidFill>
                  <a:srgbClr val="16181B"/>
                </a:solidFill>
                <a:latin typeface="JetBrains Mono" pitchFamily="34" charset="0"/>
                <a:ea typeface="JetBrains Mono" pitchFamily="34" charset="-122"/>
                <a:cs typeface="JetBrains Mono" pitchFamily="34" charset="-120"/>
              </a:rPr>
              <a:t>build-deck.mjs</a:t>
            </a:r>
            <a:endParaRPr lang="en-US" sz="1050" dirty="0"/>
          </a:p>
        </p:txBody>
      </p:sp>
      <p:sp>
        <p:nvSpPr>
          <p:cNvPr id="16" name="Text 13"/>
          <p:cNvSpPr/>
          <p:nvPr/>
        </p:nvSpPr>
        <p:spPr>
          <a:xfrm>
            <a:off x="2755910" y="2876520"/>
            <a:ext cx="1282720" cy="32388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Node, no npm deps; ffmpeg for images</a:t>
            </a:r>
            <a:endParaRPr lang="en-US" sz="850" dirty="0"/>
          </a:p>
        </p:txBody>
      </p:sp>
      <p:sp>
        <p:nvSpPr>
          <p:cNvPr id="17" name="Shape 15"/>
          <p:cNvSpPr/>
          <p:nvPr/>
        </p:nvSpPr>
        <p:spPr>
          <a:xfrm>
            <a:off x="4572000" y="2508291"/>
            <a:ext cx="1460480" cy="952530"/>
          </a:xfrm>
          <a:prstGeom prst="roundRect">
            <a:avLst>
              <a:gd name="adj" fmla="val 14668"/>
            </a:avLst>
          </a:prstGeom>
          <a:solidFill>
            <a:srgbClr val="FFFFFF"/>
          </a:solidFill>
          <a:ln w="12700">
            <a:solidFill>
              <a:srgbClr val="16181B">
                <a:alpha val="10000"/>
              </a:srgbClr>
            </a:solidFill>
            <a:prstDash val="solid"/>
          </a:ln>
        </p:spPr>
      </p:sp>
      <p:sp>
        <p:nvSpPr>
          <p:cNvPr id="18" name="Text 15"/>
          <p:cNvSpPr/>
          <p:nvPr/>
        </p:nvSpPr>
        <p:spPr>
          <a:xfrm>
            <a:off x="4724430" y="2647920"/>
            <a:ext cx="1155710" cy="203180"/>
          </a:xfrm>
          <a:prstGeom prst="rect">
            <a:avLst/>
          </a:prstGeom>
          <a:noFill/>
          <a:ln/>
        </p:spPr>
        <p:txBody>
          <a:bodyPr wrap="square" lIns="0" tIns="0" rIns="0" bIns="0" rtlCol="0" anchor="t"/>
          <a:lstStyle/>
          <a:p>
            <a:pPr algn="l" indent="0" marL="0">
              <a:lnSpc>
                <a:spcPct val="130000"/>
              </a:lnSpc>
              <a:buNone/>
            </a:pPr>
            <a:r>
              <a:rPr lang="en-US" sz="1050" b="1" dirty="0">
                <a:solidFill>
                  <a:srgbClr val="16181B"/>
                </a:solidFill>
                <a:latin typeface="JetBrains Mono" pitchFamily="34" charset="0"/>
                <a:ea typeface="JetBrains Mono" pitchFamily="34" charset="-122"/>
                <a:cs typeface="JetBrains Mono" pitchFamily="34" charset="-120"/>
              </a:rPr>
              <a:t>deck.json</a:t>
            </a:r>
            <a:endParaRPr lang="en-US" sz="1050" dirty="0"/>
          </a:p>
        </p:txBody>
      </p:sp>
      <p:sp>
        <p:nvSpPr>
          <p:cNvPr id="19" name="Text 16"/>
          <p:cNvSpPr/>
          <p:nvPr/>
        </p:nvSpPr>
        <p:spPr>
          <a:xfrm>
            <a:off x="4724430" y="2876520"/>
            <a:ext cx="1155710" cy="32388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slides, pages and board in one file</a:t>
            </a:r>
            <a:endParaRPr lang="en-US" sz="850" dirty="0"/>
          </a:p>
        </p:txBody>
      </p:sp>
      <p:sp>
        <p:nvSpPr>
          <p:cNvPr id="20" name="Shape 18"/>
          <p:cNvSpPr/>
          <p:nvPr/>
        </p:nvSpPr>
        <p:spPr>
          <a:xfrm>
            <a:off x="6413510" y="2508291"/>
            <a:ext cx="1587490" cy="952530"/>
          </a:xfrm>
          <a:prstGeom prst="roundRect">
            <a:avLst>
              <a:gd name="adj" fmla="val 14668"/>
            </a:avLst>
          </a:prstGeom>
          <a:solidFill>
            <a:srgbClr val="7A5CFF">
              <a:alpha val="10000"/>
            </a:srgbClr>
          </a:solidFill>
          <a:ln w="12700">
            <a:solidFill>
              <a:srgbClr val="7A5CFF">
                <a:alpha val="35000"/>
              </a:srgbClr>
            </a:solidFill>
            <a:prstDash val="solid"/>
          </a:ln>
        </p:spPr>
      </p:sp>
      <p:sp>
        <p:nvSpPr>
          <p:cNvPr id="21" name="Text 18"/>
          <p:cNvSpPr/>
          <p:nvPr/>
        </p:nvSpPr>
        <p:spPr>
          <a:xfrm>
            <a:off x="6565941" y="2647920"/>
            <a:ext cx="1282720" cy="203180"/>
          </a:xfrm>
          <a:prstGeom prst="rect">
            <a:avLst/>
          </a:prstGeom>
          <a:noFill/>
          <a:ln/>
        </p:spPr>
        <p:txBody>
          <a:bodyPr wrap="square" lIns="0" tIns="0" rIns="0" bIns="0" rtlCol="0" anchor="t"/>
          <a:lstStyle/>
          <a:p>
            <a:pPr algn="l" indent="0" marL="0">
              <a:lnSpc>
                <a:spcPct val="130000"/>
              </a:lnSpc>
              <a:buNone/>
            </a:pPr>
            <a:r>
              <a:rPr lang="en-US" sz="1050" b="1" dirty="0">
                <a:solidFill>
                  <a:srgbClr val="16181B"/>
                </a:solidFill>
                <a:latin typeface="JetBrains Mono" pitchFamily="34" charset="0"/>
                <a:ea typeface="JetBrains Mono" pitchFamily="34" charset="-122"/>
                <a:cs typeface="JetBrains Mono" pitchFamily="34" charset="-120"/>
              </a:rPr>
              <a:t>Pill → Figma</a:t>
            </a:r>
            <a:endParaRPr lang="en-US" sz="1050" dirty="0"/>
          </a:p>
        </p:txBody>
      </p:sp>
      <p:sp>
        <p:nvSpPr>
          <p:cNvPr id="22" name="Text 19"/>
          <p:cNvSpPr/>
          <p:nvPr/>
        </p:nvSpPr>
        <p:spPr>
          <a:xfrm>
            <a:off x="6565941" y="2876520"/>
            <a:ext cx="1282720" cy="32388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one-file plugin that draws deck.json</a:t>
            </a:r>
            <a:endParaRPr lang="en-US" sz="850" dirty="0"/>
          </a:p>
        </p:txBody>
      </p:sp>
      <p:sp>
        <p:nvSpPr>
          <p:cNvPr id="23" name="Shape 21"/>
          <p:cNvSpPr/>
          <p:nvPr/>
        </p:nvSpPr>
        <p:spPr>
          <a:xfrm>
            <a:off x="2228850" y="2920959"/>
            <a:ext cx="355610" cy="127010"/>
          </a:xfrm>
          <a:custGeom>
            <a:avLst/>
            <a:gdLst/>
            <a:ahLst/>
            <a:cxnLst/>
            <a:rect l="l" t="t" r="r" b="b"/>
            <a:pathLst>
              <a:path w="355610" h="127010">
                <a:moveTo>
                  <a:pt x="19020" y="63459"/>
                </a:moveTo>
                <a:lnTo>
                  <a:pt x="336591" y="63459"/>
                </a:lnTo>
                <a:moveTo>
                  <a:pt x="258409" y="106070"/>
                </a:moveTo>
                <a:lnTo>
                  <a:pt x="336591" y="63459"/>
                </a:lnTo>
                <a:lnTo>
                  <a:pt x="258409" y="20940"/>
                </a:lnTo>
              </a:path>
            </a:pathLst>
          </a:custGeom>
          <a:ln w="19050">
            <a:solidFill>
              <a:srgbClr val="4FB3FF"/>
            </a:solidFill>
            <a:prstDash val="solid"/>
          </a:ln>
        </p:spPr>
      </p:sp>
      <p:sp>
        <p:nvSpPr>
          <p:cNvPr id="24" name="Shape 22"/>
          <p:cNvSpPr/>
          <p:nvPr/>
        </p:nvSpPr>
        <p:spPr>
          <a:xfrm>
            <a:off x="4197370" y="2920959"/>
            <a:ext cx="355610" cy="127010"/>
          </a:xfrm>
          <a:custGeom>
            <a:avLst/>
            <a:gdLst/>
            <a:ahLst/>
            <a:cxnLst/>
            <a:rect l="l" t="t" r="r" b="b"/>
            <a:pathLst>
              <a:path w="355610" h="127010">
                <a:moveTo>
                  <a:pt x="19020" y="63459"/>
                </a:moveTo>
                <a:lnTo>
                  <a:pt x="336591" y="63459"/>
                </a:lnTo>
                <a:moveTo>
                  <a:pt x="258409" y="106070"/>
                </a:moveTo>
                <a:lnTo>
                  <a:pt x="336591" y="63459"/>
                </a:lnTo>
                <a:lnTo>
                  <a:pt x="258409" y="20940"/>
                </a:lnTo>
              </a:path>
            </a:pathLst>
          </a:custGeom>
          <a:ln w="19050">
            <a:solidFill>
              <a:srgbClr val="4FB3FF"/>
            </a:solidFill>
            <a:prstDash val="solid"/>
          </a:ln>
        </p:spPr>
      </p:sp>
      <p:sp>
        <p:nvSpPr>
          <p:cNvPr id="25" name="Shape 23"/>
          <p:cNvSpPr/>
          <p:nvPr/>
        </p:nvSpPr>
        <p:spPr>
          <a:xfrm>
            <a:off x="6038880" y="2920959"/>
            <a:ext cx="355610" cy="127010"/>
          </a:xfrm>
          <a:custGeom>
            <a:avLst/>
            <a:gdLst/>
            <a:ahLst/>
            <a:cxnLst/>
            <a:rect l="l" t="t" r="r" b="b"/>
            <a:pathLst>
              <a:path w="355610" h="127010">
                <a:moveTo>
                  <a:pt x="19020" y="63459"/>
                </a:moveTo>
                <a:lnTo>
                  <a:pt x="336591" y="63459"/>
                </a:lnTo>
                <a:moveTo>
                  <a:pt x="258409" y="106070"/>
                </a:moveTo>
                <a:lnTo>
                  <a:pt x="336591" y="63459"/>
                </a:lnTo>
                <a:lnTo>
                  <a:pt x="258409" y="20940"/>
                </a:lnTo>
              </a:path>
            </a:pathLst>
          </a:custGeom>
          <a:ln w="19050">
            <a:solidFill>
              <a:srgbClr val="4FB3FF"/>
            </a:solidFill>
            <a:prstDash val="solid"/>
          </a:ln>
        </p:spPr>
      </p:sp>
      <p:sp>
        <p:nvSpPr>
          <p:cNvPr id="26" name="Shape 24"/>
          <p:cNvSpPr/>
          <p:nvPr/>
        </p:nvSpPr>
        <p:spPr>
          <a:xfrm>
            <a:off x="8445490" y="2019270"/>
            <a:ext cx="1397020" cy="533370"/>
          </a:xfrm>
          <a:prstGeom prst="roundRect">
            <a:avLst>
              <a:gd name="adj" fmla="val 21430"/>
            </a:avLst>
          </a:prstGeom>
          <a:solidFill>
            <a:srgbClr val="FFFFFF"/>
          </a:solidFill>
          <a:ln w="12700">
            <a:solidFill>
              <a:srgbClr val="16181B">
                <a:alpha val="10000"/>
              </a:srgbClr>
            </a:solidFill>
            <a:prstDash val="solid"/>
          </a:ln>
        </p:spPr>
      </p:sp>
      <p:sp>
        <p:nvSpPr>
          <p:cNvPr id="27" name="Text 24"/>
          <p:cNvSpPr/>
          <p:nvPr/>
        </p:nvSpPr>
        <p:spPr>
          <a:xfrm>
            <a:off x="8585210" y="2095530"/>
            <a:ext cx="1143000" cy="215890"/>
          </a:xfrm>
          <a:prstGeom prst="rect">
            <a:avLst/>
          </a:prstGeom>
          <a:noFill/>
          <a:ln/>
        </p:spPr>
        <p:txBody>
          <a:bodyPr wrap="square" lIns="0" tIns="0" rIns="0" bIns="0" rtlCol="0" anchor="t"/>
          <a:lstStyle/>
          <a:p>
            <a:pPr algn="l" indent="0" marL="0">
              <a:lnSpc>
                <a:spcPct val="120000"/>
              </a:lnSpc>
              <a:buNone/>
            </a:pPr>
            <a:r>
              <a:rPr lang="en-US" sz="1200" b="1" dirty="0">
                <a:solidFill>
                  <a:srgbClr val="16181B"/>
                </a:solidFill>
                <a:latin typeface="Inter" pitchFamily="34" charset="0"/>
                <a:ea typeface="Inter" pitchFamily="34" charset="-122"/>
                <a:cs typeface="Inter" pitchFamily="34" charset="-120"/>
              </a:rPr>
              <a:t>Slides</a:t>
            </a:r>
            <a:endParaRPr lang="en-US" sz="1200" dirty="0"/>
          </a:p>
        </p:txBody>
      </p:sp>
      <p:sp>
        <p:nvSpPr>
          <p:cNvPr id="28" name="Text 25"/>
          <p:cNvSpPr/>
          <p:nvPr/>
        </p:nvSpPr>
        <p:spPr>
          <a:xfrm>
            <a:off x="8585210" y="2324130"/>
            <a:ext cx="1206459" cy="146030"/>
          </a:xfrm>
          <a:prstGeom prst="rect">
            <a:avLst/>
          </a:prstGeom>
          <a:noFill/>
          <a:ln/>
        </p:spPr>
        <p:txBody>
          <a:bodyPr wrap="square" lIns="0" tIns="0" rIns="0" bIns="0" rtlCol="0" anchor="t"/>
          <a:lstStyle/>
          <a:p>
            <a:pPr algn="l" indent="0" marL="0">
              <a:lnSpc>
                <a:spcPct val="140000"/>
              </a:lnSpc>
              <a:buNone/>
            </a:pPr>
            <a:r>
              <a:rPr lang="en-US" sz="700" dirty="0">
                <a:solidFill>
                  <a:srgbClr val="4A4E55"/>
                </a:solidFill>
                <a:latin typeface="JetBrains Mono" pitchFamily="34" charset="0"/>
                <a:ea typeface="JetBrains Mono" pitchFamily="34" charset="-122"/>
                <a:cs typeface="JetBrains Mono" pitchFamily="34" charset="-120"/>
              </a:rPr>
              <a:t>deck + speaker notes</a:t>
            </a:r>
            <a:endParaRPr lang="en-US" sz="700" dirty="0"/>
          </a:p>
        </p:txBody>
      </p:sp>
      <p:sp>
        <p:nvSpPr>
          <p:cNvPr id="29" name="Shape 27"/>
          <p:cNvSpPr/>
          <p:nvPr/>
        </p:nvSpPr>
        <p:spPr>
          <a:xfrm>
            <a:off x="8013710" y="2273290"/>
            <a:ext cx="412760" cy="723930"/>
          </a:xfrm>
          <a:custGeom>
            <a:avLst/>
            <a:gdLst/>
            <a:ahLst/>
            <a:cxnLst/>
            <a:rect l="l" t="t" r="r" b="b"/>
            <a:pathLst>
              <a:path w="412760" h="723930">
                <a:moveTo>
                  <a:pt x="12710" y="711220"/>
                </a:moveTo>
                <a:lnTo>
                  <a:pt x="393741" y="12710"/>
                </a:lnTo>
                <a:moveTo>
                  <a:pt x="393741" y="76170"/>
                </a:moveTo>
                <a:lnTo>
                  <a:pt x="393741" y="12710"/>
                </a:lnTo>
                <a:lnTo>
                  <a:pt x="340340" y="47000"/>
                </a:lnTo>
              </a:path>
            </a:pathLst>
          </a:custGeom>
          <a:ln w="12700">
            <a:solidFill>
              <a:srgbClr val="7A5CFF"/>
            </a:solidFill>
            <a:prstDash val="solid"/>
          </a:ln>
        </p:spPr>
      </p:sp>
      <p:sp>
        <p:nvSpPr>
          <p:cNvPr id="30" name="Shape 28"/>
          <p:cNvSpPr/>
          <p:nvPr/>
        </p:nvSpPr>
        <p:spPr>
          <a:xfrm>
            <a:off x="9855220" y="2273290"/>
            <a:ext cx="292059" cy="723930"/>
          </a:xfrm>
          <a:custGeom>
            <a:avLst/>
            <a:gdLst/>
            <a:ahLst/>
            <a:cxnLst/>
            <a:rect l="l" t="t" r="r" b="b"/>
            <a:pathLst>
              <a:path w="292059" h="723930">
                <a:moveTo>
                  <a:pt x="12710" y="12710"/>
                </a:moveTo>
                <a:lnTo>
                  <a:pt x="266730" y="711220"/>
                </a:lnTo>
                <a:moveTo>
                  <a:pt x="219090" y="669249"/>
                </a:moveTo>
                <a:lnTo>
                  <a:pt x="266730" y="711220"/>
                </a:lnTo>
                <a:lnTo>
                  <a:pt x="276240" y="648310"/>
                </a:lnTo>
              </a:path>
            </a:pathLst>
          </a:custGeom>
          <a:ln w="12700">
            <a:solidFill>
              <a:srgbClr val="16181B">
                <a:alpha val="18000"/>
              </a:srgbClr>
            </a:solidFill>
            <a:prstDash val="solid"/>
          </a:ln>
        </p:spPr>
      </p:sp>
      <p:sp>
        <p:nvSpPr>
          <p:cNvPr id="31" name="Shape 29"/>
          <p:cNvSpPr/>
          <p:nvPr/>
        </p:nvSpPr>
        <p:spPr>
          <a:xfrm>
            <a:off x="8445490" y="2717780"/>
            <a:ext cx="1397020" cy="533370"/>
          </a:xfrm>
          <a:prstGeom prst="roundRect">
            <a:avLst>
              <a:gd name="adj" fmla="val 21430"/>
            </a:avLst>
          </a:prstGeom>
          <a:solidFill>
            <a:srgbClr val="FFFFFF"/>
          </a:solidFill>
          <a:ln w="12700">
            <a:solidFill>
              <a:srgbClr val="16181B">
                <a:alpha val="10000"/>
              </a:srgbClr>
            </a:solidFill>
            <a:prstDash val="solid"/>
          </a:ln>
        </p:spPr>
      </p:sp>
      <p:sp>
        <p:nvSpPr>
          <p:cNvPr id="32" name="Text 29"/>
          <p:cNvSpPr/>
          <p:nvPr/>
        </p:nvSpPr>
        <p:spPr>
          <a:xfrm>
            <a:off x="8585210" y="2794041"/>
            <a:ext cx="1143000" cy="215890"/>
          </a:xfrm>
          <a:prstGeom prst="rect">
            <a:avLst/>
          </a:prstGeom>
          <a:noFill/>
          <a:ln/>
        </p:spPr>
        <p:txBody>
          <a:bodyPr wrap="square" lIns="0" tIns="0" rIns="0" bIns="0" rtlCol="0" anchor="t"/>
          <a:lstStyle/>
          <a:p>
            <a:pPr algn="l" indent="0" marL="0">
              <a:lnSpc>
                <a:spcPct val="120000"/>
              </a:lnSpc>
              <a:buNone/>
            </a:pPr>
            <a:r>
              <a:rPr lang="en-US" sz="1200" b="1" dirty="0">
                <a:solidFill>
                  <a:srgbClr val="16181B"/>
                </a:solidFill>
                <a:latin typeface="Inter" pitchFamily="34" charset="0"/>
                <a:ea typeface="Inter" pitchFamily="34" charset="-122"/>
                <a:cs typeface="Inter" pitchFamily="34" charset="-120"/>
              </a:rPr>
              <a:t>Design</a:t>
            </a:r>
            <a:endParaRPr lang="en-US" sz="1200" dirty="0"/>
          </a:p>
        </p:txBody>
      </p:sp>
      <p:sp>
        <p:nvSpPr>
          <p:cNvPr id="33" name="Text 30"/>
          <p:cNvSpPr/>
          <p:nvPr/>
        </p:nvSpPr>
        <p:spPr>
          <a:xfrm>
            <a:off x="8585210" y="3022641"/>
            <a:ext cx="1206459" cy="146030"/>
          </a:xfrm>
          <a:prstGeom prst="rect">
            <a:avLst/>
          </a:prstGeom>
          <a:noFill/>
          <a:ln/>
        </p:spPr>
        <p:txBody>
          <a:bodyPr wrap="square" lIns="0" tIns="0" rIns="0" bIns="0" rtlCol="0" anchor="t"/>
          <a:lstStyle/>
          <a:p>
            <a:pPr algn="l" indent="0" marL="0">
              <a:lnSpc>
                <a:spcPct val="140000"/>
              </a:lnSpc>
              <a:buNone/>
            </a:pPr>
            <a:r>
              <a:rPr lang="en-US" sz="700" dirty="0">
                <a:solidFill>
                  <a:srgbClr val="4A4E55"/>
                </a:solidFill>
                <a:latin typeface="JetBrains Mono" pitchFamily="34" charset="0"/>
                <a:ea typeface="JetBrains Mono" pitchFamily="34" charset="-122"/>
                <a:cs typeface="JetBrains Mono" pitchFamily="34" charset="-120"/>
              </a:rPr>
              <a:t>pages + styles</a:t>
            </a:r>
            <a:endParaRPr lang="en-US" sz="700" dirty="0"/>
          </a:p>
        </p:txBody>
      </p:sp>
      <p:sp>
        <p:nvSpPr>
          <p:cNvPr id="34" name="Shape 32"/>
          <p:cNvSpPr/>
          <p:nvPr/>
        </p:nvSpPr>
        <p:spPr>
          <a:xfrm>
            <a:off x="8013710" y="2940070"/>
            <a:ext cx="406359" cy="88880"/>
          </a:xfrm>
          <a:custGeom>
            <a:avLst/>
            <a:gdLst/>
            <a:ahLst/>
            <a:cxnLst/>
            <a:rect l="l" t="t" r="r" b="b"/>
            <a:pathLst>
              <a:path w="406359" h="88880">
                <a:moveTo>
                  <a:pt x="12710" y="44440"/>
                </a:moveTo>
                <a:lnTo>
                  <a:pt x="393741" y="44440"/>
                </a:lnTo>
                <a:moveTo>
                  <a:pt x="337779" y="74889"/>
                </a:moveTo>
                <a:lnTo>
                  <a:pt x="393741" y="44440"/>
                </a:lnTo>
                <a:lnTo>
                  <a:pt x="337779" y="13990"/>
                </a:lnTo>
              </a:path>
            </a:pathLst>
          </a:custGeom>
          <a:ln w="12700">
            <a:solidFill>
              <a:srgbClr val="7A5CFF"/>
            </a:solidFill>
            <a:prstDash val="solid"/>
          </a:ln>
        </p:spPr>
      </p:sp>
      <p:sp>
        <p:nvSpPr>
          <p:cNvPr id="35" name="Shape 33"/>
          <p:cNvSpPr/>
          <p:nvPr/>
        </p:nvSpPr>
        <p:spPr>
          <a:xfrm>
            <a:off x="9855220" y="2940070"/>
            <a:ext cx="279441" cy="88880"/>
          </a:xfrm>
          <a:custGeom>
            <a:avLst/>
            <a:gdLst/>
            <a:ahLst/>
            <a:cxnLst/>
            <a:rect l="l" t="t" r="r" b="b"/>
            <a:pathLst>
              <a:path w="279441" h="88880">
                <a:moveTo>
                  <a:pt x="12710" y="44440"/>
                </a:moveTo>
                <a:lnTo>
                  <a:pt x="266730" y="44440"/>
                </a:lnTo>
                <a:moveTo>
                  <a:pt x="210861" y="74889"/>
                </a:moveTo>
                <a:lnTo>
                  <a:pt x="266730" y="44440"/>
                </a:lnTo>
                <a:lnTo>
                  <a:pt x="210861" y="13990"/>
                </a:lnTo>
              </a:path>
            </a:pathLst>
          </a:custGeom>
          <a:ln w="12700">
            <a:solidFill>
              <a:srgbClr val="16181B">
                <a:alpha val="18000"/>
              </a:srgbClr>
            </a:solidFill>
            <a:prstDash val="solid"/>
          </a:ln>
        </p:spPr>
      </p:sp>
      <p:sp>
        <p:nvSpPr>
          <p:cNvPr id="36" name="Shape 34"/>
          <p:cNvSpPr/>
          <p:nvPr/>
        </p:nvSpPr>
        <p:spPr>
          <a:xfrm>
            <a:off x="8445490" y="3416290"/>
            <a:ext cx="1397020" cy="533370"/>
          </a:xfrm>
          <a:prstGeom prst="roundRect">
            <a:avLst>
              <a:gd name="adj" fmla="val 21430"/>
            </a:avLst>
          </a:prstGeom>
          <a:solidFill>
            <a:srgbClr val="FFFFFF"/>
          </a:solidFill>
          <a:ln w="12700">
            <a:solidFill>
              <a:srgbClr val="16181B">
                <a:alpha val="10000"/>
              </a:srgbClr>
            </a:solidFill>
            <a:prstDash val="solid"/>
          </a:ln>
        </p:spPr>
      </p:sp>
      <p:sp>
        <p:nvSpPr>
          <p:cNvPr id="37" name="Text 34"/>
          <p:cNvSpPr/>
          <p:nvPr/>
        </p:nvSpPr>
        <p:spPr>
          <a:xfrm>
            <a:off x="8585210" y="3492459"/>
            <a:ext cx="1143000" cy="215890"/>
          </a:xfrm>
          <a:prstGeom prst="rect">
            <a:avLst/>
          </a:prstGeom>
          <a:noFill/>
          <a:ln/>
        </p:spPr>
        <p:txBody>
          <a:bodyPr wrap="square" lIns="0" tIns="0" rIns="0" bIns="0" rtlCol="0" anchor="t"/>
          <a:lstStyle/>
          <a:p>
            <a:pPr algn="l" indent="0" marL="0">
              <a:lnSpc>
                <a:spcPct val="120000"/>
              </a:lnSpc>
              <a:buNone/>
            </a:pPr>
            <a:r>
              <a:rPr lang="en-US" sz="1200" b="1" dirty="0">
                <a:solidFill>
                  <a:srgbClr val="16181B"/>
                </a:solidFill>
                <a:latin typeface="Inter" pitchFamily="34" charset="0"/>
                <a:ea typeface="Inter" pitchFamily="34" charset="-122"/>
                <a:cs typeface="Inter" pitchFamily="34" charset="-120"/>
              </a:rPr>
              <a:t>FigJam</a:t>
            </a:r>
            <a:endParaRPr lang="en-US" sz="1200" dirty="0"/>
          </a:p>
        </p:txBody>
      </p:sp>
      <p:sp>
        <p:nvSpPr>
          <p:cNvPr id="38" name="Text 35"/>
          <p:cNvSpPr/>
          <p:nvPr/>
        </p:nvSpPr>
        <p:spPr>
          <a:xfrm>
            <a:off x="8585210" y="3721059"/>
            <a:ext cx="1206459" cy="146030"/>
          </a:xfrm>
          <a:prstGeom prst="rect">
            <a:avLst/>
          </a:prstGeom>
          <a:noFill/>
          <a:ln/>
        </p:spPr>
        <p:txBody>
          <a:bodyPr wrap="square" lIns="0" tIns="0" rIns="0" bIns="0" rtlCol="0" anchor="t"/>
          <a:lstStyle/>
          <a:p>
            <a:pPr algn="l" indent="0" marL="0">
              <a:lnSpc>
                <a:spcPct val="140000"/>
              </a:lnSpc>
              <a:buNone/>
            </a:pPr>
            <a:r>
              <a:rPr lang="en-US" sz="700" dirty="0">
                <a:solidFill>
                  <a:srgbClr val="4A4E55"/>
                </a:solidFill>
                <a:latin typeface="JetBrains Mono" pitchFamily="34" charset="0"/>
                <a:ea typeface="JetBrains Mono" pitchFamily="34" charset="-122"/>
                <a:cs typeface="JetBrains Mono" pitchFamily="34" charset="-120"/>
              </a:rPr>
              <a:t>the ideation board</a:t>
            </a:r>
            <a:endParaRPr lang="en-US" sz="700" dirty="0"/>
          </a:p>
        </p:txBody>
      </p:sp>
      <p:sp>
        <p:nvSpPr>
          <p:cNvPr id="39" name="Shape 37"/>
          <p:cNvSpPr/>
          <p:nvPr/>
        </p:nvSpPr>
        <p:spPr>
          <a:xfrm>
            <a:off x="8013710" y="2971800"/>
            <a:ext cx="412760" cy="723930"/>
          </a:xfrm>
          <a:custGeom>
            <a:avLst/>
            <a:gdLst/>
            <a:ahLst/>
            <a:cxnLst/>
            <a:rect l="l" t="t" r="r" b="b"/>
            <a:pathLst>
              <a:path w="412760" h="723930">
                <a:moveTo>
                  <a:pt x="12710" y="12710"/>
                </a:moveTo>
                <a:lnTo>
                  <a:pt x="393741" y="711220"/>
                </a:lnTo>
                <a:moveTo>
                  <a:pt x="340340" y="676930"/>
                </a:moveTo>
                <a:lnTo>
                  <a:pt x="393741" y="711220"/>
                </a:lnTo>
                <a:lnTo>
                  <a:pt x="393741" y="647670"/>
                </a:lnTo>
              </a:path>
            </a:pathLst>
          </a:custGeom>
          <a:ln w="12700">
            <a:solidFill>
              <a:srgbClr val="7A5CFF"/>
            </a:solidFill>
            <a:prstDash val="solid"/>
          </a:ln>
        </p:spPr>
      </p:sp>
      <p:sp>
        <p:nvSpPr>
          <p:cNvPr id="40" name="Shape 38"/>
          <p:cNvSpPr/>
          <p:nvPr/>
        </p:nvSpPr>
        <p:spPr>
          <a:xfrm>
            <a:off x="9855220" y="2971800"/>
            <a:ext cx="292059" cy="723930"/>
          </a:xfrm>
          <a:custGeom>
            <a:avLst/>
            <a:gdLst/>
            <a:ahLst/>
            <a:cxnLst/>
            <a:rect l="l" t="t" r="r" b="b"/>
            <a:pathLst>
              <a:path w="292059" h="723930">
                <a:moveTo>
                  <a:pt x="12710" y="711220"/>
                </a:moveTo>
                <a:lnTo>
                  <a:pt x="266730" y="12710"/>
                </a:lnTo>
                <a:moveTo>
                  <a:pt x="276240" y="75529"/>
                </a:moveTo>
                <a:lnTo>
                  <a:pt x="266730" y="12710"/>
                </a:lnTo>
                <a:lnTo>
                  <a:pt x="219090" y="54590"/>
                </a:lnTo>
              </a:path>
            </a:pathLst>
          </a:custGeom>
          <a:ln w="12700">
            <a:solidFill>
              <a:srgbClr val="16181B">
                <a:alpha val="18000"/>
              </a:srgbClr>
            </a:solidFill>
            <a:prstDash val="solid"/>
          </a:ln>
        </p:spPr>
      </p:sp>
      <p:sp>
        <p:nvSpPr>
          <p:cNvPr id="41" name="Shape 39"/>
          <p:cNvSpPr/>
          <p:nvPr/>
        </p:nvSpPr>
        <p:spPr>
          <a:xfrm>
            <a:off x="10159990" y="2508291"/>
            <a:ext cx="1270010" cy="952530"/>
          </a:xfrm>
          <a:prstGeom prst="roundRect">
            <a:avLst>
              <a:gd name="adj" fmla="val 14668"/>
            </a:avLst>
          </a:prstGeom>
          <a:solidFill>
            <a:srgbClr val="FFFFFF"/>
          </a:solidFill>
          <a:ln w="12700">
            <a:solidFill>
              <a:srgbClr val="16181B">
                <a:alpha val="10000"/>
              </a:srgbClr>
            </a:solidFill>
            <a:prstDash val="solid"/>
          </a:ln>
        </p:spPr>
      </p:sp>
      <p:sp>
        <p:nvSpPr>
          <p:cNvPr id="42" name="Text 39"/>
          <p:cNvSpPr/>
          <p:nvPr/>
        </p:nvSpPr>
        <p:spPr>
          <a:xfrm>
            <a:off x="10312420" y="2647920"/>
            <a:ext cx="965241" cy="203180"/>
          </a:xfrm>
          <a:prstGeom prst="rect">
            <a:avLst/>
          </a:prstGeom>
          <a:noFill/>
          <a:ln/>
        </p:spPr>
        <p:txBody>
          <a:bodyPr wrap="square" lIns="0" tIns="0" rIns="0" bIns="0" rtlCol="0" anchor="t"/>
          <a:lstStyle/>
          <a:p>
            <a:pPr algn="l" indent="0" marL="0">
              <a:lnSpc>
                <a:spcPct val="130000"/>
              </a:lnSpc>
              <a:buNone/>
            </a:pPr>
            <a:r>
              <a:rPr lang="en-US" sz="1050" b="1" dirty="0">
                <a:solidFill>
                  <a:srgbClr val="16181B"/>
                </a:solidFill>
                <a:latin typeface="JetBrains Mono" pitchFamily="34" charset="0"/>
                <a:ea typeface="JetBrains Mono" pitchFamily="34" charset="-122"/>
                <a:cs typeface="JetBrains Mono" pitchFamily="34" charset="-120"/>
              </a:rPr>
              <a:t>Composio</a:t>
            </a:r>
            <a:endParaRPr lang="en-US" sz="1050" dirty="0"/>
          </a:p>
        </p:txBody>
      </p:sp>
      <p:sp>
        <p:nvSpPr>
          <p:cNvPr id="43" name="Text 40"/>
          <p:cNvSpPr/>
          <p:nvPr/>
        </p:nvSpPr>
        <p:spPr>
          <a:xfrm>
            <a:off x="10312420" y="2876520"/>
            <a:ext cx="965241" cy="47622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comments, thumbnails, tokens</a:t>
            </a:r>
            <a:endParaRPr lang="en-US" sz="850" dirty="0"/>
          </a:p>
        </p:txBody>
      </p:sp>
      <p:sp>
        <p:nvSpPr>
          <p:cNvPr id="44" name="Shape 42"/>
          <p:cNvSpPr/>
          <p:nvPr/>
        </p:nvSpPr>
        <p:spPr>
          <a:xfrm>
            <a:off x="10159990" y="4063959"/>
            <a:ext cx="1270010" cy="698510"/>
          </a:xfrm>
          <a:prstGeom prst="roundRect">
            <a:avLst>
              <a:gd name="adj" fmla="val 20003"/>
            </a:avLst>
          </a:prstGeom>
          <a:solidFill>
            <a:srgbClr val="FFFFFF"/>
          </a:solidFill>
          <a:ln w="12700">
            <a:solidFill>
              <a:srgbClr val="16181B">
                <a:alpha val="10000"/>
              </a:srgbClr>
            </a:solidFill>
            <a:prstDash val="solid"/>
          </a:ln>
        </p:spPr>
      </p:sp>
      <p:sp>
        <p:nvSpPr>
          <p:cNvPr id="45" name="Text 42"/>
          <p:cNvSpPr/>
          <p:nvPr/>
        </p:nvSpPr>
        <p:spPr>
          <a:xfrm>
            <a:off x="10312420" y="4203680"/>
            <a:ext cx="965241" cy="203180"/>
          </a:xfrm>
          <a:prstGeom prst="rect">
            <a:avLst/>
          </a:prstGeom>
          <a:noFill/>
          <a:ln/>
        </p:spPr>
        <p:txBody>
          <a:bodyPr wrap="square" lIns="0" tIns="0" rIns="0" bIns="0" rtlCol="0" anchor="t"/>
          <a:lstStyle/>
          <a:p>
            <a:pPr algn="l" indent="0" marL="0">
              <a:lnSpc>
                <a:spcPct val="130000"/>
              </a:lnSpc>
              <a:buNone/>
            </a:pPr>
            <a:r>
              <a:rPr lang="en-US" sz="1050" b="1" dirty="0">
                <a:solidFill>
                  <a:srgbClr val="16181B"/>
                </a:solidFill>
                <a:latin typeface="JetBrains Mono" pitchFamily="34" charset="0"/>
                <a:ea typeface="JetBrains Mono" pitchFamily="34" charset="-122"/>
                <a:cs typeface="JetBrains Mono" pitchFamily="34" charset="-120"/>
              </a:rPr>
              <a:t>CSS</a:t>
            </a:r>
            <a:endParaRPr lang="en-US" sz="1050" dirty="0"/>
          </a:p>
        </p:txBody>
      </p:sp>
      <p:sp>
        <p:nvSpPr>
          <p:cNvPr id="46" name="Text 43"/>
          <p:cNvSpPr/>
          <p:nvPr/>
        </p:nvSpPr>
        <p:spPr>
          <a:xfrm>
            <a:off x="10312420" y="4432280"/>
            <a:ext cx="965241" cy="177759"/>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tokens-from-figma.mjs</a:t>
            </a:r>
            <a:endParaRPr lang="en-US" sz="850" dirty="0"/>
          </a:p>
        </p:txBody>
      </p:sp>
      <p:sp>
        <p:nvSpPr>
          <p:cNvPr id="47" name="Shape 45"/>
          <p:cNvSpPr/>
          <p:nvPr/>
        </p:nvSpPr>
        <p:spPr>
          <a:xfrm>
            <a:off x="10731490" y="3467130"/>
            <a:ext cx="127010" cy="577809"/>
          </a:xfrm>
          <a:custGeom>
            <a:avLst/>
            <a:gdLst/>
            <a:ahLst/>
            <a:cxnLst/>
            <a:rect l="l" t="t" r="r" b="b"/>
            <a:pathLst>
              <a:path w="127010" h="577809">
                <a:moveTo>
                  <a:pt x="63459" y="19020"/>
                </a:moveTo>
                <a:lnTo>
                  <a:pt x="63459" y="558790"/>
                </a:lnTo>
                <a:moveTo>
                  <a:pt x="20940" y="480700"/>
                </a:moveTo>
                <a:lnTo>
                  <a:pt x="63459" y="558790"/>
                </a:lnTo>
                <a:lnTo>
                  <a:pt x="106070" y="480700"/>
                </a:lnTo>
              </a:path>
            </a:pathLst>
          </a:custGeom>
          <a:ln w="19050">
            <a:solidFill>
              <a:srgbClr val="5FD39A"/>
            </a:solidFill>
            <a:prstDash val="solid"/>
          </a:ln>
        </p:spPr>
      </p:sp>
      <p:sp>
        <p:nvSpPr>
          <p:cNvPr id="48" name="Shape 46"/>
          <p:cNvSpPr/>
          <p:nvPr/>
        </p:nvSpPr>
        <p:spPr>
          <a:xfrm>
            <a:off x="1428750" y="3479841"/>
            <a:ext cx="8712220" cy="952530"/>
          </a:xfrm>
          <a:custGeom>
            <a:avLst/>
            <a:gdLst/>
            <a:ahLst/>
            <a:cxnLst/>
            <a:rect l="l" t="t" r="r" b="b"/>
            <a:pathLst>
              <a:path w="8712220" h="952530">
                <a:moveTo>
                  <a:pt x="8693109" y="933420"/>
                </a:moveTo>
                <a:lnTo>
                  <a:pt x="63459" y="933420"/>
                </a:lnTo>
                <a:lnTo>
                  <a:pt x="63459" y="19020"/>
                </a:lnTo>
                <a:moveTo>
                  <a:pt x="106070" y="97201"/>
                </a:moveTo>
                <a:lnTo>
                  <a:pt x="63459" y="19020"/>
                </a:lnTo>
                <a:lnTo>
                  <a:pt x="20940" y="97201"/>
                </a:lnTo>
              </a:path>
            </a:pathLst>
          </a:custGeom>
          <a:ln w="19050">
            <a:solidFill>
              <a:srgbClr val="5FD39A"/>
            </a:solidFill>
            <a:prstDash val="dash"/>
          </a:ln>
        </p:spPr>
      </p:sp>
      <p:sp>
        <p:nvSpPr>
          <p:cNvPr id="49" name="Text 46"/>
          <p:cNvSpPr/>
          <p:nvPr/>
        </p:nvSpPr>
        <p:spPr>
          <a:xfrm>
            <a:off x="1777959" y="4495830"/>
            <a:ext cx="8255020" cy="177759"/>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JetBrains Mono" pitchFamily="34" charset="0"/>
                <a:ea typeface="JetBrains Mono" pitchFamily="34" charset="-122"/>
                <a:cs typeface="JetBrains Mono" pitchFamily="34" charset="-120"/>
              </a:rPr>
              <a:t>the loop: Figma styles and variables → Composio → CSS back in the repo</a:t>
            </a:r>
            <a:endParaRPr lang="en-US" sz="850" dirty="0"/>
          </a:p>
        </p:txBody>
      </p:sp>
      <p:sp>
        <p:nvSpPr>
          <p:cNvPr id="50" name="Text 47"/>
          <p:cNvSpPr/>
          <p:nvPr/>
        </p:nvSpPr>
        <p:spPr>
          <a:xfrm>
            <a:off x="761970" y="5016490"/>
            <a:ext cx="10668030" cy="533370"/>
          </a:xfrm>
          <a:prstGeom prst="rect">
            <a:avLst/>
          </a:prstGeom>
          <a:noFill/>
          <a:ln/>
        </p:spPr>
        <p:txBody>
          <a:bodyPr wrap="square" lIns="0" tIns="0" rIns="0" bIns="0" rtlCol="0" anchor="t"/>
          <a:lstStyle/>
          <a:p>
            <a:pPr algn="l" indent="0" marL="0">
              <a:lnSpc>
                <a:spcPct val="145000"/>
              </a:lnSpc>
              <a:buNone/>
            </a:pPr>
            <a:r>
              <a:rPr lang="en-US" sz="1350" dirty="0">
                <a:solidFill>
                  <a:srgbClr val="16181B"/>
                </a:solidFill>
                <a:latin typeface="Inter" pitchFamily="34" charset="0"/>
                <a:ea typeface="Inter" pitchFamily="34" charset="-122"/>
                <a:cs typeface="Inter" pitchFamily="34" charset="-120"/>
              </a:rPr>
              <a:t>Recipe for code-first teams: keep the repo as the source of truth, emit one JSON, let a plugin draw it. One run gives designers editable layers, every screen, the tokens as styles, and a board of how you decided.</a:t>
            </a:r>
            <a:endParaRPr lang="en-US" sz="1350" dirty="0"/>
          </a:p>
        </p:txBody>
      </p:sp>
      <p:sp>
        <p:nvSpPr>
          <p:cNvPr id="51" name="Text 48"/>
          <p:cNvSpPr/>
          <p:nvPr/>
        </p:nvSpPr>
        <p:spPr>
          <a:xfrm>
            <a:off x="761970" y="5791170"/>
            <a:ext cx="10668030" cy="222291"/>
          </a:xfrm>
          <a:prstGeom prst="rect">
            <a:avLst/>
          </a:prstGeom>
          <a:noFill/>
          <a:ln/>
        </p:spPr>
        <p:txBody>
          <a:bodyPr wrap="square" lIns="0" tIns="0" rIns="0" bIns="0" rtlCol="0" anchor="t"/>
          <a:lstStyle/>
          <a:p>
            <a:pPr algn="l" indent="0" marL="0">
              <a:lnSpc>
                <a:spcPct val="145000"/>
              </a:lnSpc>
              <a:buNone/>
            </a:pPr>
            <a:r>
              <a:rPr lang="en-US" sz="1050" dirty="0">
                <a:solidFill>
                  <a:srgbClr val="4A4E55"/>
                </a:solidFill>
                <a:latin typeface="Inter" pitchFamily="34" charset="0"/>
                <a:ea typeface="Inter" pitchFamily="34" charset="-122"/>
                <a:cs typeface="Inter" pitchFamily="34" charset="-120"/>
              </a:rPr>
              <a:t>Why a plugin: the Figma REST API and our Composio connector can read, comment and set variables, but cannot create layers or slides. The Plugin API can.</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STAGE LOG</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15 / 20</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9525030" cy="501640"/>
          </a:xfrm>
          <a:prstGeom prst="rect">
            <a:avLst/>
          </a:prstGeom>
          <a:noFill/>
          <a:ln/>
        </p:spPr>
        <p:txBody>
          <a:bodyPr wrap="square" lIns="0" tIns="0" rIns="0" bIns="0" rtlCol="0" anchor="t"/>
          <a:lstStyle/>
          <a:p>
            <a:pPr algn="l" indent="0" marL="0">
              <a:lnSpc>
                <a:spcPct val="100000"/>
              </a:lnSpc>
              <a:buNone/>
            </a:pPr>
            <a:r>
              <a:rPr lang="en-US" sz="3276" spc="-49" kern="0" dirty="0">
                <a:solidFill>
                  <a:srgbClr val="16181B"/>
                </a:solidFill>
                <a:latin typeface="Instrument Serif" pitchFamily="34" charset="0"/>
                <a:ea typeface="Instrument Serif" pitchFamily="34" charset="-122"/>
                <a:cs typeface="Instrument Serif" pitchFamily="34" charset="-120"/>
              </a:rPr>
              <a:t>Four stages, timed from git.</a:t>
            </a:r>
            <a:endParaRPr lang="en-US" sz="3276" dirty="0"/>
          </a:p>
        </p:txBody>
      </p:sp>
      <p:sp>
        <p:nvSpPr>
          <p:cNvPr id="11" name="Text 8"/>
          <p:cNvSpPr/>
          <p:nvPr/>
        </p:nvSpPr>
        <p:spPr>
          <a:xfrm>
            <a:off x="761970" y="1841510"/>
            <a:ext cx="1587490" cy="165141"/>
          </a:xfrm>
          <a:prstGeom prst="rect">
            <a:avLst/>
          </a:prstGeom>
          <a:noFill/>
          <a:ln/>
        </p:spPr>
        <p:txBody>
          <a:bodyPr wrap="square" lIns="0" tIns="0" rIns="0" bIns="0" rtlCol="0" anchor="t"/>
          <a:lstStyle/>
          <a:p>
            <a:pPr algn="l" indent="0" marL="0">
              <a:lnSpc>
                <a:spcPct val="120000"/>
              </a:lnSpc>
              <a:buNone/>
            </a:pPr>
            <a:r>
              <a:rPr lang="en-US" sz="900" spc="126" kern="0" dirty="0">
                <a:solidFill>
                  <a:srgbClr val="7C8188"/>
                </a:solidFill>
                <a:latin typeface="JetBrains Mono" pitchFamily="34" charset="0"/>
                <a:ea typeface="JetBrains Mono" pitchFamily="34" charset="-122"/>
                <a:cs typeface="JetBrains Mono" pitchFamily="34" charset="-120"/>
              </a:rPr>
              <a:t>STAGE</a:t>
            </a:r>
            <a:endParaRPr lang="en-US" sz="900" dirty="0"/>
          </a:p>
        </p:txBody>
      </p:sp>
      <p:sp>
        <p:nvSpPr>
          <p:cNvPr id="12" name="Text 9"/>
          <p:cNvSpPr/>
          <p:nvPr/>
        </p:nvSpPr>
        <p:spPr>
          <a:xfrm>
            <a:off x="2413010" y="1841510"/>
            <a:ext cx="2984510" cy="165141"/>
          </a:xfrm>
          <a:prstGeom prst="rect">
            <a:avLst/>
          </a:prstGeom>
          <a:noFill/>
          <a:ln/>
        </p:spPr>
        <p:txBody>
          <a:bodyPr wrap="square" lIns="0" tIns="0" rIns="0" bIns="0" rtlCol="0" anchor="t"/>
          <a:lstStyle/>
          <a:p>
            <a:pPr algn="l" indent="0" marL="0">
              <a:lnSpc>
                <a:spcPct val="120000"/>
              </a:lnSpc>
              <a:buNone/>
            </a:pPr>
            <a:r>
              <a:rPr lang="en-US" sz="900" spc="126" kern="0" dirty="0">
                <a:solidFill>
                  <a:srgbClr val="7C8188"/>
                </a:solidFill>
                <a:latin typeface="JetBrains Mono" pitchFamily="34" charset="0"/>
                <a:ea typeface="JetBrains Mono" pitchFamily="34" charset="-122"/>
                <a:cs typeface="JetBrains Mono" pitchFamily="34" charset="-120"/>
              </a:rPr>
              <a:t>TOOLS</a:t>
            </a:r>
            <a:endParaRPr lang="en-US" sz="900" dirty="0"/>
          </a:p>
        </p:txBody>
      </p:sp>
      <p:sp>
        <p:nvSpPr>
          <p:cNvPr id="13" name="Text 10"/>
          <p:cNvSpPr/>
          <p:nvPr/>
        </p:nvSpPr>
        <p:spPr>
          <a:xfrm>
            <a:off x="5587990" y="1841510"/>
            <a:ext cx="952530" cy="165141"/>
          </a:xfrm>
          <a:prstGeom prst="rect">
            <a:avLst/>
          </a:prstGeom>
          <a:noFill/>
          <a:ln/>
        </p:spPr>
        <p:txBody>
          <a:bodyPr wrap="square" lIns="0" tIns="0" rIns="0" bIns="0" rtlCol="0" anchor="t"/>
          <a:lstStyle/>
          <a:p>
            <a:pPr algn="l" indent="0" marL="0">
              <a:lnSpc>
                <a:spcPct val="120000"/>
              </a:lnSpc>
              <a:buNone/>
            </a:pPr>
            <a:r>
              <a:rPr lang="en-US" sz="900" spc="126" kern="0" dirty="0">
                <a:solidFill>
                  <a:srgbClr val="7C8188"/>
                </a:solidFill>
                <a:latin typeface="JetBrains Mono" pitchFamily="34" charset="0"/>
                <a:ea typeface="JetBrains Mono" pitchFamily="34" charset="-122"/>
                <a:cs typeface="JetBrains Mono" pitchFamily="34" charset="-120"/>
              </a:rPr>
              <a:t>MINUTES</a:t>
            </a:r>
            <a:endParaRPr lang="en-US" sz="900" dirty="0"/>
          </a:p>
        </p:txBody>
      </p:sp>
      <p:sp>
        <p:nvSpPr>
          <p:cNvPr id="14" name="Text 11"/>
          <p:cNvSpPr/>
          <p:nvPr/>
        </p:nvSpPr>
        <p:spPr>
          <a:xfrm>
            <a:off x="6603980" y="1841510"/>
            <a:ext cx="825520" cy="165141"/>
          </a:xfrm>
          <a:prstGeom prst="rect">
            <a:avLst/>
          </a:prstGeom>
          <a:noFill/>
          <a:ln/>
        </p:spPr>
        <p:txBody>
          <a:bodyPr wrap="square" lIns="0" tIns="0" rIns="0" bIns="0" rtlCol="0" anchor="t"/>
          <a:lstStyle/>
          <a:p>
            <a:pPr algn="l" indent="0" marL="0">
              <a:lnSpc>
                <a:spcPct val="120000"/>
              </a:lnSpc>
              <a:buNone/>
            </a:pPr>
            <a:r>
              <a:rPr lang="en-US" sz="900" spc="126" kern="0" dirty="0">
                <a:solidFill>
                  <a:srgbClr val="7C8188"/>
                </a:solidFill>
                <a:latin typeface="JetBrains Mono" pitchFamily="34" charset="0"/>
                <a:ea typeface="JetBrains Mono" pitchFamily="34" charset="-122"/>
                <a:cs typeface="JetBrains Mono" pitchFamily="34" charset="-120"/>
              </a:rPr>
              <a:t>RATING</a:t>
            </a:r>
            <a:endParaRPr lang="en-US" sz="900" dirty="0"/>
          </a:p>
        </p:txBody>
      </p:sp>
      <p:sp>
        <p:nvSpPr>
          <p:cNvPr id="15" name="Text 12"/>
          <p:cNvSpPr/>
          <p:nvPr/>
        </p:nvSpPr>
        <p:spPr>
          <a:xfrm>
            <a:off x="7492959" y="1841510"/>
            <a:ext cx="2095530" cy="165141"/>
          </a:xfrm>
          <a:prstGeom prst="rect">
            <a:avLst/>
          </a:prstGeom>
          <a:noFill/>
          <a:ln/>
        </p:spPr>
        <p:txBody>
          <a:bodyPr wrap="square" lIns="0" tIns="0" rIns="0" bIns="0" rtlCol="0" anchor="t"/>
          <a:lstStyle/>
          <a:p>
            <a:pPr algn="l" indent="0" marL="0">
              <a:lnSpc>
                <a:spcPct val="120000"/>
              </a:lnSpc>
              <a:buNone/>
            </a:pPr>
            <a:r>
              <a:rPr lang="en-US" sz="900" spc="126" kern="0" dirty="0">
                <a:solidFill>
                  <a:srgbClr val="7C8188"/>
                </a:solidFill>
                <a:latin typeface="JetBrains Mono" pitchFamily="34" charset="0"/>
                <a:ea typeface="JetBrains Mono" pitchFamily="34" charset="-122"/>
                <a:cs typeface="JetBrains Mono" pitchFamily="34" charset="-120"/>
              </a:rPr>
              <a:t>WHAT BROKE</a:t>
            </a:r>
            <a:endParaRPr lang="en-US" sz="900" dirty="0"/>
          </a:p>
        </p:txBody>
      </p:sp>
      <p:sp>
        <p:nvSpPr>
          <p:cNvPr id="16" name="Text 13"/>
          <p:cNvSpPr/>
          <p:nvPr/>
        </p:nvSpPr>
        <p:spPr>
          <a:xfrm>
            <a:off x="9715500" y="1841510"/>
            <a:ext cx="1714500" cy="165141"/>
          </a:xfrm>
          <a:prstGeom prst="rect">
            <a:avLst/>
          </a:prstGeom>
          <a:noFill/>
          <a:ln/>
        </p:spPr>
        <p:txBody>
          <a:bodyPr wrap="square" lIns="0" tIns="0" rIns="0" bIns="0" rtlCol="0" anchor="t"/>
          <a:lstStyle/>
          <a:p>
            <a:pPr algn="l" indent="0" marL="0">
              <a:lnSpc>
                <a:spcPct val="120000"/>
              </a:lnSpc>
              <a:buNone/>
            </a:pPr>
            <a:r>
              <a:rPr lang="en-US" sz="900" spc="126" kern="0" dirty="0">
                <a:solidFill>
                  <a:srgbClr val="7C8188"/>
                </a:solidFill>
                <a:latin typeface="JetBrains Mono" pitchFamily="34" charset="0"/>
                <a:ea typeface="JetBrains Mono" pitchFamily="34" charset="-122"/>
                <a:cs typeface="JetBrains Mono" pitchFamily="34" charset="-120"/>
              </a:rPr>
              <a:t>INTO THE PROJECT</a:t>
            </a:r>
            <a:endParaRPr lang="en-US" sz="900" dirty="0"/>
          </a:p>
        </p:txBody>
      </p:sp>
      <p:sp>
        <p:nvSpPr>
          <p:cNvPr id="17" name="Shape 15"/>
          <p:cNvSpPr/>
          <p:nvPr/>
        </p:nvSpPr>
        <p:spPr>
          <a:xfrm>
            <a:off x="761970" y="2095530"/>
            <a:ext cx="10668030" cy="12710"/>
          </a:xfrm>
          <a:prstGeom prst="rect">
            <a:avLst/>
          </a:prstGeom>
          <a:solidFill>
            <a:srgbClr val="16181B">
              <a:alpha val="10000"/>
            </a:srgbClr>
          </a:solidFill>
          <a:ln/>
        </p:spPr>
      </p:sp>
      <p:sp>
        <p:nvSpPr>
          <p:cNvPr id="18" name="Text 15"/>
          <p:cNvSpPr/>
          <p:nvPr/>
        </p:nvSpPr>
        <p:spPr>
          <a:xfrm>
            <a:off x="761970" y="2247870"/>
            <a:ext cx="1587490" cy="254020"/>
          </a:xfrm>
          <a:prstGeom prst="rect">
            <a:avLst/>
          </a:prstGeom>
          <a:noFill/>
          <a:ln/>
        </p:spPr>
        <p:txBody>
          <a:bodyPr wrap="square" lIns="0" tIns="0" rIns="0" bIns="0" rtlCol="0" anchor="t"/>
          <a:lstStyle/>
          <a:p>
            <a:pPr algn="l" indent="0" marL="0">
              <a:lnSpc>
                <a:spcPct val="105000"/>
              </a:lnSpc>
              <a:buNone/>
            </a:pPr>
            <a:r>
              <a:rPr lang="en-US" sz="1560" dirty="0">
                <a:solidFill>
                  <a:srgbClr val="16181B"/>
                </a:solidFill>
                <a:latin typeface="Instrument Serif" pitchFamily="34" charset="0"/>
                <a:ea typeface="Instrument Serif" pitchFamily="34" charset="-122"/>
                <a:cs typeface="Instrument Serif" pitchFamily="34" charset="-120"/>
              </a:rPr>
              <a:t>Ideation</a:t>
            </a:r>
            <a:endParaRPr lang="en-US" sz="1560" dirty="0"/>
          </a:p>
        </p:txBody>
      </p:sp>
      <p:sp>
        <p:nvSpPr>
          <p:cNvPr id="19" name="Text 16"/>
          <p:cNvSpPr/>
          <p:nvPr/>
        </p:nvSpPr>
        <p:spPr>
          <a:xfrm>
            <a:off x="2413010" y="2247870"/>
            <a:ext cx="2984510" cy="387340"/>
          </a:xfrm>
          <a:prstGeom prst="rect">
            <a:avLst/>
          </a:prstGeom>
          <a:noFill/>
          <a:ln/>
        </p:spPr>
        <p:txBody>
          <a:bodyPr wrap="square" lIns="0" tIns="0" rIns="0" bIns="0" rtlCol="0" anchor="t"/>
          <a:lstStyle/>
          <a:p>
            <a:pPr algn="l" indent="0" marL="0">
              <a:lnSpc>
                <a:spcPct val="135000"/>
              </a:lnSpc>
              <a:buNone/>
            </a:pPr>
            <a:r>
              <a:rPr lang="en-US" sz="1050" dirty="0">
                <a:solidFill>
                  <a:srgbClr val="16181B"/>
                </a:solidFill>
                <a:latin typeface="Inter" pitchFamily="34" charset="0"/>
                <a:ea typeface="Inter" pitchFamily="34" charset="-122"/>
                <a:cs typeface="Inter" pitchFamily="34" charset="-120"/>
              </a:rPr>
              <a:t>16 AI personas per panel, reference study; FigJam board generated after</a:t>
            </a:r>
            <a:endParaRPr lang="en-US" sz="1050" dirty="0"/>
          </a:p>
        </p:txBody>
      </p:sp>
      <p:sp>
        <p:nvSpPr>
          <p:cNvPr id="20" name="Text 17"/>
          <p:cNvSpPr/>
          <p:nvPr/>
        </p:nvSpPr>
        <p:spPr>
          <a:xfrm>
            <a:off x="5587990" y="2260580"/>
            <a:ext cx="952530" cy="215890"/>
          </a:xfrm>
          <a:prstGeom prst="rect">
            <a:avLst/>
          </a:prstGeom>
          <a:noFill/>
          <a:ln/>
        </p:spPr>
        <p:txBody>
          <a:bodyPr wrap="square" lIns="0" tIns="0" rIns="0" bIns="0" rtlCol="0" anchor="t"/>
          <a:lstStyle/>
          <a:p>
            <a:pPr algn="l" indent="0" marL="0">
              <a:lnSpc>
                <a:spcPct val="140000"/>
              </a:lnSpc>
              <a:buNone/>
            </a:pPr>
            <a:r>
              <a:rPr lang="en-US" sz="1050" dirty="0">
                <a:solidFill>
                  <a:srgbClr val="16181B"/>
                </a:solidFill>
                <a:latin typeface="JetBrains Mono" pitchFamily="34" charset="0"/>
                <a:ea typeface="JetBrains Mono" pitchFamily="34" charset="-122"/>
                <a:cs typeface="JetBrains Mono" pitchFamily="34" charset="-120"/>
              </a:rPr>
              <a:t>≈255 min</a:t>
            </a:r>
            <a:endParaRPr lang="en-US" sz="1050" dirty="0"/>
          </a:p>
        </p:txBody>
      </p:sp>
      <p:sp>
        <p:nvSpPr>
          <p:cNvPr id="21" name="Text 18"/>
          <p:cNvSpPr/>
          <p:nvPr/>
        </p:nvSpPr>
        <p:spPr>
          <a:xfrm>
            <a:off x="6603980" y="2260580"/>
            <a:ext cx="825520" cy="228600"/>
          </a:xfrm>
          <a:prstGeom prst="rect">
            <a:avLst/>
          </a:prstGeom>
          <a:noFill/>
          <a:ln/>
        </p:spPr>
        <p:txBody>
          <a:bodyPr wrap="square" lIns="0" tIns="0" rIns="0" bIns="0" rtlCol="0" anchor="t"/>
          <a:lstStyle/>
          <a:p>
            <a:pPr algn="l" indent="0" marL="0">
              <a:lnSpc>
                <a:spcPct val="140000"/>
              </a:lnSpc>
              <a:buNone/>
            </a:pPr>
            <a:r>
              <a:rPr lang="en-US" sz="1100" b="1" dirty="0">
                <a:solidFill>
                  <a:srgbClr val="16181B"/>
                </a:solidFill>
                <a:latin typeface="JetBrains Mono" pitchFamily="34" charset="0"/>
                <a:ea typeface="JetBrains Mono" pitchFamily="34" charset="-122"/>
                <a:cs typeface="JetBrains Mono" pitchFamily="34" charset="-120"/>
              </a:rPr>
              <a:t>4/5</a:t>
            </a:r>
            <a:endParaRPr lang="en-US" sz="1100" dirty="0"/>
          </a:p>
        </p:txBody>
      </p:sp>
      <p:sp>
        <p:nvSpPr>
          <p:cNvPr id="22" name="Shape 20"/>
          <p:cNvSpPr/>
          <p:nvPr/>
        </p:nvSpPr>
        <p:spPr>
          <a:xfrm>
            <a:off x="6603980" y="2514600"/>
            <a:ext cx="603230" cy="177759"/>
          </a:xfrm>
          <a:prstGeom prst="roundRect">
            <a:avLst>
              <a:gd name="adj" fmla="val 50000"/>
            </a:avLst>
          </a:prstGeom>
          <a:solidFill>
            <a:srgbClr val="9AA0A6">
              <a:alpha val="18000"/>
            </a:srgbClr>
          </a:solidFill>
          <a:ln/>
        </p:spPr>
      </p:sp>
      <p:sp>
        <p:nvSpPr>
          <p:cNvPr id="23" name="Text 20"/>
          <p:cNvSpPr/>
          <p:nvPr/>
        </p:nvSpPr>
        <p:spPr>
          <a:xfrm>
            <a:off x="6603980" y="2550170"/>
            <a:ext cx="603230" cy="127010"/>
          </a:xfrm>
          <a:prstGeom prst="rect">
            <a:avLst/>
          </a:prstGeom>
          <a:noFill/>
          <a:ln/>
        </p:spPr>
        <p:txBody>
          <a:bodyPr wrap="square" lIns="0" tIns="0" rIns="0" bIns="0" rtlCol="0" anchor="t"/>
          <a:lstStyle/>
          <a:p>
            <a:pPr algn="ctr" indent="0" marL="0">
              <a:lnSpc>
                <a:spcPct val="120000"/>
              </a:lnSpc>
              <a:buNone/>
            </a:pPr>
            <a:r>
              <a:rPr lang="en-US" sz="700" b="1" spc="42" kern="0" dirty="0">
                <a:solidFill>
                  <a:srgbClr val="16181B"/>
                </a:solidFill>
                <a:latin typeface="JetBrains Mono" pitchFamily="34" charset="0"/>
                <a:ea typeface="JetBrains Mono" pitchFamily="34" charset="-122"/>
                <a:cs typeface="JetBrains Mono" pitchFamily="34" charset="-120"/>
              </a:rPr>
              <a:t>PENDING</a:t>
            </a:r>
            <a:endParaRPr lang="en-US" sz="700" dirty="0"/>
          </a:p>
        </p:txBody>
      </p:sp>
      <p:sp>
        <p:nvSpPr>
          <p:cNvPr id="24" name="Text 21"/>
          <p:cNvSpPr/>
          <p:nvPr/>
        </p:nvSpPr>
        <p:spPr>
          <a:xfrm>
            <a:off x="7492959" y="2247870"/>
            <a:ext cx="2095530" cy="38734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One model played all 16: agreement inflated (SD 0)</a:t>
            </a:r>
            <a:endParaRPr lang="en-US" sz="1050" dirty="0"/>
          </a:p>
        </p:txBody>
      </p:sp>
      <p:sp>
        <p:nvSpPr>
          <p:cNvPr id="25" name="Text 22"/>
          <p:cNvSpPr/>
          <p:nvPr/>
        </p:nvSpPr>
        <p:spPr>
          <a:xfrm>
            <a:off x="9715500" y="2247870"/>
            <a:ext cx="1714500" cy="38734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PLAN.md decisions, scope, site outline</a:t>
            </a:r>
            <a:endParaRPr lang="en-US" sz="1050" dirty="0"/>
          </a:p>
        </p:txBody>
      </p:sp>
      <p:sp>
        <p:nvSpPr>
          <p:cNvPr id="26" name="Shape 24"/>
          <p:cNvSpPr/>
          <p:nvPr/>
        </p:nvSpPr>
        <p:spPr>
          <a:xfrm>
            <a:off x="761970" y="3047970"/>
            <a:ext cx="10668030" cy="12710"/>
          </a:xfrm>
          <a:prstGeom prst="rect">
            <a:avLst/>
          </a:prstGeom>
          <a:solidFill>
            <a:srgbClr val="16181B">
              <a:alpha val="10000"/>
            </a:srgbClr>
          </a:solidFill>
          <a:ln/>
        </p:spPr>
      </p:sp>
      <p:sp>
        <p:nvSpPr>
          <p:cNvPr id="27" name="Text 24"/>
          <p:cNvSpPr/>
          <p:nvPr/>
        </p:nvSpPr>
        <p:spPr>
          <a:xfrm>
            <a:off x="761970" y="3200400"/>
            <a:ext cx="1587490" cy="254020"/>
          </a:xfrm>
          <a:prstGeom prst="rect">
            <a:avLst/>
          </a:prstGeom>
          <a:noFill/>
          <a:ln/>
        </p:spPr>
        <p:txBody>
          <a:bodyPr wrap="square" lIns="0" tIns="0" rIns="0" bIns="0" rtlCol="0" anchor="t"/>
          <a:lstStyle/>
          <a:p>
            <a:pPr algn="l" indent="0" marL="0">
              <a:lnSpc>
                <a:spcPct val="105000"/>
              </a:lnSpc>
              <a:buNone/>
            </a:pPr>
            <a:r>
              <a:rPr lang="en-US" sz="1560" dirty="0">
                <a:solidFill>
                  <a:srgbClr val="16181B"/>
                </a:solidFill>
                <a:latin typeface="Instrument Serif" pitchFamily="34" charset="0"/>
                <a:ea typeface="Instrument Serif" pitchFamily="34" charset="-122"/>
                <a:cs typeface="Instrument Serif" pitchFamily="34" charset="-120"/>
              </a:rPr>
              <a:t>Prototyping</a:t>
            </a:r>
            <a:endParaRPr lang="en-US" sz="1560" dirty="0"/>
          </a:p>
        </p:txBody>
      </p:sp>
      <p:sp>
        <p:nvSpPr>
          <p:cNvPr id="28" name="Text 25"/>
          <p:cNvSpPr/>
          <p:nvPr/>
        </p:nvSpPr>
        <p:spPr>
          <a:xfrm>
            <a:off x="2413010" y="3200400"/>
            <a:ext cx="2984510" cy="387340"/>
          </a:xfrm>
          <a:prstGeom prst="rect">
            <a:avLst/>
          </a:prstGeom>
          <a:noFill/>
          <a:ln/>
        </p:spPr>
        <p:txBody>
          <a:bodyPr wrap="square" lIns="0" tIns="0" rIns="0" bIns="0" rtlCol="0" anchor="t"/>
          <a:lstStyle/>
          <a:p>
            <a:pPr algn="l" indent="0" marL="0">
              <a:lnSpc>
                <a:spcPct val="135000"/>
              </a:lnSpc>
              <a:buNone/>
            </a:pPr>
            <a:r>
              <a:rPr lang="en-US" sz="1050" dirty="0">
                <a:solidFill>
                  <a:srgbClr val="16181B"/>
                </a:solidFill>
                <a:latin typeface="Inter" pitchFamily="34" charset="0"/>
                <a:ea typeface="Inter" pitchFamily="34" charset="-122"/>
                <a:cs typeface="Inter" pitchFamily="34" charset="-120"/>
              </a:rPr>
              <a:t>binary-pill.html, phone mock in the site’s JS; Figma Make prompt written</a:t>
            </a:r>
            <a:endParaRPr lang="en-US" sz="1050" dirty="0"/>
          </a:p>
        </p:txBody>
      </p:sp>
      <p:sp>
        <p:nvSpPr>
          <p:cNvPr id="29" name="Text 26"/>
          <p:cNvSpPr/>
          <p:nvPr/>
        </p:nvSpPr>
        <p:spPr>
          <a:xfrm>
            <a:off x="5587990" y="3213110"/>
            <a:ext cx="952530" cy="215890"/>
          </a:xfrm>
          <a:prstGeom prst="rect">
            <a:avLst/>
          </a:prstGeom>
          <a:noFill/>
          <a:ln/>
        </p:spPr>
        <p:txBody>
          <a:bodyPr wrap="square" lIns="0" tIns="0" rIns="0" bIns="0" rtlCol="0" anchor="t"/>
          <a:lstStyle/>
          <a:p>
            <a:pPr algn="l" indent="0" marL="0">
              <a:lnSpc>
                <a:spcPct val="140000"/>
              </a:lnSpc>
              <a:buNone/>
            </a:pPr>
            <a:r>
              <a:rPr lang="en-US" sz="1050" dirty="0">
                <a:solidFill>
                  <a:srgbClr val="16181B"/>
                </a:solidFill>
                <a:latin typeface="JetBrains Mono" pitchFamily="34" charset="0"/>
                <a:ea typeface="JetBrains Mono" pitchFamily="34" charset="-122"/>
                <a:cs typeface="JetBrains Mono" pitchFamily="34" charset="-120"/>
              </a:rPr>
              <a:t>≈65 min</a:t>
            </a:r>
            <a:endParaRPr lang="en-US" sz="1050" dirty="0"/>
          </a:p>
        </p:txBody>
      </p:sp>
      <p:sp>
        <p:nvSpPr>
          <p:cNvPr id="30" name="Text 27"/>
          <p:cNvSpPr/>
          <p:nvPr/>
        </p:nvSpPr>
        <p:spPr>
          <a:xfrm>
            <a:off x="6603980" y="3213110"/>
            <a:ext cx="825520" cy="228600"/>
          </a:xfrm>
          <a:prstGeom prst="rect">
            <a:avLst/>
          </a:prstGeom>
          <a:noFill/>
          <a:ln/>
        </p:spPr>
        <p:txBody>
          <a:bodyPr wrap="square" lIns="0" tIns="0" rIns="0" bIns="0" rtlCol="0" anchor="t"/>
          <a:lstStyle/>
          <a:p>
            <a:pPr algn="l" indent="0" marL="0">
              <a:lnSpc>
                <a:spcPct val="140000"/>
              </a:lnSpc>
              <a:buNone/>
            </a:pPr>
            <a:r>
              <a:rPr lang="en-US" sz="1100" b="1" dirty="0">
                <a:solidFill>
                  <a:srgbClr val="16181B"/>
                </a:solidFill>
                <a:latin typeface="JetBrains Mono" pitchFamily="34" charset="0"/>
                <a:ea typeface="JetBrains Mono" pitchFamily="34" charset="-122"/>
                <a:cs typeface="JetBrains Mono" pitchFamily="34" charset="-120"/>
              </a:rPr>
              <a:t>3/5</a:t>
            </a:r>
            <a:endParaRPr lang="en-US" sz="1100" dirty="0"/>
          </a:p>
        </p:txBody>
      </p:sp>
      <p:sp>
        <p:nvSpPr>
          <p:cNvPr id="31" name="Shape 29"/>
          <p:cNvSpPr/>
          <p:nvPr/>
        </p:nvSpPr>
        <p:spPr>
          <a:xfrm>
            <a:off x="6603980" y="3467130"/>
            <a:ext cx="603230" cy="177759"/>
          </a:xfrm>
          <a:prstGeom prst="roundRect">
            <a:avLst>
              <a:gd name="adj" fmla="val 50000"/>
            </a:avLst>
          </a:prstGeom>
          <a:solidFill>
            <a:srgbClr val="9AA0A6">
              <a:alpha val="18000"/>
            </a:srgbClr>
          </a:solidFill>
          <a:ln/>
        </p:spPr>
      </p:sp>
      <p:sp>
        <p:nvSpPr>
          <p:cNvPr id="32" name="Text 29"/>
          <p:cNvSpPr/>
          <p:nvPr/>
        </p:nvSpPr>
        <p:spPr>
          <a:xfrm>
            <a:off x="6603980" y="3502701"/>
            <a:ext cx="603230" cy="127010"/>
          </a:xfrm>
          <a:prstGeom prst="rect">
            <a:avLst/>
          </a:prstGeom>
          <a:noFill/>
          <a:ln/>
        </p:spPr>
        <p:txBody>
          <a:bodyPr wrap="square" lIns="0" tIns="0" rIns="0" bIns="0" rtlCol="0" anchor="t"/>
          <a:lstStyle/>
          <a:p>
            <a:pPr algn="ctr" indent="0" marL="0">
              <a:lnSpc>
                <a:spcPct val="120000"/>
              </a:lnSpc>
              <a:buNone/>
            </a:pPr>
            <a:r>
              <a:rPr lang="en-US" sz="700" b="1" spc="42" kern="0" dirty="0">
                <a:solidFill>
                  <a:srgbClr val="16181B"/>
                </a:solidFill>
                <a:latin typeface="JetBrains Mono" pitchFamily="34" charset="0"/>
                <a:ea typeface="JetBrains Mono" pitchFamily="34" charset="-122"/>
                <a:cs typeface="JetBrains Mono" pitchFamily="34" charset="-120"/>
              </a:rPr>
              <a:t>PENDING</a:t>
            </a:r>
            <a:endParaRPr lang="en-US" sz="700" dirty="0"/>
          </a:p>
        </p:txBody>
      </p:sp>
      <p:sp>
        <p:nvSpPr>
          <p:cNvPr id="33" name="Text 30"/>
          <p:cNvSpPr/>
          <p:nvPr/>
        </p:nvSpPr>
        <p:spPr>
          <a:xfrm>
            <a:off x="7492959" y="3200400"/>
            <a:ext cx="2095530" cy="38734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Nobody could click it without a code editor</a:t>
            </a:r>
            <a:endParaRPr lang="en-US" sz="1050" dirty="0"/>
          </a:p>
        </p:txBody>
      </p:sp>
      <p:sp>
        <p:nvSpPr>
          <p:cNvPr id="34" name="Text 31"/>
          <p:cNvSpPr/>
          <p:nvPr/>
        </p:nvSpPr>
        <p:spPr>
          <a:xfrm>
            <a:off x="9715500" y="3200400"/>
            <a:ext cx="1714500" cy="38734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APP-PLAN’s 12 screens, the pill fill</a:t>
            </a:r>
            <a:endParaRPr lang="en-US" sz="1050" dirty="0"/>
          </a:p>
        </p:txBody>
      </p:sp>
      <p:sp>
        <p:nvSpPr>
          <p:cNvPr id="35" name="Shape 33"/>
          <p:cNvSpPr/>
          <p:nvPr/>
        </p:nvSpPr>
        <p:spPr>
          <a:xfrm>
            <a:off x="761970" y="4000500"/>
            <a:ext cx="10668030" cy="12710"/>
          </a:xfrm>
          <a:prstGeom prst="rect">
            <a:avLst/>
          </a:prstGeom>
          <a:solidFill>
            <a:srgbClr val="16181B">
              <a:alpha val="10000"/>
            </a:srgbClr>
          </a:solidFill>
          <a:ln/>
        </p:spPr>
      </p:sp>
      <p:sp>
        <p:nvSpPr>
          <p:cNvPr id="36" name="Text 33"/>
          <p:cNvSpPr/>
          <p:nvPr/>
        </p:nvSpPr>
        <p:spPr>
          <a:xfrm>
            <a:off x="761970" y="4152930"/>
            <a:ext cx="1587490" cy="254020"/>
          </a:xfrm>
          <a:prstGeom prst="rect">
            <a:avLst/>
          </a:prstGeom>
          <a:noFill/>
          <a:ln/>
        </p:spPr>
        <p:txBody>
          <a:bodyPr wrap="square" lIns="0" tIns="0" rIns="0" bIns="0" rtlCol="0" anchor="t"/>
          <a:lstStyle/>
          <a:p>
            <a:pPr algn="l" indent="0" marL="0">
              <a:lnSpc>
                <a:spcPct val="105000"/>
              </a:lnSpc>
              <a:buNone/>
            </a:pPr>
            <a:r>
              <a:rPr lang="en-US" sz="1560" dirty="0">
                <a:solidFill>
                  <a:srgbClr val="16181B"/>
                </a:solidFill>
                <a:latin typeface="Instrument Serif" pitchFamily="34" charset="0"/>
                <a:ea typeface="Instrument Serif" pitchFamily="34" charset="-122"/>
                <a:cs typeface="Instrument Serif" pitchFamily="34" charset="-120"/>
              </a:rPr>
              <a:t>Handoff</a:t>
            </a:r>
            <a:endParaRPr lang="en-US" sz="1560" dirty="0"/>
          </a:p>
        </p:txBody>
      </p:sp>
      <p:sp>
        <p:nvSpPr>
          <p:cNvPr id="37" name="Text 34"/>
          <p:cNvSpPr/>
          <p:nvPr/>
        </p:nvSpPr>
        <p:spPr>
          <a:xfrm>
            <a:off x="2413010" y="4152930"/>
            <a:ext cx="2984510" cy="387340"/>
          </a:xfrm>
          <a:prstGeom prst="rect">
            <a:avLst/>
          </a:prstGeom>
          <a:noFill/>
          <a:ln/>
        </p:spPr>
        <p:txBody>
          <a:bodyPr wrap="square" lIns="0" tIns="0" rIns="0" bIns="0" rtlCol="0" anchor="t"/>
          <a:lstStyle/>
          <a:p>
            <a:pPr algn="l" indent="0" marL="0">
              <a:lnSpc>
                <a:spcPct val="135000"/>
              </a:lnSpc>
              <a:buNone/>
            </a:pPr>
            <a:r>
              <a:rPr lang="en-US" sz="1050" dirty="0">
                <a:solidFill>
                  <a:srgbClr val="16181B"/>
                </a:solidFill>
                <a:latin typeface="Inter" pitchFamily="34" charset="0"/>
                <a:ea typeface="Inter" pitchFamily="34" charset="-122"/>
                <a:cs typeface="Inter" pitchFamily="34" charset="-120"/>
              </a:rPr>
              <a:t>CSS :root copied site → app; Figma styles + variables; Composio → CSS</a:t>
            </a:r>
            <a:endParaRPr lang="en-US" sz="1050" dirty="0"/>
          </a:p>
        </p:txBody>
      </p:sp>
      <p:sp>
        <p:nvSpPr>
          <p:cNvPr id="38" name="Text 35"/>
          <p:cNvSpPr/>
          <p:nvPr/>
        </p:nvSpPr>
        <p:spPr>
          <a:xfrm>
            <a:off x="5587990" y="4165641"/>
            <a:ext cx="952530" cy="215890"/>
          </a:xfrm>
          <a:prstGeom prst="rect">
            <a:avLst/>
          </a:prstGeom>
          <a:noFill/>
          <a:ln/>
        </p:spPr>
        <p:txBody>
          <a:bodyPr wrap="square" lIns="0" tIns="0" rIns="0" bIns="0" rtlCol="0" anchor="t"/>
          <a:lstStyle/>
          <a:p>
            <a:pPr algn="l" indent="0" marL="0">
              <a:lnSpc>
                <a:spcPct val="140000"/>
              </a:lnSpc>
              <a:buNone/>
            </a:pPr>
            <a:r>
              <a:rPr lang="en-US" sz="1050" dirty="0">
                <a:solidFill>
                  <a:srgbClr val="16181B"/>
                </a:solidFill>
                <a:latin typeface="JetBrains Mono" pitchFamily="34" charset="0"/>
                <a:ea typeface="JetBrains Mono" pitchFamily="34" charset="-122"/>
                <a:cs typeface="JetBrains Mono" pitchFamily="34" charset="-120"/>
              </a:rPr>
              <a:t>≈7 min</a:t>
            </a:r>
            <a:endParaRPr lang="en-US" sz="1050" dirty="0"/>
          </a:p>
        </p:txBody>
      </p:sp>
      <p:sp>
        <p:nvSpPr>
          <p:cNvPr id="39" name="Text 36"/>
          <p:cNvSpPr/>
          <p:nvPr/>
        </p:nvSpPr>
        <p:spPr>
          <a:xfrm>
            <a:off x="6603980" y="4165641"/>
            <a:ext cx="825520" cy="228600"/>
          </a:xfrm>
          <a:prstGeom prst="rect">
            <a:avLst/>
          </a:prstGeom>
          <a:noFill/>
          <a:ln/>
        </p:spPr>
        <p:txBody>
          <a:bodyPr wrap="square" lIns="0" tIns="0" rIns="0" bIns="0" rtlCol="0" anchor="t"/>
          <a:lstStyle/>
          <a:p>
            <a:pPr algn="l" indent="0" marL="0">
              <a:lnSpc>
                <a:spcPct val="140000"/>
              </a:lnSpc>
              <a:buNone/>
            </a:pPr>
            <a:r>
              <a:rPr lang="en-US" sz="1100" b="1" dirty="0">
                <a:solidFill>
                  <a:srgbClr val="16181B"/>
                </a:solidFill>
                <a:latin typeface="JetBrains Mono" pitchFamily="34" charset="0"/>
                <a:ea typeface="JetBrains Mono" pitchFamily="34" charset="-122"/>
                <a:cs typeface="JetBrains Mono" pitchFamily="34" charset="-120"/>
              </a:rPr>
              <a:t>2/5</a:t>
            </a:r>
            <a:endParaRPr lang="en-US" sz="1100" dirty="0"/>
          </a:p>
        </p:txBody>
      </p:sp>
      <p:sp>
        <p:nvSpPr>
          <p:cNvPr id="40" name="Shape 38"/>
          <p:cNvSpPr/>
          <p:nvPr/>
        </p:nvSpPr>
        <p:spPr>
          <a:xfrm>
            <a:off x="6603980" y="4419570"/>
            <a:ext cx="603230" cy="177759"/>
          </a:xfrm>
          <a:prstGeom prst="roundRect">
            <a:avLst>
              <a:gd name="adj" fmla="val 50000"/>
            </a:avLst>
          </a:prstGeom>
          <a:solidFill>
            <a:srgbClr val="9AA0A6">
              <a:alpha val="18000"/>
            </a:srgbClr>
          </a:solidFill>
          <a:ln/>
        </p:spPr>
      </p:sp>
      <p:sp>
        <p:nvSpPr>
          <p:cNvPr id="41" name="Text 38"/>
          <p:cNvSpPr/>
          <p:nvPr/>
        </p:nvSpPr>
        <p:spPr>
          <a:xfrm>
            <a:off x="6603980" y="4455140"/>
            <a:ext cx="603230" cy="127010"/>
          </a:xfrm>
          <a:prstGeom prst="rect">
            <a:avLst/>
          </a:prstGeom>
          <a:noFill/>
          <a:ln/>
        </p:spPr>
        <p:txBody>
          <a:bodyPr wrap="square" lIns="0" tIns="0" rIns="0" bIns="0" rtlCol="0" anchor="t"/>
          <a:lstStyle/>
          <a:p>
            <a:pPr algn="ctr" indent="0" marL="0">
              <a:lnSpc>
                <a:spcPct val="120000"/>
              </a:lnSpc>
              <a:buNone/>
            </a:pPr>
            <a:r>
              <a:rPr lang="en-US" sz="700" b="1" spc="42" kern="0" dirty="0">
                <a:solidFill>
                  <a:srgbClr val="16181B"/>
                </a:solidFill>
                <a:latin typeface="JetBrains Mono" pitchFamily="34" charset="0"/>
                <a:ea typeface="JetBrains Mono" pitchFamily="34" charset="-122"/>
                <a:cs typeface="JetBrains Mono" pitchFamily="34" charset="-120"/>
              </a:rPr>
              <a:t>PENDING</a:t>
            </a:r>
            <a:endParaRPr lang="en-US" sz="700" dirty="0"/>
          </a:p>
        </p:txBody>
      </p:sp>
      <p:sp>
        <p:nvSpPr>
          <p:cNvPr id="42" name="Text 39"/>
          <p:cNvSpPr/>
          <p:nvPr/>
        </p:nvSpPr>
        <p:spPr>
          <a:xfrm>
            <a:off x="7492959" y="4152930"/>
            <a:ext cx="2095530" cy="38734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8 of 27 tokens arrived identical; no record of intent</a:t>
            </a:r>
            <a:endParaRPr lang="en-US" sz="1050" dirty="0"/>
          </a:p>
        </p:txBody>
      </p:sp>
      <p:sp>
        <p:nvSpPr>
          <p:cNvPr id="43" name="Text 40"/>
          <p:cNvSpPr/>
          <p:nvPr/>
        </p:nvSpPr>
        <p:spPr>
          <a:xfrm>
            <a:off x="9715500" y="4152930"/>
            <a:ext cx="1714500" cy="38734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App :root, Tokens page, tokens-from-figma.mjs</a:t>
            </a:r>
            <a:endParaRPr lang="en-US" sz="1050" dirty="0"/>
          </a:p>
        </p:txBody>
      </p:sp>
      <p:sp>
        <p:nvSpPr>
          <p:cNvPr id="44" name="Shape 42"/>
          <p:cNvSpPr/>
          <p:nvPr/>
        </p:nvSpPr>
        <p:spPr>
          <a:xfrm>
            <a:off x="761970" y="4953030"/>
            <a:ext cx="10668030" cy="12710"/>
          </a:xfrm>
          <a:prstGeom prst="rect">
            <a:avLst/>
          </a:prstGeom>
          <a:solidFill>
            <a:srgbClr val="16181B">
              <a:alpha val="10000"/>
            </a:srgbClr>
          </a:solidFill>
          <a:ln/>
        </p:spPr>
      </p:sp>
      <p:sp>
        <p:nvSpPr>
          <p:cNvPr id="45" name="Text 42"/>
          <p:cNvSpPr/>
          <p:nvPr/>
        </p:nvSpPr>
        <p:spPr>
          <a:xfrm>
            <a:off x="761970" y="5105370"/>
            <a:ext cx="1587490" cy="215890"/>
          </a:xfrm>
          <a:prstGeom prst="rect">
            <a:avLst/>
          </a:prstGeom>
          <a:noFill/>
          <a:ln/>
        </p:spPr>
        <p:txBody>
          <a:bodyPr wrap="square" lIns="0" tIns="0" rIns="0" bIns="0" rtlCol="0" anchor="t"/>
          <a:lstStyle/>
          <a:p>
            <a:pPr algn="l" indent="0" marL="0">
              <a:lnSpc>
                <a:spcPct val="105000"/>
              </a:lnSpc>
              <a:buNone/>
            </a:pPr>
            <a:r>
              <a:rPr lang="en-US" sz="1360" dirty="0">
                <a:solidFill>
                  <a:srgbClr val="16181B"/>
                </a:solidFill>
                <a:latin typeface="Instrument Serif" pitchFamily="34" charset="0"/>
                <a:ea typeface="Instrument Serif" pitchFamily="34" charset="-122"/>
                <a:cs typeface="Instrument Serif" pitchFamily="34" charset="-120"/>
              </a:rPr>
              <a:t>Code generation</a:t>
            </a:r>
            <a:endParaRPr lang="en-US" sz="1360" dirty="0"/>
          </a:p>
        </p:txBody>
      </p:sp>
      <p:sp>
        <p:nvSpPr>
          <p:cNvPr id="46" name="Text 43"/>
          <p:cNvSpPr/>
          <p:nvPr/>
        </p:nvSpPr>
        <p:spPr>
          <a:xfrm>
            <a:off x="2413010" y="5105370"/>
            <a:ext cx="2984510" cy="387340"/>
          </a:xfrm>
          <a:prstGeom prst="rect">
            <a:avLst/>
          </a:prstGeom>
          <a:noFill/>
          <a:ln/>
        </p:spPr>
        <p:txBody>
          <a:bodyPr wrap="square" lIns="0" tIns="0" rIns="0" bIns="0" rtlCol="0" anchor="t"/>
          <a:lstStyle/>
          <a:p>
            <a:pPr algn="l" indent="0" marL="0">
              <a:lnSpc>
                <a:spcPct val="135000"/>
              </a:lnSpc>
              <a:buNone/>
            </a:pPr>
            <a:r>
              <a:rPr lang="en-US" sz="1050" dirty="0">
                <a:solidFill>
                  <a:srgbClr val="16181B"/>
                </a:solidFill>
                <a:latin typeface="Inter" pitchFamily="34" charset="0"/>
                <a:ea typeface="Inter" pitchFamily="34" charset="-122"/>
                <a:cs typeface="Inter" pitchFamily="34" charset="-120"/>
              </a:rPr>
              <a:t>Claude Code + 3 parallel builders; Pill → Figma plugin</a:t>
            </a:r>
            <a:endParaRPr lang="en-US" sz="1050" dirty="0"/>
          </a:p>
        </p:txBody>
      </p:sp>
      <p:sp>
        <p:nvSpPr>
          <p:cNvPr id="47" name="Text 44"/>
          <p:cNvSpPr/>
          <p:nvPr/>
        </p:nvSpPr>
        <p:spPr>
          <a:xfrm>
            <a:off x="5587990" y="5118080"/>
            <a:ext cx="952530" cy="215890"/>
          </a:xfrm>
          <a:prstGeom prst="rect">
            <a:avLst/>
          </a:prstGeom>
          <a:noFill/>
          <a:ln/>
        </p:spPr>
        <p:txBody>
          <a:bodyPr wrap="square" lIns="0" tIns="0" rIns="0" bIns="0" rtlCol="0" anchor="t"/>
          <a:lstStyle/>
          <a:p>
            <a:pPr algn="l" indent="0" marL="0">
              <a:lnSpc>
                <a:spcPct val="140000"/>
              </a:lnSpc>
              <a:buNone/>
            </a:pPr>
            <a:r>
              <a:rPr lang="en-US" sz="1050" dirty="0">
                <a:solidFill>
                  <a:srgbClr val="16181B"/>
                </a:solidFill>
                <a:latin typeface="JetBrains Mono" pitchFamily="34" charset="0"/>
                <a:ea typeface="JetBrains Mono" pitchFamily="34" charset="-122"/>
                <a:cs typeface="JetBrains Mono" pitchFamily="34" charset="-120"/>
              </a:rPr>
              <a:t>≈92 min</a:t>
            </a:r>
            <a:endParaRPr lang="en-US" sz="1050" dirty="0"/>
          </a:p>
        </p:txBody>
      </p:sp>
      <p:sp>
        <p:nvSpPr>
          <p:cNvPr id="48" name="Text 45"/>
          <p:cNvSpPr/>
          <p:nvPr/>
        </p:nvSpPr>
        <p:spPr>
          <a:xfrm>
            <a:off x="6603980" y="5118080"/>
            <a:ext cx="825520" cy="228600"/>
          </a:xfrm>
          <a:prstGeom prst="rect">
            <a:avLst/>
          </a:prstGeom>
          <a:noFill/>
          <a:ln/>
        </p:spPr>
        <p:txBody>
          <a:bodyPr wrap="square" lIns="0" tIns="0" rIns="0" bIns="0" rtlCol="0" anchor="t"/>
          <a:lstStyle/>
          <a:p>
            <a:pPr algn="l" indent="0" marL="0">
              <a:lnSpc>
                <a:spcPct val="140000"/>
              </a:lnSpc>
              <a:buNone/>
            </a:pPr>
            <a:r>
              <a:rPr lang="en-US" sz="1100" b="1" dirty="0">
                <a:solidFill>
                  <a:srgbClr val="16181B"/>
                </a:solidFill>
                <a:latin typeface="JetBrains Mono" pitchFamily="34" charset="0"/>
                <a:ea typeface="JetBrains Mono" pitchFamily="34" charset="-122"/>
                <a:cs typeface="JetBrains Mono" pitchFamily="34" charset="-120"/>
              </a:rPr>
              <a:t>4/5</a:t>
            </a:r>
            <a:endParaRPr lang="en-US" sz="1100" dirty="0"/>
          </a:p>
        </p:txBody>
      </p:sp>
      <p:sp>
        <p:nvSpPr>
          <p:cNvPr id="49" name="Shape 47"/>
          <p:cNvSpPr/>
          <p:nvPr/>
        </p:nvSpPr>
        <p:spPr>
          <a:xfrm>
            <a:off x="6603980" y="5372100"/>
            <a:ext cx="603230" cy="177759"/>
          </a:xfrm>
          <a:prstGeom prst="roundRect">
            <a:avLst>
              <a:gd name="adj" fmla="val 50000"/>
            </a:avLst>
          </a:prstGeom>
          <a:solidFill>
            <a:srgbClr val="9AA0A6">
              <a:alpha val="18000"/>
            </a:srgbClr>
          </a:solidFill>
          <a:ln/>
        </p:spPr>
      </p:sp>
      <p:sp>
        <p:nvSpPr>
          <p:cNvPr id="50" name="Text 47"/>
          <p:cNvSpPr/>
          <p:nvPr/>
        </p:nvSpPr>
        <p:spPr>
          <a:xfrm>
            <a:off x="6603980" y="5407670"/>
            <a:ext cx="603230" cy="127010"/>
          </a:xfrm>
          <a:prstGeom prst="rect">
            <a:avLst/>
          </a:prstGeom>
          <a:noFill/>
          <a:ln/>
        </p:spPr>
        <p:txBody>
          <a:bodyPr wrap="square" lIns="0" tIns="0" rIns="0" bIns="0" rtlCol="0" anchor="t"/>
          <a:lstStyle/>
          <a:p>
            <a:pPr algn="ctr" indent="0" marL="0">
              <a:lnSpc>
                <a:spcPct val="120000"/>
              </a:lnSpc>
              <a:buNone/>
            </a:pPr>
            <a:r>
              <a:rPr lang="en-US" sz="700" b="1" spc="42" kern="0" dirty="0">
                <a:solidFill>
                  <a:srgbClr val="16181B"/>
                </a:solidFill>
                <a:latin typeface="JetBrains Mono" pitchFamily="34" charset="0"/>
                <a:ea typeface="JetBrains Mono" pitchFamily="34" charset="-122"/>
                <a:cs typeface="JetBrains Mono" pitchFamily="34" charset="-120"/>
              </a:rPr>
              <a:t>PENDING</a:t>
            </a:r>
            <a:endParaRPr lang="en-US" sz="700" dirty="0"/>
          </a:p>
        </p:txBody>
      </p:sp>
      <p:sp>
        <p:nvSpPr>
          <p:cNvPr id="51" name="Text 48"/>
          <p:cNvSpPr/>
          <p:nvPr/>
        </p:nvSpPr>
        <p:spPr>
          <a:xfrm>
            <a:off x="7492959" y="5105370"/>
            <a:ext cx="2095530" cy="38734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P6 hold rule bug; double deploy; REST API can’t draw</a:t>
            </a:r>
            <a:endParaRPr lang="en-US" sz="1050" dirty="0"/>
          </a:p>
        </p:txBody>
      </p:sp>
      <p:sp>
        <p:nvSpPr>
          <p:cNvPr id="52" name="Text 49"/>
          <p:cNvSpPr/>
          <p:nvPr/>
        </p:nvSpPr>
        <p:spPr>
          <a:xfrm>
            <a:off x="9715500" y="5105370"/>
            <a:ext cx="1714500" cy="38734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App, payment service, this deck</a:t>
            </a:r>
            <a:endParaRPr lang="en-US" sz="1050" dirty="0"/>
          </a:p>
        </p:txBody>
      </p:sp>
      <p:sp>
        <p:nvSpPr>
          <p:cNvPr id="53" name="Shape 51"/>
          <p:cNvSpPr/>
          <p:nvPr/>
        </p:nvSpPr>
        <p:spPr>
          <a:xfrm>
            <a:off x="761970" y="5905470"/>
            <a:ext cx="10668030" cy="12710"/>
          </a:xfrm>
          <a:prstGeom prst="rect">
            <a:avLst/>
          </a:prstGeom>
          <a:solidFill>
            <a:srgbClr val="16181B">
              <a:alpha val="10000"/>
            </a:srgbClr>
          </a:solidFill>
          <a:ln/>
        </p:spPr>
      </p:sp>
      <p:sp>
        <p:nvSpPr>
          <p:cNvPr id="54" name="Text 51"/>
          <p:cNvSpPr/>
          <p:nvPr/>
        </p:nvSpPr>
        <p:spPr>
          <a:xfrm>
            <a:off x="761970" y="6057900"/>
            <a:ext cx="10668030"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PENDING = the Figma step is written but not yet run; its minutes and rating stay blank in the log, not estimated.</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WHAT BROKE</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16 / 20</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9525030" cy="552480"/>
          </a:xfrm>
          <a:prstGeom prst="rect">
            <a:avLst/>
          </a:prstGeom>
          <a:noFill/>
          <a:ln/>
        </p:spPr>
        <p:txBody>
          <a:bodyPr wrap="square" lIns="0" tIns="0" rIns="0" bIns="0" rtlCol="0" anchor="t"/>
          <a:lstStyle/>
          <a:p>
            <a:pPr algn="l" indent="0" marL="0">
              <a:lnSpc>
                <a:spcPct val="100000"/>
              </a:lnSpc>
              <a:buNone/>
            </a:pPr>
            <a:r>
              <a:rPr lang="en-US" sz="3588" spc="-54" kern="0" dirty="0">
                <a:solidFill>
                  <a:srgbClr val="16181B"/>
                </a:solidFill>
                <a:latin typeface="Instrument Serif" pitchFamily="34" charset="0"/>
                <a:ea typeface="Instrument Serif" pitchFamily="34" charset="-122"/>
                <a:cs typeface="Instrument Serif" pitchFamily="34" charset="-120"/>
              </a:rPr>
              <a:t>What broke, </a:t>
            </a:r>
            <a:pPr algn="l" indent="0" marL="0">
              <a:lnSpc>
                <a:spcPct val="100000"/>
              </a:lnSpc>
              <a:buNone/>
            </a:pPr>
            <a:r>
              <a:rPr lang="en-US" sz="3588" i="1" spc="-54" kern="0" dirty="0">
                <a:solidFill>
                  <a:srgbClr val="16181B"/>
                </a:solidFill>
                <a:latin typeface="Instrument Serif" pitchFamily="34" charset="0"/>
                <a:ea typeface="Instrument Serif" pitchFamily="34" charset="-122"/>
                <a:cs typeface="Instrument Serif" pitchFamily="34" charset="-120"/>
              </a:rPr>
              <a:t>and what it changed.</a:t>
            </a:r>
            <a:endParaRPr lang="en-US" sz="3588" dirty="0"/>
          </a:p>
        </p:txBody>
      </p:sp>
      <p:sp>
        <p:nvSpPr>
          <p:cNvPr id="11" name="Shape 9"/>
          <p:cNvSpPr/>
          <p:nvPr/>
        </p:nvSpPr>
        <p:spPr>
          <a:xfrm>
            <a:off x="761970" y="1904970"/>
            <a:ext cx="5206959" cy="1968520"/>
          </a:xfrm>
          <a:prstGeom prst="roundRect">
            <a:avLst>
              <a:gd name="adj" fmla="val 7743"/>
            </a:avLst>
          </a:prstGeom>
          <a:solidFill>
            <a:srgbClr val="FFFFFF"/>
          </a:solidFill>
          <a:ln w="12700">
            <a:solidFill>
              <a:srgbClr val="16181B">
                <a:alpha val="10000"/>
              </a:srgbClr>
            </a:solidFill>
            <a:prstDash val="solid"/>
          </a:ln>
        </p:spPr>
      </p:sp>
      <p:sp>
        <p:nvSpPr>
          <p:cNvPr id="12" name="Shape 10"/>
          <p:cNvSpPr/>
          <p:nvPr/>
        </p:nvSpPr>
        <p:spPr>
          <a:xfrm>
            <a:off x="990570" y="2133570"/>
            <a:ext cx="355610" cy="38130"/>
          </a:xfrm>
          <a:prstGeom prst="roundRect">
            <a:avLst>
              <a:gd name="adj" fmla="val 49881"/>
            </a:avLst>
          </a:prstGeom>
          <a:solidFill>
            <a:srgbClr val="E09A3A"/>
          </a:solidFill>
          <a:ln/>
        </p:spPr>
      </p:sp>
      <p:sp>
        <p:nvSpPr>
          <p:cNvPr id="13" name="Text 10"/>
          <p:cNvSpPr/>
          <p:nvPr/>
        </p:nvSpPr>
        <p:spPr>
          <a:xfrm>
            <a:off x="990570" y="2311420"/>
            <a:ext cx="4749759" cy="298460"/>
          </a:xfrm>
          <a:prstGeom prst="rect">
            <a:avLst/>
          </a:prstGeom>
          <a:noFill/>
          <a:ln/>
        </p:spPr>
        <p:txBody>
          <a:bodyPr wrap="square" lIns="0" tIns="0" rIns="0" bIns="0" rtlCol="0" anchor="t"/>
          <a:lstStyle/>
          <a:p>
            <a:pPr algn="l" indent="0" marL="0">
              <a:lnSpc>
                <a:spcPct val="125000"/>
              </a:lnSpc>
              <a:buNone/>
            </a:pPr>
            <a:r>
              <a:rPr lang="en-US" sz="1600" b="1" dirty="0">
                <a:solidFill>
                  <a:srgbClr val="16181B"/>
                </a:solidFill>
                <a:latin typeface="Inter" pitchFamily="34" charset="0"/>
                <a:ea typeface="Inter" pitchFamily="34" charset="-122"/>
                <a:cs typeface="Inter" pitchFamily="34" charset="-120"/>
              </a:rPr>
              <a:t>The P6 hold rule</a:t>
            </a:r>
            <a:endParaRPr lang="en-US" sz="1600" dirty="0"/>
          </a:p>
        </p:txBody>
      </p:sp>
      <p:sp>
        <p:nvSpPr>
          <p:cNvPr id="14" name="Text 11"/>
          <p:cNvSpPr/>
          <p:nvPr/>
        </p:nvSpPr>
        <p:spPr>
          <a:xfrm>
            <a:off x="990570" y="2654320"/>
            <a:ext cx="4749759" cy="666780"/>
          </a:xfrm>
          <a:prstGeom prst="rect">
            <a:avLst/>
          </a:prstGeom>
          <a:noFill/>
          <a:ln/>
        </p:spPr>
        <p:txBody>
          <a:bodyPr wrap="square" lIns="0" tIns="0" rIns="0" bIns="0" rtlCol="0" anchor="t"/>
          <a:lstStyle/>
          <a:p>
            <a:pPr algn="l" indent="0" marL="0">
              <a:lnSpc>
                <a:spcPct val="145000"/>
              </a:lnSpc>
              <a:buNone/>
            </a:pPr>
            <a:r>
              <a:rPr lang="en-US" sz="1150" dirty="0">
                <a:solidFill>
                  <a:srgbClr val="4A4E55"/>
                </a:solidFill>
                <a:latin typeface="Inter" pitchFamily="34" charset="0"/>
                <a:ea typeface="Inter" pitchFamily="34" charset="-122"/>
                <a:cs typeface="Inter" pitchFamily="34" charset="-120"/>
              </a:rPr>
              <a:t>The scaffold held money only when the recall lookup was unreachable, so a delivery with no bottle attached could be proposed for release.</a:t>
            </a:r>
            <a:endParaRPr lang="en-US" sz="1150" dirty="0"/>
          </a:p>
        </p:txBody>
      </p:sp>
      <p:sp>
        <p:nvSpPr>
          <p:cNvPr id="15" name="Shape 13"/>
          <p:cNvSpPr/>
          <p:nvPr/>
        </p:nvSpPr>
        <p:spPr>
          <a:xfrm>
            <a:off x="990570" y="3403580"/>
            <a:ext cx="4749759" cy="12710"/>
          </a:xfrm>
          <a:prstGeom prst="rect">
            <a:avLst/>
          </a:prstGeom>
          <a:solidFill>
            <a:srgbClr val="16181B">
              <a:alpha val="10000"/>
            </a:srgbClr>
          </a:solidFill>
          <a:ln/>
        </p:spPr>
      </p:sp>
      <p:sp>
        <p:nvSpPr>
          <p:cNvPr id="16" name="Text 13"/>
          <p:cNvSpPr/>
          <p:nvPr/>
        </p:nvSpPr>
        <p:spPr>
          <a:xfrm>
            <a:off x="990570" y="3517880"/>
            <a:ext cx="4749759" cy="184160"/>
          </a:xfrm>
          <a:prstGeom prst="rect">
            <a:avLst/>
          </a:prstGeom>
          <a:noFill/>
          <a:ln/>
        </p:spPr>
        <p:txBody>
          <a:bodyPr wrap="square" lIns="0" tIns="0" rIns="0" bIns="0" rtlCol="0" anchor="t"/>
          <a:lstStyle/>
          <a:p>
            <a:pPr algn="l" indent="0" marL="0">
              <a:lnSpc>
                <a:spcPct val="140000"/>
              </a:lnSpc>
              <a:buNone/>
            </a:pPr>
            <a:r>
              <a:rPr lang="en-US" sz="900" dirty="0">
                <a:solidFill>
                  <a:srgbClr val="16181B"/>
                </a:solidFill>
                <a:latin typeface="JetBrains Mono" pitchFamily="34" charset="0"/>
                <a:ea typeface="JetBrains Mono" pitchFamily="34" charset="-122"/>
                <a:cs typeface="JetBrains Mono" pitchFamily="34" charset="-120"/>
              </a:rPr>
              <a:t>Caught by a builder’s end-to-end test.</a:t>
            </a:r>
            <a:endParaRPr lang="en-US" sz="900" dirty="0"/>
          </a:p>
        </p:txBody>
      </p:sp>
      <p:sp>
        <p:nvSpPr>
          <p:cNvPr id="17" name="Shape 15"/>
          <p:cNvSpPr/>
          <p:nvPr/>
        </p:nvSpPr>
        <p:spPr>
          <a:xfrm>
            <a:off x="6223041" y="1904970"/>
            <a:ext cx="5206959" cy="1968520"/>
          </a:xfrm>
          <a:prstGeom prst="roundRect">
            <a:avLst>
              <a:gd name="adj" fmla="val 7743"/>
            </a:avLst>
          </a:prstGeom>
          <a:solidFill>
            <a:srgbClr val="FFFFFF"/>
          </a:solidFill>
          <a:ln w="12700">
            <a:solidFill>
              <a:srgbClr val="16181B">
                <a:alpha val="10000"/>
              </a:srgbClr>
            </a:solidFill>
            <a:prstDash val="solid"/>
          </a:ln>
        </p:spPr>
      </p:sp>
      <p:sp>
        <p:nvSpPr>
          <p:cNvPr id="18" name="Shape 16"/>
          <p:cNvSpPr/>
          <p:nvPr/>
        </p:nvSpPr>
        <p:spPr>
          <a:xfrm>
            <a:off x="6451641" y="2133570"/>
            <a:ext cx="355610" cy="38130"/>
          </a:xfrm>
          <a:prstGeom prst="roundRect">
            <a:avLst>
              <a:gd name="adj" fmla="val 49881"/>
            </a:avLst>
          </a:prstGeom>
          <a:solidFill>
            <a:srgbClr val="E09A3A"/>
          </a:solidFill>
          <a:ln/>
        </p:spPr>
      </p:sp>
      <p:sp>
        <p:nvSpPr>
          <p:cNvPr id="19" name="Text 16"/>
          <p:cNvSpPr/>
          <p:nvPr/>
        </p:nvSpPr>
        <p:spPr>
          <a:xfrm>
            <a:off x="6451641" y="2311420"/>
            <a:ext cx="4749759" cy="298460"/>
          </a:xfrm>
          <a:prstGeom prst="rect">
            <a:avLst/>
          </a:prstGeom>
          <a:noFill/>
          <a:ln/>
        </p:spPr>
        <p:txBody>
          <a:bodyPr wrap="square" lIns="0" tIns="0" rIns="0" bIns="0" rtlCol="0" anchor="t"/>
          <a:lstStyle/>
          <a:p>
            <a:pPr algn="l" indent="0" marL="0">
              <a:lnSpc>
                <a:spcPct val="125000"/>
              </a:lnSpc>
              <a:buNone/>
            </a:pPr>
            <a:r>
              <a:rPr lang="en-US" sz="1600" b="1" dirty="0">
                <a:solidFill>
                  <a:srgbClr val="16181B"/>
                </a:solidFill>
                <a:latin typeface="Inter" pitchFamily="34" charset="0"/>
                <a:ea typeface="Inter" pitchFamily="34" charset="-122"/>
                <a:cs typeface="Inter" pitchFamily="34" charset="-120"/>
              </a:rPr>
              <a:t>A double deploy</a:t>
            </a:r>
            <a:endParaRPr lang="en-US" sz="1600" dirty="0"/>
          </a:p>
        </p:txBody>
      </p:sp>
      <p:sp>
        <p:nvSpPr>
          <p:cNvPr id="20" name="Text 17"/>
          <p:cNvSpPr/>
          <p:nvPr/>
        </p:nvSpPr>
        <p:spPr>
          <a:xfrm>
            <a:off x="6451641" y="2654320"/>
            <a:ext cx="4749759" cy="457200"/>
          </a:xfrm>
          <a:prstGeom prst="rect">
            <a:avLst/>
          </a:prstGeom>
          <a:noFill/>
          <a:ln/>
        </p:spPr>
        <p:txBody>
          <a:bodyPr wrap="square" lIns="0" tIns="0" rIns="0" bIns="0" rtlCol="0" anchor="t"/>
          <a:lstStyle/>
          <a:p>
            <a:pPr algn="l" indent="0" marL="0">
              <a:lnSpc>
                <a:spcPct val="145000"/>
              </a:lnSpc>
              <a:buNone/>
            </a:pPr>
            <a:r>
              <a:rPr lang="en-US" sz="1150" dirty="0">
                <a:solidFill>
                  <a:srgbClr val="4A4E55"/>
                </a:solidFill>
                <a:latin typeface="Inter" pitchFamily="34" charset="0"/>
                <a:ea typeface="Inter" pitchFamily="34" charset="-122"/>
                <a:cs typeface="Inter" pitchFamily="34" charset="-120"/>
              </a:rPr>
              <a:t>A `tail -6` cut off Vercel’s output, the deploy looked unfinished and was re-run: two identical production deploys.</a:t>
            </a:r>
            <a:endParaRPr lang="en-US" sz="1150" dirty="0"/>
          </a:p>
        </p:txBody>
      </p:sp>
      <p:sp>
        <p:nvSpPr>
          <p:cNvPr id="21" name="Shape 19"/>
          <p:cNvSpPr/>
          <p:nvPr/>
        </p:nvSpPr>
        <p:spPr>
          <a:xfrm>
            <a:off x="6451641" y="3403580"/>
            <a:ext cx="4749759" cy="12710"/>
          </a:xfrm>
          <a:prstGeom prst="rect">
            <a:avLst/>
          </a:prstGeom>
          <a:solidFill>
            <a:srgbClr val="16181B">
              <a:alpha val="10000"/>
            </a:srgbClr>
          </a:solidFill>
          <a:ln/>
        </p:spPr>
      </p:sp>
      <p:sp>
        <p:nvSpPr>
          <p:cNvPr id="22" name="Text 19"/>
          <p:cNvSpPr/>
          <p:nvPr/>
        </p:nvSpPr>
        <p:spPr>
          <a:xfrm>
            <a:off x="6451641" y="3517880"/>
            <a:ext cx="4749759" cy="184160"/>
          </a:xfrm>
          <a:prstGeom prst="rect">
            <a:avLst/>
          </a:prstGeom>
          <a:noFill/>
          <a:ln/>
        </p:spPr>
        <p:txBody>
          <a:bodyPr wrap="square" lIns="0" tIns="0" rIns="0" bIns="0" rtlCol="0" anchor="t"/>
          <a:lstStyle/>
          <a:p>
            <a:pPr algn="l" indent="0" marL="0">
              <a:lnSpc>
                <a:spcPct val="140000"/>
              </a:lnSpc>
              <a:buNone/>
            </a:pPr>
            <a:r>
              <a:rPr lang="en-US" sz="900" dirty="0">
                <a:solidFill>
                  <a:srgbClr val="16181B"/>
                </a:solidFill>
                <a:latin typeface="JetBrains Mono" pitchFamily="34" charset="0"/>
                <a:ea typeface="JetBrains Mono" pitchFamily="34" charset="-122"/>
                <a:cs typeface="JetBrains Mono" pitchFamily="34" charset="-120"/>
              </a:rPr>
              <a:t>Read the whole log before re-running.</a:t>
            </a:r>
            <a:endParaRPr lang="en-US" sz="900" dirty="0"/>
          </a:p>
        </p:txBody>
      </p:sp>
      <p:sp>
        <p:nvSpPr>
          <p:cNvPr id="23" name="Shape 21"/>
          <p:cNvSpPr/>
          <p:nvPr/>
        </p:nvSpPr>
        <p:spPr>
          <a:xfrm>
            <a:off x="761970" y="4063959"/>
            <a:ext cx="5206959" cy="1968520"/>
          </a:xfrm>
          <a:prstGeom prst="roundRect">
            <a:avLst>
              <a:gd name="adj" fmla="val 7743"/>
            </a:avLst>
          </a:prstGeom>
          <a:solidFill>
            <a:srgbClr val="FFFFFF"/>
          </a:solidFill>
          <a:ln w="12700">
            <a:solidFill>
              <a:srgbClr val="16181B">
                <a:alpha val="10000"/>
              </a:srgbClr>
            </a:solidFill>
            <a:prstDash val="solid"/>
          </a:ln>
        </p:spPr>
      </p:sp>
      <p:sp>
        <p:nvSpPr>
          <p:cNvPr id="24" name="Shape 22"/>
          <p:cNvSpPr/>
          <p:nvPr/>
        </p:nvSpPr>
        <p:spPr>
          <a:xfrm>
            <a:off x="990570" y="4292559"/>
            <a:ext cx="355610" cy="38130"/>
          </a:xfrm>
          <a:prstGeom prst="roundRect">
            <a:avLst>
              <a:gd name="adj" fmla="val 49881"/>
            </a:avLst>
          </a:prstGeom>
          <a:solidFill>
            <a:srgbClr val="E09A3A"/>
          </a:solidFill>
          <a:ln/>
        </p:spPr>
      </p:sp>
      <p:sp>
        <p:nvSpPr>
          <p:cNvPr id="25" name="Text 22"/>
          <p:cNvSpPr/>
          <p:nvPr/>
        </p:nvSpPr>
        <p:spPr>
          <a:xfrm>
            <a:off x="990570" y="4470410"/>
            <a:ext cx="4749759" cy="298460"/>
          </a:xfrm>
          <a:prstGeom prst="rect">
            <a:avLst/>
          </a:prstGeom>
          <a:noFill/>
          <a:ln/>
        </p:spPr>
        <p:txBody>
          <a:bodyPr wrap="square" lIns="0" tIns="0" rIns="0" bIns="0" rtlCol="0" anchor="t"/>
          <a:lstStyle/>
          <a:p>
            <a:pPr algn="l" indent="0" marL="0">
              <a:lnSpc>
                <a:spcPct val="125000"/>
              </a:lnSpc>
              <a:buNone/>
            </a:pPr>
            <a:r>
              <a:rPr lang="en-US" sz="1600" b="1" dirty="0">
                <a:solidFill>
                  <a:srgbClr val="16181B"/>
                </a:solidFill>
                <a:latin typeface="Inter" pitchFamily="34" charset="0"/>
                <a:ea typeface="Inter" pitchFamily="34" charset="-122"/>
                <a:cs typeface="Inter" pitchFamily="34" charset="-120"/>
              </a:rPr>
              <a:t>The REST API can’t draw</a:t>
            </a:r>
            <a:endParaRPr lang="en-US" sz="1600" dirty="0"/>
          </a:p>
        </p:txBody>
      </p:sp>
      <p:sp>
        <p:nvSpPr>
          <p:cNvPr id="26" name="Text 23"/>
          <p:cNvSpPr/>
          <p:nvPr/>
        </p:nvSpPr>
        <p:spPr>
          <a:xfrm>
            <a:off x="990570" y="4813310"/>
            <a:ext cx="4749759" cy="457200"/>
          </a:xfrm>
          <a:prstGeom prst="rect">
            <a:avLst/>
          </a:prstGeom>
          <a:noFill/>
          <a:ln/>
        </p:spPr>
        <p:txBody>
          <a:bodyPr wrap="square" lIns="0" tIns="0" rIns="0" bIns="0" rtlCol="0" anchor="t"/>
          <a:lstStyle/>
          <a:p>
            <a:pPr algn="l" indent="0" marL="0">
              <a:lnSpc>
                <a:spcPct val="145000"/>
              </a:lnSpc>
              <a:buNone/>
            </a:pPr>
            <a:r>
              <a:rPr lang="en-US" sz="1150" dirty="0">
                <a:solidFill>
                  <a:srgbClr val="4A4E55"/>
                </a:solidFill>
                <a:latin typeface="Inter" pitchFamily="34" charset="0"/>
                <a:ea typeface="Inter" pitchFamily="34" charset="-122"/>
                <a:cs typeface="Inter" pitchFamily="34" charset="-120"/>
              </a:rPr>
              <a:t>The Figma REST API and our Composio connector read, comment and set variables. Neither can create a layer or a slide.</a:t>
            </a:r>
            <a:endParaRPr lang="en-US" sz="1150" dirty="0"/>
          </a:p>
        </p:txBody>
      </p:sp>
      <p:sp>
        <p:nvSpPr>
          <p:cNvPr id="27" name="Shape 25"/>
          <p:cNvSpPr/>
          <p:nvPr/>
        </p:nvSpPr>
        <p:spPr>
          <a:xfrm>
            <a:off x="990570" y="5562570"/>
            <a:ext cx="4749759" cy="12710"/>
          </a:xfrm>
          <a:prstGeom prst="rect">
            <a:avLst/>
          </a:prstGeom>
          <a:solidFill>
            <a:srgbClr val="16181B">
              <a:alpha val="10000"/>
            </a:srgbClr>
          </a:solidFill>
          <a:ln/>
        </p:spPr>
      </p:sp>
      <p:sp>
        <p:nvSpPr>
          <p:cNvPr id="28" name="Text 25"/>
          <p:cNvSpPr/>
          <p:nvPr/>
        </p:nvSpPr>
        <p:spPr>
          <a:xfrm>
            <a:off x="990570" y="5676870"/>
            <a:ext cx="4749759" cy="184160"/>
          </a:xfrm>
          <a:prstGeom prst="rect">
            <a:avLst/>
          </a:prstGeom>
          <a:noFill/>
          <a:ln/>
        </p:spPr>
        <p:txBody>
          <a:bodyPr wrap="square" lIns="0" tIns="0" rIns="0" bIns="0" rtlCol="0" anchor="t"/>
          <a:lstStyle/>
          <a:p>
            <a:pPr algn="l" indent="0" marL="0">
              <a:lnSpc>
                <a:spcPct val="140000"/>
              </a:lnSpc>
              <a:buNone/>
            </a:pPr>
            <a:r>
              <a:rPr lang="en-US" sz="900" dirty="0">
                <a:solidFill>
                  <a:srgbClr val="16181B"/>
                </a:solidFill>
                <a:latin typeface="JetBrains Mono" pitchFamily="34" charset="0"/>
                <a:ea typeface="JetBrains Mono" pitchFamily="34" charset="-122"/>
                <a:cs typeface="JetBrains Mono" pitchFamily="34" charset="-120"/>
              </a:rPr>
              <a:t>So the repo emits deck.json and a plugin draws it.</a:t>
            </a:r>
            <a:endParaRPr lang="en-US" sz="900" dirty="0"/>
          </a:p>
        </p:txBody>
      </p:sp>
      <p:sp>
        <p:nvSpPr>
          <p:cNvPr id="29" name="Shape 27"/>
          <p:cNvSpPr/>
          <p:nvPr/>
        </p:nvSpPr>
        <p:spPr>
          <a:xfrm>
            <a:off x="6223041" y="4063959"/>
            <a:ext cx="5206959" cy="1968520"/>
          </a:xfrm>
          <a:prstGeom prst="roundRect">
            <a:avLst>
              <a:gd name="adj" fmla="val 7743"/>
            </a:avLst>
          </a:prstGeom>
          <a:solidFill>
            <a:srgbClr val="FFFFFF"/>
          </a:solidFill>
          <a:ln w="12700">
            <a:solidFill>
              <a:srgbClr val="16181B">
                <a:alpha val="10000"/>
              </a:srgbClr>
            </a:solidFill>
            <a:prstDash val="solid"/>
          </a:ln>
        </p:spPr>
      </p:sp>
      <p:sp>
        <p:nvSpPr>
          <p:cNvPr id="30" name="Shape 28"/>
          <p:cNvSpPr/>
          <p:nvPr/>
        </p:nvSpPr>
        <p:spPr>
          <a:xfrm>
            <a:off x="6451641" y="4292559"/>
            <a:ext cx="355610" cy="38130"/>
          </a:xfrm>
          <a:prstGeom prst="roundRect">
            <a:avLst>
              <a:gd name="adj" fmla="val 49881"/>
            </a:avLst>
          </a:prstGeom>
          <a:solidFill>
            <a:srgbClr val="E09A3A"/>
          </a:solidFill>
          <a:ln/>
        </p:spPr>
      </p:sp>
      <p:sp>
        <p:nvSpPr>
          <p:cNvPr id="31" name="Text 28"/>
          <p:cNvSpPr/>
          <p:nvPr/>
        </p:nvSpPr>
        <p:spPr>
          <a:xfrm>
            <a:off x="6451641" y="4470410"/>
            <a:ext cx="4749759" cy="298460"/>
          </a:xfrm>
          <a:prstGeom prst="rect">
            <a:avLst/>
          </a:prstGeom>
          <a:noFill/>
          <a:ln/>
        </p:spPr>
        <p:txBody>
          <a:bodyPr wrap="square" lIns="0" tIns="0" rIns="0" bIns="0" rtlCol="0" anchor="t"/>
          <a:lstStyle/>
          <a:p>
            <a:pPr algn="l" indent="0" marL="0">
              <a:lnSpc>
                <a:spcPct val="125000"/>
              </a:lnSpc>
              <a:buNone/>
            </a:pPr>
            <a:r>
              <a:rPr lang="en-US" sz="1600" b="1" dirty="0">
                <a:solidFill>
                  <a:srgbClr val="16181B"/>
                </a:solidFill>
                <a:latin typeface="Inter" pitchFamily="34" charset="0"/>
                <a:ea typeface="Inter" pitchFamily="34" charset="-122"/>
                <a:cs typeface="Inter" pitchFamily="34" charset="-120"/>
              </a:rPr>
              <a:t>8 of 27 tokens survived the hand copy</a:t>
            </a:r>
            <a:endParaRPr lang="en-US" sz="1600" dirty="0"/>
          </a:p>
        </p:txBody>
      </p:sp>
      <p:sp>
        <p:nvSpPr>
          <p:cNvPr id="32" name="Text 29"/>
          <p:cNvSpPr/>
          <p:nvPr/>
        </p:nvSpPr>
        <p:spPr>
          <a:xfrm>
            <a:off x="6451641" y="4813310"/>
            <a:ext cx="4749759" cy="457200"/>
          </a:xfrm>
          <a:prstGeom prst="rect">
            <a:avLst/>
          </a:prstGeom>
          <a:noFill/>
          <a:ln/>
        </p:spPr>
        <p:txBody>
          <a:bodyPr wrap="square" lIns="0" tIns="0" rIns="0" bIns="0" rtlCol="0" anchor="t"/>
          <a:lstStyle/>
          <a:p>
            <a:pPr algn="l" indent="0" marL="0">
              <a:lnSpc>
                <a:spcPct val="145000"/>
              </a:lnSpc>
              <a:buNone/>
            </a:pPr>
            <a:r>
              <a:rPr lang="en-US" sz="1150" dirty="0">
                <a:solidFill>
                  <a:srgbClr val="4A4E55"/>
                </a:solidFill>
                <a:latin typeface="Inter" pitchFamily="34" charset="0"/>
                <a:ea typeface="Inter" pitchFamily="34" charset="-122"/>
                <a:cs typeface="Inter" pitchFamily="34" charset="-120"/>
              </a:rPr>
              <a:t>Site → app by hand: 8 identical, 7 changed value, 12 renamed or dropped. Nothing recorded which changes were meant.</a:t>
            </a:r>
            <a:endParaRPr lang="en-US" sz="1150" dirty="0"/>
          </a:p>
        </p:txBody>
      </p:sp>
      <p:sp>
        <p:nvSpPr>
          <p:cNvPr id="33" name="Shape 31"/>
          <p:cNvSpPr/>
          <p:nvPr/>
        </p:nvSpPr>
        <p:spPr>
          <a:xfrm>
            <a:off x="6451641" y="5562570"/>
            <a:ext cx="4749759" cy="12710"/>
          </a:xfrm>
          <a:prstGeom prst="rect">
            <a:avLst/>
          </a:prstGeom>
          <a:solidFill>
            <a:srgbClr val="16181B">
              <a:alpha val="10000"/>
            </a:srgbClr>
          </a:solidFill>
          <a:ln/>
        </p:spPr>
      </p:sp>
      <p:sp>
        <p:nvSpPr>
          <p:cNvPr id="34" name="Text 31"/>
          <p:cNvSpPr/>
          <p:nvPr/>
        </p:nvSpPr>
        <p:spPr>
          <a:xfrm>
            <a:off x="6451641" y="5676870"/>
            <a:ext cx="4749759" cy="184160"/>
          </a:xfrm>
          <a:prstGeom prst="rect">
            <a:avLst/>
          </a:prstGeom>
          <a:noFill/>
          <a:ln/>
        </p:spPr>
        <p:txBody>
          <a:bodyPr wrap="square" lIns="0" tIns="0" rIns="0" bIns="0" rtlCol="0" anchor="t"/>
          <a:lstStyle/>
          <a:p>
            <a:pPr algn="l" indent="0" marL="0">
              <a:lnSpc>
                <a:spcPct val="140000"/>
              </a:lnSpc>
              <a:buNone/>
            </a:pPr>
            <a:r>
              <a:rPr lang="en-US" sz="900" dirty="0">
                <a:solidFill>
                  <a:srgbClr val="16181B"/>
                </a:solidFill>
                <a:latin typeface="JetBrains Mono" pitchFamily="34" charset="0"/>
                <a:ea typeface="JetBrains Mono" pitchFamily="34" charset="-122"/>
                <a:cs typeface="JetBrains Mono" pitchFamily="34" charset="-120"/>
              </a:rPr>
              <a:t>Tokens now go to Figma as variables and back as CSS.</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BEFORE AND AFTER</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17 / 20</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9525030" cy="552480"/>
          </a:xfrm>
          <a:prstGeom prst="rect">
            <a:avLst/>
          </a:prstGeom>
          <a:noFill/>
          <a:ln/>
        </p:spPr>
        <p:txBody>
          <a:bodyPr wrap="square" lIns="0" tIns="0" rIns="0" bIns="0" rtlCol="0" anchor="t"/>
          <a:lstStyle/>
          <a:p>
            <a:pPr algn="l" indent="0" marL="0">
              <a:lnSpc>
                <a:spcPct val="100000"/>
              </a:lnSpc>
              <a:buNone/>
            </a:pPr>
            <a:r>
              <a:rPr lang="en-US" sz="3588" spc="-54" kern="0" dirty="0">
                <a:solidFill>
                  <a:srgbClr val="16181B"/>
                </a:solidFill>
                <a:latin typeface="Instrument Serif" pitchFamily="34" charset="0"/>
                <a:ea typeface="Instrument Serif" pitchFamily="34" charset="-122"/>
                <a:cs typeface="Instrument Serif" pitchFamily="34" charset="-120"/>
              </a:rPr>
              <a:t>From hours to one click.</a:t>
            </a:r>
            <a:endParaRPr lang="en-US" sz="3588" dirty="0"/>
          </a:p>
        </p:txBody>
      </p:sp>
      <p:sp>
        <p:nvSpPr>
          <p:cNvPr id="11" name="Shape 9"/>
          <p:cNvSpPr/>
          <p:nvPr/>
        </p:nvSpPr>
        <p:spPr>
          <a:xfrm>
            <a:off x="761970" y="1879641"/>
            <a:ext cx="1377909" cy="215890"/>
          </a:xfrm>
          <a:prstGeom prst="roundRect">
            <a:avLst>
              <a:gd name="adj" fmla="val 50021"/>
            </a:avLst>
          </a:prstGeom>
          <a:solidFill>
            <a:srgbClr val="FFFFFF"/>
          </a:solidFill>
          <a:ln w="12700">
            <a:solidFill>
              <a:srgbClr val="16181B">
                <a:alpha val="18000"/>
              </a:srgbClr>
            </a:solidFill>
            <a:prstDash val="solid"/>
          </a:ln>
        </p:spPr>
      </p:sp>
      <p:sp>
        <p:nvSpPr>
          <p:cNvPr id="12" name="Text 9"/>
          <p:cNvSpPr/>
          <p:nvPr/>
        </p:nvSpPr>
        <p:spPr>
          <a:xfrm>
            <a:off x="761970" y="1922800"/>
            <a:ext cx="1377909" cy="152430"/>
          </a:xfrm>
          <a:prstGeom prst="rect">
            <a:avLst/>
          </a:prstGeom>
          <a:noFill/>
          <a:ln/>
        </p:spPr>
        <p:txBody>
          <a:bodyPr wrap="square" lIns="0" tIns="0" rIns="0" bIns="0" rtlCol="0" anchor="t"/>
          <a:lstStyle/>
          <a:p>
            <a:pPr algn="ctr"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BEFORE · BY HAND</a:t>
            </a:r>
            <a:endParaRPr lang="en-US" sz="850" dirty="0"/>
          </a:p>
        </p:txBody>
      </p:sp>
      <p:sp>
        <p:nvSpPr>
          <p:cNvPr id="13" name="Shape 11"/>
          <p:cNvSpPr/>
          <p:nvPr/>
        </p:nvSpPr>
        <p:spPr>
          <a:xfrm>
            <a:off x="2228850" y="1879641"/>
            <a:ext cx="914400" cy="215890"/>
          </a:xfrm>
          <a:prstGeom prst="roundRect">
            <a:avLst>
              <a:gd name="adj" fmla="val 50021"/>
            </a:avLst>
          </a:prstGeom>
          <a:solidFill>
            <a:srgbClr val="E09A3A">
              <a:alpha val="16000"/>
            </a:srgbClr>
          </a:solidFill>
          <a:ln/>
        </p:spPr>
      </p:sp>
      <p:sp>
        <p:nvSpPr>
          <p:cNvPr id="14" name="Shape 12"/>
          <p:cNvSpPr/>
          <p:nvPr/>
        </p:nvSpPr>
        <p:spPr>
          <a:xfrm>
            <a:off x="2336841" y="1962120"/>
            <a:ext cx="57150" cy="57150"/>
          </a:xfrm>
          <a:prstGeom prst="ellipse">
            <a:avLst/>
          </a:prstGeom>
          <a:solidFill>
            <a:srgbClr val="E09A3A"/>
          </a:solidFill>
          <a:ln/>
        </p:spPr>
      </p:sp>
      <p:sp>
        <p:nvSpPr>
          <p:cNvPr id="15" name="Text 12"/>
          <p:cNvSpPr/>
          <p:nvPr/>
        </p:nvSpPr>
        <p:spPr>
          <a:xfrm>
            <a:off x="2438430" y="1922800"/>
            <a:ext cx="641360" cy="152430"/>
          </a:xfrm>
          <a:prstGeom prst="rect">
            <a:avLst/>
          </a:prstGeom>
          <a:noFill/>
          <a:ln/>
        </p:spPr>
        <p:txBody>
          <a:bodyPr wrap="square" lIns="0" tIns="0" rIns="0" bIns="0" rtlCol="0" anchor="t"/>
          <a:lstStyle/>
          <a:p>
            <a:pPr algn="l"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ESTIMATE</a:t>
            </a:r>
            <a:endParaRPr lang="en-US" sz="850" dirty="0"/>
          </a:p>
        </p:txBody>
      </p:sp>
      <p:sp>
        <p:nvSpPr>
          <p:cNvPr id="16" name="Text 13"/>
          <p:cNvSpPr/>
          <p:nvPr/>
        </p:nvSpPr>
        <p:spPr>
          <a:xfrm>
            <a:off x="761970" y="2260580"/>
            <a:ext cx="3174980" cy="622341"/>
          </a:xfrm>
          <a:prstGeom prst="rect">
            <a:avLst/>
          </a:prstGeom>
          <a:noFill/>
          <a:ln/>
        </p:spPr>
        <p:txBody>
          <a:bodyPr wrap="square" lIns="0" tIns="0" rIns="0" bIns="0" rtlCol="0" anchor="t"/>
          <a:lstStyle/>
          <a:p>
            <a:pPr algn="l" indent="0" marL="0">
              <a:lnSpc>
                <a:spcPct val="100000"/>
              </a:lnSpc>
              <a:buNone/>
            </a:pPr>
            <a:r>
              <a:rPr lang="en-US" sz="4056" dirty="0">
                <a:solidFill>
                  <a:srgbClr val="16181B"/>
                </a:solidFill>
                <a:latin typeface="Instrument Serif" pitchFamily="34" charset="0"/>
                <a:ea typeface="Instrument Serif" pitchFamily="34" charset="-122"/>
                <a:cs typeface="Instrument Serif" pitchFamily="34" charset="-120"/>
              </a:rPr>
              <a:t>≈ 14.1 h</a:t>
            </a:r>
            <a:endParaRPr lang="en-US" sz="4056" dirty="0"/>
          </a:p>
        </p:txBody>
      </p:sp>
      <p:sp>
        <p:nvSpPr>
          <p:cNvPr id="17" name="Text 14"/>
          <p:cNvSpPr/>
          <p:nvPr/>
        </p:nvSpPr>
        <p:spPr>
          <a:xfrm>
            <a:off x="4063959" y="2374880"/>
            <a:ext cx="7366041" cy="203180"/>
          </a:xfrm>
          <a:prstGeom prst="rect">
            <a:avLst/>
          </a:prstGeom>
          <a:noFill/>
          <a:ln/>
        </p:spPr>
        <p:txBody>
          <a:bodyPr wrap="square" lIns="0" tIns="0" rIns="0" bIns="0" rtlCol="0" anchor="t"/>
          <a:lstStyle/>
          <a:p>
            <a:pPr algn="l" indent="0" marL="0">
              <a:lnSpc>
                <a:spcPct val="140000"/>
              </a:lnSpc>
              <a:buNone/>
            </a:pPr>
            <a:r>
              <a:rPr lang="en-US" sz="1000" dirty="0">
                <a:solidFill>
                  <a:srgbClr val="16181B"/>
                </a:solidFill>
                <a:latin typeface="JetBrains Mono" pitchFamily="34" charset="0"/>
                <a:ea typeface="JetBrains Mono" pitchFamily="34" charset="-122"/>
                <a:cs typeface="JetBrains Mono" pitchFamily="34" charset="-120"/>
              </a:rPr>
              <a:t>20 slides × 20 min + 404 screenshots × 1 min + 43 tokens × 1 min = 847 min</a:t>
            </a:r>
            <a:endParaRPr lang="en-US" sz="1000" dirty="0"/>
          </a:p>
        </p:txBody>
      </p:sp>
      <p:sp>
        <p:nvSpPr>
          <p:cNvPr id="18" name="Text 15"/>
          <p:cNvSpPr/>
          <p:nvPr/>
        </p:nvSpPr>
        <p:spPr>
          <a:xfrm>
            <a:off x="4063959" y="2616190"/>
            <a:ext cx="7366041" cy="184160"/>
          </a:xfrm>
          <a:prstGeom prst="rect">
            <a:avLst/>
          </a:prstGeom>
          <a:noFill/>
          <a:ln/>
        </p:spPr>
        <p:txBody>
          <a:bodyPr wrap="square" lIns="0" tIns="0" rIns="0" bIns="0" rtlCol="0" anchor="t"/>
          <a:lstStyle/>
          <a:p>
            <a:pPr algn="l" indent="0" marL="0">
              <a:lnSpc>
                <a:spcPct val="140000"/>
              </a:lnSpc>
              <a:buNone/>
            </a:pPr>
            <a:r>
              <a:rPr lang="en-US" sz="900" dirty="0">
                <a:solidFill>
                  <a:srgbClr val="7C8188"/>
                </a:solidFill>
                <a:latin typeface="JetBrains Mono" pitchFamily="34" charset="0"/>
                <a:ea typeface="JetBrains Mono" pitchFamily="34" charset="-122"/>
                <a:cs typeface="JetBrains Mono" pitchFamily="34" charset="-120"/>
              </a:rPr>
              <a:t>Per-unit minutes are our assumption, not a measurement.</a:t>
            </a:r>
            <a:endParaRPr lang="en-US" sz="900" dirty="0"/>
          </a:p>
        </p:txBody>
      </p:sp>
      <p:sp>
        <p:nvSpPr>
          <p:cNvPr id="19" name="Shape 17"/>
          <p:cNvSpPr/>
          <p:nvPr/>
        </p:nvSpPr>
        <p:spPr>
          <a:xfrm>
            <a:off x="761970" y="3086100"/>
            <a:ext cx="10668030" cy="254020"/>
          </a:xfrm>
          <a:prstGeom prst="roundRect">
            <a:avLst>
              <a:gd name="adj" fmla="val 50000"/>
            </a:avLst>
          </a:prstGeom>
          <a:solidFill>
            <a:srgbClr val="E09A3A"/>
          </a:solidFill>
          <a:ln/>
        </p:spPr>
      </p:sp>
      <p:sp>
        <p:nvSpPr>
          <p:cNvPr id="20" name="Shape 18"/>
          <p:cNvSpPr/>
          <p:nvPr/>
        </p:nvSpPr>
        <p:spPr>
          <a:xfrm>
            <a:off x="761970" y="3657600"/>
            <a:ext cx="1517630" cy="215890"/>
          </a:xfrm>
          <a:prstGeom prst="roundRect">
            <a:avLst>
              <a:gd name="adj" fmla="val 50021"/>
            </a:avLst>
          </a:prstGeom>
          <a:solidFill>
            <a:srgbClr val="FFFFFF"/>
          </a:solidFill>
          <a:ln w="12700">
            <a:solidFill>
              <a:srgbClr val="16181B">
                <a:alpha val="18000"/>
              </a:srgbClr>
            </a:solidFill>
            <a:prstDash val="solid"/>
          </a:ln>
        </p:spPr>
      </p:sp>
      <p:sp>
        <p:nvSpPr>
          <p:cNvPr id="21" name="Text 18"/>
          <p:cNvSpPr/>
          <p:nvPr/>
        </p:nvSpPr>
        <p:spPr>
          <a:xfrm>
            <a:off x="761970" y="3700760"/>
            <a:ext cx="1517630" cy="152430"/>
          </a:xfrm>
          <a:prstGeom prst="rect">
            <a:avLst/>
          </a:prstGeom>
          <a:noFill/>
          <a:ln/>
        </p:spPr>
        <p:txBody>
          <a:bodyPr wrap="square" lIns="0" tIns="0" rIns="0" bIns="0" rtlCol="0" anchor="t"/>
          <a:lstStyle/>
          <a:p>
            <a:pPr algn="ctr"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AFTER · THE PLUGIN</a:t>
            </a:r>
            <a:endParaRPr lang="en-US" sz="850" dirty="0"/>
          </a:p>
        </p:txBody>
      </p:sp>
      <p:sp>
        <p:nvSpPr>
          <p:cNvPr id="22" name="Shape 20"/>
          <p:cNvSpPr/>
          <p:nvPr/>
        </p:nvSpPr>
        <p:spPr>
          <a:xfrm>
            <a:off x="2368570" y="3657600"/>
            <a:ext cx="914400" cy="215890"/>
          </a:xfrm>
          <a:prstGeom prst="roundRect">
            <a:avLst>
              <a:gd name="adj" fmla="val 50021"/>
            </a:avLst>
          </a:prstGeom>
          <a:solidFill>
            <a:srgbClr val="5FD39A">
              <a:alpha val="16000"/>
            </a:srgbClr>
          </a:solidFill>
          <a:ln/>
        </p:spPr>
      </p:sp>
      <p:sp>
        <p:nvSpPr>
          <p:cNvPr id="23" name="Shape 21"/>
          <p:cNvSpPr/>
          <p:nvPr/>
        </p:nvSpPr>
        <p:spPr>
          <a:xfrm>
            <a:off x="2476470" y="3740170"/>
            <a:ext cx="57150" cy="57150"/>
          </a:xfrm>
          <a:prstGeom prst="ellipse">
            <a:avLst/>
          </a:prstGeom>
          <a:solidFill>
            <a:srgbClr val="5FD39A"/>
          </a:solidFill>
          <a:ln/>
        </p:spPr>
      </p:sp>
      <p:sp>
        <p:nvSpPr>
          <p:cNvPr id="24" name="Text 21"/>
          <p:cNvSpPr/>
          <p:nvPr/>
        </p:nvSpPr>
        <p:spPr>
          <a:xfrm>
            <a:off x="2578059" y="3700760"/>
            <a:ext cx="641360" cy="152430"/>
          </a:xfrm>
          <a:prstGeom prst="rect">
            <a:avLst/>
          </a:prstGeom>
          <a:noFill/>
          <a:ln/>
        </p:spPr>
        <p:txBody>
          <a:bodyPr wrap="square" lIns="0" tIns="0" rIns="0" bIns="0" rtlCol="0" anchor="t"/>
          <a:lstStyle/>
          <a:p>
            <a:pPr algn="l"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MEASURED</a:t>
            </a:r>
            <a:endParaRPr lang="en-US" sz="850" dirty="0"/>
          </a:p>
        </p:txBody>
      </p:sp>
      <p:sp>
        <p:nvSpPr>
          <p:cNvPr id="25" name="Text 22"/>
          <p:cNvSpPr/>
          <p:nvPr/>
        </p:nvSpPr>
        <p:spPr>
          <a:xfrm>
            <a:off x="761970" y="4038630"/>
            <a:ext cx="3174980" cy="622341"/>
          </a:xfrm>
          <a:prstGeom prst="rect">
            <a:avLst/>
          </a:prstGeom>
          <a:noFill/>
          <a:ln/>
        </p:spPr>
        <p:txBody>
          <a:bodyPr wrap="square" lIns="0" tIns="0" rIns="0" bIns="0" rtlCol="0" anchor="t"/>
          <a:lstStyle/>
          <a:p>
            <a:pPr algn="l" indent="0" marL="0">
              <a:lnSpc>
                <a:spcPct val="100000"/>
              </a:lnSpc>
              <a:buNone/>
            </a:pPr>
            <a:r>
              <a:rPr lang="en-US" sz="4056" dirty="0">
                <a:solidFill>
                  <a:srgbClr val="16181B"/>
                </a:solidFill>
                <a:latin typeface="Instrument Serif" pitchFamily="34" charset="0"/>
                <a:ea typeface="Instrument Serif" pitchFamily="34" charset="-122"/>
                <a:cs typeface="Instrument Serif" pitchFamily="34" charset="-120"/>
              </a:rPr>
              <a:t>38.1 s</a:t>
            </a:r>
            <a:endParaRPr lang="en-US" sz="4056" dirty="0"/>
          </a:p>
        </p:txBody>
      </p:sp>
      <p:sp>
        <p:nvSpPr>
          <p:cNvPr id="26" name="Text 23"/>
          <p:cNvSpPr/>
          <p:nvPr/>
        </p:nvSpPr>
        <p:spPr>
          <a:xfrm>
            <a:off x="4063959" y="4152930"/>
            <a:ext cx="7366041" cy="381030"/>
          </a:xfrm>
          <a:prstGeom prst="rect">
            <a:avLst/>
          </a:prstGeom>
          <a:noFill/>
          <a:ln/>
        </p:spPr>
        <p:txBody>
          <a:bodyPr wrap="square" lIns="0" tIns="0" rIns="0" bIns="0" rtlCol="0" anchor="t"/>
          <a:lstStyle/>
          <a:p>
            <a:pPr algn="l" indent="0" marL="0">
              <a:lnSpc>
                <a:spcPct val="140000"/>
              </a:lnSpc>
              <a:buNone/>
            </a:pPr>
            <a:r>
              <a:rPr lang="en-US" sz="1000" dirty="0">
                <a:solidFill>
                  <a:srgbClr val="16181B"/>
                </a:solidFill>
                <a:latin typeface="JetBrains Mono" pitchFamily="34" charset="0"/>
                <a:ea typeface="JetBrains Mono" pitchFamily="34" charset="-122"/>
                <a:cs typeface="JetBrains Mono" pitchFamily="34" charset="-120"/>
              </a:rPr>
              <a:t>repo → deck.json + deck.html, cold build on this machine (2.3 s this run). Plugin logic on a stub Figma API: 6 ms Slides · 13 ms Design · 2 ms FigJam.</a:t>
            </a:r>
            <a:endParaRPr lang="en-US" sz="1000" dirty="0"/>
          </a:p>
        </p:txBody>
      </p:sp>
      <p:sp>
        <p:nvSpPr>
          <p:cNvPr id="27" name="Text 24"/>
          <p:cNvSpPr/>
          <p:nvPr/>
        </p:nvSpPr>
        <p:spPr>
          <a:xfrm>
            <a:off x="4063959" y="4572000"/>
            <a:ext cx="7366041" cy="184160"/>
          </a:xfrm>
          <a:prstGeom prst="rect">
            <a:avLst/>
          </a:prstGeom>
          <a:noFill/>
          <a:ln/>
        </p:spPr>
        <p:txBody>
          <a:bodyPr wrap="square" lIns="0" tIns="0" rIns="0" bIns="0" rtlCol="0" anchor="t"/>
          <a:lstStyle/>
          <a:p>
            <a:pPr algn="l" indent="0" marL="0">
              <a:lnSpc>
                <a:spcPct val="140000"/>
              </a:lnSpc>
              <a:buNone/>
            </a:pPr>
            <a:r>
              <a:rPr lang="en-US" sz="900" dirty="0">
                <a:solidFill>
                  <a:srgbClr val="7C8188"/>
                </a:solidFill>
                <a:latin typeface="JetBrains Mono" pitchFamily="34" charset="0"/>
                <a:ea typeface="JetBrains Mono" pitchFamily="34" charset="-122"/>
                <a:cs typeface="JetBrains Mono" pitchFamily="34" charset="-120"/>
              </a:rPr>
              <a:t>Plugin run in real Figma: [fill after running]</a:t>
            </a:r>
            <a:endParaRPr lang="en-US" sz="900" dirty="0"/>
          </a:p>
        </p:txBody>
      </p:sp>
      <p:sp>
        <p:nvSpPr>
          <p:cNvPr id="28" name="Shape 26"/>
          <p:cNvSpPr/>
          <p:nvPr/>
        </p:nvSpPr>
        <p:spPr>
          <a:xfrm>
            <a:off x="761970" y="4864059"/>
            <a:ext cx="10668030" cy="254020"/>
          </a:xfrm>
          <a:prstGeom prst="roundRect">
            <a:avLst>
              <a:gd name="adj" fmla="val 50000"/>
            </a:avLst>
          </a:prstGeom>
          <a:solidFill>
            <a:srgbClr val="16181B">
              <a:alpha val="5000"/>
            </a:srgbClr>
          </a:solidFill>
          <a:ln/>
        </p:spPr>
      </p:sp>
      <p:sp>
        <p:nvSpPr>
          <p:cNvPr id="29" name="Shape 27"/>
          <p:cNvSpPr/>
          <p:nvPr/>
        </p:nvSpPr>
        <p:spPr>
          <a:xfrm>
            <a:off x="761970" y="4864059"/>
            <a:ext cx="76170" cy="254020"/>
          </a:xfrm>
          <a:prstGeom prst="roundRect">
            <a:avLst>
              <a:gd name="adj" fmla="val 50060"/>
            </a:avLst>
          </a:prstGeom>
          <a:solidFill>
            <a:srgbClr val="5FD39A"/>
          </a:solidFill>
          <a:ln/>
        </p:spPr>
      </p:sp>
      <p:sp>
        <p:nvSpPr>
          <p:cNvPr id="30" name="Text 27"/>
          <p:cNvSpPr/>
          <p:nvPr/>
        </p:nvSpPr>
        <p:spPr>
          <a:xfrm>
            <a:off x="965241" y="4927610"/>
            <a:ext cx="5715000" cy="165141"/>
          </a:xfrm>
          <a:prstGeom prst="rect">
            <a:avLst/>
          </a:prstGeom>
          <a:noFill/>
          <a:ln/>
        </p:spPr>
        <p:txBody>
          <a:bodyPr wrap="square" lIns="0" tIns="0" rIns="0" bIns="0" rtlCol="0" anchor="t"/>
          <a:lstStyle/>
          <a:p>
            <a:pPr algn="l" indent="0" marL="0">
              <a:lnSpc>
                <a:spcPct val="140000"/>
              </a:lnSpc>
              <a:buNone/>
            </a:pPr>
            <a:r>
              <a:rPr lang="en-US" sz="800" dirty="0">
                <a:solidFill>
                  <a:srgbClr val="7C8188"/>
                </a:solidFill>
                <a:latin typeface="JetBrains Mono" pitchFamily="34" charset="0"/>
                <a:ea typeface="JetBrains Mono" pitchFamily="34" charset="-122"/>
                <a:cs typeface="JetBrains Mono" pitchFamily="34" charset="-120"/>
              </a:rPr>
              <a:t>bars to scale · after = cold build time</a:t>
            </a:r>
            <a:endParaRPr lang="en-US" sz="800" dirty="0"/>
          </a:p>
        </p:txBody>
      </p:sp>
      <p:sp>
        <p:nvSpPr>
          <p:cNvPr id="31" name="Shape 29"/>
          <p:cNvSpPr/>
          <p:nvPr/>
        </p:nvSpPr>
        <p:spPr>
          <a:xfrm>
            <a:off x="761970" y="5460980"/>
            <a:ext cx="10668030" cy="12710"/>
          </a:xfrm>
          <a:prstGeom prst="rect">
            <a:avLst/>
          </a:prstGeom>
          <a:solidFill>
            <a:srgbClr val="16181B">
              <a:alpha val="10000"/>
            </a:srgbClr>
          </a:solidFill>
          <a:ln/>
        </p:spPr>
      </p:sp>
      <p:sp>
        <p:nvSpPr>
          <p:cNvPr id="32" name="Text 29"/>
          <p:cNvSpPr/>
          <p:nvPr/>
        </p:nvSpPr>
        <p:spPr>
          <a:xfrm>
            <a:off x="761970" y="5613410"/>
            <a:ext cx="10668030" cy="457200"/>
          </a:xfrm>
          <a:prstGeom prst="rect">
            <a:avLst/>
          </a:prstGeom>
          <a:noFill/>
          <a:ln/>
        </p:spPr>
        <p:txBody>
          <a:bodyPr wrap="square" lIns="0" tIns="0" rIns="0" bIns="0" rtlCol="0" anchor="t"/>
          <a:lstStyle/>
          <a:p>
            <a:pPr algn="l" indent="0" marL="0">
              <a:lnSpc>
                <a:spcPct val="145000"/>
              </a:lnSpc>
              <a:buNone/>
            </a:pPr>
            <a:r>
              <a:rPr lang="en-US" sz="1150" dirty="0">
                <a:solidFill>
                  <a:srgbClr val="4A4E55"/>
                </a:solidFill>
                <a:latin typeface="Inter" pitchFamily="34" charset="0"/>
                <a:ea typeface="Inter" pitchFamily="34" charset="-122"/>
                <a:cs typeface="Inter" pitchFamily="34" charset="-120"/>
              </a:rPr>
              <a:t>Every run places 404 screenshots (296 app, 108 site) and turns 43 CSS variables into Figma styles and variables, with no hand work. By hand, 8 of 27 site tokens reached the app unchanged.</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WHAT PASS DOES NOT MEAN</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18 / 20</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9525030" cy="1003280"/>
          </a:xfrm>
          <a:prstGeom prst="rect">
            <a:avLst/>
          </a:prstGeom>
          <a:noFill/>
          <a:ln/>
        </p:spPr>
        <p:txBody>
          <a:bodyPr wrap="square" lIns="0" tIns="0" rIns="0" bIns="0" rtlCol="0" anchor="t"/>
          <a:lstStyle/>
          <a:p>
            <a:pPr algn="l" indent="0" marL="0">
              <a:lnSpc>
                <a:spcPct val="100000"/>
              </a:lnSpc>
              <a:buNone/>
            </a:pPr>
            <a:r>
              <a:rPr lang="en-US" sz="3588" spc="-54" kern="0" dirty="0">
                <a:solidFill>
                  <a:srgbClr val="16181B"/>
                </a:solidFill>
                <a:latin typeface="Instrument Serif" pitchFamily="34" charset="0"/>
                <a:ea typeface="Instrument Serif" pitchFamily="34" charset="-122"/>
                <a:cs typeface="Instrument Serif" pitchFamily="34" charset="-120"/>
              </a:rPr>
              <a:t>Pill screens tablets. </a:t>
            </a:r>
            <a:pPr algn="l" indent="0" marL="0">
              <a:lnSpc>
                <a:spcPct val="100000"/>
              </a:lnSpc>
              <a:buNone/>
            </a:pPr>
            <a:r>
              <a:rPr lang="en-US" sz="3588" i="1" spc="-54" kern="0" dirty="0">
                <a:solidFill>
                  <a:srgbClr val="16181B"/>
                </a:solidFill>
                <a:latin typeface="Instrument Serif" pitchFamily="34" charset="0"/>
                <a:ea typeface="Instrument Serif" pitchFamily="34" charset="-122"/>
                <a:cs typeface="Instrument Serif" pitchFamily="34" charset="-120"/>
              </a:rPr>
              <a:t>It does not grade them.</a:t>
            </a:r>
            <a:endParaRPr lang="en-US" sz="3588" dirty="0"/>
          </a:p>
        </p:txBody>
      </p:sp>
      <p:sp>
        <p:nvSpPr>
          <p:cNvPr id="11" name="Shape 9"/>
          <p:cNvSpPr/>
          <p:nvPr/>
        </p:nvSpPr>
        <p:spPr>
          <a:xfrm>
            <a:off x="761970" y="2413010"/>
            <a:ext cx="5143500" cy="2158990"/>
          </a:xfrm>
          <a:prstGeom prst="roundRect">
            <a:avLst>
              <a:gd name="adj" fmla="val 8233"/>
            </a:avLst>
          </a:prstGeom>
          <a:solidFill>
            <a:srgbClr val="5FD39A">
              <a:alpha val="16000"/>
            </a:srgbClr>
          </a:solidFill>
          <a:ln w="12700">
            <a:solidFill>
              <a:srgbClr val="5FD39A">
                <a:alpha val="45000"/>
              </a:srgbClr>
            </a:solidFill>
            <a:prstDash val="solid"/>
          </a:ln>
        </p:spPr>
      </p:sp>
      <p:sp>
        <p:nvSpPr>
          <p:cNvPr id="12" name="Shape 10"/>
          <p:cNvSpPr/>
          <p:nvPr/>
        </p:nvSpPr>
        <p:spPr>
          <a:xfrm>
            <a:off x="1015990" y="2667030"/>
            <a:ext cx="1117580" cy="228600"/>
          </a:xfrm>
          <a:prstGeom prst="roundRect">
            <a:avLst>
              <a:gd name="adj" fmla="val 50000"/>
            </a:avLst>
          </a:prstGeom>
          <a:solidFill>
            <a:srgbClr val="FFFFFF"/>
          </a:solidFill>
          <a:ln/>
        </p:spPr>
      </p:sp>
      <p:sp>
        <p:nvSpPr>
          <p:cNvPr id="13" name="Shape 11"/>
          <p:cNvSpPr/>
          <p:nvPr/>
        </p:nvSpPr>
        <p:spPr>
          <a:xfrm>
            <a:off x="1130290" y="2755910"/>
            <a:ext cx="57150" cy="57150"/>
          </a:xfrm>
          <a:prstGeom prst="ellipse">
            <a:avLst/>
          </a:prstGeom>
          <a:solidFill>
            <a:srgbClr val="5FD39A"/>
          </a:solidFill>
          <a:ln/>
        </p:spPr>
      </p:sp>
      <p:sp>
        <p:nvSpPr>
          <p:cNvPr id="14" name="Text 11"/>
          <p:cNvSpPr/>
          <p:nvPr/>
        </p:nvSpPr>
        <p:spPr>
          <a:xfrm>
            <a:off x="1231880" y="2712750"/>
            <a:ext cx="831830" cy="165141"/>
          </a:xfrm>
          <a:prstGeom prst="rect">
            <a:avLst/>
          </a:prstGeom>
          <a:noFill/>
          <a:ln/>
        </p:spPr>
        <p:txBody>
          <a:bodyPr wrap="square" lIns="0" tIns="0" rIns="0" bIns="0" rtlCol="0" anchor="t"/>
          <a:lstStyle/>
          <a:p>
            <a:pPr algn="l" indent="0" marL="0">
              <a:lnSpc>
                <a:spcPct val="120000"/>
              </a:lnSpc>
              <a:buNone/>
            </a:pPr>
            <a:r>
              <a:rPr lang="en-US" sz="900" b="1" spc="54" kern="0" dirty="0">
                <a:solidFill>
                  <a:srgbClr val="16181B"/>
                </a:solidFill>
                <a:latin typeface="JetBrains Mono" pitchFamily="34" charset="0"/>
                <a:ea typeface="JetBrains Mono" pitchFamily="34" charset="-122"/>
                <a:cs typeface="JetBrains Mono" pitchFamily="34" charset="-120"/>
              </a:rPr>
              <a:t>PASS MEANS</a:t>
            </a:r>
            <a:endParaRPr lang="en-US" sz="900" dirty="0"/>
          </a:p>
        </p:txBody>
      </p:sp>
      <p:sp>
        <p:nvSpPr>
          <p:cNvPr id="15" name="Text 12"/>
          <p:cNvSpPr/>
          <p:nvPr/>
        </p:nvSpPr>
        <p:spPr>
          <a:xfrm>
            <a:off x="1015990" y="3174980"/>
            <a:ext cx="4635459" cy="838230"/>
          </a:xfrm>
          <a:prstGeom prst="rect">
            <a:avLst/>
          </a:prstGeom>
          <a:noFill/>
          <a:ln/>
        </p:spPr>
        <p:txBody>
          <a:bodyPr wrap="square" lIns="0" tIns="0" rIns="0" bIns="0" rtlCol="0" anchor="t"/>
          <a:lstStyle/>
          <a:p>
            <a:pPr algn="l" indent="0" marL="0">
              <a:lnSpc>
                <a:spcPct val="145000"/>
              </a:lnSpc>
              <a:buNone/>
            </a:pPr>
            <a:r>
              <a:rPr lang="en-US" sz="1450" dirty="0">
                <a:solidFill>
                  <a:srgbClr val="16181B"/>
                </a:solidFill>
                <a:latin typeface="Inter" pitchFamily="34" charset="0"/>
                <a:ea typeface="Inter" pitchFamily="34" charset="-122"/>
                <a:cs typeface="Inter" pitchFamily="34" charset="-120"/>
              </a:rPr>
              <a:t>The dissolution curve of this one tablet, on this box, was consistent with last night's riboflavin reference runs. No red flags found.</a:t>
            </a:r>
            <a:endParaRPr lang="en-US" sz="1450" dirty="0"/>
          </a:p>
        </p:txBody>
      </p:sp>
      <p:sp>
        <p:nvSpPr>
          <p:cNvPr id="16" name="Shape 14"/>
          <p:cNvSpPr/>
          <p:nvPr/>
        </p:nvSpPr>
        <p:spPr>
          <a:xfrm>
            <a:off x="6286500" y="2413010"/>
            <a:ext cx="5143500" cy="2158990"/>
          </a:xfrm>
          <a:prstGeom prst="roundRect">
            <a:avLst>
              <a:gd name="adj" fmla="val 8233"/>
            </a:avLst>
          </a:prstGeom>
          <a:solidFill>
            <a:srgbClr val="E09A3A">
              <a:alpha val="16000"/>
            </a:srgbClr>
          </a:solidFill>
          <a:ln w="12700">
            <a:solidFill>
              <a:srgbClr val="E09A3A">
                <a:alpha val="40000"/>
              </a:srgbClr>
            </a:solidFill>
            <a:prstDash val="solid"/>
          </a:ln>
        </p:spPr>
      </p:sp>
      <p:sp>
        <p:nvSpPr>
          <p:cNvPr id="17" name="Shape 15"/>
          <p:cNvSpPr/>
          <p:nvPr/>
        </p:nvSpPr>
        <p:spPr>
          <a:xfrm>
            <a:off x="6540520" y="2667030"/>
            <a:ext cx="1720809" cy="228600"/>
          </a:xfrm>
          <a:prstGeom prst="roundRect">
            <a:avLst>
              <a:gd name="adj" fmla="val 50000"/>
            </a:avLst>
          </a:prstGeom>
          <a:solidFill>
            <a:srgbClr val="FFFFFF"/>
          </a:solidFill>
          <a:ln/>
        </p:spPr>
      </p:sp>
      <p:sp>
        <p:nvSpPr>
          <p:cNvPr id="18" name="Shape 16"/>
          <p:cNvSpPr/>
          <p:nvPr/>
        </p:nvSpPr>
        <p:spPr>
          <a:xfrm>
            <a:off x="6654820" y="2755910"/>
            <a:ext cx="57150" cy="57150"/>
          </a:xfrm>
          <a:prstGeom prst="ellipse">
            <a:avLst/>
          </a:prstGeom>
          <a:solidFill>
            <a:srgbClr val="E09A3A"/>
          </a:solidFill>
          <a:ln/>
        </p:spPr>
      </p:sp>
      <p:sp>
        <p:nvSpPr>
          <p:cNvPr id="19" name="Text 16"/>
          <p:cNvSpPr/>
          <p:nvPr/>
        </p:nvSpPr>
        <p:spPr>
          <a:xfrm>
            <a:off x="6756410" y="2712750"/>
            <a:ext cx="1435059" cy="165141"/>
          </a:xfrm>
          <a:prstGeom prst="rect">
            <a:avLst/>
          </a:prstGeom>
          <a:noFill/>
          <a:ln/>
        </p:spPr>
        <p:txBody>
          <a:bodyPr wrap="square" lIns="0" tIns="0" rIns="0" bIns="0" rtlCol="0" anchor="t"/>
          <a:lstStyle/>
          <a:p>
            <a:pPr algn="l" indent="0" marL="0">
              <a:lnSpc>
                <a:spcPct val="120000"/>
              </a:lnSpc>
              <a:buNone/>
            </a:pPr>
            <a:r>
              <a:rPr lang="en-US" sz="900" b="1" spc="54" kern="0" dirty="0">
                <a:solidFill>
                  <a:srgbClr val="16181B"/>
                </a:solidFill>
                <a:latin typeface="JetBrains Mono" pitchFamily="34" charset="0"/>
                <a:ea typeface="JetBrains Mono" pitchFamily="34" charset="-122"/>
                <a:cs typeface="JetBrains Mono" pitchFamily="34" charset="-120"/>
              </a:rPr>
              <a:t>PASS DOES NOT MEAN</a:t>
            </a:r>
            <a:endParaRPr lang="en-US" sz="900" dirty="0"/>
          </a:p>
        </p:txBody>
      </p:sp>
      <p:sp>
        <p:nvSpPr>
          <p:cNvPr id="20" name="Text 17"/>
          <p:cNvSpPr/>
          <p:nvPr/>
        </p:nvSpPr>
        <p:spPr>
          <a:xfrm>
            <a:off x="6540520" y="3174980"/>
            <a:ext cx="4635459" cy="1104870"/>
          </a:xfrm>
          <a:prstGeom prst="rect">
            <a:avLst/>
          </a:prstGeom>
          <a:noFill/>
          <a:ln/>
        </p:spPr>
        <p:txBody>
          <a:bodyPr wrap="square" lIns="0" tIns="0" rIns="0" bIns="0" rtlCol="0" anchor="t"/>
          <a:lstStyle/>
          <a:p>
            <a:pPr algn="l" indent="0" marL="0">
              <a:lnSpc>
                <a:spcPct val="145000"/>
              </a:lnSpc>
              <a:buNone/>
            </a:pPr>
            <a:r>
              <a:rPr lang="en-US" sz="1450" dirty="0">
                <a:solidFill>
                  <a:srgbClr val="16181B"/>
                </a:solidFill>
                <a:latin typeface="Inter" pitchFamily="34" charset="0"/>
                <a:ea typeface="Inter" pitchFamily="34" charset="-122"/>
                <a:cs typeface="Inter" pitchFamily="34" charset="-120"/>
              </a:rPr>
              <a:t>That the tablet is the right drug, the right dose, or free of contaminants. Pill has one reference drug today. Anything it cannot compare goes to a lab, by design.</a:t>
            </a:r>
            <a:endParaRPr lang="en-US" sz="1450" dirty="0"/>
          </a:p>
        </p:txBody>
      </p:sp>
      <p:sp>
        <p:nvSpPr>
          <p:cNvPr id="21" name="Text 18"/>
          <p:cNvSpPr/>
          <p:nvPr/>
        </p:nvSpPr>
        <p:spPr>
          <a:xfrm>
            <a:off x="761970" y="4953030"/>
            <a:ext cx="10668030" cy="247620"/>
          </a:xfrm>
          <a:prstGeom prst="rect">
            <a:avLst/>
          </a:prstGeom>
          <a:noFill/>
          <a:ln/>
        </p:spPr>
        <p:txBody>
          <a:bodyPr wrap="square" lIns="0" tIns="0" rIns="0" bIns="0" rtlCol="0" anchor="t"/>
          <a:lstStyle/>
          <a:p>
            <a:pPr algn="l" indent="0" marL="0">
              <a:lnSpc>
                <a:spcPct val="140000"/>
              </a:lnSpc>
              <a:buNone/>
            </a:pPr>
            <a:r>
              <a:rPr lang="en-US" sz="1200" dirty="0">
                <a:solidFill>
                  <a:srgbClr val="4A4E55"/>
                </a:solidFill>
                <a:latin typeface="Inter" pitchFamily="34" charset="0"/>
                <a:ea typeface="Inter" pitchFamily="34" charset="-122"/>
                <a:cs typeface="Inter" pitchFamily="34" charset="-120"/>
              </a:rPr>
              <a:t>Results charts on our site are marked as an illustration until the calibration runs are on the page.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TRACKS</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19 / 20</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8889980" cy="571500"/>
          </a:xfrm>
          <a:prstGeom prst="rect">
            <a:avLst/>
          </a:prstGeom>
          <a:noFill/>
          <a:ln/>
        </p:spPr>
        <p:txBody>
          <a:bodyPr wrap="square" lIns="0" tIns="0" rIns="0" bIns="0" rtlCol="0" anchor="t"/>
          <a:lstStyle/>
          <a:p>
            <a:pPr algn="l" indent="0" marL="0">
              <a:lnSpc>
                <a:spcPct val="100000"/>
              </a:lnSpc>
              <a:buNone/>
            </a:pPr>
            <a:r>
              <a:rPr lang="en-US" sz="3744" spc="-56" kern="0" dirty="0">
                <a:solidFill>
                  <a:srgbClr val="16181B"/>
                </a:solidFill>
                <a:latin typeface="Instrument Serif" pitchFamily="34" charset="0"/>
                <a:ea typeface="Instrument Serif" pitchFamily="34" charset="-122"/>
                <a:cs typeface="Instrument Serif" pitchFamily="34" charset="-120"/>
              </a:rPr>
              <a:t>One build, many judges.</a:t>
            </a:r>
            <a:endParaRPr lang="en-US" sz="3744" dirty="0"/>
          </a:p>
        </p:txBody>
      </p:sp>
      <p:sp>
        <p:nvSpPr>
          <p:cNvPr id="11" name="Shape 9"/>
          <p:cNvSpPr/>
          <p:nvPr/>
        </p:nvSpPr>
        <p:spPr>
          <a:xfrm>
            <a:off x="761970" y="1968520"/>
            <a:ext cx="3429000" cy="888980"/>
          </a:xfrm>
          <a:prstGeom prst="roundRect">
            <a:avLst>
              <a:gd name="adj" fmla="val 14287"/>
            </a:avLst>
          </a:prstGeom>
          <a:solidFill>
            <a:srgbClr val="FFFFFF"/>
          </a:solidFill>
          <a:ln w="12700">
            <a:solidFill>
              <a:srgbClr val="16181B">
                <a:alpha val="10000"/>
              </a:srgbClr>
            </a:solidFill>
            <a:prstDash val="solid"/>
          </a:ln>
        </p:spPr>
      </p:sp>
      <p:sp>
        <p:nvSpPr>
          <p:cNvPr id="12" name="Shape 10"/>
          <p:cNvSpPr/>
          <p:nvPr/>
        </p:nvSpPr>
        <p:spPr>
          <a:xfrm>
            <a:off x="901690" y="2133570"/>
            <a:ext cx="38130" cy="558790"/>
          </a:xfrm>
          <a:prstGeom prst="roundRect">
            <a:avLst>
              <a:gd name="adj" fmla="val 49881"/>
            </a:avLst>
          </a:prstGeom>
          <a:solidFill>
            <a:srgbClr val="7A5CFF"/>
          </a:solidFill>
          <a:ln/>
        </p:spPr>
      </p:sp>
      <p:sp>
        <p:nvSpPr>
          <p:cNvPr id="13" name="Text 10"/>
          <p:cNvSpPr/>
          <p:nvPr/>
        </p:nvSpPr>
        <p:spPr>
          <a:xfrm>
            <a:off x="1079541" y="21335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Figma · Idea to Demo</a:t>
            </a:r>
            <a:endParaRPr lang="en-US" sz="1350" dirty="0"/>
          </a:p>
        </p:txBody>
      </p:sp>
      <p:sp>
        <p:nvSpPr>
          <p:cNvPr id="14" name="Text 11"/>
          <p:cNvSpPr/>
          <p:nvPr/>
        </p:nvSpPr>
        <p:spPr>
          <a:xfrm>
            <a:off x="1079541" y="24130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this deck, the plugin, the stage log</a:t>
            </a:r>
            <a:endParaRPr lang="en-US" sz="1050" dirty="0"/>
          </a:p>
        </p:txBody>
      </p:sp>
      <p:sp>
        <p:nvSpPr>
          <p:cNvPr id="15" name="Shape 13"/>
          <p:cNvSpPr/>
          <p:nvPr/>
        </p:nvSpPr>
        <p:spPr>
          <a:xfrm>
            <a:off x="4381530" y="1968520"/>
            <a:ext cx="3429000" cy="888980"/>
          </a:xfrm>
          <a:prstGeom prst="roundRect">
            <a:avLst>
              <a:gd name="adj" fmla="val 14287"/>
            </a:avLst>
          </a:prstGeom>
          <a:solidFill>
            <a:srgbClr val="FFFFFF"/>
          </a:solidFill>
          <a:ln w="12700">
            <a:solidFill>
              <a:srgbClr val="16181B">
                <a:alpha val="10000"/>
              </a:srgbClr>
            </a:solidFill>
            <a:prstDash val="solid"/>
          </a:ln>
        </p:spPr>
      </p:sp>
      <p:sp>
        <p:nvSpPr>
          <p:cNvPr id="16" name="Shape 14"/>
          <p:cNvSpPr/>
          <p:nvPr/>
        </p:nvSpPr>
        <p:spPr>
          <a:xfrm>
            <a:off x="4521159" y="2133570"/>
            <a:ext cx="38130" cy="558790"/>
          </a:xfrm>
          <a:prstGeom prst="roundRect">
            <a:avLst>
              <a:gd name="adj" fmla="val 49881"/>
            </a:avLst>
          </a:prstGeom>
          <a:solidFill>
            <a:srgbClr val="4FB3FF"/>
          </a:solidFill>
          <a:ln/>
        </p:spPr>
      </p:sp>
      <p:sp>
        <p:nvSpPr>
          <p:cNvPr id="17" name="Text 14"/>
          <p:cNvSpPr/>
          <p:nvPr/>
        </p:nvSpPr>
        <p:spPr>
          <a:xfrm>
            <a:off x="4699010" y="21335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Hardware Hack</a:t>
            </a:r>
            <a:endParaRPr lang="en-US" sz="1350" dirty="0"/>
          </a:p>
        </p:txBody>
      </p:sp>
      <p:sp>
        <p:nvSpPr>
          <p:cNvPr id="18" name="Text 15"/>
          <p:cNvSpPr/>
          <p:nvPr/>
        </p:nvSpPr>
        <p:spPr>
          <a:xfrm>
            <a:off x="4699010" y="24130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the station, on the table</a:t>
            </a:r>
            <a:endParaRPr lang="en-US" sz="1050" dirty="0"/>
          </a:p>
        </p:txBody>
      </p:sp>
      <p:sp>
        <p:nvSpPr>
          <p:cNvPr id="19" name="Shape 17"/>
          <p:cNvSpPr/>
          <p:nvPr/>
        </p:nvSpPr>
        <p:spPr>
          <a:xfrm>
            <a:off x="8001000" y="1968520"/>
            <a:ext cx="3429000" cy="888980"/>
          </a:xfrm>
          <a:prstGeom prst="roundRect">
            <a:avLst>
              <a:gd name="adj" fmla="val 14287"/>
            </a:avLst>
          </a:prstGeom>
          <a:solidFill>
            <a:srgbClr val="FFFFFF"/>
          </a:solidFill>
          <a:ln w="12700">
            <a:solidFill>
              <a:srgbClr val="16181B">
                <a:alpha val="10000"/>
              </a:srgbClr>
            </a:solidFill>
            <a:prstDash val="solid"/>
          </a:ln>
        </p:spPr>
      </p:sp>
      <p:sp>
        <p:nvSpPr>
          <p:cNvPr id="20" name="Shape 18"/>
          <p:cNvSpPr/>
          <p:nvPr/>
        </p:nvSpPr>
        <p:spPr>
          <a:xfrm>
            <a:off x="8140720" y="2133570"/>
            <a:ext cx="38130" cy="558790"/>
          </a:xfrm>
          <a:prstGeom prst="roundRect">
            <a:avLst>
              <a:gd name="adj" fmla="val 49881"/>
            </a:avLst>
          </a:prstGeom>
          <a:solidFill>
            <a:srgbClr val="4FB3FF"/>
          </a:solidFill>
          <a:ln/>
        </p:spPr>
      </p:sp>
      <p:sp>
        <p:nvSpPr>
          <p:cNvPr id="21" name="Text 18"/>
          <p:cNvSpPr/>
          <p:nvPr/>
        </p:nvSpPr>
        <p:spPr>
          <a:xfrm>
            <a:off x="8318480" y="21335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Hyphenate · finance agents</a:t>
            </a:r>
            <a:endParaRPr lang="en-US" sz="1350" dirty="0"/>
          </a:p>
        </p:txBody>
      </p:sp>
      <p:sp>
        <p:nvSpPr>
          <p:cNvPr id="22" name="Text 19"/>
          <p:cNvSpPr/>
          <p:nvPr/>
        </p:nvSpPr>
        <p:spPr>
          <a:xfrm>
            <a:off x="8318480" y="24130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policy agent: proposes, holds, escalates</a:t>
            </a:r>
            <a:endParaRPr lang="en-US" sz="1050" dirty="0"/>
          </a:p>
        </p:txBody>
      </p:sp>
      <p:sp>
        <p:nvSpPr>
          <p:cNvPr id="23" name="Shape 21"/>
          <p:cNvSpPr/>
          <p:nvPr/>
        </p:nvSpPr>
        <p:spPr>
          <a:xfrm>
            <a:off x="761970" y="2997220"/>
            <a:ext cx="3429000" cy="888980"/>
          </a:xfrm>
          <a:prstGeom prst="roundRect">
            <a:avLst>
              <a:gd name="adj" fmla="val 14287"/>
            </a:avLst>
          </a:prstGeom>
          <a:solidFill>
            <a:srgbClr val="FFFFFF"/>
          </a:solidFill>
          <a:ln w="12700">
            <a:solidFill>
              <a:srgbClr val="16181B">
                <a:alpha val="10000"/>
              </a:srgbClr>
            </a:solidFill>
            <a:prstDash val="solid"/>
          </a:ln>
        </p:spPr>
      </p:sp>
      <p:sp>
        <p:nvSpPr>
          <p:cNvPr id="24" name="Shape 22"/>
          <p:cNvSpPr/>
          <p:nvPr/>
        </p:nvSpPr>
        <p:spPr>
          <a:xfrm>
            <a:off x="901690" y="3162270"/>
            <a:ext cx="38130" cy="558790"/>
          </a:xfrm>
          <a:prstGeom prst="roundRect">
            <a:avLst>
              <a:gd name="adj" fmla="val 49881"/>
            </a:avLst>
          </a:prstGeom>
          <a:solidFill>
            <a:srgbClr val="7A5CFF"/>
          </a:solidFill>
          <a:ln/>
        </p:spPr>
      </p:sp>
      <p:sp>
        <p:nvSpPr>
          <p:cNvPr id="25" name="Text 22"/>
          <p:cNvSpPr/>
          <p:nvPr/>
        </p:nvSpPr>
        <p:spPr>
          <a:xfrm>
            <a:off x="1079541" y="31622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Coinbase · x402 payment agents</a:t>
            </a:r>
            <a:endParaRPr lang="en-US" sz="1350" dirty="0"/>
          </a:p>
        </p:txBody>
      </p:sp>
      <p:sp>
        <p:nvSpPr>
          <p:cNvPr id="26" name="Text 23"/>
          <p:cNvSpPr/>
          <p:nvPr/>
        </p:nvSpPr>
        <p:spPr>
          <a:xfrm>
            <a:off x="1079541" y="34417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/verify over x402, USDC escrow (TESTNET)</a:t>
            </a:r>
            <a:endParaRPr lang="en-US" sz="1050" dirty="0"/>
          </a:p>
        </p:txBody>
      </p:sp>
      <p:sp>
        <p:nvSpPr>
          <p:cNvPr id="27" name="Shape 25"/>
          <p:cNvSpPr/>
          <p:nvPr/>
        </p:nvSpPr>
        <p:spPr>
          <a:xfrm>
            <a:off x="4381530" y="2997220"/>
            <a:ext cx="3429000" cy="888980"/>
          </a:xfrm>
          <a:prstGeom prst="roundRect">
            <a:avLst>
              <a:gd name="adj" fmla="val 14287"/>
            </a:avLst>
          </a:prstGeom>
          <a:solidFill>
            <a:srgbClr val="FFFFFF"/>
          </a:solidFill>
          <a:ln w="12700">
            <a:solidFill>
              <a:srgbClr val="16181B">
                <a:alpha val="10000"/>
              </a:srgbClr>
            </a:solidFill>
            <a:prstDash val="solid"/>
          </a:ln>
        </p:spPr>
      </p:sp>
      <p:sp>
        <p:nvSpPr>
          <p:cNvPr id="28" name="Shape 26"/>
          <p:cNvSpPr/>
          <p:nvPr/>
        </p:nvSpPr>
        <p:spPr>
          <a:xfrm>
            <a:off x="4521159" y="3162270"/>
            <a:ext cx="38130" cy="558790"/>
          </a:xfrm>
          <a:prstGeom prst="roundRect">
            <a:avLst>
              <a:gd name="adj" fmla="val 49881"/>
            </a:avLst>
          </a:prstGeom>
          <a:solidFill>
            <a:srgbClr val="E09A3A"/>
          </a:solidFill>
          <a:ln/>
        </p:spPr>
      </p:sp>
      <p:sp>
        <p:nvSpPr>
          <p:cNvPr id="29" name="Text 26"/>
          <p:cNvSpPr/>
          <p:nvPr/>
        </p:nvSpPr>
        <p:spPr>
          <a:xfrm>
            <a:off x="4699010" y="31622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Capital One · Nessie</a:t>
            </a:r>
            <a:endParaRPr lang="en-US" sz="1350" dirty="0"/>
          </a:p>
        </p:txBody>
      </p:sp>
      <p:sp>
        <p:nvSpPr>
          <p:cNvPr id="30" name="Text 27"/>
          <p:cNvSpPr/>
          <p:nvPr/>
        </p:nvSpPr>
        <p:spPr>
          <a:xfrm>
            <a:off x="4699010" y="34417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hold / release / refund (SANDBOX)</a:t>
            </a:r>
            <a:endParaRPr lang="en-US" sz="1050" dirty="0"/>
          </a:p>
        </p:txBody>
      </p:sp>
      <p:sp>
        <p:nvSpPr>
          <p:cNvPr id="31" name="Shape 29"/>
          <p:cNvSpPr/>
          <p:nvPr/>
        </p:nvSpPr>
        <p:spPr>
          <a:xfrm>
            <a:off x="8001000" y="2997220"/>
            <a:ext cx="3429000" cy="888980"/>
          </a:xfrm>
          <a:prstGeom prst="roundRect">
            <a:avLst>
              <a:gd name="adj" fmla="val 14287"/>
            </a:avLst>
          </a:prstGeom>
          <a:solidFill>
            <a:srgbClr val="FFFFFF"/>
          </a:solidFill>
          <a:ln w="12700">
            <a:solidFill>
              <a:srgbClr val="16181B">
                <a:alpha val="10000"/>
              </a:srgbClr>
            </a:solidFill>
            <a:prstDash val="solid"/>
          </a:ln>
        </p:spPr>
      </p:sp>
      <p:sp>
        <p:nvSpPr>
          <p:cNvPr id="32" name="Shape 30"/>
          <p:cNvSpPr/>
          <p:nvPr/>
        </p:nvSpPr>
        <p:spPr>
          <a:xfrm>
            <a:off x="8140720" y="3162270"/>
            <a:ext cx="38130" cy="558790"/>
          </a:xfrm>
          <a:prstGeom prst="roundRect">
            <a:avLst>
              <a:gd name="adj" fmla="val 49881"/>
            </a:avLst>
          </a:prstGeom>
          <a:solidFill>
            <a:srgbClr val="4FB3FF"/>
          </a:solidFill>
          <a:ln/>
        </p:spPr>
      </p:sp>
      <p:sp>
        <p:nvSpPr>
          <p:cNvPr id="33" name="Text 30"/>
          <p:cNvSpPr/>
          <p:nvPr/>
        </p:nvSpPr>
        <p:spPr>
          <a:xfrm>
            <a:off x="8318480" y="3162270"/>
            <a:ext cx="2984510" cy="48262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Microsoft · Built for the Real World</a:t>
            </a:r>
            <a:endParaRPr lang="en-US" sz="1350" dirty="0"/>
          </a:p>
        </p:txBody>
      </p:sp>
      <p:sp>
        <p:nvSpPr>
          <p:cNvPr id="34" name="Text 31"/>
          <p:cNvSpPr/>
          <p:nvPr/>
        </p:nvSpPr>
        <p:spPr>
          <a:xfrm>
            <a:off x="8318480" y="34417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a clinic pharmacist’s delivery check</a:t>
            </a:r>
            <a:endParaRPr lang="en-US" sz="1050" dirty="0"/>
          </a:p>
        </p:txBody>
      </p:sp>
      <p:sp>
        <p:nvSpPr>
          <p:cNvPr id="35" name="Shape 33"/>
          <p:cNvSpPr/>
          <p:nvPr/>
        </p:nvSpPr>
        <p:spPr>
          <a:xfrm>
            <a:off x="761970" y="4025920"/>
            <a:ext cx="3429000" cy="888980"/>
          </a:xfrm>
          <a:prstGeom prst="roundRect">
            <a:avLst>
              <a:gd name="adj" fmla="val 14287"/>
            </a:avLst>
          </a:prstGeom>
          <a:solidFill>
            <a:srgbClr val="FFFFFF"/>
          </a:solidFill>
          <a:ln w="12700">
            <a:solidFill>
              <a:srgbClr val="16181B">
                <a:alpha val="10000"/>
              </a:srgbClr>
            </a:solidFill>
            <a:prstDash val="solid"/>
          </a:ln>
        </p:spPr>
      </p:sp>
      <p:sp>
        <p:nvSpPr>
          <p:cNvPr id="36" name="Shape 34"/>
          <p:cNvSpPr/>
          <p:nvPr/>
        </p:nvSpPr>
        <p:spPr>
          <a:xfrm>
            <a:off x="901690" y="4190970"/>
            <a:ext cx="38130" cy="558790"/>
          </a:xfrm>
          <a:prstGeom prst="roundRect">
            <a:avLst>
              <a:gd name="adj" fmla="val 49881"/>
            </a:avLst>
          </a:prstGeom>
          <a:solidFill>
            <a:srgbClr val="5FD39A"/>
          </a:solidFill>
          <a:ln/>
        </p:spPr>
      </p:sp>
      <p:sp>
        <p:nvSpPr>
          <p:cNvPr id="37" name="Text 34"/>
          <p:cNvSpPr/>
          <p:nvPr/>
        </p:nvSpPr>
        <p:spPr>
          <a:xfrm>
            <a:off x="1079541" y="41909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Anthropic · Claude</a:t>
            </a:r>
            <a:endParaRPr lang="en-US" sz="1350" dirty="0"/>
          </a:p>
        </p:txBody>
      </p:sp>
      <p:sp>
        <p:nvSpPr>
          <p:cNvPr id="38" name="Text 35"/>
          <p:cNvSpPr/>
          <p:nvPr/>
        </p:nvSpPr>
        <p:spPr>
          <a:xfrm>
            <a:off x="1079541" y="44704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the plain-English why; can only downgrade</a:t>
            </a:r>
            <a:endParaRPr lang="en-US" sz="1050" dirty="0"/>
          </a:p>
        </p:txBody>
      </p:sp>
      <p:sp>
        <p:nvSpPr>
          <p:cNvPr id="39" name="Shape 37"/>
          <p:cNvSpPr/>
          <p:nvPr/>
        </p:nvSpPr>
        <p:spPr>
          <a:xfrm>
            <a:off x="4381530" y="4025920"/>
            <a:ext cx="3429000" cy="888980"/>
          </a:xfrm>
          <a:prstGeom prst="roundRect">
            <a:avLst>
              <a:gd name="adj" fmla="val 14287"/>
            </a:avLst>
          </a:prstGeom>
          <a:solidFill>
            <a:srgbClr val="FFFFFF"/>
          </a:solidFill>
          <a:ln w="12700">
            <a:solidFill>
              <a:srgbClr val="16181B">
                <a:alpha val="10000"/>
              </a:srgbClr>
            </a:solidFill>
            <a:prstDash val="solid"/>
          </a:ln>
        </p:spPr>
      </p:sp>
      <p:sp>
        <p:nvSpPr>
          <p:cNvPr id="40" name="Shape 38"/>
          <p:cNvSpPr/>
          <p:nvPr/>
        </p:nvSpPr>
        <p:spPr>
          <a:xfrm>
            <a:off x="4521159" y="4190970"/>
            <a:ext cx="38130" cy="558790"/>
          </a:xfrm>
          <a:prstGeom prst="roundRect">
            <a:avLst>
              <a:gd name="adj" fmla="val 49881"/>
            </a:avLst>
          </a:prstGeom>
          <a:solidFill>
            <a:srgbClr val="5FD39A"/>
          </a:solidFill>
          <a:ln/>
        </p:spPr>
      </p:sp>
      <p:sp>
        <p:nvSpPr>
          <p:cNvPr id="41" name="Text 38"/>
          <p:cNvSpPr/>
          <p:nvPr/>
        </p:nvSpPr>
        <p:spPr>
          <a:xfrm>
            <a:off x="4699010" y="41909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People-First</a:t>
            </a:r>
            <a:endParaRPr lang="en-US" sz="1350" dirty="0"/>
          </a:p>
        </p:txBody>
      </p:sp>
      <p:sp>
        <p:nvSpPr>
          <p:cNvPr id="42" name="Text 39"/>
          <p:cNvSpPr/>
          <p:nvPr/>
        </p:nvSpPr>
        <p:spPr>
          <a:xfrm>
            <a:off x="4699010" y="44704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personal mode, read aloud</a:t>
            </a:r>
            <a:endParaRPr lang="en-US" sz="1050" dirty="0"/>
          </a:p>
        </p:txBody>
      </p:sp>
      <p:sp>
        <p:nvSpPr>
          <p:cNvPr id="43" name="Shape 41"/>
          <p:cNvSpPr/>
          <p:nvPr/>
        </p:nvSpPr>
        <p:spPr>
          <a:xfrm>
            <a:off x="8001000" y="4025920"/>
            <a:ext cx="3429000" cy="888980"/>
          </a:xfrm>
          <a:prstGeom prst="roundRect">
            <a:avLst>
              <a:gd name="adj" fmla="val 14287"/>
            </a:avLst>
          </a:prstGeom>
          <a:solidFill>
            <a:srgbClr val="FFFFFF"/>
          </a:solidFill>
          <a:ln w="12700">
            <a:solidFill>
              <a:srgbClr val="16181B">
                <a:alpha val="10000"/>
              </a:srgbClr>
            </a:solidFill>
            <a:prstDash val="solid"/>
          </a:ln>
        </p:spPr>
      </p:sp>
      <p:sp>
        <p:nvSpPr>
          <p:cNvPr id="44" name="Shape 42"/>
          <p:cNvSpPr/>
          <p:nvPr/>
        </p:nvSpPr>
        <p:spPr>
          <a:xfrm>
            <a:off x="8140720" y="4190970"/>
            <a:ext cx="38130" cy="558790"/>
          </a:xfrm>
          <a:prstGeom prst="roundRect">
            <a:avLst>
              <a:gd name="adj" fmla="val 49881"/>
            </a:avLst>
          </a:prstGeom>
          <a:solidFill>
            <a:srgbClr val="4FB3FF"/>
          </a:solidFill>
          <a:ln/>
        </p:spPr>
      </p:sp>
      <p:sp>
        <p:nvSpPr>
          <p:cNvPr id="45" name="Text 42"/>
          <p:cNvSpPr/>
          <p:nvPr/>
        </p:nvSpPr>
        <p:spPr>
          <a:xfrm>
            <a:off x="8318480" y="41909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Most Technically Complex</a:t>
            </a:r>
            <a:endParaRPr lang="en-US" sz="1350" dirty="0"/>
          </a:p>
        </p:txBody>
      </p:sp>
      <p:sp>
        <p:nvSpPr>
          <p:cNvPr id="46" name="Text 43"/>
          <p:cNvSpPr/>
          <p:nvPr/>
        </p:nvSpPr>
        <p:spPr>
          <a:xfrm>
            <a:off x="8318480" y="44704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two-channel optics + rules + payments</a:t>
            </a:r>
            <a:endParaRPr lang="en-US" sz="1050" dirty="0"/>
          </a:p>
        </p:txBody>
      </p:sp>
      <p:sp>
        <p:nvSpPr>
          <p:cNvPr id="47" name="Shape 45"/>
          <p:cNvSpPr/>
          <p:nvPr/>
        </p:nvSpPr>
        <p:spPr>
          <a:xfrm>
            <a:off x="761970" y="5054620"/>
            <a:ext cx="3429000" cy="888980"/>
          </a:xfrm>
          <a:prstGeom prst="roundRect">
            <a:avLst>
              <a:gd name="adj" fmla="val 14287"/>
            </a:avLst>
          </a:prstGeom>
          <a:solidFill>
            <a:srgbClr val="FFFFFF"/>
          </a:solidFill>
          <a:ln w="12700">
            <a:solidFill>
              <a:srgbClr val="16181B">
                <a:alpha val="10000"/>
              </a:srgbClr>
            </a:solidFill>
            <a:prstDash val="solid"/>
          </a:ln>
        </p:spPr>
      </p:sp>
      <p:sp>
        <p:nvSpPr>
          <p:cNvPr id="48" name="Shape 46"/>
          <p:cNvSpPr/>
          <p:nvPr/>
        </p:nvSpPr>
        <p:spPr>
          <a:xfrm>
            <a:off x="901690" y="5219670"/>
            <a:ext cx="38130" cy="558790"/>
          </a:xfrm>
          <a:prstGeom prst="roundRect">
            <a:avLst>
              <a:gd name="adj" fmla="val 49881"/>
            </a:avLst>
          </a:prstGeom>
          <a:solidFill>
            <a:srgbClr val="5FD39A"/>
          </a:solidFill>
          <a:ln/>
        </p:spPr>
      </p:sp>
      <p:sp>
        <p:nvSpPr>
          <p:cNvPr id="49" name="Text 46"/>
          <p:cNvSpPr/>
          <p:nvPr/>
        </p:nvSpPr>
        <p:spPr>
          <a:xfrm>
            <a:off x="1079541" y="52196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MLH · Gemini API</a:t>
            </a:r>
            <a:endParaRPr lang="en-US" sz="1350" dirty="0"/>
          </a:p>
        </p:txBody>
      </p:sp>
      <p:sp>
        <p:nvSpPr>
          <p:cNvPr id="50" name="Text 47"/>
          <p:cNvSpPr/>
          <p:nvPr/>
        </p:nvSpPr>
        <p:spPr>
          <a:xfrm>
            <a:off x="1079541" y="54991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reads the bottle label</a:t>
            </a:r>
            <a:endParaRPr lang="en-US" sz="1050" dirty="0"/>
          </a:p>
        </p:txBody>
      </p:sp>
      <p:sp>
        <p:nvSpPr>
          <p:cNvPr id="51" name="Shape 49"/>
          <p:cNvSpPr/>
          <p:nvPr/>
        </p:nvSpPr>
        <p:spPr>
          <a:xfrm>
            <a:off x="4381530" y="5054620"/>
            <a:ext cx="3429000" cy="888980"/>
          </a:xfrm>
          <a:prstGeom prst="roundRect">
            <a:avLst>
              <a:gd name="adj" fmla="val 14287"/>
            </a:avLst>
          </a:prstGeom>
          <a:solidFill>
            <a:srgbClr val="FFFFFF"/>
          </a:solidFill>
          <a:ln w="12700">
            <a:solidFill>
              <a:srgbClr val="16181B">
                <a:alpha val="10000"/>
              </a:srgbClr>
            </a:solidFill>
            <a:prstDash val="solid"/>
          </a:ln>
        </p:spPr>
      </p:sp>
      <p:sp>
        <p:nvSpPr>
          <p:cNvPr id="52" name="Shape 50"/>
          <p:cNvSpPr/>
          <p:nvPr/>
        </p:nvSpPr>
        <p:spPr>
          <a:xfrm>
            <a:off x="4521159" y="5219670"/>
            <a:ext cx="38130" cy="558790"/>
          </a:xfrm>
          <a:prstGeom prst="roundRect">
            <a:avLst>
              <a:gd name="adj" fmla="val 49881"/>
            </a:avLst>
          </a:prstGeom>
          <a:solidFill>
            <a:srgbClr val="5FD39A"/>
          </a:solidFill>
          <a:ln/>
        </p:spPr>
      </p:sp>
      <p:sp>
        <p:nvSpPr>
          <p:cNvPr id="53" name="Text 50"/>
          <p:cNvSpPr/>
          <p:nvPr/>
        </p:nvSpPr>
        <p:spPr>
          <a:xfrm>
            <a:off x="4699010" y="52196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MLH · ElevenLabs</a:t>
            </a:r>
            <a:endParaRPr lang="en-US" sz="1350" dirty="0"/>
          </a:p>
        </p:txBody>
      </p:sp>
      <p:sp>
        <p:nvSpPr>
          <p:cNvPr id="54" name="Text 51"/>
          <p:cNvSpPr/>
          <p:nvPr/>
        </p:nvSpPr>
        <p:spPr>
          <a:xfrm>
            <a:off x="4699010" y="54991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reads the verdict aloud</a:t>
            </a:r>
            <a:endParaRPr lang="en-US" sz="1050" dirty="0"/>
          </a:p>
        </p:txBody>
      </p:sp>
      <p:sp>
        <p:nvSpPr>
          <p:cNvPr id="55" name="Shape 53"/>
          <p:cNvSpPr/>
          <p:nvPr/>
        </p:nvSpPr>
        <p:spPr>
          <a:xfrm>
            <a:off x="8001000" y="5054620"/>
            <a:ext cx="3429000" cy="888980"/>
          </a:xfrm>
          <a:prstGeom prst="roundRect">
            <a:avLst>
              <a:gd name="adj" fmla="val 14287"/>
            </a:avLst>
          </a:prstGeom>
          <a:solidFill>
            <a:srgbClr val="FFFFFF"/>
          </a:solidFill>
          <a:ln w="12700">
            <a:solidFill>
              <a:srgbClr val="16181B">
                <a:alpha val="10000"/>
              </a:srgbClr>
            </a:solidFill>
            <a:prstDash val="solid"/>
          </a:ln>
        </p:spPr>
      </p:sp>
      <p:sp>
        <p:nvSpPr>
          <p:cNvPr id="56" name="Shape 54"/>
          <p:cNvSpPr/>
          <p:nvPr/>
        </p:nvSpPr>
        <p:spPr>
          <a:xfrm>
            <a:off x="8140720" y="5219670"/>
            <a:ext cx="38130" cy="558790"/>
          </a:xfrm>
          <a:prstGeom prst="roundRect">
            <a:avLst>
              <a:gd name="adj" fmla="val 49881"/>
            </a:avLst>
          </a:prstGeom>
          <a:solidFill>
            <a:srgbClr val="5FD39A"/>
          </a:solidFill>
          <a:ln/>
        </p:spPr>
      </p:sp>
      <p:sp>
        <p:nvSpPr>
          <p:cNvPr id="57" name="Text 54"/>
          <p:cNvSpPr/>
          <p:nvPr/>
        </p:nvSpPr>
        <p:spPr>
          <a:xfrm>
            <a:off x="8318480" y="52196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MLH · Gen AI</a:t>
            </a:r>
            <a:endParaRPr lang="en-US" sz="1350" dirty="0"/>
          </a:p>
        </p:txBody>
      </p:sp>
      <p:sp>
        <p:nvSpPr>
          <p:cNvPr id="58" name="Text 55"/>
          <p:cNvSpPr/>
          <p:nvPr/>
        </p:nvSpPr>
        <p:spPr>
          <a:xfrm>
            <a:off x="8318480" y="54991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models explain; rules decide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NEXT</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20 / 20</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9525030" cy="622341"/>
          </a:xfrm>
          <a:prstGeom prst="rect">
            <a:avLst/>
          </a:prstGeom>
          <a:noFill/>
          <a:ln/>
        </p:spPr>
        <p:txBody>
          <a:bodyPr wrap="square" lIns="0" tIns="0" rIns="0" bIns="0" rtlCol="0" anchor="t"/>
          <a:lstStyle/>
          <a:p>
            <a:pPr algn="l" indent="0" marL="0">
              <a:lnSpc>
                <a:spcPct val="100000"/>
              </a:lnSpc>
              <a:buNone/>
            </a:pPr>
            <a:r>
              <a:rPr lang="en-US" sz="4056" spc="-61" kern="0" dirty="0">
                <a:solidFill>
                  <a:srgbClr val="16181B"/>
                </a:solidFill>
                <a:latin typeface="Instrument Serif" pitchFamily="34" charset="0"/>
                <a:ea typeface="Instrument Serif" pitchFamily="34" charset="-122"/>
                <a:cs typeface="Instrument Serif" pitchFamily="34" charset="-120"/>
              </a:rPr>
              <a:t>Next: </a:t>
            </a:r>
            <a:pPr algn="l" indent="0" marL="0">
              <a:lnSpc>
                <a:spcPct val="100000"/>
              </a:lnSpc>
              <a:buNone/>
            </a:pPr>
            <a:r>
              <a:rPr lang="en-US" sz="4056" i="1" spc="-61" kern="0" dirty="0">
                <a:solidFill>
                  <a:srgbClr val="16181B"/>
                </a:solidFill>
                <a:latin typeface="Instrument Serif" pitchFamily="34" charset="0"/>
                <a:ea typeface="Instrument Serif" pitchFamily="34" charset="-122"/>
                <a:cs typeface="Instrument Serif" pitchFamily="34" charset="-120"/>
              </a:rPr>
              <a:t>real runs, one clinic.</a:t>
            </a:r>
            <a:endParaRPr lang="en-US" sz="4056" dirty="0"/>
          </a:p>
        </p:txBody>
      </p:sp>
      <p:sp>
        <p:nvSpPr>
          <p:cNvPr id="11" name="Shape 9"/>
          <p:cNvSpPr/>
          <p:nvPr/>
        </p:nvSpPr>
        <p:spPr>
          <a:xfrm>
            <a:off x="761970" y="2158990"/>
            <a:ext cx="482620" cy="482620"/>
          </a:xfrm>
          <a:prstGeom prst="ellipse">
            <a:avLst/>
          </a:prstGeom>
          <a:solidFill>
            <a:srgbClr val="4FB3FF">
              <a:alpha val="14000"/>
            </a:srgbClr>
          </a:solidFill>
          <a:ln w="19050">
            <a:solidFill>
              <a:srgbClr val="4FB3FF"/>
            </a:solidFill>
            <a:prstDash val="solid"/>
          </a:ln>
        </p:spPr>
      </p:sp>
      <p:sp>
        <p:nvSpPr>
          <p:cNvPr id="12" name="Text 9"/>
          <p:cNvSpPr/>
          <p:nvPr/>
        </p:nvSpPr>
        <p:spPr>
          <a:xfrm>
            <a:off x="761970" y="2235159"/>
            <a:ext cx="482620" cy="285750"/>
          </a:xfrm>
          <a:prstGeom prst="rect">
            <a:avLst/>
          </a:prstGeom>
          <a:noFill/>
          <a:ln/>
        </p:spPr>
        <p:txBody>
          <a:bodyPr wrap="square" lIns="0" tIns="0" rIns="0" bIns="0" rtlCol="0" anchor="t"/>
          <a:lstStyle/>
          <a:p>
            <a:pPr algn="ctr" indent="0" marL="0">
              <a:lnSpc>
                <a:spcPct val="100000"/>
              </a:lnSpc>
              <a:buNone/>
            </a:pPr>
            <a:r>
              <a:rPr lang="en-US" sz="1872" dirty="0">
                <a:solidFill>
                  <a:srgbClr val="16181B"/>
                </a:solidFill>
                <a:latin typeface="Instrument Serif" pitchFamily="34" charset="0"/>
                <a:ea typeface="Instrument Serif" pitchFamily="34" charset="-122"/>
                <a:cs typeface="Instrument Serif" pitchFamily="34" charset="-120"/>
              </a:rPr>
              <a:t>1</a:t>
            </a:r>
            <a:endParaRPr lang="en-US" sz="1872" dirty="0"/>
          </a:p>
        </p:txBody>
      </p:sp>
      <p:sp>
        <p:nvSpPr>
          <p:cNvPr id="13" name="Text 10"/>
          <p:cNvSpPr/>
          <p:nvPr/>
        </p:nvSpPr>
        <p:spPr>
          <a:xfrm>
            <a:off x="1498610" y="2171700"/>
            <a:ext cx="8889980" cy="323880"/>
          </a:xfrm>
          <a:prstGeom prst="rect">
            <a:avLst/>
          </a:prstGeom>
          <a:noFill/>
          <a:ln/>
        </p:spPr>
        <p:txBody>
          <a:bodyPr wrap="square" lIns="0" tIns="0" rIns="0" bIns="0" rtlCol="0" anchor="t"/>
          <a:lstStyle/>
          <a:p>
            <a:pPr algn="l" indent="0" marL="0">
              <a:lnSpc>
                <a:spcPct val="130000"/>
              </a:lnSpc>
              <a:buNone/>
            </a:pPr>
            <a:r>
              <a:rPr lang="en-US" sz="1700" b="1" dirty="0">
                <a:solidFill>
                  <a:srgbClr val="16181B"/>
                </a:solidFill>
                <a:latin typeface="Inter" pitchFamily="34" charset="0"/>
                <a:ea typeface="Inter" pitchFamily="34" charset="-122"/>
                <a:cs typeface="Inter" pitchFamily="34" charset="-120"/>
              </a:rPr>
              <a:t>Calibration on the real box</a:t>
            </a:r>
            <a:endParaRPr lang="en-US" sz="1700" dirty="0"/>
          </a:p>
        </p:txBody>
      </p:sp>
      <p:sp>
        <p:nvSpPr>
          <p:cNvPr id="14" name="Text 11"/>
          <p:cNvSpPr/>
          <p:nvPr/>
        </p:nvSpPr>
        <p:spPr>
          <a:xfrm>
            <a:off x="1498610" y="2489180"/>
            <a:ext cx="8889980" cy="279441"/>
          </a:xfrm>
          <a:prstGeom prst="rect">
            <a:avLst/>
          </a:prstGeom>
          <a:noFill/>
          <a:ln/>
        </p:spPr>
        <p:txBody>
          <a:bodyPr wrap="square" lIns="0" tIns="0" rIns="0" bIns="0" rtlCol="0" anchor="t"/>
          <a:lstStyle/>
          <a:p>
            <a:pPr algn="l" indent="0" marL="0">
              <a:lnSpc>
                <a:spcPct val="140000"/>
              </a:lnSpc>
              <a:buNone/>
            </a:pPr>
            <a:r>
              <a:rPr lang="en-US" sz="1350" dirty="0">
                <a:solidFill>
                  <a:srgbClr val="4A4E55"/>
                </a:solidFill>
                <a:latin typeface="Inter" pitchFamily="34" charset="0"/>
                <a:ea typeface="Inter" pitchFamily="34" charset="-122"/>
                <a:cs typeface="Inter" pitchFamily="34" charset="-120"/>
              </a:rPr>
              <a:t>Ten riboflavin reference runs and chalk runs, plotted on the site in place of the illustration.</a:t>
            </a:r>
            <a:endParaRPr lang="en-US" sz="1350" dirty="0"/>
          </a:p>
        </p:txBody>
      </p:sp>
      <p:sp>
        <p:nvSpPr>
          <p:cNvPr id="15" name="Shape 13"/>
          <p:cNvSpPr/>
          <p:nvPr/>
        </p:nvSpPr>
        <p:spPr>
          <a:xfrm>
            <a:off x="761970" y="3174980"/>
            <a:ext cx="482620" cy="482620"/>
          </a:xfrm>
          <a:prstGeom prst="ellipse">
            <a:avLst/>
          </a:prstGeom>
          <a:solidFill>
            <a:srgbClr val="4FB3FF">
              <a:alpha val="14000"/>
            </a:srgbClr>
          </a:solidFill>
          <a:ln w="19050">
            <a:solidFill>
              <a:srgbClr val="4FB3FF"/>
            </a:solidFill>
            <a:prstDash val="solid"/>
          </a:ln>
        </p:spPr>
      </p:sp>
      <p:sp>
        <p:nvSpPr>
          <p:cNvPr id="16" name="Text 13"/>
          <p:cNvSpPr/>
          <p:nvPr/>
        </p:nvSpPr>
        <p:spPr>
          <a:xfrm>
            <a:off x="761970" y="3251241"/>
            <a:ext cx="482620" cy="285750"/>
          </a:xfrm>
          <a:prstGeom prst="rect">
            <a:avLst/>
          </a:prstGeom>
          <a:noFill/>
          <a:ln/>
        </p:spPr>
        <p:txBody>
          <a:bodyPr wrap="square" lIns="0" tIns="0" rIns="0" bIns="0" rtlCol="0" anchor="t"/>
          <a:lstStyle/>
          <a:p>
            <a:pPr algn="ctr" indent="0" marL="0">
              <a:lnSpc>
                <a:spcPct val="100000"/>
              </a:lnSpc>
              <a:buNone/>
            </a:pPr>
            <a:r>
              <a:rPr lang="en-US" sz="1872" dirty="0">
                <a:solidFill>
                  <a:srgbClr val="16181B"/>
                </a:solidFill>
                <a:latin typeface="Instrument Serif" pitchFamily="34" charset="0"/>
                <a:ea typeface="Instrument Serif" pitchFamily="34" charset="-122"/>
                <a:cs typeface="Instrument Serif" pitchFamily="34" charset="-120"/>
              </a:rPr>
              <a:t>2</a:t>
            </a:r>
            <a:endParaRPr lang="en-US" sz="1872" dirty="0"/>
          </a:p>
        </p:txBody>
      </p:sp>
      <p:sp>
        <p:nvSpPr>
          <p:cNvPr id="17" name="Text 14"/>
          <p:cNvSpPr/>
          <p:nvPr/>
        </p:nvSpPr>
        <p:spPr>
          <a:xfrm>
            <a:off x="1498610" y="3187690"/>
            <a:ext cx="8889980" cy="323880"/>
          </a:xfrm>
          <a:prstGeom prst="rect">
            <a:avLst/>
          </a:prstGeom>
          <a:noFill/>
          <a:ln/>
        </p:spPr>
        <p:txBody>
          <a:bodyPr wrap="square" lIns="0" tIns="0" rIns="0" bIns="0" rtlCol="0" anchor="t"/>
          <a:lstStyle/>
          <a:p>
            <a:pPr algn="l" indent="0" marL="0">
              <a:lnSpc>
                <a:spcPct val="130000"/>
              </a:lnSpc>
              <a:buNone/>
            </a:pPr>
            <a:r>
              <a:rPr lang="en-US" sz="1700" b="1" dirty="0">
                <a:solidFill>
                  <a:srgbClr val="16181B"/>
                </a:solidFill>
                <a:latin typeface="Inter" pitchFamily="34" charset="0"/>
                <a:ea typeface="Inter" pitchFamily="34" charset="-122"/>
                <a:cs typeface="Inter" pitchFamily="34" charset="-120"/>
              </a:rPr>
              <a:t>A second reference drug</a:t>
            </a:r>
            <a:endParaRPr lang="en-US" sz="1700" dirty="0"/>
          </a:p>
        </p:txBody>
      </p:sp>
      <p:sp>
        <p:nvSpPr>
          <p:cNvPr id="18" name="Text 15"/>
          <p:cNvSpPr/>
          <p:nvPr/>
        </p:nvSpPr>
        <p:spPr>
          <a:xfrm>
            <a:off x="1498610" y="3505170"/>
            <a:ext cx="8889980" cy="279441"/>
          </a:xfrm>
          <a:prstGeom prst="rect">
            <a:avLst/>
          </a:prstGeom>
          <a:noFill/>
          <a:ln/>
        </p:spPr>
        <p:txBody>
          <a:bodyPr wrap="square" lIns="0" tIns="0" rIns="0" bIns="0" rtlCol="0" anchor="t"/>
          <a:lstStyle/>
          <a:p>
            <a:pPr algn="l" indent="0" marL="0">
              <a:lnSpc>
                <a:spcPct val="140000"/>
              </a:lnSpc>
              <a:buNone/>
            </a:pPr>
            <a:r>
              <a:rPr lang="en-US" sz="1350" dirty="0">
                <a:solidFill>
                  <a:srgbClr val="4A4E55"/>
                </a:solidFill>
                <a:latin typeface="Inter" pitchFamily="34" charset="0"/>
                <a:ea typeface="Inter" pitchFamily="34" charset="-122"/>
                <a:cs typeface="Inter" pitchFamily="34" charset="-120"/>
              </a:rPr>
              <a:t>Each new drug needs its own band. Until then it is UNABLE TO VERIFY, on purpose.</a:t>
            </a:r>
            <a:endParaRPr lang="en-US" sz="1350" dirty="0"/>
          </a:p>
        </p:txBody>
      </p:sp>
      <p:sp>
        <p:nvSpPr>
          <p:cNvPr id="19" name="Shape 17"/>
          <p:cNvSpPr/>
          <p:nvPr/>
        </p:nvSpPr>
        <p:spPr>
          <a:xfrm>
            <a:off x="761970" y="4190970"/>
            <a:ext cx="482620" cy="482620"/>
          </a:xfrm>
          <a:prstGeom prst="ellipse">
            <a:avLst/>
          </a:prstGeom>
          <a:solidFill>
            <a:srgbClr val="4FB3FF">
              <a:alpha val="14000"/>
            </a:srgbClr>
          </a:solidFill>
          <a:ln w="19050">
            <a:solidFill>
              <a:srgbClr val="4FB3FF"/>
            </a:solidFill>
            <a:prstDash val="solid"/>
          </a:ln>
        </p:spPr>
      </p:sp>
      <p:sp>
        <p:nvSpPr>
          <p:cNvPr id="20" name="Text 17"/>
          <p:cNvSpPr/>
          <p:nvPr/>
        </p:nvSpPr>
        <p:spPr>
          <a:xfrm>
            <a:off x="761970" y="4267230"/>
            <a:ext cx="482620" cy="285750"/>
          </a:xfrm>
          <a:prstGeom prst="rect">
            <a:avLst/>
          </a:prstGeom>
          <a:noFill/>
          <a:ln/>
        </p:spPr>
        <p:txBody>
          <a:bodyPr wrap="square" lIns="0" tIns="0" rIns="0" bIns="0" rtlCol="0" anchor="t"/>
          <a:lstStyle/>
          <a:p>
            <a:pPr algn="ctr" indent="0" marL="0">
              <a:lnSpc>
                <a:spcPct val="100000"/>
              </a:lnSpc>
              <a:buNone/>
            </a:pPr>
            <a:r>
              <a:rPr lang="en-US" sz="1872" dirty="0">
                <a:solidFill>
                  <a:srgbClr val="16181B"/>
                </a:solidFill>
                <a:latin typeface="Instrument Serif" pitchFamily="34" charset="0"/>
                <a:ea typeface="Instrument Serif" pitchFamily="34" charset="-122"/>
                <a:cs typeface="Instrument Serif" pitchFamily="34" charset="-120"/>
              </a:rPr>
              <a:t>3</a:t>
            </a:r>
            <a:endParaRPr lang="en-US" sz="1872" dirty="0"/>
          </a:p>
        </p:txBody>
      </p:sp>
      <p:sp>
        <p:nvSpPr>
          <p:cNvPr id="21" name="Text 18"/>
          <p:cNvSpPr/>
          <p:nvPr/>
        </p:nvSpPr>
        <p:spPr>
          <a:xfrm>
            <a:off x="1498610" y="4203680"/>
            <a:ext cx="8889980" cy="323880"/>
          </a:xfrm>
          <a:prstGeom prst="rect">
            <a:avLst/>
          </a:prstGeom>
          <a:noFill/>
          <a:ln/>
        </p:spPr>
        <p:txBody>
          <a:bodyPr wrap="square" lIns="0" tIns="0" rIns="0" bIns="0" rtlCol="0" anchor="t"/>
          <a:lstStyle/>
          <a:p>
            <a:pPr algn="l" indent="0" marL="0">
              <a:lnSpc>
                <a:spcPct val="130000"/>
              </a:lnSpc>
              <a:buNone/>
            </a:pPr>
            <a:r>
              <a:rPr lang="en-US" sz="1700" b="1" dirty="0">
                <a:solidFill>
                  <a:srgbClr val="16181B"/>
                </a:solidFill>
                <a:latin typeface="Inter" pitchFamily="34" charset="0"/>
                <a:ea typeface="Inter" pitchFamily="34" charset="-122"/>
                <a:cs typeface="Inter" pitchFamily="34" charset="-120"/>
              </a:rPr>
              <a:t>One pharmacy, one week</a:t>
            </a:r>
            <a:endParaRPr lang="en-US" sz="1700" dirty="0"/>
          </a:p>
        </p:txBody>
      </p:sp>
      <p:sp>
        <p:nvSpPr>
          <p:cNvPr id="22" name="Text 19"/>
          <p:cNvSpPr/>
          <p:nvPr/>
        </p:nvSpPr>
        <p:spPr>
          <a:xfrm>
            <a:off x="1498610" y="4521159"/>
            <a:ext cx="8889980" cy="279441"/>
          </a:xfrm>
          <a:prstGeom prst="rect">
            <a:avLst/>
          </a:prstGeom>
          <a:noFill/>
          <a:ln/>
        </p:spPr>
        <p:txBody>
          <a:bodyPr wrap="square" lIns="0" tIns="0" rIns="0" bIns="0" rtlCol="0" anchor="t"/>
          <a:lstStyle/>
          <a:p>
            <a:pPr algn="l" indent="0" marL="0">
              <a:lnSpc>
                <a:spcPct val="140000"/>
              </a:lnSpc>
              <a:buNone/>
            </a:pPr>
            <a:r>
              <a:rPr lang="en-US" sz="1350" dirty="0">
                <a:solidFill>
                  <a:srgbClr val="4A4E55"/>
                </a:solidFill>
                <a:latin typeface="Inter" pitchFamily="34" charset="0"/>
                <a:ea typeface="Inter" pitchFamily="34" charset="-122"/>
                <a:cs typeface="Inter" pitchFamily="34" charset="-120"/>
              </a:rPr>
              <a:t>A procurement officer samples one tablet per delivery; we log every decision and every override.</a:t>
            </a:r>
            <a:endParaRPr lang="en-US" sz="1350" dirty="0"/>
          </a:p>
        </p:txBody>
      </p:sp>
      <p:sp>
        <p:nvSpPr>
          <p:cNvPr id="23" name="Shape 21"/>
          <p:cNvSpPr/>
          <p:nvPr/>
        </p:nvSpPr>
        <p:spPr>
          <a:xfrm>
            <a:off x="761970" y="5397520"/>
            <a:ext cx="10668030" cy="761970"/>
          </a:xfrm>
          <a:prstGeom prst="roundRect">
            <a:avLst>
              <a:gd name="adj" fmla="val 18337"/>
            </a:avLst>
          </a:prstGeom>
          <a:solidFill>
            <a:srgbClr val="4FB3FF">
              <a:alpha val="14000"/>
            </a:srgbClr>
          </a:solidFill>
          <a:ln w="12700">
            <a:solidFill>
              <a:srgbClr val="4FB3FF">
                <a:alpha val="35000"/>
              </a:srgbClr>
            </a:solidFill>
            <a:prstDash val="solid"/>
          </a:ln>
        </p:spPr>
      </p:sp>
      <p:sp>
        <p:nvSpPr>
          <p:cNvPr id="24" name="Text 21"/>
          <p:cNvSpPr/>
          <p:nvPr/>
        </p:nvSpPr>
        <p:spPr>
          <a:xfrm>
            <a:off x="1015990" y="5549859"/>
            <a:ext cx="10159990" cy="520659"/>
          </a:xfrm>
          <a:prstGeom prst="rect">
            <a:avLst/>
          </a:prstGeom>
          <a:noFill/>
          <a:ln/>
        </p:spPr>
        <p:txBody>
          <a:bodyPr wrap="square" lIns="0" tIns="0" rIns="0" bIns="0" rtlCol="0" anchor="t"/>
          <a:lstStyle/>
          <a:p>
            <a:pPr algn="l" indent="0" marL="0">
              <a:lnSpc>
                <a:spcPct val="135000"/>
              </a:lnSpc>
              <a:buNone/>
            </a:pPr>
            <a:r>
              <a:rPr lang="en-US" sz="1400" dirty="0">
                <a:solidFill>
                  <a:srgbClr val="16181B"/>
                </a:solidFill>
                <a:latin typeface="Inter" pitchFamily="34" charset="0"/>
                <a:ea typeface="Inter" pitchFamily="34" charset="-122"/>
                <a:cs typeface="Inter" pitchFamily="34" charset="-120"/>
              </a:rPr>
              <a:t>Ask: try to make it say PASS on the chalk. Then tell us which tablet to calibrate next, and introduce us to one clinic pharmacist.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Pill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Pill — The box measures. Pill explains.</dc:title>
  <dc:subject>Pill deck (Plan B import for Figma Slides; same source as the plugin: figma/deck.json)</dc:subject>
  <dc:creator>Pill · Cal Hacks 13.0</dc:creator>
  <cp:lastModifiedBy>Pill · Cal Hacks 13.0</cp:lastModifiedBy>
  <cp:revision>1</cp:revision>
  <dcterms:created xsi:type="dcterms:W3CDTF">2026-10-24T23:19:54Z</dcterms:created>
  <dcterms:modified xsi:type="dcterms:W3CDTF">2026-10-24T23:19:54Z</dcterms:modified>
</cp:coreProperties>
</file>