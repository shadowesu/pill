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 is a box of hobby parts around an Arduino UNO Q. One whole tablet in a small cup, a sixty-second quick run, two light sensors. It says three things only: PASS, NEEDS LAB, UNABLE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clinic app replaying its simulated two-channel design. The bottle says vitamin B2; inside is chalk. The blue line drops right into the reference band, so a one-sensor tester would call that a pass, but the 90-degree channel never moves. Pill says NEEDS LAB and the supplier's four hundred and eighty dollars stays held, lab referral drafted. Sandbox money; this is a replay,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estimates 1 in 10 medical products in low- and middle-income countries is substandard or falsified. A new lab dissolution tester costs twenty to a hundred thousand dollars, and lab results take seven to ten business days. A clinic pharmacist has neither; what they have is an invoice to pay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station is an Arduino UNO Q, a 3.3-volt board with a 12-bit ADC. These are photos of it from Saturday: a purple 3D-printed chamber holding a clear cup of water, a side box with white, blue and red LEDs, and the UNO Q next to it. The drawing shows where the two photoresistors sit, one in line with the beam and one at ninety degrees. Once a second it turns every LED off and reads both, the dark reading that cancels room light, then lights blue, white and red in turn and reads again. It sends one CSV line a second. The firmware decides nothing; the laptop does the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station has its own app, Pill Gate, on the laptop beside the box. Prepare checks the lid and the light path, ten seconds of clean water make the blank, the lid opening marks the tablet going in, sixty seconds of dissolving, then the result. It compares the run with a reference profile from three or more runs of a known-good tablet, and it says one of three things: Passed the screen, Needs lab testing, or Unable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whole tablet in a small cup, stirred by hand. Quick mode is sixty seconds after the tablet goes in; full mode runs two to ten minutes until the curve is flat. The run is compared with a reference, and the answer is one of three. A model explains the result in plain English but never sets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says three things only: PASS, NEEDS LAB, UNABLE TO VERIFY. Never a fourth. In the clinic app PASS means this tablet's curve matched the reference band; it does not mean right drug, right dose or contaminant-free.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money moves, and who decides. One tablet goes into the station; deterministic code turns the curve into one of three answers. The policy agent runs six clauses in code to get a ceiling; Claude may only return that ceiling or escalate. Passed, no recall, within the cap and a pharmacist’s tap releases the escrow to the supplier; Needs lab holds it and drafts a lab referral; Unable to verify escalates to a person. The money column is three Coinbase CDP server wallets, USDC on Base Sepolia, testnet, and escrow moves are simulated until we have a CDP key. Underneath, another clinic can buy a verdict over x402: the 402 is real today, the paid 200 is still pending. Claude and Gemini explain and read; code sets every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clinics can buy a verdict for five cents over x402. The server really answers 402 and the facilitator checks the signed payment; settle and the paid 200 are still pending, waiting on 0.05 test USDC or a CDP key. Testnet USDC on Base Sepolia; nothing here is real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 app is one web app on a laptop and on any phone. These are the newest build pass; the Design file has every screenshot, grouped by pass and linked to its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 app shows a run as six phases, played here against its simulated station. Lights off for three seconds: the box must be dark, or the lid is open and nothing runs. Ten seconds of clear water as the blank; it must be steady. Drop the tablet; it waits for the reading to fall six percent. Dissolving: the pill fills and the 90-degree channel should rise with it. Settling: twenty flat seconds is a plateau. Then the seven rules give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run, a Gemini agent checks what the sensor says: it reads the label, looks at photos of the cup, checks openFDA for a recall, cross-checks expiry, drug and lot, and compares what the camera saw with the sensor numbers. Every step is logged with its own time. The verdict word comes from the sensor and is never changed. The follower is the same Gemini, docked on every screen, answering questions about what is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came first and set the tokens the app inherited. A 16-persona panel picked a plain, honest page over a copied storytelling site. All three crops are the live site today, captured headless.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code-first team. Ideation and prototyping happened in markdown, AI panels and HTML. Figma enters as the place the repo is published to: slides, screens, tokens and the ideation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API cannot draw, so the repo emits deck.json and a one-file plugin draws it in Slides, Design or FigJam. Composio closes the loop: comments, dev resources back to the code, thumbnails, and tokens back to CSS. Nobody has run it in real Figma yet; that step is marked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timed from git commit times. Steps not yet run in real Figma say pending; we do not estimate them. The full log, with the Figma Make prompt and a ten-minute reproduce box, is STAGE-LOG.md.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broke, honestly. A rule bug the tests caught, a deploy we ran twice because the output was cut off, an API that cannot draw, and a hand-copied palette where most tokens drifted. Each one changed how we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numbers are estimates and say so. After numbers are measured on this machine; the real Figma run time is printed by the plugin and goes into LINKS.md.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 judge asks. PASS, or Passed the screen in the station app, means this tablet dissolved like the reference runs; it never calls a medicine good or bad. Then what is real today: the UNO Q station and its app are real, and a live Claude scan ran Saturday at 19:19 on a replay of our real aspirin run; there is no reference profile yet, so it said Unable to verify, and the water-only control has not run. The clinic app replays labelled synthetic curves, escrow is simulated until a CDP key, and the paid x402 200 is pending. All money is SANDBOX or TESTNET.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build, many judges; only the emphasis changes. Money is SANDBOX or TESTNET on every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ask: try to make it say PASS on the chalk. Then tell us which tablet to calibrate next, and introduce us to one clinic pharmacist. Everything still pending is marked pending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406359"/>
            <a:ext cx="447050" cy="195590"/>
          </a:xfrm>
          <a:prstGeom prst="roundRect">
            <a:avLst>
              <a:gd name="adj" fmla="val 49977"/>
            </a:avLst>
          </a:prstGeom>
          <a:solidFill>
            <a:srgbClr val="FFFFFF"/>
          </a:solidFill>
          <a:ln/>
        </p:spPr>
      </p:sp>
      <p:sp>
        <p:nvSpPr>
          <p:cNvPr id="3" name="Shape 1"/>
          <p:cNvSpPr/>
          <p:nvPr/>
        </p:nvSpPr>
        <p:spPr>
          <a:xfrm>
            <a:off x="761970" y="406359"/>
            <a:ext cx="447050" cy="195590"/>
          </a:xfrm>
          <a:custGeom>
            <a:avLst/>
            <a:gdLst/>
            <a:ahLst/>
            <a:cxnLst/>
            <a:rect l="l" t="t" r="r" b="b"/>
            <a:pathLst>
              <a:path w="447050" h="195590">
                <a:moveTo>
                  <a:pt x="223479" y="195590"/>
                </a:moveTo>
                <a:lnTo>
                  <a:pt x="97749" y="195590"/>
                </a:lnTo>
                <a:lnTo>
                  <a:pt x="85039" y="194767"/>
                </a:lnTo>
                <a:lnTo>
                  <a:pt x="72512" y="192207"/>
                </a:lnTo>
                <a:lnTo>
                  <a:pt x="60350" y="188092"/>
                </a:lnTo>
                <a:lnTo>
                  <a:pt x="48920" y="182514"/>
                </a:lnTo>
                <a:lnTo>
                  <a:pt x="38222" y="175382"/>
                </a:lnTo>
                <a:lnTo>
                  <a:pt x="28621" y="166969"/>
                </a:lnTo>
                <a:lnTo>
                  <a:pt x="20208" y="157277"/>
                </a:lnTo>
                <a:lnTo>
                  <a:pt x="13076" y="146670"/>
                </a:lnTo>
                <a:lnTo>
                  <a:pt x="7407" y="135240"/>
                </a:lnTo>
                <a:lnTo>
                  <a:pt x="3292" y="123078"/>
                </a:lnTo>
                <a:lnTo>
                  <a:pt x="823" y="110551"/>
                </a:lnTo>
                <a:lnTo>
                  <a:pt x="0" y="97749"/>
                </a:lnTo>
                <a:lnTo>
                  <a:pt x="823" y="85039"/>
                </a:lnTo>
                <a:lnTo>
                  <a:pt x="3292" y="72512"/>
                </a:lnTo>
                <a:lnTo>
                  <a:pt x="7407" y="60350"/>
                </a:lnTo>
                <a:lnTo>
                  <a:pt x="13076" y="48920"/>
                </a:lnTo>
                <a:lnTo>
                  <a:pt x="20208" y="38222"/>
                </a:lnTo>
                <a:lnTo>
                  <a:pt x="28621" y="28621"/>
                </a:lnTo>
                <a:lnTo>
                  <a:pt x="38222" y="20208"/>
                </a:lnTo>
                <a:lnTo>
                  <a:pt x="48920" y="13076"/>
                </a:lnTo>
                <a:lnTo>
                  <a:pt x="60350" y="7407"/>
                </a:lnTo>
                <a:lnTo>
                  <a:pt x="72512" y="3292"/>
                </a:lnTo>
                <a:lnTo>
                  <a:pt x="85039" y="823"/>
                </a:lnTo>
                <a:lnTo>
                  <a:pt x="97749" y="0"/>
                </a:lnTo>
                <a:lnTo>
                  <a:pt x="223479" y="0"/>
                </a:lnTo>
                <a:close/>
              </a:path>
            </a:pathLst>
          </a:custGeom>
          <a:solidFill>
            <a:srgbClr val="5FD39A"/>
          </a:solidFill>
          <a:ln/>
        </p:spPr>
      </p:sp>
      <p:sp>
        <p:nvSpPr>
          <p:cNvPr id="4" name="Shape 2"/>
          <p:cNvSpPr/>
          <p:nvPr/>
        </p:nvSpPr>
        <p:spPr>
          <a:xfrm>
            <a:off x="761970" y="406359"/>
            <a:ext cx="447050" cy="195590"/>
          </a:xfrm>
          <a:prstGeom prst="roundRect">
            <a:avLst>
              <a:gd name="adj" fmla="val 49977"/>
            </a:avLst>
          </a:prstGeom>
          <a:ln w="12700">
            <a:solidFill>
              <a:srgbClr val="16181B"/>
            </a:solidFill>
            <a:prstDash val="solid"/>
          </a:ln>
        </p:spPr>
      </p:sp>
      <p:sp>
        <p:nvSpPr>
          <p:cNvPr id="5" name="Text 2"/>
          <p:cNvSpPr/>
          <p:nvPr/>
        </p:nvSpPr>
        <p:spPr>
          <a:xfrm>
            <a:off x="1306860" y="385420"/>
            <a:ext cx="1270010" cy="228600"/>
          </a:xfrm>
          <a:prstGeom prst="rect">
            <a:avLst/>
          </a:prstGeom>
          <a:noFill/>
          <a:ln/>
        </p:spPr>
        <p:txBody>
          <a:bodyPr wrap="square" lIns="0" tIns="0" rIns="0" bIns="0" rtlCol="0" anchor="t"/>
          <a:lstStyle/>
          <a:p>
            <a:pPr algn="l" indent="0" marL="0">
              <a:lnSpc>
                <a:spcPct val="100000"/>
              </a:lnSpc>
              <a:buNone/>
            </a:pPr>
            <a:r>
              <a:rPr lang="en-US" sz="1459" dirty="0">
                <a:solidFill>
                  <a:srgbClr val="16181B"/>
                </a:solidFill>
                <a:latin typeface="Instrument Serif" pitchFamily="34" charset="0"/>
                <a:ea typeface="Instrument Serif" pitchFamily="34" charset="-122"/>
                <a:cs typeface="Instrument Serif" pitchFamily="34" charset="-120"/>
              </a:rPr>
              <a:t>Pill</a:t>
            </a:r>
            <a:endParaRPr lang="en-US" sz="1459" dirty="0"/>
          </a:p>
        </p:txBody>
      </p:sp>
      <p:sp>
        <p:nvSpPr>
          <p:cNvPr id="6" name="Text 3"/>
          <p:cNvSpPr/>
          <p:nvPr/>
        </p:nvSpPr>
        <p:spPr>
          <a:xfrm>
            <a:off x="761970" y="1587490"/>
            <a:ext cx="7619970" cy="177759"/>
          </a:xfrm>
          <a:prstGeom prst="rect">
            <a:avLst/>
          </a:prstGeom>
          <a:noFill/>
          <a:ln/>
        </p:spPr>
        <p:txBody>
          <a:bodyPr wrap="square" lIns="0" tIns="0" rIns="0" bIns="0" rtlCol="0" anchor="t"/>
          <a:lstStyle/>
          <a:p>
            <a:pPr algn="l" indent="0" marL="0">
              <a:lnSpc>
                <a:spcPct val="120000"/>
              </a:lnSpc>
              <a:buNone/>
            </a:pPr>
            <a:r>
              <a:rPr lang="en-US" sz="1000" spc="140" kern="0" dirty="0">
                <a:solidFill>
                  <a:srgbClr val="7C8188"/>
                </a:solidFill>
                <a:latin typeface="JetBrains Mono" pitchFamily="34" charset="0"/>
                <a:ea typeface="JetBrains Mono" pitchFamily="34" charset="-122"/>
                <a:cs typeface="JetBrains Mono" pitchFamily="34" charset="-120"/>
              </a:rPr>
              <a:t>CAL HACKS 13.0 · IDEA TO DEMO · FIGMA</a:t>
            </a:r>
            <a:endParaRPr lang="en-US" sz="1000" dirty="0"/>
          </a:p>
        </p:txBody>
      </p:sp>
      <p:sp>
        <p:nvSpPr>
          <p:cNvPr id="7" name="Title"/>
          <p:cNvSpPr/>
          <p:nvPr/>
        </p:nvSpPr>
        <p:spPr>
          <a:xfrm>
            <a:off x="761970" y="1904970"/>
            <a:ext cx="5524530" cy="1974830"/>
          </a:xfrm>
          <a:prstGeom prst="rect">
            <a:avLst/>
          </a:prstGeom>
          <a:noFill/>
          <a:ln/>
        </p:spPr>
        <p:txBody>
          <a:bodyPr wrap="square" lIns="0" tIns="0" rIns="0" bIns="0" rtlCol="0" anchor="t"/>
          <a:lstStyle/>
          <a:p>
            <a:pPr algn="l" indent="0" marL="0">
              <a:lnSpc>
                <a:spcPct val="96000"/>
              </a:lnSpc>
              <a:buNone/>
            </a:pPr>
            <a:r>
              <a:rPr lang="en-US" sz="5040" spc="-76" kern="0" dirty="0">
                <a:solidFill>
                  <a:srgbClr val="16181B"/>
                </a:solidFill>
                <a:latin typeface="Instrument Serif" pitchFamily="34" charset="0"/>
                <a:ea typeface="Instrument Serif" pitchFamily="34" charset="-122"/>
                <a:cs typeface="Instrument Serif" pitchFamily="34" charset="-120"/>
              </a:rPr>
              <a:t>The box measures.
</a:t>
            </a:r>
            <a:pPr algn="l" indent="0" marL="0">
              <a:lnSpc>
                <a:spcPct val="96000"/>
              </a:lnSpc>
              <a:buNone/>
            </a:pPr>
            <a:r>
              <a:rPr lang="en-US" sz="5040" i="1" spc="-76" kern="0" dirty="0">
                <a:solidFill>
                  <a:srgbClr val="16181B"/>
                </a:solidFill>
                <a:latin typeface="Instrument Serif" pitchFamily="34" charset="0"/>
                <a:ea typeface="Instrument Serif" pitchFamily="34" charset="-122"/>
                <a:cs typeface="Instrument Serif" pitchFamily="34" charset="-120"/>
              </a:rPr>
              <a:t>Pill explains.</a:t>
            </a:r>
            <a:endParaRPr lang="en-US" sz="5040" dirty="0"/>
          </a:p>
        </p:txBody>
      </p:sp>
      <p:sp>
        <p:nvSpPr>
          <p:cNvPr id="8" name="Text 5"/>
          <p:cNvSpPr/>
          <p:nvPr/>
        </p:nvSpPr>
        <p:spPr>
          <a:xfrm>
            <a:off x="761970" y="3937041"/>
            <a:ext cx="4953030" cy="1517630"/>
          </a:xfrm>
          <a:prstGeom prst="rect">
            <a:avLst/>
          </a:prstGeom>
          <a:noFill/>
          <a:ln/>
        </p:spPr>
        <p:txBody>
          <a:bodyPr wrap="square" lIns="0" tIns="0" rIns="0" bIns="0" rtlCol="0" anchor="t"/>
          <a:lstStyle/>
          <a:p>
            <a:pPr algn="l" indent="0" marL="0">
              <a:lnSpc>
                <a:spcPct val="145000"/>
              </a:lnSpc>
              <a:buNone/>
            </a:pPr>
            <a:r>
              <a:rPr lang="en-US" sz="1600" dirty="0">
                <a:solidFill>
                  <a:srgbClr val="4A4E55"/>
                </a:solidFill>
                <a:latin typeface="Inter" pitchFamily="34" charset="0"/>
                <a:ea typeface="Inter" pitchFamily="34" charset="-122"/>
                <a:cs typeface="Inter" pitchFamily="34" charset="-120"/>
              </a:rPr>
              <a:t>A box of hobby parts around an Arduino UNO Q. One whole tablet in a small cup, a 60-second quick run, one of three answers. In a clinic, that answer decides whether the supplier gets paid.</a:t>
            </a:r>
            <a:endParaRPr lang="en-US" sz="1600" dirty="0"/>
          </a:p>
        </p:txBody>
      </p:sp>
      <p:sp>
        <p:nvSpPr>
          <p:cNvPr id="9" name="Shape 7"/>
          <p:cNvSpPr/>
          <p:nvPr/>
        </p:nvSpPr>
        <p:spPr>
          <a:xfrm>
            <a:off x="761970" y="5460980"/>
            <a:ext cx="742950" cy="254020"/>
          </a:xfrm>
          <a:prstGeom prst="roundRect">
            <a:avLst>
              <a:gd name="adj" fmla="val 50000"/>
            </a:avLst>
          </a:prstGeom>
          <a:solidFill>
            <a:srgbClr val="5FD39A">
              <a:alpha val="16000"/>
            </a:srgbClr>
          </a:solidFill>
          <a:ln/>
        </p:spPr>
      </p:sp>
      <p:sp>
        <p:nvSpPr>
          <p:cNvPr id="10" name="Shape 8"/>
          <p:cNvSpPr/>
          <p:nvPr/>
        </p:nvSpPr>
        <p:spPr>
          <a:xfrm>
            <a:off x="888980" y="5556260"/>
            <a:ext cx="63459" cy="63459"/>
          </a:xfrm>
          <a:prstGeom prst="ellipse">
            <a:avLst/>
          </a:prstGeom>
          <a:solidFill>
            <a:srgbClr val="5FD39A"/>
          </a:solidFill>
          <a:ln/>
        </p:spPr>
      </p:sp>
      <p:sp>
        <p:nvSpPr>
          <p:cNvPr id="11" name="Text 8"/>
          <p:cNvSpPr/>
          <p:nvPr/>
        </p:nvSpPr>
        <p:spPr>
          <a:xfrm>
            <a:off x="1003280" y="5511820"/>
            <a:ext cx="42547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PASS</a:t>
            </a:r>
            <a:endParaRPr lang="en-US" sz="1000" dirty="0"/>
          </a:p>
        </p:txBody>
      </p:sp>
      <p:sp>
        <p:nvSpPr>
          <p:cNvPr id="12" name="Shape 10"/>
          <p:cNvSpPr/>
          <p:nvPr/>
        </p:nvSpPr>
        <p:spPr>
          <a:xfrm>
            <a:off x="1593891" y="5460980"/>
            <a:ext cx="1162020" cy="254020"/>
          </a:xfrm>
          <a:prstGeom prst="roundRect">
            <a:avLst>
              <a:gd name="adj" fmla="val 50000"/>
            </a:avLst>
          </a:prstGeom>
          <a:solidFill>
            <a:srgbClr val="E09A3A">
              <a:alpha val="16000"/>
            </a:srgbClr>
          </a:solidFill>
          <a:ln/>
        </p:spPr>
      </p:sp>
      <p:sp>
        <p:nvSpPr>
          <p:cNvPr id="13" name="Shape 11"/>
          <p:cNvSpPr/>
          <p:nvPr/>
        </p:nvSpPr>
        <p:spPr>
          <a:xfrm>
            <a:off x="1720809" y="5556260"/>
            <a:ext cx="63459" cy="63459"/>
          </a:xfrm>
          <a:prstGeom prst="ellipse">
            <a:avLst/>
          </a:prstGeom>
          <a:solidFill>
            <a:srgbClr val="E09A3A"/>
          </a:solidFill>
          <a:ln/>
        </p:spPr>
      </p:sp>
      <p:sp>
        <p:nvSpPr>
          <p:cNvPr id="14" name="Text 11"/>
          <p:cNvSpPr/>
          <p:nvPr/>
        </p:nvSpPr>
        <p:spPr>
          <a:xfrm>
            <a:off x="1835109" y="5511820"/>
            <a:ext cx="84454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NEEDS LAB</a:t>
            </a:r>
            <a:endParaRPr lang="en-US" sz="1000" dirty="0"/>
          </a:p>
        </p:txBody>
      </p:sp>
      <p:sp>
        <p:nvSpPr>
          <p:cNvPr id="15" name="Shape 13"/>
          <p:cNvSpPr/>
          <p:nvPr/>
        </p:nvSpPr>
        <p:spPr>
          <a:xfrm>
            <a:off x="2844790" y="5460980"/>
            <a:ext cx="1746230" cy="254020"/>
          </a:xfrm>
          <a:prstGeom prst="roundRect">
            <a:avLst>
              <a:gd name="adj" fmla="val 50000"/>
            </a:avLst>
          </a:prstGeom>
          <a:solidFill>
            <a:srgbClr val="9AA0A6">
              <a:alpha val="18000"/>
            </a:srgbClr>
          </a:solidFill>
          <a:ln/>
        </p:spPr>
      </p:sp>
      <p:sp>
        <p:nvSpPr>
          <p:cNvPr id="16" name="Shape 14"/>
          <p:cNvSpPr/>
          <p:nvPr/>
        </p:nvSpPr>
        <p:spPr>
          <a:xfrm>
            <a:off x="2971800" y="5556260"/>
            <a:ext cx="63459" cy="63459"/>
          </a:xfrm>
          <a:prstGeom prst="ellipse">
            <a:avLst/>
          </a:prstGeom>
          <a:solidFill>
            <a:srgbClr val="9AA0A6"/>
          </a:solidFill>
          <a:ln/>
        </p:spPr>
      </p:sp>
      <p:sp>
        <p:nvSpPr>
          <p:cNvPr id="17" name="Text 14"/>
          <p:cNvSpPr/>
          <p:nvPr/>
        </p:nvSpPr>
        <p:spPr>
          <a:xfrm>
            <a:off x="3086100" y="5511820"/>
            <a:ext cx="142875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UNABLE TO VERIFY</a:t>
            </a:r>
            <a:endParaRPr lang="en-US" sz="1000" dirty="0"/>
          </a:p>
        </p:txBody>
      </p:sp>
      <p:pic>
        <p:nvPicPr>
          <p:cNvPr id="18" name="Image 0" descr="Title: figma-art-binary-pill-1000">    </p:cNvPr>
          <p:cNvPicPr>
            <a:picLocks noChangeAspect="1"/>
          </p:cNvPicPr>
          <p:nvPr/>
        </p:nvPicPr>
        <p:blipFill>
          <a:blip r:embed="rId1"/>
          <a:stretch>
            <a:fillRect/>
          </a:stretch>
        </p:blipFill>
        <p:spPr>
          <a:xfrm>
            <a:off x="6349959" y="1079541"/>
            <a:ext cx="5080041" cy="4171950"/>
          </a:xfrm>
          <a:prstGeom prst="rect">
            <a:avLst/>
          </a:prstGeom>
        </p:spPr>
      </p:pic>
      <p:sp>
        <p:nvSpPr>
          <p:cNvPr id="19" name="Text 16"/>
          <p:cNvSpPr/>
          <p:nvPr/>
        </p:nvSpPr>
        <p:spPr>
          <a:xfrm>
            <a:off x="6349959" y="5397520"/>
            <a:ext cx="5080041"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Art · the site’s binary pill (pill.js), captured from pill-site.vercel.app</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MOMENT · DELIVERY D-1042 · REPLAY TM-02</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02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622341"/>
          </a:xfrm>
          <a:prstGeom prst="rect">
            <a:avLst/>
          </a:prstGeom>
          <a:noFill/>
          <a:ln/>
        </p:spPr>
        <p:txBody>
          <a:bodyPr wrap="square" lIns="0" tIns="0" rIns="0" bIns="0" rtlCol="0" anchor="t"/>
          <a:lstStyle/>
          <a:p>
            <a:pPr algn="l" indent="0" marL="0">
              <a:lnSpc>
                <a:spcPct val="100000"/>
              </a:lnSpc>
              <a:buNone/>
            </a:pPr>
            <a:r>
              <a:rPr lang="en-US" sz="4056" spc="-61" kern="0" dirty="0">
                <a:solidFill>
                  <a:srgbClr val="16181B"/>
                </a:solidFill>
                <a:latin typeface="Instrument Serif" pitchFamily="34" charset="0"/>
                <a:ea typeface="Instrument Serif" pitchFamily="34" charset="-122"/>
                <a:cs typeface="Instrument Serif" pitchFamily="34" charset="-120"/>
              </a:rPr>
              <a:t>Same label. </a:t>
            </a:r>
            <a:pPr algn="l" indent="0" marL="0">
              <a:lnSpc>
                <a:spcPct val="100000"/>
              </a:lnSpc>
              <a:buNone/>
            </a:pPr>
            <a:r>
              <a:rPr lang="en-US" sz="4056" i="1" spc="-61" kern="0" dirty="0">
                <a:solidFill>
                  <a:srgbClr val="16181B"/>
                </a:solidFill>
                <a:latin typeface="Instrument Serif" pitchFamily="34" charset="0"/>
                <a:ea typeface="Instrument Serif" pitchFamily="34" charset="-122"/>
                <a:cs typeface="Instrument Serif" pitchFamily="34" charset="-120"/>
              </a:rPr>
              <a:t>Chalk inside.</a:t>
            </a:r>
            <a:endParaRPr lang="en-US" sz="4056" dirty="0"/>
          </a:p>
        </p:txBody>
      </p:sp>
      <p:sp>
        <p:nvSpPr>
          <p:cNvPr id="11" name="Text 8"/>
          <p:cNvSpPr/>
          <p:nvPr/>
        </p:nvSpPr>
        <p:spPr>
          <a:xfrm>
            <a:off x="761970" y="1777959"/>
            <a:ext cx="8255020" cy="812810"/>
          </a:xfrm>
          <a:prstGeom prst="rect">
            <a:avLst/>
          </a:prstGeom>
          <a:noFill/>
          <a:ln/>
        </p:spPr>
        <p:txBody>
          <a:bodyPr wrap="square" lIns="0" tIns="0" rIns="0" bIns="0" rtlCol="0" anchor="t"/>
          <a:lstStyle/>
          <a:p>
            <a:pPr algn="l" indent="0" marL="0">
              <a:lnSpc>
                <a:spcPct val="145000"/>
              </a:lnSpc>
              <a:buNone/>
            </a:pPr>
            <a:r>
              <a:rPr lang="en-US" sz="1400" dirty="0">
                <a:solidFill>
                  <a:srgbClr val="4A4E55"/>
                </a:solidFill>
                <a:latin typeface="Inter" pitchFamily="34" charset="0"/>
                <a:ea typeface="Inter" pitchFamily="34" charset="-122"/>
                <a:cs typeface="Inter" pitchFamily="34" charset="-120"/>
              </a:rPr>
              <a:t>Clinic app replay of its simulated two-channel design. The bottle says vitamin B2. The blue line drops into the reference band, so a one-sensor tester would call it a pass. The 90° channel never moves.</a:t>
            </a:r>
            <a:endParaRPr lang="en-US" sz="1400" dirty="0"/>
          </a:p>
        </p:txBody>
      </p:sp>
      <p:sp>
        <p:nvSpPr>
          <p:cNvPr id="12" name="Shape 10"/>
          <p:cNvSpPr/>
          <p:nvPr/>
        </p:nvSpPr>
        <p:spPr>
          <a:xfrm>
            <a:off x="761970" y="2540020"/>
            <a:ext cx="6730990" cy="3556010"/>
          </a:xfrm>
          <a:prstGeom prst="roundRect">
            <a:avLst>
              <a:gd name="adj" fmla="val 4999"/>
            </a:avLst>
          </a:prstGeom>
          <a:solidFill>
            <a:srgbClr val="FFFFFF"/>
          </a:solidFill>
          <a:ln w="12700">
            <a:solidFill>
              <a:srgbClr val="16181B">
                <a:alpha val="10000"/>
              </a:srgbClr>
            </a:solidFill>
            <a:prstDash val="solid"/>
          </a:ln>
        </p:spPr>
      </p:sp>
      <p:sp>
        <p:nvSpPr>
          <p:cNvPr id="13" name="Shape 11"/>
          <p:cNvSpPr/>
          <p:nvPr/>
        </p:nvSpPr>
        <p:spPr>
          <a:xfrm>
            <a:off x="1587490" y="3556010"/>
            <a:ext cx="5333970" cy="482620"/>
          </a:xfrm>
          <a:prstGeom prst="rect">
            <a:avLst/>
          </a:prstGeom>
          <a:solidFill>
            <a:srgbClr val="4FB3FF">
              <a:alpha val="14000"/>
            </a:srgbClr>
          </a:solidFill>
          <a:ln/>
        </p:spPr>
      </p:sp>
      <p:sp>
        <p:nvSpPr>
          <p:cNvPr id="14" name="Shape 12"/>
          <p:cNvSpPr/>
          <p:nvPr/>
        </p:nvSpPr>
        <p:spPr>
          <a:xfrm>
            <a:off x="1574780" y="3543300"/>
            <a:ext cx="5359390" cy="25420"/>
          </a:xfrm>
          <a:custGeom>
            <a:avLst/>
            <a:gdLst/>
            <a:ahLst/>
            <a:cxnLst/>
            <a:rect l="l" t="t" r="r" b="b"/>
            <a:pathLst>
              <a:path w="5359390" h="25420">
                <a:moveTo>
                  <a:pt x="12710" y="12710"/>
                </a:moveTo>
                <a:lnTo>
                  <a:pt x="5346680" y="12710"/>
                </a:lnTo>
              </a:path>
            </a:pathLst>
          </a:custGeom>
          <a:ln w="12700">
            <a:solidFill>
              <a:srgbClr val="4FB3FF"/>
            </a:solidFill>
            <a:prstDash val="dash"/>
          </a:ln>
        </p:spPr>
      </p:sp>
      <p:sp>
        <p:nvSpPr>
          <p:cNvPr id="15" name="Shape 13"/>
          <p:cNvSpPr/>
          <p:nvPr/>
        </p:nvSpPr>
        <p:spPr>
          <a:xfrm>
            <a:off x="1574780" y="4025920"/>
            <a:ext cx="5359390" cy="25420"/>
          </a:xfrm>
          <a:custGeom>
            <a:avLst/>
            <a:gdLst/>
            <a:ahLst/>
            <a:cxnLst/>
            <a:rect l="l" t="t" r="r" b="b"/>
            <a:pathLst>
              <a:path w="5359390" h="25420">
                <a:moveTo>
                  <a:pt x="12710" y="12710"/>
                </a:moveTo>
                <a:lnTo>
                  <a:pt x="5346680" y="12710"/>
                </a:lnTo>
              </a:path>
            </a:pathLst>
          </a:custGeom>
          <a:ln w="12700">
            <a:solidFill>
              <a:srgbClr val="4FB3FF"/>
            </a:solidFill>
            <a:prstDash val="dash"/>
          </a:ln>
        </p:spPr>
      </p:sp>
      <p:sp>
        <p:nvSpPr>
          <p:cNvPr id="16" name="Shape 14"/>
          <p:cNvSpPr/>
          <p:nvPr/>
        </p:nvSpPr>
        <p:spPr>
          <a:xfrm>
            <a:off x="1574780" y="2844790"/>
            <a:ext cx="5359390" cy="2755910"/>
          </a:xfrm>
          <a:custGeom>
            <a:avLst/>
            <a:gdLst/>
            <a:ahLst/>
            <a:cxnLst/>
            <a:rect l="l" t="t" r="r" b="b"/>
            <a:pathLst>
              <a:path w="5359390" h="2755910">
                <a:moveTo>
                  <a:pt x="12710" y="12710"/>
                </a:moveTo>
                <a:lnTo>
                  <a:pt x="12710" y="2743200"/>
                </a:lnTo>
                <a:lnTo>
                  <a:pt x="5346680" y="2743200"/>
                </a:lnTo>
              </a:path>
            </a:pathLst>
          </a:custGeom>
          <a:ln w="12700">
            <a:solidFill>
              <a:srgbClr val="16181B"/>
            </a:solidFill>
            <a:prstDash val="solid"/>
          </a:ln>
        </p:spPr>
      </p:sp>
      <p:sp>
        <p:nvSpPr>
          <p:cNvPr id="17" name="Shape 15"/>
          <p:cNvSpPr/>
          <p:nvPr/>
        </p:nvSpPr>
        <p:spPr>
          <a:xfrm>
            <a:off x="1079541" y="2476470"/>
            <a:ext cx="6096030" cy="3556010"/>
          </a:xfrm>
          <a:custGeom>
            <a:avLst/>
            <a:gdLst/>
            <a:ahLst/>
            <a:cxnLst/>
            <a:rect l="l" t="t" r="r" b="b"/>
            <a:pathLst>
              <a:path w="6096030" h="3556010">
                <a:moveTo>
                  <a:pt x="508041" y="3111520"/>
                </a:moveTo>
                <a:cubicBezTo>
                  <a:pt x="1270010" y="2667030"/>
                  <a:pt x="1904970" y="1904970"/>
                  <a:pt x="2667030" y="1587490"/>
                </a:cubicBezTo>
                <a:cubicBezTo>
                  <a:pt x="3429000" y="1270010"/>
                  <a:pt x="4444990" y="1409730"/>
                  <a:pt x="5842010" y="1397020"/>
                </a:cubicBezTo>
              </a:path>
            </a:pathLst>
          </a:custGeom>
          <a:ln w="44450">
            <a:solidFill>
              <a:srgbClr val="4FB3FF"/>
            </a:solidFill>
            <a:prstDash val="solid"/>
          </a:ln>
        </p:spPr>
      </p:sp>
      <p:sp>
        <p:nvSpPr>
          <p:cNvPr id="18" name="Shape 16"/>
          <p:cNvSpPr/>
          <p:nvPr/>
        </p:nvSpPr>
        <p:spPr>
          <a:xfrm>
            <a:off x="1079541" y="2476470"/>
            <a:ext cx="6096030" cy="3556010"/>
          </a:xfrm>
          <a:custGeom>
            <a:avLst/>
            <a:gdLst/>
            <a:ahLst/>
            <a:cxnLst/>
            <a:rect l="l" t="t" r="r" b="b"/>
            <a:pathLst>
              <a:path w="6096030" h="3556010">
                <a:moveTo>
                  <a:pt x="508041" y="3086100"/>
                </a:moveTo>
                <a:cubicBezTo>
                  <a:pt x="1904970" y="3079791"/>
                  <a:pt x="3810030" y="3073390"/>
                  <a:pt x="5842010" y="3067080"/>
                </a:cubicBezTo>
              </a:path>
            </a:pathLst>
          </a:custGeom>
          <a:ln w="44450">
            <a:solidFill>
              <a:srgbClr val="5FD39A"/>
            </a:solidFill>
            <a:prstDash val="solid"/>
          </a:ln>
        </p:spPr>
      </p:sp>
      <p:sp>
        <p:nvSpPr>
          <p:cNvPr id="19" name="Text 16"/>
          <p:cNvSpPr/>
          <p:nvPr/>
        </p:nvSpPr>
        <p:spPr>
          <a:xfrm>
            <a:off x="4381530" y="3314700"/>
            <a:ext cx="2540020" cy="196870"/>
          </a:xfrm>
          <a:prstGeom prst="rect">
            <a:avLst/>
          </a:prstGeom>
          <a:noFill/>
          <a:ln/>
        </p:spPr>
        <p:txBody>
          <a:bodyPr wrap="square" lIns="0" tIns="0" rIns="0" bIns="0" rtlCol="0" anchor="t"/>
          <a:lstStyle/>
          <a:p>
            <a:pPr algn="r" indent="0" marL="0">
              <a:lnSpc>
                <a:spcPct val="140000"/>
              </a:lnSpc>
              <a:buNone/>
            </a:pPr>
            <a:r>
              <a:rPr lang="en-US" sz="950" dirty="0">
                <a:solidFill>
                  <a:srgbClr val="16181B"/>
                </a:solidFill>
                <a:latin typeface="JetBrains Mono" pitchFamily="34" charset="0"/>
                <a:ea typeface="JetBrains Mono" pitchFamily="34" charset="-122"/>
                <a:cs typeface="JetBrains Mono" pitchFamily="34" charset="-120"/>
              </a:rPr>
              <a:t>reference band 0.36–0.47</a:t>
            </a:r>
            <a:endParaRPr lang="en-US" sz="950" dirty="0"/>
          </a:p>
        </p:txBody>
      </p:sp>
      <p:sp>
        <p:nvSpPr>
          <p:cNvPr id="20" name="Text 17"/>
          <p:cNvSpPr/>
          <p:nvPr/>
        </p:nvSpPr>
        <p:spPr>
          <a:xfrm>
            <a:off x="4635459" y="4140220"/>
            <a:ext cx="2413010" cy="247620"/>
          </a:xfrm>
          <a:prstGeom prst="rect">
            <a:avLst/>
          </a:prstGeom>
          <a:noFill/>
          <a:ln/>
        </p:spPr>
        <p:txBody>
          <a:bodyPr wrap="square" lIns="0" tIns="0" rIns="0" bIns="0" rtlCol="0" anchor="t"/>
          <a:lstStyle/>
          <a:p>
            <a:pPr algn="l" indent="0" marL="0">
              <a:lnSpc>
                <a:spcPct val="140000"/>
              </a:lnSpc>
              <a:buNone/>
            </a:pPr>
            <a:r>
              <a:rPr lang="en-US" sz="1200" b="1" dirty="0">
                <a:solidFill>
                  <a:srgbClr val="16181B"/>
                </a:solidFill>
                <a:latin typeface="Inter" pitchFamily="34" charset="0"/>
                <a:ea typeface="Inter" pitchFamily="34" charset="-122"/>
                <a:cs typeface="Inter" pitchFamily="34" charset="-120"/>
              </a:rPr>
              <a:t>blue inline: in the band</a:t>
            </a:r>
            <a:endParaRPr lang="en-US" sz="1200" dirty="0"/>
          </a:p>
        </p:txBody>
      </p:sp>
      <p:sp>
        <p:nvSpPr>
          <p:cNvPr id="21" name="Text 18"/>
          <p:cNvSpPr/>
          <p:nvPr/>
        </p:nvSpPr>
        <p:spPr>
          <a:xfrm>
            <a:off x="4635459" y="5143500"/>
            <a:ext cx="2413010" cy="247620"/>
          </a:xfrm>
          <a:prstGeom prst="rect">
            <a:avLst/>
          </a:prstGeom>
          <a:noFill/>
          <a:ln/>
        </p:spPr>
        <p:txBody>
          <a:bodyPr wrap="square" lIns="0" tIns="0" rIns="0" bIns="0" rtlCol="0" anchor="t"/>
          <a:lstStyle/>
          <a:p>
            <a:pPr algn="l" indent="0" marL="0">
              <a:lnSpc>
                <a:spcPct val="140000"/>
              </a:lnSpc>
              <a:buNone/>
            </a:pPr>
            <a:r>
              <a:rPr lang="en-US" sz="1200" b="1" dirty="0">
                <a:solidFill>
                  <a:srgbClr val="16181B"/>
                </a:solidFill>
                <a:latin typeface="Inter" pitchFamily="34" charset="0"/>
                <a:ea typeface="Inter" pitchFamily="34" charset="-122"/>
                <a:cs typeface="Inter" pitchFamily="34" charset="-120"/>
              </a:rPr>
              <a:t>90° channel: flat</a:t>
            </a:r>
            <a:endParaRPr lang="en-US" sz="1200" dirty="0"/>
          </a:p>
        </p:txBody>
      </p:sp>
      <p:sp>
        <p:nvSpPr>
          <p:cNvPr id="22" name="Text 19"/>
          <p:cNvSpPr/>
          <p:nvPr/>
        </p:nvSpPr>
        <p:spPr>
          <a:xfrm>
            <a:off x="1587490" y="5676870"/>
            <a:ext cx="127001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0 s</a:t>
            </a:r>
            <a:endParaRPr lang="en-US" sz="850" dirty="0"/>
          </a:p>
        </p:txBody>
      </p:sp>
      <p:sp>
        <p:nvSpPr>
          <p:cNvPr id="23" name="Text 20"/>
          <p:cNvSpPr/>
          <p:nvPr/>
        </p:nvSpPr>
        <p:spPr>
          <a:xfrm>
            <a:off x="5651541" y="5676870"/>
            <a:ext cx="1270010" cy="177759"/>
          </a:xfrm>
          <a:prstGeom prst="rect">
            <a:avLst/>
          </a:prstGeom>
          <a:noFill/>
          <a:ln/>
        </p:spPr>
        <p:txBody>
          <a:bodyPr wrap="square" lIns="0" tIns="0" rIns="0" bIns="0" rtlCol="0" anchor="t"/>
          <a:lstStyle/>
          <a:p>
            <a:pPr algn="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180 s</a:t>
            </a:r>
            <a:endParaRPr lang="en-US" sz="850" dirty="0"/>
          </a:p>
        </p:txBody>
      </p:sp>
      <p:sp>
        <p:nvSpPr>
          <p:cNvPr id="24" name="Text 21"/>
          <p:cNvSpPr/>
          <p:nvPr/>
        </p:nvSpPr>
        <p:spPr>
          <a:xfrm>
            <a:off x="761970" y="6172200"/>
            <a:ext cx="6730990" cy="16514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Illustration · the shape of replay TM-02, redrawn; not live sensor data.</a:t>
            </a:r>
            <a:endParaRPr lang="en-US" sz="800" dirty="0"/>
          </a:p>
        </p:txBody>
      </p:sp>
      <p:sp>
        <p:nvSpPr>
          <p:cNvPr id="25" name="Shape 23"/>
          <p:cNvSpPr/>
          <p:nvPr/>
        </p:nvSpPr>
        <p:spPr>
          <a:xfrm>
            <a:off x="7873990" y="2540020"/>
            <a:ext cx="3556010" cy="3556010"/>
          </a:xfrm>
          <a:prstGeom prst="roundRect">
            <a:avLst>
              <a:gd name="adj" fmla="val 4999"/>
            </a:avLst>
          </a:prstGeom>
          <a:solidFill>
            <a:srgbClr val="E09A3A">
              <a:alpha val="16000"/>
            </a:srgbClr>
          </a:solidFill>
          <a:ln w="12700">
            <a:solidFill>
              <a:srgbClr val="E09A3A">
                <a:alpha val="40000"/>
              </a:srgbClr>
            </a:solidFill>
            <a:prstDash val="solid"/>
          </a:ln>
        </p:spPr>
      </p:sp>
      <p:sp>
        <p:nvSpPr>
          <p:cNvPr id="26" name="Text 23"/>
          <p:cNvSpPr/>
          <p:nvPr/>
        </p:nvSpPr>
        <p:spPr>
          <a:xfrm>
            <a:off x="8128010" y="2794041"/>
            <a:ext cx="3047970" cy="133320"/>
          </a:xfrm>
          <a:prstGeom prst="rect">
            <a:avLst/>
          </a:prstGeom>
          <a:noFill/>
          <a:ln/>
        </p:spPr>
        <p:txBody>
          <a:bodyPr wrap="square" lIns="0" tIns="0" rIns="0" bIns="0" rtlCol="0" anchor="t"/>
          <a:lstStyle/>
          <a:p>
            <a:pPr algn="l" indent="0" marL="0">
              <a:lnSpc>
                <a:spcPct val="120000"/>
              </a:lnSpc>
              <a:buNone/>
            </a:pPr>
            <a:r>
              <a:rPr lang="en-US" sz="750" spc="45" kern="0" dirty="0">
                <a:solidFill>
                  <a:srgbClr val="4A4E55"/>
                </a:solidFill>
                <a:latin typeface="JetBrains Mono" pitchFamily="34" charset="0"/>
                <a:ea typeface="JetBrains Mono" pitchFamily="34" charset="-122"/>
                <a:cs typeface="JetBrains Mono" pitchFamily="34" charset="-120"/>
              </a:rPr>
              <a:t>RULE N2 · INLINE MOVED, 90° DID NOT RISE</a:t>
            </a:r>
            <a:endParaRPr lang="en-US" sz="750" dirty="0"/>
          </a:p>
        </p:txBody>
      </p:sp>
      <p:sp>
        <p:nvSpPr>
          <p:cNvPr id="27" name="Text 24"/>
          <p:cNvSpPr/>
          <p:nvPr/>
        </p:nvSpPr>
        <p:spPr>
          <a:xfrm>
            <a:off x="8128010" y="3098810"/>
            <a:ext cx="3047970" cy="571500"/>
          </a:xfrm>
          <a:prstGeom prst="rect">
            <a:avLst/>
          </a:prstGeom>
          <a:noFill/>
          <a:ln/>
        </p:spPr>
        <p:txBody>
          <a:bodyPr wrap="square" lIns="0" tIns="0" rIns="0" bIns="0" rtlCol="0" anchor="t"/>
          <a:lstStyle/>
          <a:p>
            <a:pPr algn="l" indent="0" marL="0">
              <a:lnSpc>
                <a:spcPct val="100000"/>
              </a:lnSpc>
              <a:buNone/>
            </a:pPr>
            <a:r>
              <a:rPr lang="en-US" sz="3744" spc="-56" kern="0" dirty="0">
                <a:solidFill>
                  <a:srgbClr val="16181B"/>
                </a:solidFill>
                <a:latin typeface="Instrument Serif" pitchFamily="34" charset="0"/>
                <a:ea typeface="Instrument Serif" pitchFamily="34" charset="-122"/>
                <a:cs typeface="Instrument Serif" pitchFamily="34" charset="-120"/>
              </a:rPr>
              <a:t>NEEDS LAB</a:t>
            </a:r>
            <a:endParaRPr lang="en-US" sz="3744" dirty="0"/>
          </a:p>
        </p:txBody>
      </p:sp>
      <p:sp>
        <p:nvSpPr>
          <p:cNvPr id="28" name="Text 25"/>
          <p:cNvSpPr/>
          <p:nvPr/>
        </p:nvSpPr>
        <p:spPr>
          <a:xfrm>
            <a:off x="8128010" y="3860780"/>
            <a:ext cx="3047970" cy="514350"/>
          </a:xfrm>
          <a:prstGeom prst="rect">
            <a:avLst/>
          </a:prstGeom>
          <a:noFill/>
          <a:ln/>
        </p:spPr>
        <p:txBody>
          <a:bodyPr wrap="square" lIns="0" tIns="0" rIns="0" bIns="0" rtlCol="0" anchor="t"/>
          <a:lstStyle/>
          <a:p>
            <a:pPr algn="l" indent="0" marL="0">
              <a:lnSpc>
                <a:spcPct val="145000"/>
              </a:lnSpc>
              <a:buNone/>
            </a:pPr>
            <a:r>
              <a:rPr lang="en-US" sz="1300" dirty="0">
                <a:solidFill>
                  <a:srgbClr val="16181B"/>
                </a:solidFill>
                <a:latin typeface="Inter" pitchFamily="34" charset="0"/>
                <a:ea typeface="Inter" pitchFamily="34" charset="-122"/>
                <a:cs typeface="Inter" pitchFamily="34" charset="-120"/>
              </a:rPr>
              <a:t>A one-sensor tester would have passed it.</a:t>
            </a:r>
            <a:endParaRPr lang="en-US" sz="1300" dirty="0"/>
          </a:p>
        </p:txBody>
      </p:sp>
      <p:sp>
        <p:nvSpPr>
          <p:cNvPr id="29" name="Shape 27"/>
          <p:cNvSpPr/>
          <p:nvPr/>
        </p:nvSpPr>
        <p:spPr>
          <a:xfrm>
            <a:off x="8128010" y="4495830"/>
            <a:ext cx="3047970" cy="12710"/>
          </a:xfrm>
          <a:prstGeom prst="rect">
            <a:avLst/>
          </a:prstGeom>
          <a:solidFill>
            <a:srgbClr val="E09A3A"/>
          </a:solidFill>
          <a:ln/>
        </p:spPr>
      </p:sp>
      <p:sp>
        <p:nvSpPr>
          <p:cNvPr id="30" name="Text 27"/>
          <p:cNvSpPr/>
          <p:nvPr/>
        </p:nvSpPr>
        <p:spPr>
          <a:xfrm>
            <a:off x="8128010" y="4673590"/>
            <a:ext cx="3047970" cy="152430"/>
          </a:xfrm>
          <a:prstGeom prst="rect">
            <a:avLst/>
          </a:prstGeom>
          <a:noFill/>
          <a:ln/>
        </p:spPr>
        <p:txBody>
          <a:bodyPr wrap="square" lIns="0" tIns="0" rIns="0" bIns="0" rtlCol="0" anchor="t"/>
          <a:lstStyle/>
          <a:p>
            <a:pPr algn="l" indent="0" marL="0">
              <a:lnSpc>
                <a:spcPct val="120000"/>
              </a:lnSpc>
              <a:buNone/>
            </a:pPr>
            <a:r>
              <a:rPr lang="en-US" sz="850" spc="85" kern="0" dirty="0">
                <a:solidFill>
                  <a:srgbClr val="4A4E55"/>
                </a:solidFill>
                <a:latin typeface="JetBrains Mono" pitchFamily="34" charset="0"/>
                <a:ea typeface="JetBrains Mono" pitchFamily="34" charset="-122"/>
                <a:cs typeface="JetBrains Mono" pitchFamily="34" charset="-120"/>
              </a:rPr>
              <a:t>POLICY P2 · HOLD, DRAFT THE LAB REFERRAL</a:t>
            </a:r>
            <a:endParaRPr lang="en-US" sz="850" dirty="0"/>
          </a:p>
        </p:txBody>
      </p:sp>
      <p:sp>
        <p:nvSpPr>
          <p:cNvPr id="31" name="Text 28"/>
          <p:cNvSpPr/>
          <p:nvPr/>
        </p:nvSpPr>
        <p:spPr>
          <a:xfrm>
            <a:off x="8128010" y="4953030"/>
            <a:ext cx="3047970" cy="431780"/>
          </a:xfrm>
          <a:prstGeom prst="rect">
            <a:avLst/>
          </a:prstGeom>
          <a:noFill/>
          <a:ln/>
        </p:spPr>
        <p:txBody>
          <a:bodyPr wrap="square" lIns="0" tIns="0" rIns="0" bIns="0" rtlCol="0" anchor="t"/>
          <a:lstStyle/>
          <a:p>
            <a:pPr algn="l" indent="0" marL="0">
              <a:lnSpc>
                <a:spcPct val="110000"/>
              </a:lnSpc>
              <a:buNone/>
            </a:pPr>
            <a:r>
              <a:rPr lang="en-US" sz="2600" dirty="0">
                <a:solidFill>
                  <a:srgbClr val="16181B"/>
                </a:solidFill>
                <a:latin typeface="JetBrains Mono" pitchFamily="34" charset="0"/>
                <a:ea typeface="JetBrains Mono" pitchFamily="34" charset="-122"/>
                <a:cs typeface="JetBrains Mono" pitchFamily="34" charset="-120"/>
              </a:rPr>
              <a:t>$480.00 held</a:t>
            </a:r>
            <a:endParaRPr lang="en-US" sz="2600" dirty="0"/>
          </a:p>
        </p:txBody>
      </p:sp>
      <p:sp>
        <p:nvSpPr>
          <p:cNvPr id="32" name="Shape 30"/>
          <p:cNvSpPr/>
          <p:nvPr/>
        </p:nvSpPr>
        <p:spPr>
          <a:xfrm>
            <a:off x="8128010" y="5562570"/>
            <a:ext cx="1619220" cy="254020"/>
          </a:xfrm>
          <a:prstGeom prst="roundRect">
            <a:avLst>
              <a:gd name="adj" fmla="val 50000"/>
            </a:avLst>
          </a:prstGeom>
          <a:solidFill>
            <a:srgbClr val="9AA0A6">
              <a:alpha val="18000"/>
            </a:srgbClr>
          </a:solidFill>
          <a:ln/>
        </p:spPr>
      </p:sp>
      <p:sp>
        <p:nvSpPr>
          <p:cNvPr id="33" name="Text 30"/>
          <p:cNvSpPr/>
          <p:nvPr/>
        </p:nvSpPr>
        <p:spPr>
          <a:xfrm>
            <a:off x="8128010" y="5613410"/>
            <a:ext cx="1619220" cy="177759"/>
          </a:xfrm>
          <a:prstGeom prst="rect">
            <a:avLst/>
          </a:prstGeom>
          <a:noFill/>
          <a:ln/>
        </p:spPr>
        <p:txBody>
          <a:bodyPr wrap="square" lIns="0" tIns="0" rIns="0" bIns="0" rtlCol="0" anchor="t"/>
          <a:lstStyle/>
          <a:p>
            <a:pPr algn="ctr"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SANDBOX · REPLAY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PROBLEM</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03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6349959" cy="895380"/>
          </a:xfrm>
          <a:prstGeom prst="rect">
            <a:avLst/>
          </a:prstGeom>
          <a:noFill/>
          <a:ln/>
        </p:spPr>
        <p:txBody>
          <a:bodyPr wrap="square" lIns="0" tIns="0" rIns="0" bIns="0" rtlCol="0" anchor="t"/>
          <a:lstStyle/>
          <a:p>
            <a:pPr algn="l" indent="0" marL="0">
              <a:lnSpc>
                <a:spcPct val="100000"/>
              </a:lnSpc>
              <a:buNone/>
            </a:pPr>
            <a:r>
              <a:rPr lang="en-US" sz="5850" spc="-88" kern="0" dirty="0">
                <a:solidFill>
                  <a:srgbClr val="16181B"/>
                </a:solidFill>
                <a:latin typeface="Instrument Serif" pitchFamily="34" charset="0"/>
                <a:ea typeface="Instrument Serif" pitchFamily="34" charset="-122"/>
                <a:cs typeface="Instrument Serif" pitchFamily="34" charset="-120"/>
              </a:rPr>
              <a:t>One in ten.</a:t>
            </a:r>
            <a:endParaRPr lang="en-US" sz="5850" dirty="0"/>
          </a:p>
        </p:txBody>
      </p:sp>
      <p:sp>
        <p:nvSpPr>
          <p:cNvPr id="11" name="Text 8"/>
          <p:cNvSpPr/>
          <p:nvPr/>
        </p:nvSpPr>
        <p:spPr>
          <a:xfrm>
            <a:off x="761970" y="2095530"/>
            <a:ext cx="8889980" cy="590520"/>
          </a:xfrm>
          <a:prstGeom prst="rect">
            <a:avLst/>
          </a:prstGeom>
          <a:noFill/>
          <a:ln/>
        </p:spPr>
        <p:txBody>
          <a:bodyPr wrap="square" lIns="0" tIns="0" rIns="0" bIns="0" rtlCol="0" anchor="t"/>
          <a:lstStyle/>
          <a:p>
            <a:pPr algn="l" indent="0" marL="0">
              <a:lnSpc>
                <a:spcPct val="145000"/>
              </a:lnSpc>
              <a:buNone/>
            </a:pPr>
            <a:r>
              <a:rPr lang="en-US" sz="1500" dirty="0">
                <a:solidFill>
                  <a:srgbClr val="4A4E55"/>
                </a:solidFill>
                <a:latin typeface="Inter" pitchFamily="34" charset="0"/>
                <a:ea typeface="Inter" pitchFamily="34" charset="-122"/>
                <a:cs typeface="Inter" pitchFamily="34" charset="-120"/>
              </a:rPr>
              <a:t>WHO estimates 1 in 10 medical products in low- and middle-income countries is substandard or falsified. The lab instrument that catches one costs $20,000 to $100,000.</a:t>
            </a:r>
            <a:endParaRPr lang="en-US" sz="1500" dirty="0"/>
          </a:p>
        </p:txBody>
      </p:sp>
      <p:sp>
        <p:nvSpPr>
          <p:cNvPr id="12" name="Shape 10"/>
          <p:cNvSpPr/>
          <p:nvPr/>
        </p:nvSpPr>
        <p:spPr>
          <a:xfrm>
            <a:off x="1035009" y="2959090"/>
            <a:ext cx="634959" cy="1460480"/>
          </a:xfrm>
          <a:prstGeom prst="roundRect">
            <a:avLst>
              <a:gd name="adj" fmla="val 50000"/>
            </a:avLst>
          </a:prstGeom>
          <a:solidFill>
            <a:srgbClr val="FFFFFF"/>
          </a:solidFill>
          <a:ln/>
        </p:spPr>
      </p:sp>
      <p:sp>
        <p:nvSpPr>
          <p:cNvPr id="13" name="Shape 11"/>
          <p:cNvSpPr/>
          <p:nvPr/>
        </p:nvSpPr>
        <p:spPr>
          <a:xfrm>
            <a:off x="1035009"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14" name="Shape 12"/>
          <p:cNvSpPr/>
          <p:nvPr/>
        </p:nvSpPr>
        <p:spPr>
          <a:xfrm>
            <a:off x="1035009" y="2959090"/>
            <a:ext cx="634959" cy="1460480"/>
          </a:xfrm>
          <a:prstGeom prst="roundRect">
            <a:avLst>
              <a:gd name="adj" fmla="val 50000"/>
            </a:avLst>
          </a:prstGeom>
          <a:ln w="19050">
            <a:solidFill>
              <a:srgbClr val="16181B">
                <a:alpha val="22000"/>
              </a:srgbClr>
            </a:solidFill>
            <a:prstDash val="solid"/>
          </a:ln>
        </p:spPr>
      </p:sp>
      <p:sp>
        <p:nvSpPr>
          <p:cNvPr id="15" name="Shape 13"/>
          <p:cNvSpPr/>
          <p:nvPr/>
        </p:nvSpPr>
        <p:spPr>
          <a:xfrm>
            <a:off x="2089130" y="2959090"/>
            <a:ext cx="634959" cy="1460480"/>
          </a:xfrm>
          <a:prstGeom prst="roundRect">
            <a:avLst>
              <a:gd name="adj" fmla="val 50000"/>
            </a:avLst>
          </a:prstGeom>
          <a:solidFill>
            <a:srgbClr val="FFFFFF"/>
          </a:solidFill>
          <a:ln/>
        </p:spPr>
      </p:sp>
      <p:sp>
        <p:nvSpPr>
          <p:cNvPr id="16" name="Shape 14"/>
          <p:cNvSpPr/>
          <p:nvPr/>
        </p:nvSpPr>
        <p:spPr>
          <a:xfrm>
            <a:off x="208913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17" name="Shape 15"/>
          <p:cNvSpPr/>
          <p:nvPr/>
        </p:nvSpPr>
        <p:spPr>
          <a:xfrm>
            <a:off x="2089130" y="2959090"/>
            <a:ext cx="634959" cy="1460480"/>
          </a:xfrm>
          <a:prstGeom prst="roundRect">
            <a:avLst>
              <a:gd name="adj" fmla="val 50000"/>
            </a:avLst>
          </a:prstGeom>
          <a:ln w="19050">
            <a:solidFill>
              <a:srgbClr val="16181B">
                <a:alpha val="22000"/>
              </a:srgbClr>
            </a:solidFill>
            <a:prstDash val="solid"/>
          </a:ln>
        </p:spPr>
      </p:sp>
      <p:sp>
        <p:nvSpPr>
          <p:cNvPr id="18" name="Shape 16"/>
          <p:cNvSpPr/>
          <p:nvPr/>
        </p:nvSpPr>
        <p:spPr>
          <a:xfrm>
            <a:off x="3143250" y="2959090"/>
            <a:ext cx="634959" cy="1460480"/>
          </a:xfrm>
          <a:prstGeom prst="roundRect">
            <a:avLst>
              <a:gd name="adj" fmla="val 50000"/>
            </a:avLst>
          </a:prstGeom>
          <a:solidFill>
            <a:srgbClr val="FFFFFF"/>
          </a:solidFill>
          <a:ln/>
        </p:spPr>
      </p:sp>
      <p:sp>
        <p:nvSpPr>
          <p:cNvPr id="19" name="Shape 17"/>
          <p:cNvSpPr/>
          <p:nvPr/>
        </p:nvSpPr>
        <p:spPr>
          <a:xfrm>
            <a:off x="314325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20" name="Shape 18"/>
          <p:cNvSpPr/>
          <p:nvPr/>
        </p:nvSpPr>
        <p:spPr>
          <a:xfrm>
            <a:off x="3143250" y="2959090"/>
            <a:ext cx="634959" cy="1460480"/>
          </a:xfrm>
          <a:prstGeom prst="roundRect">
            <a:avLst>
              <a:gd name="adj" fmla="val 50000"/>
            </a:avLst>
          </a:prstGeom>
          <a:ln w="19050">
            <a:solidFill>
              <a:srgbClr val="16181B">
                <a:alpha val="22000"/>
              </a:srgbClr>
            </a:solidFill>
            <a:prstDash val="solid"/>
          </a:ln>
        </p:spPr>
      </p:sp>
      <p:sp>
        <p:nvSpPr>
          <p:cNvPr id="21" name="Shape 19"/>
          <p:cNvSpPr/>
          <p:nvPr/>
        </p:nvSpPr>
        <p:spPr>
          <a:xfrm>
            <a:off x="4197370" y="2959090"/>
            <a:ext cx="634959" cy="1460480"/>
          </a:xfrm>
          <a:prstGeom prst="roundRect">
            <a:avLst>
              <a:gd name="adj" fmla="val 50000"/>
            </a:avLst>
          </a:prstGeom>
          <a:solidFill>
            <a:srgbClr val="FFFFFF"/>
          </a:solidFill>
          <a:ln/>
        </p:spPr>
      </p:sp>
      <p:sp>
        <p:nvSpPr>
          <p:cNvPr id="22" name="Shape 20"/>
          <p:cNvSpPr/>
          <p:nvPr/>
        </p:nvSpPr>
        <p:spPr>
          <a:xfrm>
            <a:off x="419737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23" name="Shape 21"/>
          <p:cNvSpPr/>
          <p:nvPr/>
        </p:nvSpPr>
        <p:spPr>
          <a:xfrm>
            <a:off x="4197370" y="2959090"/>
            <a:ext cx="634959" cy="1460480"/>
          </a:xfrm>
          <a:prstGeom prst="roundRect">
            <a:avLst>
              <a:gd name="adj" fmla="val 50000"/>
            </a:avLst>
          </a:prstGeom>
          <a:ln w="19050">
            <a:solidFill>
              <a:srgbClr val="16181B">
                <a:alpha val="22000"/>
              </a:srgbClr>
            </a:solidFill>
            <a:prstDash val="solid"/>
          </a:ln>
        </p:spPr>
      </p:sp>
      <p:sp>
        <p:nvSpPr>
          <p:cNvPr id="24" name="Shape 22"/>
          <p:cNvSpPr/>
          <p:nvPr/>
        </p:nvSpPr>
        <p:spPr>
          <a:xfrm>
            <a:off x="5251491" y="2959090"/>
            <a:ext cx="634959" cy="1460480"/>
          </a:xfrm>
          <a:prstGeom prst="roundRect">
            <a:avLst>
              <a:gd name="adj" fmla="val 50000"/>
            </a:avLst>
          </a:prstGeom>
          <a:solidFill>
            <a:srgbClr val="FFFFFF"/>
          </a:solidFill>
          <a:ln/>
        </p:spPr>
      </p:sp>
      <p:sp>
        <p:nvSpPr>
          <p:cNvPr id="25" name="Shape 23"/>
          <p:cNvSpPr/>
          <p:nvPr/>
        </p:nvSpPr>
        <p:spPr>
          <a:xfrm>
            <a:off x="5251491"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26" name="Shape 24"/>
          <p:cNvSpPr/>
          <p:nvPr/>
        </p:nvSpPr>
        <p:spPr>
          <a:xfrm>
            <a:off x="5251491" y="2959090"/>
            <a:ext cx="634959" cy="1460480"/>
          </a:xfrm>
          <a:prstGeom prst="roundRect">
            <a:avLst>
              <a:gd name="adj" fmla="val 50000"/>
            </a:avLst>
          </a:prstGeom>
          <a:ln w="19050">
            <a:solidFill>
              <a:srgbClr val="16181B">
                <a:alpha val="22000"/>
              </a:srgbClr>
            </a:solidFill>
            <a:prstDash val="solid"/>
          </a:ln>
        </p:spPr>
      </p:sp>
      <p:sp>
        <p:nvSpPr>
          <p:cNvPr id="27" name="Shape 25"/>
          <p:cNvSpPr/>
          <p:nvPr/>
        </p:nvSpPr>
        <p:spPr>
          <a:xfrm>
            <a:off x="6305520" y="2959090"/>
            <a:ext cx="634959" cy="1460480"/>
          </a:xfrm>
          <a:prstGeom prst="roundRect">
            <a:avLst>
              <a:gd name="adj" fmla="val 50000"/>
            </a:avLst>
          </a:prstGeom>
          <a:solidFill>
            <a:srgbClr val="FFFFFF"/>
          </a:solidFill>
          <a:ln/>
        </p:spPr>
      </p:sp>
      <p:sp>
        <p:nvSpPr>
          <p:cNvPr id="28" name="Shape 26"/>
          <p:cNvSpPr/>
          <p:nvPr/>
        </p:nvSpPr>
        <p:spPr>
          <a:xfrm>
            <a:off x="630552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29" name="Shape 27"/>
          <p:cNvSpPr/>
          <p:nvPr/>
        </p:nvSpPr>
        <p:spPr>
          <a:xfrm>
            <a:off x="6305520" y="2959090"/>
            <a:ext cx="634959" cy="1460480"/>
          </a:xfrm>
          <a:prstGeom prst="roundRect">
            <a:avLst>
              <a:gd name="adj" fmla="val 50000"/>
            </a:avLst>
          </a:prstGeom>
          <a:ln w="19050">
            <a:solidFill>
              <a:srgbClr val="16181B">
                <a:alpha val="22000"/>
              </a:srgbClr>
            </a:solidFill>
            <a:prstDash val="solid"/>
          </a:ln>
        </p:spPr>
      </p:sp>
      <p:sp>
        <p:nvSpPr>
          <p:cNvPr id="30" name="Shape 28"/>
          <p:cNvSpPr/>
          <p:nvPr/>
        </p:nvSpPr>
        <p:spPr>
          <a:xfrm>
            <a:off x="7359640" y="2959090"/>
            <a:ext cx="634959" cy="1460480"/>
          </a:xfrm>
          <a:prstGeom prst="roundRect">
            <a:avLst>
              <a:gd name="adj" fmla="val 50000"/>
            </a:avLst>
          </a:prstGeom>
          <a:solidFill>
            <a:srgbClr val="E09A3A">
              <a:alpha val="16000"/>
            </a:srgbClr>
          </a:solidFill>
          <a:ln/>
        </p:spPr>
      </p:sp>
      <p:sp>
        <p:nvSpPr>
          <p:cNvPr id="31" name="Shape 29"/>
          <p:cNvSpPr/>
          <p:nvPr/>
        </p:nvSpPr>
        <p:spPr>
          <a:xfrm>
            <a:off x="735964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E09A3A"/>
          </a:solidFill>
          <a:ln/>
        </p:spPr>
      </p:sp>
      <p:sp>
        <p:nvSpPr>
          <p:cNvPr id="32" name="Shape 30"/>
          <p:cNvSpPr/>
          <p:nvPr/>
        </p:nvSpPr>
        <p:spPr>
          <a:xfrm>
            <a:off x="7359640" y="2959090"/>
            <a:ext cx="634959" cy="1460480"/>
          </a:xfrm>
          <a:prstGeom prst="roundRect">
            <a:avLst>
              <a:gd name="adj" fmla="val 50000"/>
            </a:avLst>
          </a:prstGeom>
          <a:ln w="25400">
            <a:solidFill>
              <a:srgbClr val="E09A3A"/>
            </a:solidFill>
            <a:prstDash val="solid"/>
          </a:ln>
        </p:spPr>
      </p:sp>
      <p:sp>
        <p:nvSpPr>
          <p:cNvPr id="33" name="Shape 31"/>
          <p:cNvSpPr/>
          <p:nvPr/>
        </p:nvSpPr>
        <p:spPr>
          <a:xfrm>
            <a:off x="8413760" y="2959090"/>
            <a:ext cx="634959" cy="1460480"/>
          </a:xfrm>
          <a:prstGeom prst="roundRect">
            <a:avLst>
              <a:gd name="adj" fmla="val 50000"/>
            </a:avLst>
          </a:prstGeom>
          <a:solidFill>
            <a:srgbClr val="FFFFFF"/>
          </a:solidFill>
          <a:ln/>
        </p:spPr>
      </p:sp>
      <p:sp>
        <p:nvSpPr>
          <p:cNvPr id="34" name="Shape 32"/>
          <p:cNvSpPr/>
          <p:nvPr/>
        </p:nvSpPr>
        <p:spPr>
          <a:xfrm>
            <a:off x="841376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35" name="Shape 33"/>
          <p:cNvSpPr/>
          <p:nvPr/>
        </p:nvSpPr>
        <p:spPr>
          <a:xfrm>
            <a:off x="8413760" y="2959090"/>
            <a:ext cx="634959" cy="1460480"/>
          </a:xfrm>
          <a:prstGeom prst="roundRect">
            <a:avLst>
              <a:gd name="adj" fmla="val 50000"/>
            </a:avLst>
          </a:prstGeom>
          <a:ln w="19050">
            <a:solidFill>
              <a:srgbClr val="16181B">
                <a:alpha val="22000"/>
              </a:srgbClr>
            </a:solidFill>
            <a:prstDash val="solid"/>
          </a:ln>
        </p:spPr>
      </p:sp>
      <p:sp>
        <p:nvSpPr>
          <p:cNvPr id="36" name="Shape 34"/>
          <p:cNvSpPr/>
          <p:nvPr/>
        </p:nvSpPr>
        <p:spPr>
          <a:xfrm>
            <a:off x="9467880" y="2959090"/>
            <a:ext cx="634959" cy="1460480"/>
          </a:xfrm>
          <a:prstGeom prst="roundRect">
            <a:avLst>
              <a:gd name="adj" fmla="val 50000"/>
            </a:avLst>
          </a:prstGeom>
          <a:solidFill>
            <a:srgbClr val="FFFFFF"/>
          </a:solidFill>
          <a:ln/>
        </p:spPr>
      </p:sp>
      <p:sp>
        <p:nvSpPr>
          <p:cNvPr id="37" name="Shape 35"/>
          <p:cNvSpPr/>
          <p:nvPr/>
        </p:nvSpPr>
        <p:spPr>
          <a:xfrm>
            <a:off x="946788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38" name="Shape 36"/>
          <p:cNvSpPr/>
          <p:nvPr/>
        </p:nvSpPr>
        <p:spPr>
          <a:xfrm>
            <a:off x="9467880" y="2959090"/>
            <a:ext cx="634959" cy="1460480"/>
          </a:xfrm>
          <a:prstGeom prst="roundRect">
            <a:avLst>
              <a:gd name="adj" fmla="val 50000"/>
            </a:avLst>
          </a:prstGeom>
          <a:ln w="19050">
            <a:solidFill>
              <a:srgbClr val="16181B">
                <a:alpha val="22000"/>
              </a:srgbClr>
            </a:solidFill>
            <a:prstDash val="solid"/>
          </a:ln>
        </p:spPr>
      </p:sp>
      <p:sp>
        <p:nvSpPr>
          <p:cNvPr id="39" name="Shape 37"/>
          <p:cNvSpPr/>
          <p:nvPr/>
        </p:nvSpPr>
        <p:spPr>
          <a:xfrm>
            <a:off x="10521909" y="2959090"/>
            <a:ext cx="634959" cy="1460480"/>
          </a:xfrm>
          <a:prstGeom prst="roundRect">
            <a:avLst>
              <a:gd name="adj" fmla="val 50000"/>
            </a:avLst>
          </a:prstGeom>
          <a:solidFill>
            <a:srgbClr val="FFFFFF"/>
          </a:solidFill>
          <a:ln/>
        </p:spPr>
      </p:sp>
      <p:sp>
        <p:nvSpPr>
          <p:cNvPr id="40" name="Shape 38"/>
          <p:cNvSpPr/>
          <p:nvPr/>
        </p:nvSpPr>
        <p:spPr>
          <a:xfrm>
            <a:off x="10521909"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41" name="Shape 39"/>
          <p:cNvSpPr/>
          <p:nvPr/>
        </p:nvSpPr>
        <p:spPr>
          <a:xfrm>
            <a:off x="10521909" y="2959090"/>
            <a:ext cx="634959" cy="1460480"/>
          </a:xfrm>
          <a:prstGeom prst="roundRect">
            <a:avLst>
              <a:gd name="adj" fmla="val 50000"/>
            </a:avLst>
          </a:prstGeom>
          <a:ln w="19050">
            <a:solidFill>
              <a:srgbClr val="16181B">
                <a:alpha val="22000"/>
              </a:srgbClr>
            </a:solidFill>
            <a:prstDash val="solid"/>
          </a:ln>
        </p:spPr>
      </p:sp>
      <p:sp>
        <p:nvSpPr>
          <p:cNvPr id="42" name="Text 19"/>
          <p:cNvSpPr/>
          <p:nvPr/>
        </p:nvSpPr>
        <p:spPr>
          <a:xfrm>
            <a:off x="1035009" y="4546580"/>
            <a:ext cx="1015999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Illustration · one tablet in ten. WHO, 2017: substandard and falsified products counted together.</a:t>
            </a:r>
            <a:endParaRPr lang="en-US" sz="850" dirty="0"/>
          </a:p>
        </p:txBody>
      </p:sp>
      <p:sp>
        <p:nvSpPr>
          <p:cNvPr id="43" name="Shape 41"/>
          <p:cNvSpPr/>
          <p:nvPr/>
        </p:nvSpPr>
        <p:spPr>
          <a:xfrm>
            <a:off x="761970" y="4953030"/>
            <a:ext cx="355610" cy="38130"/>
          </a:xfrm>
          <a:prstGeom prst="roundRect">
            <a:avLst>
              <a:gd name="adj" fmla="val 49881"/>
            </a:avLst>
          </a:prstGeom>
          <a:solidFill>
            <a:srgbClr val="E09A3A"/>
          </a:solidFill>
          <a:ln/>
        </p:spPr>
      </p:sp>
      <p:sp>
        <p:nvSpPr>
          <p:cNvPr id="44" name="Text 21"/>
          <p:cNvSpPr/>
          <p:nvPr/>
        </p:nvSpPr>
        <p:spPr>
          <a:xfrm>
            <a:off x="761970" y="5092659"/>
            <a:ext cx="3301990" cy="381030"/>
          </a:xfrm>
          <a:prstGeom prst="rect">
            <a:avLst/>
          </a:prstGeom>
          <a:noFill/>
          <a:ln/>
        </p:spPr>
        <p:txBody>
          <a:bodyPr wrap="square" lIns="0" tIns="0" rIns="0" bIns="0" rtlCol="0" anchor="t"/>
          <a:lstStyle/>
          <a:p>
            <a:pPr algn="l" indent="0" marL="0">
              <a:lnSpc>
                <a:spcPct val="100000"/>
              </a:lnSpc>
              <a:buNone/>
            </a:pPr>
            <a:r>
              <a:rPr lang="en-US" sz="2496" dirty="0">
                <a:solidFill>
                  <a:srgbClr val="16181B"/>
                </a:solidFill>
                <a:latin typeface="Instrument Serif" pitchFamily="34" charset="0"/>
                <a:ea typeface="Instrument Serif" pitchFamily="34" charset="-122"/>
                <a:cs typeface="Instrument Serif" pitchFamily="34" charset="-120"/>
              </a:rPr>
              <a:t>116,000</a:t>
            </a:r>
            <a:endParaRPr lang="en-US" sz="2496" dirty="0"/>
          </a:p>
        </p:txBody>
      </p:sp>
      <p:sp>
        <p:nvSpPr>
          <p:cNvPr id="45" name="Text 22"/>
          <p:cNvSpPr/>
          <p:nvPr/>
        </p:nvSpPr>
        <p:spPr>
          <a:xfrm>
            <a:off x="761970" y="5562570"/>
            <a:ext cx="3301990" cy="508041"/>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extra malaria deaths a year in sub-Saharan Africa, modelled central estimate, from substandard and falsified antimalarials (range 64,000–158,000)</a:t>
            </a:r>
            <a:endParaRPr lang="en-US" sz="900" dirty="0"/>
          </a:p>
        </p:txBody>
      </p:sp>
      <p:sp>
        <p:nvSpPr>
          <p:cNvPr id="46" name="Text 23"/>
          <p:cNvSpPr/>
          <p:nvPr/>
        </p:nvSpPr>
        <p:spPr>
          <a:xfrm>
            <a:off x="761970" y="6096030"/>
            <a:ext cx="3301990" cy="152430"/>
          </a:xfrm>
          <a:prstGeom prst="rect">
            <a:avLst/>
          </a:prstGeom>
          <a:noFill/>
          <a:ln/>
        </p:spPr>
        <p:txBody>
          <a:bodyPr wrap="square" lIns="0" tIns="0" rIns="0" bIns="0" rtlCol="0" anchor="t"/>
          <a:lstStyle/>
          <a:p>
            <a:pPr algn="l" indent="0" marL="0">
              <a:lnSpc>
                <a:spcPct val="140000"/>
              </a:lnSpc>
              <a:buNone/>
            </a:pPr>
            <a:r>
              <a:rPr lang="en-US" sz="750" dirty="0">
                <a:solidFill>
                  <a:srgbClr val="7C8188"/>
                </a:solidFill>
                <a:latin typeface="JetBrains Mono" pitchFamily="34" charset="0"/>
                <a:ea typeface="JetBrains Mono" pitchFamily="34" charset="-122"/>
                <a:cs typeface="JetBrains Mono" pitchFamily="34" charset="-120"/>
              </a:rPr>
              <a:t>LSHTM model, cited by WHO, 2017</a:t>
            </a:r>
            <a:endParaRPr lang="en-US" sz="750" dirty="0"/>
          </a:p>
        </p:txBody>
      </p:sp>
      <p:sp>
        <p:nvSpPr>
          <p:cNvPr id="47" name="Shape 45"/>
          <p:cNvSpPr/>
          <p:nvPr/>
        </p:nvSpPr>
        <p:spPr>
          <a:xfrm>
            <a:off x="4444990" y="4953030"/>
            <a:ext cx="355610" cy="38130"/>
          </a:xfrm>
          <a:prstGeom prst="roundRect">
            <a:avLst>
              <a:gd name="adj" fmla="val 49881"/>
            </a:avLst>
          </a:prstGeom>
          <a:solidFill>
            <a:srgbClr val="E09A3A"/>
          </a:solidFill>
          <a:ln/>
        </p:spPr>
      </p:sp>
      <p:sp>
        <p:nvSpPr>
          <p:cNvPr id="48" name="Text 25"/>
          <p:cNvSpPr/>
          <p:nvPr/>
        </p:nvSpPr>
        <p:spPr>
          <a:xfrm>
            <a:off x="4444990" y="5092659"/>
            <a:ext cx="3301990" cy="381030"/>
          </a:xfrm>
          <a:prstGeom prst="rect">
            <a:avLst/>
          </a:prstGeom>
          <a:noFill/>
          <a:ln/>
        </p:spPr>
        <p:txBody>
          <a:bodyPr wrap="square" lIns="0" tIns="0" rIns="0" bIns="0" rtlCol="0" anchor="t"/>
          <a:lstStyle/>
          <a:p>
            <a:pPr algn="l" indent="0" marL="0">
              <a:lnSpc>
                <a:spcPct val="100000"/>
              </a:lnSpc>
              <a:buNone/>
            </a:pPr>
            <a:r>
              <a:rPr lang="en-US" sz="2496" dirty="0">
                <a:solidFill>
                  <a:srgbClr val="16181B"/>
                </a:solidFill>
                <a:latin typeface="Instrument Serif" pitchFamily="34" charset="0"/>
                <a:ea typeface="Instrument Serif" pitchFamily="34" charset="-122"/>
                <a:cs typeface="Instrument Serif" pitchFamily="34" charset="-120"/>
              </a:rPr>
              <a:t>&gt;300</a:t>
            </a:r>
            <a:endParaRPr lang="en-US" sz="2496" dirty="0"/>
          </a:p>
        </p:txBody>
      </p:sp>
      <p:sp>
        <p:nvSpPr>
          <p:cNvPr id="49" name="Text 26"/>
          <p:cNvSpPr/>
          <p:nvPr/>
        </p:nvSpPr>
        <p:spPr>
          <a:xfrm>
            <a:off x="4444990" y="5562570"/>
            <a:ext cx="3301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children's deaths linked to contaminated cough syrups in three countries, 2022–23, most under five</a:t>
            </a:r>
            <a:endParaRPr lang="en-US" sz="900" dirty="0"/>
          </a:p>
        </p:txBody>
      </p:sp>
      <p:sp>
        <p:nvSpPr>
          <p:cNvPr id="50" name="Text 27"/>
          <p:cNvSpPr/>
          <p:nvPr/>
        </p:nvSpPr>
        <p:spPr>
          <a:xfrm>
            <a:off x="4444990" y="6096030"/>
            <a:ext cx="3301990" cy="152430"/>
          </a:xfrm>
          <a:prstGeom prst="rect">
            <a:avLst/>
          </a:prstGeom>
          <a:noFill/>
          <a:ln/>
        </p:spPr>
        <p:txBody>
          <a:bodyPr wrap="square" lIns="0" tIns="0" rIns="0" bIns="0" rtlCol="0" anchor="t"/>
          <a:lstStyle/>
          <a:p>
            <a:pPr algn="l" indent="0" marL="0">
              <a:lnSpc>
                <a:spcPct val="140000"/>
              </a:lnSpc>
              <a:buNone/>
            </a:pPr>
            <a:r>
              <a:rPr lang="en-US" sz="750" dirty="0">
                <a:solidFill>
                  <a:srgbClr val="7C8188"/>
                </a:solidFill>
                <a:latin typeface="JetBrains Mono" pitchFamily="34" charset="0"/>
                <a:ea typeface="JetBrains Mono" pitchFamily="34" charset="-122"/>
                <a:cs typeface="JetBrains Mono" pitchFamily="34" charset="-120"/>
              </a:rPr>
              <a:t>WHO, Jan 2023</a:t>
            </a:r>
            <a:endParaRPr lang="en-US" sz="750" dirty="0"/>
          </a:p>
        </p:txBody>
      </p:sp>
      <p:sp>
        <p:nvSpPr>
          <p:cNvPr id="51" name="Shape 49"/>
          <p:cNvSpPr/>
          <p:nvPr/>
        </p:nvSpPr>
        <p:spPr>
          <a:xfrm>
            <a:off x="8128010" y="4953030"/>
            <a:ext cx="355610" cy="38130"/>
          </a:xfrm>
          <a:prstGeom prst="roundRect">
            <a:avLst>
              <a:gd name="adj" fmla="val 49881"/>
            </a:avLst>
          </a:prstGeom>
          <a:solidFill>
            <a:srgbClr val="4FB3FF"/>
          </a:solidFill>
          <a:ln/>
        </p:spPr>
      </p:sp>
      <p:sp>
        <p:nvSpPr>
          <p:cNvPr id="52" name="Text 29"/>
          <p:cNvSpPr/>
          <p:nvPr/>
        </p:nvSpPr>
        <p:spPr>
          <a:xfrm>
            <a:off x="8128010" y="5092659"/>
            <a:ext cx="3301990" cy="381030"/>
          </a:xfrm>
          <a:prstGeom prst="rect">
            <a:avLst/>
          </a:prstGeom>
          <a:noFill/>
          <a:ln/>
        </p:spPr>
        <p:txBody>
          <a:bodyPr wrap="square" lIns="0" tIns="0" rIns="0" bIns="0" rtlCol="0" anchor="t"/>
          <a:lstStyle/>
          <a:p>
            <a:pPr algn="l" indent="0" marL="0">
              <a:lnSpc>
                <a:spcPct val="100000"/>
              </a:lnSpc>
              <a:buNone/>
            </a:pPr>
            <a:r>
              <a:rPr lang="en-US" sz="2496" dirty="0">
                <a:solidFill>
                  <a:srgbClr val="16181B"/>
                </a:solidFill>
                <a:latin typeface="Instrument Serif" pitchFamily="34" charset="0"/>
                <a:ea typeface="Instrument Serif" pitchFamily="34" charset="-122"/>
                <a:cs typeface="Instrument Serif" pitchFamily="34" charset="-120"/>
              </a:rPr>
              <a:t>$30.5B</a:t>
            </a:r>
            <a:endParaRPr lang="en-US" sz="2496" dirty="0"/>
          </a:p>
        </p:txBody>
      </p:sp>
      <p:sp>
        <p:nvSpPr>
          <p:cNvPr id="53" name="Text 30"/>
          <p:cNvSpPr/>
          <p:nvPr/>
        </p:nvSpPr>
        <p:spPr>
          <a:xfrm>
            <a:off x="8128010" y="5562570"/>
            <a:ext cx="3301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spent each year on substandard and falsified medical products, by WHO's estimate</a:t>
            </a:r>
            <a:endParaRPr lang="en-US" sz="900" dirty="0"/>
          </a:p>
        </p:txBody>
      </p:sp>
      <p:sp>
        <p:nvSpPr>
          <p:cNvPr id="54" name="Text 31"/>
          <p:cNvSpPr/>
          <p:nvPr/>
        </p:nvSpPr>
        <p:spPr>
          <a:xfrm>
            <a:off x="8128010" y="6096030"/>
            <a:ext cx="3301990" cy="152430"/>
          </a:xfrm>
          <a:prstGeom prst="rect">
            <a:avLst/>
          </a:prstGeom>
          <a:noFill/>
          <a:ln/>
        </p:spPr>
        <p:txBody>
          <a:bodyPr wrap="square" lIns="0" tIns="0" rIns="0" bIns="0" rtlCol="0" anchor="t"/>
          <a:lstStyle/>
          <a:p>
            <a:pPr algn="l" indent="0" marL="0">
              <a:lnSpc>
                <a:spcPct val="140000"/>
              </a:lnSpc>
              <a:buNone/>
            </a:pPr>
            <a:r>
              <a:rPr lang="en-US" sz="750" dirty="0">
                <a:solidFill>
                  <a:srgbClr val="7C8188"/>
                </a:solidFill>
                <a:latin typeface="JetBrains Mono" pitchFamily="34" charset="0"/>
                <a:ea typeface="JetBrains Mono" pitchFamily="34" charset="-122"/>
                <a:cs typeface="JetBrains Mono" pitchFamily="34" charset="-120"/>
              </a:rPr>
              <a:t>WHO fact sheet, 2024</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STATION</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04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4826020" cy="1333470"/>
          </a:xfrm>
          <a:prstGeom prst="rect">
            <a:avLst/>
          </a:prstGeom>
          <a:noFill/>
          <a:ln/>
        </p:spPr>
        <p:txBody>
          <a:bodyPr wrap="square" lIns="0" tIns="0" rIns="0" bIns="0" rtlCol="0" anchor="t"/>
          <a:lstStyle/>
          <a:p>
            <a:pPr algn="l" indent="0" marL="0">
              <a:lnSpc>
                <a:spcPct val="100000"/>
              </a:lnSpc>
              <a:buNone/>
            </a:pPr>
            <a:r>
              <a:rPr lang="en-US" sz="3276" spc="-49" kern="0" dirty="0">
                <a:solidFill>
                  <a:srgbClr val="16181B"/>
                </a:solidFill>
                <a:latin typeface="Instrument Serif" pitchFamily="34" charset="0"/>
                <a:ea typeface="Instrument Serif" pitchFamily="34" charset="-122"/>
                <a:cs typeface="Instrument Serif" pitchFamily="34" charset="-120"/>
              </a:rPr>
              <a:t>Lot numbers can be copied. Dissolution cannot.</a:t>
            </a:r>
            <a:endParaRPr lang="en-US" sz="3276" dirty="0"/>
          </a:p>
        </p:txBody>
      </p:sp>
      <p:sp>
        <p:nvSpPr>
          <p:cNvPr id="11" name="Text 8"/>
          <p:cNvSpPr/>
          <p:nvPr/>
        </p:nvSpPr>
        <p:spPr>
          <a:xfrm>
            <a:off x="761970" y="2349459"/>
            <a:ext cx="4699010" cy="723930"/>
          </a:xfrm>
          <a:prstGeom prst="rect">
            <a:avLst/>
          </a:prstGeom>
          <a:noFill/>
          <a:ln/>
        </p:spPr>
        <p:txBody>
          <a:bodyPr wrap="square" lIns="0" tIns="0" rIns="0" bIns="0" rtlCol="0" anchor="t"/>
          <a:lstStyle/>
          <a:p>
            <a:pPr algn="l" indent="0" marL="0">
              <a:lnSpc>
                <a:spcPct val="145000"/>
              </a:lnSpc>
              <a:buNone/>
            </a:pPr>
            <a:r>
              <a:rPr lang="en-US" sz="1250" dirty="0">
                <a:solidFill>
                  <a:srgbClr val="4A4E55"/>
                </a:solidFill>
                <a:latin typeface="Inter" pitchFamily="34" charset="0"/>
                <a:ea typeface="Inter" pitchFamily="34" charset="-122"/>
                <a:cs typeface="Inter" pitchFamily="34" charset="-120"/>
              </a:rPr>
              <a:t>A recall lookup trusts the label. Pill measures the tablet itself: one tablet in a cup of water inside a dark chamber, two light sensors watching it dissolve.</a:t>
            </a:r>
            <a:endParaRPr lang="en-US" sz="1250" dirty="0"/>
          </a:p>
        </p:txBody>
      </p:sp>
      <p:sp>
        <p:nvSpPr>
          <p:cNvPr id="12" name="Shape 10"/>
          <p:cNvSpPr/>
          <p:nvPr/>
        </p:nvSpPr>
        <p:spPr>
          <a:xfrm>
            <a:off x="761970" y="3486150"/>
            <a:ext cx="114300" cy="114300"/>
          </a:xfrm>
          <a:prstGeom prst="ellipse">
            <a:avLst/>
          </a:prstGeom>
          <a:solidFill>
            <a:srgbClr val="16181B"/>
          </a:solidFill>
          <a:ln/>
        </p:spPr>
      </p:sp>
      <p:sp>
        <p:nvSpPr>
          <p:cNvPr id="13" name="Text 10"/>
          <p:cNvSpPr/>
          <p:nvPr/>
        </p:nvSpPr>
        <p:spPr>
          <a:xfrm>
            <a:off x="990570" y="3429000"/>
            <a:ext cx="4444990" cy="241310"/>
          </a:xfrm>
          <a:prstGeom prst="rect">
            <a:avLst/>
          </a:prstGeom>
          <a:noFill/>
          <a:ln/>
        </p:spPr>
        <p:txBody>
          <a:bodyPr wrap="square" lIns="0" tIns="0" rIns="0" bIns="0" rtlCol="0" anchor="t"/>
          <a:lstStyle/>
          <a:p>
            <a:pPr algn="l" indent="0" marL="0">
              <a:lnSpc>
                <a:spcPct val="130000"/>
              </a:lnSpc>
              <a:buNone/>
            </a:pPr>
            <a:r>
              <a:rPr lang="en-US" sz="1250" b="1" dirty="0">
                <a:solidFill>
                  <a:srgbClr val="16181B"/>
                </a:solidFill>
                <a:latin typeface="Inter" pitchFamily="34" charset="0"/>
                <a:ea typeface="Inter" pitchFamily="34" charset="-122"/>
                <a:cs typeface="Inter" pitchFamily="34" charset="-120"/>
              </a:rPr>
              <a:t>Arduino UNO Q · 3.3 V · 12-bit</a:t>
            </a:r>
            <a:endParaRPr lang="en-US" sz="1250" dirty="0"/>
          </a:p>
        </p:txBody>
      </p:sp>
      <p:sp>
        <p:nvSpPr>
          <p:cNvPr id="14" name="Text 11"/>
          <p:cNvSpPr/>
          <p:nvPr/>
        </p:nvSpPr>
        <p:spPr>
          <a:xfrm>
            <a:off x="990570" y="3670310"/>
            <a:ext cx="4444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Two photoresistors in 10 kΩ dividers from the 3V3 pin: A0 across the cup, A1 at 90° to the beam.</a:t>
            </a:r>
            <a:endParaRPr lang="en-US" sz="900" dirty="0"/>
          </a:p>
        </p:txBody>
      </p:sp>
      <p:sp>
        <p:nvSpPr>
          <p:cNvPr id="15" name="Shape 13"/>
          <p:cNvSpPr/>
          <p:nvPr/>
        </p:nvSpPr>
        <p:spPr>
          <a:xfrm>
            <a:off x="761970" y="4171950"/>
            <a:ext cx="114300" cy="114300"/>
          </a:xfrm>
          <a:prstGeom prst="ellipse">
            <a:avLst/>
          </a:prstGeom>
          <a:solidFill>
            <a:srgbClr val="9AA0A6"/>
          </a:solidFill>
          <a:ln/>
        </p:spPr>
      </p:sp>
      <p:sp>
        <p:nvSpPr>
          <p:cNvPr id="16" name="Text 13"/>
          <p:cNvSpPr/>
          <p:nvPr/>
        </p:nvSpPr>
        <p:spPr>
          <a:xfrm>
            <a:off x="990570" y="4114800"/>
            <a:ext cx="4444990" cy="241310"/>
          </a:xfrm>
          <a:prstGeom prst="rect">
            <a:avLst/>
          </a:prstGeom>
          <a:noFill/>
          <a:ln/>
        </p:spPr>
        <p:txBody>
          <a:bodyPr wrap="square" lIns="0" tIns="0" rIns="0" bIns="0" rtlCol="0" anchor="t"/>
          <a:lstStyle/>
          <a:p>
            <a:pPr algn="l" indent="0" marL="0">
              <a:lnSpc>
                <a:spcPct val="130000"/>
              </a:lnSpc>
              <a:buNone/>
            </a:pPr>
            <a:r>
              <a:rPr lang="en-US" sz="1250" b="1" dirty="0">
                <a:solidFill>
                  <a:srgbClr val="16181B"/>
                </a:solidFill>
                <a:latin typeface="Inter" pitchFamily="34" charset="0"/>
                <a:ea typeface="Inter" pitchFamily="34" charset="-122"/>
                <a:cs typeface="Inter" pitchFamily="34" charset="-120"/>
              </a:rPr>
              <a:t>A dark reading every second</a:t>
            </a:r>
            <a:endParaRPr lang="en-US" sz="1250" dirty="0"/>
          </a:p>
        </p:txBody>
      </p:sp>
      <p:sp>
        <p:nvSpPr>
          <p:cNvPr id="17" name="Text 14"/>
          <p:cNvSpPr/>
          <p:nvPr/>
        </p:nvSpPr>
        <p:spPr>
          <a:xfrm>
            <a:off x="990570" y="4356110"/>
            <a:ext cx="4444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All LEDs off, both sensors read. Room light cancels out of the signal instead of leaking into it.</a:t>
            </a:r>
            <a:endParaRPr lang="en-US" sz="900" dirty="0"/>
          </a:p>
        </p:txBody>
      </p:sp>
      <p:sp>
        <p:nvSpPr>
          <p:cNvPr id="18" name="Shape 16"/>
          <p:cNvSpPr/>
          <p:nvPr/>
        </p:nvSpPr>
        <p:spPr>
          <a:xfrm>
            <a:off x="761970" y="4857750"/>
            <a:ext cx="114300" cy="114300"/>
          </a:xfrm>
          <a:prstGeom prst="ellipse">
            <a:avLst/>
          </a:prstGeom>
          <a:solidFill>
            <a:srgbClr val="4FB3FF"/>
          </a:solidFill>
          <a:ln/>
        </p:spPr>
      </p:sp>
      <p:sp>
        <p:nvSpPr>
          <p:cNvPr id="19" name="Text 16"/>
          <p:cNvSpPr/>
          <p:nvPr/>
        </p:nvSpPr>
        <p:spPr>
          <a:xfrm>
            <a:off x="990570" y="4800600"/>
            <a:ext cx="4444990" cy="241310"/>
          </a:xfrm>
          <a:prstGeom prst="rect">
            <a:avLst/>
          </a:prstGeom>
          <a:noFill/>
          <a:ln/>
        </p:spPr>
        <p:txBody>
          <a:bodyPr wrap="square" lIns="0" tIns="0" rIns="0" bIns="0" rtlCol="0" anchor="t"/>
          <a:lstStyle/>
          <a:p>
            <a:pPr algn="l" indent="0" marL="0">
              <a:lnSpc>
                <a:spcPct val="130000"/>
              </a:lnSpc>
              <a:buNone/>
            </a:pPr>
            <a:r>
              <a:rPr lang="en-US" sz="1250" b="1" dirty="0">
                <a:solidFill>
                  <a:srgbClr val="16181B"/>
                </a:solidFill>
                <a:latin typeface="Inter" pitchFamily="34" charset="0"/>
                <a:ea typeface="Inter" pitchFamily="34" charset="-122"/>
                <a:cs typeface="Inter" pitchFamily="34" charset="-120"/>
              </a:rPr>
              <a:t>Blue, white, red in turn</a:t>
            </a:r>
            <a:endParaRPr lang="en-US" sz="1250" dirty="0"/>
          </a:p>
        </p:txBody>
      </p:sp>
      <p:sp>
        <p:nvSpPr>
          <p:cNvPr id="20" name="Text 17"/>
          <p:cNvSpPr/>
          <p:nvPr/>
        </p:nvSpPr>
        <p:spPr>
          <a:xfrm>
            <a:off x="990570" y="5041910"/>
            <a:ext cx="4444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Each LED lights alone and both sensors read again: light that gets through, light that scatters sideways.</a:t>
            </a:r>
            <a:endParaRPr lang="en-US" sz="900" dirty="0"/>
          </a:p>
        </p:txBody>
      </p:sp>
      <p:sp>
        <p:nvSpPr>
          <p:cNvPr id="21" name="Shape 19"/>
          <p:cNvSpPr/>
          <p:nvPr/>
        </p:nvSpPr>
        <p:spPr>
          <a:xfrm>
            <a:off x="761970" y="5543550"/>
            <a:ext cx="114300" cy="114300"/>
          </a:xfrm>
          <a:prstGeom prst="ellipse">
            <a:avLst/>
          </a:prstGeom>
          <a:solidFill>
            <a:srgbClr val="5FD39A"/>
          </a:solidFill>
          <a:ln/>
        </p:spPr>
      </p:sp>
      <p:sp>
        <p:nvSpPr>
          <p:cNvPr id="22" name="Text 19"/>
          <p:cNvSpPr/>
          <p:nvPr/>
        </p:nvSpPr>
        <p:spPr>
          <a:xfrm>
            <a:off x="990570" y="5486400"/>
            <a:ext cx="4444990" cy="241310"/>
          </a:xfrm>
          <a:prstGeom prst="rect">
            <a:avLst/>
          </a:prstGeom>
          <a:noFill/>
          <a:ln/>
        </p:spPr>
        <p:txBody>
          <a:bodyPr wrap="square" lIns="0" tIns="0" rIns="0" bIns="0" rtlCol="0" anchor="t"/>
          <a:lstStyle/>
          <a:p>
            <a:pPr algn="l" indent="0" marL="0">
              <a:lnSpc>
                <a:spcPct val="130000"/>
              </a:lnSpc>
              <a:buNone/>
            </a:pPr>
            <a:r>
              <a:rPr lang="en-US" sz="1250" b="1" dirty="0">
                <a:solidFill>
                  <a:srgbClr val="16181B"/>
                </a:solidFill>
                <a:latin typeface="Inter" pitchFamily="34" charset="0"/>
                <a:ea typeface="Inter" pitchFamily="34" charset="-122"/>
                <a:cs typeface="Inter" pitchFamily="34" charset="-120"/>
              </a:rPr>
              <a:t>One CSV line a second</a:t>
            </a:r>
            <a:endParaRPr lang="en-US" sz="1250" dirty="0"/>
          </a:p>
        </p:txBody>
      </p:sp>
      <p:sp>
        <p:nvSpPr>
          <p:cNvPr id="23" name="Text 20"/>
          <p:cNvSpPr/>
          <p:nvPr/>
        </p:nvSpPr>
        <p:spPr>
          <a:xfrm>
            <a:off x="990570" y="5727710"/>
            <a:ext cx="4444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ms, dark, blue, white, red for each sensor, at 115200 baud. The firmware decides nothing.</a:t>
            </a:r>
            <a:endParaRPr lang="en-US" sz="900" dirty="0"/>
          </a:p>
        </p:txBody>
      </p:sp>
      <p:pic>
        <p:nvPicPr>
          <p:cNvPr id="24" name="Image 0" descr="The station: figma-art-station-slide-led-box-768">    </p:cNvPr>
          <p:cNvPicPr>
            <a:picLocks noChangeAspect="1"/>
          </p:cNvPicPr>
          <p:nvPr/>
        </p:nvPicPr>
        <p:blipFill>
          <a:blip r:embed="rId1"/>
          <a:stretch>
            <a:fillRect/>
          </a:stretch>
        </p:blipFill>
        <p:spPr>
          <a:xfrm>
            <a:off x="5842010" y="952530"/>
            <a:ext cx="2730490" cy="2235159"/>
          </a:xfrm>
          <a:prstGeom prst="rect">
            <a:avLst/>
          </a:prstGeom>
        </p:spPr>
      </p:pic>
      <p:sp>
        <p:nvSpPr>
          <p:cNvPr id="25" name="Text 22"/>
          <p:cNvSpPr/>
          <p:nvPr/>
        </p:nvSpPr>
        <p:spPr>
          <a:xfrm>
            <a:off x="5842010" y="3276570"/>
            <a:ext cx="2730490" cy="45089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Photo · purple 3D-printed chamber, clear cup of water; side box with white, blue and red LEDs; the UNO Q at left.</a:t>
            </a:r>
            <a:endParaRPr lang="en-US" sz="800" dirty="0"/>
          </a:p>
        </p:txBody>
      </p:sp>
      <p:pic>
        <p:nvPicPr>
          <p:cNvPr id="26" name="Image 1" descr="The station: figma-art-station-slide-blue-cup-768">    </p:cNvPr>
          <p:cNvPicPr>
            <a:picLocks noChangeAspect="1"/>
          </p:cNvPicPr>
          <p:nvPr/>
        </p:nvPicPr>
        <p:blipFill>
          <a:blip r:embed="rId2"/>
          <a:stretch>
            <a:fillRect/>
          </a:stretch>
        </p:blipFill>
        <p:spPr>
          <a:xfrm>
            <a:off x="8699510" y="952530"/>
            <a:ext cx="2730490" cy="2235159"/>
          </a:xfrm>
          <a:prstGeom prst="rect">
            <a:avLst/>
          </a:prstGeom>
        </p:spPr>
      </p:pic>
      <p:sp>
        <p:nvSpPr>
          <p:cNvPr id="27" name="Text 24"/>
          <p:cNvSpPr/>
          <p:nvPr/>
        </p:nvSpPr>
        <p:spPr>
          <a:xfrm>
            <a:off x="8699510" y="3276570"/>
            <a:ext cx="2730490" cy="45089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Photo · from above: blue light inside the cup, the LED box below it, the UNO Q at lower left.</a:t>
            </a:r>
            <a:endParaRPr lang="en-US" sz="800" dirty="0"/>
          </a:p>
        </p:txBody>
      </p:sp>
      <p:sp>
        <p:nvSpPr>
          <p:cNvPr id="28" name="Shape 24"/>
          <p:cNvSpPr/>
          <p:nvPr/>
        </p:nvSpPr>
        <p:spPr>
          <a:xfrm>
            <a:off x="5842010" y="3886200"/>
            <a:ext cx="3009930" cy="2463759"/>
          </a:xfrm>
          <a:prstGeom prst="roundRect">
            <a:avLst>
              <a:gd name="adj" fmla="val 5155"/>
            </a:avLst>
          </a:prstGeom>
          <a:solidFill>
            <a:srgbClr val="FFFFFF"/>
          </a:solidFill>
          <a:ln w="12700">
            <a:solidFill>
              <a:srgbClr val="16181B">
                <a:alpha val="10000"/>
              </a:srgbClr>
            </a:solidFill>
            <a:prstDash val="solid"/>
          </a:ln>
        </p:spPr>
      </p:sp>
      <p:pic>
        <p:nvPicPr>
          <p:cNvPr id="29" name="Image 2" descr="The station: figma-art-station-chamber-top-view-1060">    </p:cNvPr>
          <p:cNvPicPr>
            <a:picLocks noChangeAspect="1"/>
          </p:cNvPicPr>
          <p:nvPr/>
        </p:nvPicPr>
        <p:blipFill>
          <a:blip r:embed="rId3"/>
          <a:stretch>
            <a:fillRect/>
          </a:stretch>
        </p:blipFill>
        <p:spPr>
          <a:xfrm>
            <a:off x="5989320" y="3911620"/>
            <a:ext cx="2715311" cy="2413010"/>
          </a:xfrm>
          <a:prstGeom prst="rect">
            <a:avLst/>
          </a:prstGeom>
        </p:spPr>
      </p:pic>
      <p:sp>
        <p:nvSpPr>
          <p:cNvPr id="30" name="Text 27"/>
          <p:cNvSpPr/>
          <p:nvPr/>
        </p:nvSpPr>
        <p:spPr>
          <a:xfrm>
            <a:off x="9016990" y="3962370"/>
            <a:ext cx="2413010" cy="73664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Drawing · the chamber design, top view (pillgate/diagrams): the LED pod on one side, one photoresistor straight across the cup, one at 90° to the beam.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STATION APP · PILL GATE</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05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812810"/>
            <a:ext cx="5715000" cy="431780"/>
          </a:xfrm>
          <a:prstGeom prst="rect">
            <a:avLst/>
          </a:prstGeom>
          <a:noFill/>
          <a:ln/>
        </p:spPr>
        <p:txBody>
          <a:bodyPr wrap="square" lIns="0" tIns="0" rIns="0" bIns="0" rtlCol="0" anchor="t"/>
          <a:lstStyle/>
          <a:p>
            <a:pPr algn="l" indent="0" marL="0">
              <a:lnSpc>
                <a:spcPct val="100000"/>
              </a:lnSpc>
              <a:buNone/>
            </a:pPr>
            <a:r>
              <a:rPr lang="en-US" sz="2808" spc="-42" kern="0" dirty="0">
                <a:solidFill>
                  <a:srgbClr val="16181B"/>
                </a:solidFill>
                <a:latin typeface="Instrument Serif" pitchFamily="34" charset="0"/>
                <a:ea typeface="Instrument Serif" pitchFamily="34" charset="-122"/>
                <a:cs typeface="Instrument Serif" pitchFamily="34" charset="-120"/>
              </a:rPr>
              <a:t>The station app.</a:t>
            </a:r>
            <a:endParaRPr lang="en-US" sz="2808" dirty="0"/>
          </a:p>
        </p:txBody>
      </p:sp>
      <p:sp>
        <p:nvSpPr>
          <p:cNvPr id="11" name="Text 8"/>
          <p:cNvSpPr/>
          <p:nvPr/>
        </p:nvSpPr>
        <p:spPr>
          <a:xfrm>
            <a:off x="6858000" y="838230"/>
            <a:ext cx="4572000" cy="53337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Pill Gate runs on the laptop next to the box (Python, FastAPI). It guides the check and compares the run with a reference profile built from three or more runs of a known-good tablet.</a:t>
            </a:r>
            <a:endParaRPr lang="en-US" sz="950" dirty="0"/>
          </a:p>
        </p:txBody>
      </p:sp>
      <p:sp>
        <p:nvSpPr>
          <p:cNvPr id="12" name="Shape 10"/>
          <p:cNvSpPr/>
          <p:nvPr/>
        </p:nvSpPr>
        <p:spPr>
          <a:xfrm>
            <a:off x="838230" y="1885950"/>
            <a:ext cx="8610630" cy="12710"/>
          </a:xfrm>
          <a:prstGeom prst="rect">
            <a:avLst/>
          </a:prstGeom>
          <a:solidFill>
            <a:srgbClr val="16181B">
              <a:alpha val="18000"/>
            </a:srgbClr>
          </a:solidFill>
          <a:ln/>
        </p:spPr>
      </p:sp>
      <p:sp>
        <p:nvSpPr>
          <p:cNvPr id="13" name="Shape 11"/>
          <p:cNvSpPr/>
          <p:nvPr/>
        </p:nvSpPr>
        <p:spPr>
          <a:xfrm>
            <a:off x="761970" y="1816090"/>
            <a:ext cx="152430" cy="152430"/>
          </a:xfrm>
          <a:prstGeom prst="ellipse">
            <a:avLst/>
          </a:prstGeom>
          <a:solidFill>
            <a:srgbClr val="9AA0A6"/>
          </a:solidFill>
          <a:ln w="25400">
            <a:solidFill>
              <a:srgbClr val="FFFFFF"/>
            </a:solidFill>
            <a:prstDash val="solid"/>
          </a:ln>
        </p:spPr>
      </p:sp>
      <p:sp>
        <p:nvSpPr>
          <p:cNvPr id="14" name="Text 11"/>
          <p:cNvSpPr/>
          <p:nvPr/>
        </p:nvSpPr>
        <p:spPr>
          <a:xfrm>
            <a:off x="101599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01</a:t>
            </a:r>
            <a:endParaRPr lang="en-US" sz="850" dirty="0"/>
          </a:p>
        </p:txBody>
      </p:sp>
      <p:sp>
        <p:nvSpPr>
          <p:cNvPr id="15" name="Text 12"/>
          <p:cNvSpPr/>
          <p:nvPr/>
        </p:nvSpPr>
        <p:spPr>
          <a:xfrm>
            <a:off x="76197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Prepare</a:t>
            </a:r>
            <a:endParaRPr lang="en-US" sz="1350" dirty="0"/>
          </a:p>
        </p:txBody>
      </p:sp>
      <p:sp>
        <p:nvSpPr>
          <p:cNvPr id="16" name="Shape 14"/>
          <p:cNvSpPr/>
          <p:nvPr/>
        </p:nvSpPr>
        <p:spPr>
          <a:xfrm>
            <a:off x="761970" y="2400300"/>
            <a:ext cx="628650" cy="203180"/>
          </a:xfrm>
          <a:prstGeom prst="roundRect">
            <a:avLst>
              <a:gd name="adj" fmla="val 50000"/>
            </a:avLst>
          </a:prstGeom>
          <a:solidFill>
            <a:srgbClr val="9AA0A6">
              <a:alpha val="18000"/>
            </a:srgbClr>
          </a:solidFill>
          <a:ln/>
        </p:spPr>
      </p:sp>
      <p:sp>
        <p:nvSpPr>
          <p:cNvPr id="17" name="Text 14"/>
          <p:cNvSpPr/>
          <p:nvPr/>
        </p:nvSpPr>
        <p:spPr>
          <a:xfrm>
            <a:off x="761970" y="2440899"/>
            <a:ext cx="62865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checks</a:t>
            </a:r>
            <a:endParaRPr lang="en-US" sz="800" dirty="0"/>
          </a:p>
        </p:txBody>
      </p:sp>
      <p:sp>
        <p:nvSpPr>
          <p:cNvPr id="18" name="Text 15"/>
          <p:cNvSpPr/>
          <p:nvPr/>
        </p:nvSpPr>
        <p:spPr>
          <a:xfrm>
            <a:off x="76197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Lid closed, the LED reaches the sensor.</a:t>
            </a:r>
            <a:endParaRPr lang="en-US" sz="900" dirty="0"/>
          </a:p>
        </p:txBody>
      </p:sp>
      <p:sp>
        <p:nvSpPr>
          <p:cNvPr id="19" name="Shape 17"/>
          <p:cNvSpPr/>
          <p:nvPr/>
        </p:nvSpPr>
        <p:spPr>
          <a:xfrm>
            <a:off x="2895630" y="1816090"/>
            <a:ext cx="152430" cy="152430"/>
          </a:xfrm>
          <a:prstGeom prst="ellipse">
            <a:avLst/>
          </a:prstGeom>
          <a:solidFill>
            <a:srgbClr val="4FB3FF"/>
          </a:solidFill>
          <a:ln w="25400">
            <a:solidFill>
              <a:srgbClr val="FFFFFF"/>
            </a:solidFill>
            <a:prstDash val="solid"/>
          </a:ln>
        </p:spPr>
      </p:sp>
      <p:sp>
        <p:nvSpPr>
          <p:cNvPr id="20" name="Text 17"/>
          <p:cNvSpPr/>
          <p:nvPr/>
        </p:nvSpPr>
        <p:spPr>
          <a:xfrm>
            <a:off x="3149559"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02</a:t>
            </a:r>
            <a:endParaRPr lang="en-US" sz="850" dirty="0"/>
          </a:p>
        </p:txBody>
      </p:sp>
      <p:sp>
        <p:nvSpPr>
          <p:cNvPr id="21" name="Text 18"/>
          <p:cNvSpPr/>
          <p:nvPr/>
        </p:nvSpPr>
        <p:spPr>
          <a:xfrm>
            <a:off x="289563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Clean water</a:t>
            </a:r>
            <a:endParaRPr lang="en-US" sz="1350" dirty="0"/>
          </a:p>
        </p:txBody>
      </p:sp>
      <p:sp>
        <p:nvSpPr>
          <p:cNvPr id="22" name="Shape 20"/>
          <p:cNvSpPr/>
          <p:nvPr/>
        </p:nvSpPr>
        <p:spPr>
          <a:xfrm>
            <a:off x="2895630" y="2400300"/>
            <a:ext cx="488930" cy="203180"/>
          </a:xfrm>
          <a:prstGeom prst="roundRect">
            <a:avLst>
              <a:gd name="adj" fmla="val 50000"/>
            </a:avLst>
          </a:prstGeom>
          <a:solidFill>
            <a:srgbClr val="4FB3FF">
              <a:alpha val="14000"/>
            </a:srgbClr>
          </a:solidFill>
          <a:ln/>
        </p:spPr>
      </p:sp>
      <p:sp>
        <p:nvSpPr>
          <p:cNvPr id="23" name="Text 20"/>
          <p:cNvSpPr/>
          <p:nvPr/>
        </p:nvSpPr>
        <p:spPr>
          <a:xfrm>
            <a:off x="2895630" y="2440899"/>
            <a:ext cx="48893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10 s</a:t>
            </a:r>
            <a:endParaRPr lang="en-US" sz="800" dirty="0"/>
          </a:p>
        </p:txBody>
      </p:sp>
      <p:sp>
        <p:nvSpPr>
          <p:cNvPr id="24" name="Text 21"/>
          <p:cNvSpPr/>
          <p:nvPr/>
        </p:nvSpPr>
        <p:spPr>
          <a:xfrm>
            <a:off x="289563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The blank must hold steady for 10 s.</a:t>
            </a:r>
            <a:endParaRPr lang="en-US" sz="900" dirty="0"/>
          </a:p>
        </p:txBody>
      </p:sp>
      <p:sp>
        <p:nvSpPr>
          <p:cNvPr id="25" name="Shape 23"/>
          <p:cNvSpPr/>
          <p:nvPr/>
        </p:nvSpPr>
        <p:spPr>
          <a:xfrm>
            <a:off x="5029200" y="1816090"/>
            <a:ext cx="152430" cy="152430"/>
          </a:xfrm>
          <a:prstGeom prst="ellipse">
            <a:avLst/>
          </a:prstGeom>
          <a:solidFill>
            <a:srgbClr val="7A5CFF"/>
          </a:solidFill>
          <a:ln w="25400">
            <a:solidFill>
              <a:srgbClr val="FFFFFF"/>
            </a:solidFill>
            <a:prstDash val="solid"/>
          </a:ln>
        </p:spPr>
      </p:sp>
      <p:sp>
        <p:nvSpPr>
          <p:cNvPr id="26" name="Text 23"/>
          <p:cNvSpPr/>
          <p:nvPr/>
        </p:nvSpPr>
        <p:spPr>
          <a:xfrm>
            <a:off x="528322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03</a:t>
            </a:r>
            <a:endParaRPr lang="en-US" sz="850" dirty="0"/>
          </a:p>
        </p:txBody>
      </p:sp>
      <p:sp>
        <p:nvSpPr>
          <p:cNvPr id="27" name="Text 24"/>
          <p:cNvSpPr/>
          <p:nvPr/>
        </p:nvSpPr>
        <p:spPr>
          <a:xfrm>
            <a:off x="502920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Tablet in</a:t>
            </a:r>
            <a:endParaRPr lang="en-US" sz="1350" dirty="0"/>
          </a:p>
        </p:txBody>
      </p:sp>
      <p:sp>
        <p:nvSpPr>
          <p:cNvPr id="28" name="Shape 26"/>
          <p:cNvSpPr/>
          <p:nvPr/>
        </p:nvSpPr>
        <p:spPr>
          <a:xfrm>
            <a:off x="5029200" y="2400300"/>
            <a:ext cx="825520" cy="203180"/>
          </a:xfrm>
          <a:prstGeom prst="roundRect">
            <a:avLst>
              <a:gd name="adj" fmla="val 50000"/>
            </a:avLst>
          </a:prstGeom>
          <a:solidFill>
            <a:srgbClr val="7A5CFF">
              <a:alpha val="10000"/>
            </a:srgbClr>
          </a:solidFill>
          <a:ln/>
        </p:spPr>
      </p:sp>
      <p:sp>
        <p:nvSpPr>
          <p:cNvPr id="29" name="Text 26"/>
          <p:cNvSpPr/>
          <p:nvPr/>
        </p:nvSpPr>
        <p:spPr>
          <a:xfrm>
            <a:off x="5029200" y="2440899"/>
            <a:ext cx="82552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lid opens</a:t>
            </a:r>
            <a:endParaRPr lang="en-US" sz="800" dirty="0"/>
          </a:p>
        </p:txBody>
      </p:sp>
      <p:sp>
        <p:nvSpPr>
          <p:cNvPr id="30" name="Text 27"/>
          <p:cNvSpPr/>
          <p:nvPr/>
        </p:nvSpPr>
        <p:spPr>
          <a:xfrm>
            <a:off x="502920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The lid opening on both sensors marks the start.</a:t>
            </a:r>
            <a:endParaRPr lang="en-US" sz="900" dirty="0"/>
          </a:p>
        </p:txBody>
      </p:sp>
      <p:sp>
        <p:nvSpPr>
          <p:cNvPr id="31" name="Shape 29"/>
          <p:cNvSpPr/>
          <p:nvPr/>
        </p:nvSpPr>
        <p:spPr>
          <a:xfrm>
            <a:off x="7162770" y="1816090"/>
            <a:ext cx="152430" cy="152430"/>
          </a:xfrm>
          <a:prstGeom prst="ellipse">
            <a:avLst/>
          </a:prstGeom>
          <a:solidFill>
            <a:srgbClr val="2A8FE0"/>
          </a:solidFill>
          <a:ln w="25400">
            <a:solidFill>
              <a:srgbClr val="FFFFFF"/>
            </a:solidFill>
            <a:prstDash val="solid"/>
          </a:ln>
        </p:spPr>
      </p:sp>
      <p:sp>
        <p:nvSpPr>
          <p:cNvPr id="32" name="Text 29"/>
          <p:cNvSpPr/>
          <p:nvPr/>
        </p:nvSpPr>
        <p:spPr>
          <a:xfrm>
            <a:off x="741679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04</a:t>
            </a:r>
            <a:endParaRPr lang="en-US" sz="850" dirty="0"/>
          </a:p>
        </p:txBody>
      </p:sp>
      <p:sp>
        <p:nvSpPr>
          <p:cNvPr id="33" name="Text 30"/>
          <p:cNvSpPr/>
          <p:nvPr/>
        </p:nvSpPr>
        <p:spPr>
          <a:xfrm>
            <a:off x="716277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Dissolving</a:t>
            </a:r>
            <a:endParaRPr lang="en-US" sz="1350" dirty="0"/>
          </a:p>
        </p:txBody>
      </p:sp>
      <p:sp>
        <p:nvSpPr>
          <p:cNvPr id="34" name="Shape 32"/>
          <p:cNvSpPr/>
          <p:nvPr/>
        </p:nvSpPr>
        <p:spPr>
          <a:xfrm>
            <a:off x="7162770" y="2400300"/>
            <a:ext cx="488930" cy="203180"/>
          </a:xfrm>
          <a:prstGeom prst="roundRect">
            <a:avLst>
              <a:gd name="adj" fmla="val 50000"/>
            </a:avLst>
          </a:prstGeom>
          <a:solidFill>
            <a:srgbClr val="4FB3FF">
              <a:alpha val="14000"/>
            </a:srgbClr>
          </a:solidFill>
          <a:ln/>
        </p:spPr>
      </p:sp>
      <p:sp>
        <p:nvSpPr>
          <p:cNvPr id="35" name="Text 32"/>
          <p:cNvSpPr/>
          <p:nvPr/>
        </p:nvSpPr>
        <p:spPr>
          <a:xfrm>
            <a:off x="7162770" y="2440899"/>
            <a:ext cx="48893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60 s</a:t>
            </a:r>
            <a:endParaRPr lang="en-US" sz="800" dirty="0"/>
          </a:p>
        </p:txBody>
      </p:sp>
      <p:sp>
        <p:nvSpPr>
          <p:cNvPr id="36" name="Text 33"/>
          <p:cNvSpPr/>
          <p:nvPr/>
        </p:nvSpPr>
        <p:spPr>
          <a:xfrm>
            <a:off x="716277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Absorbance and cloudiness curves, live.</a:t>
            </a:r>
            <a:endParaRPr lang="en-US" sz="900" dirty="0"/>
          </a:p>
        </p:txBody>
      </p:sp>
      <p:sp>
        <p:nvSpPr>
          <p:cNvPr id="37" name="Shape 35"/>
          <p:cNvSpPr/>
          <p:nvPr/>
        </p:nvSpPr>
        <p:spPr>
          <a:xfrm>
            <a:off x="9296430" y="1816090"/>
            <a:ext cx="152430" cy="152430"/>
          </a:xfrm>
          <a:prstGeom prst="ellipse">
            <a:avLst/>
          </a:prstGeom>
          <a:solidFill>
            <a:srgbClr val="5FD39A"/>
          </a:solidFill>
          <a:ln w="25400">
            <a:solidFill>
              <a:srgbClr val="FFFFFF"/>
            </a:solidFill>
            <a:prstDash val="solid"/>
          </a:ln>
        </p:spPr>
      </p:sp>
      <p:sp>
        <p:nvSpPr>
          <p:cNvPr id="38" name="Text 35"/>
          <p:cNvSpPr/>
          <p:nvPr/>
        </p:nvSpPr>
        <p:spPr>
          <a:xfrm>
            <a:off x="9550359"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05</a:t>
            </a:r>
            <a:endParaRPr lang="en-US" sz="850" dirty="0"/>
          </a:p>
        </p:txBody>
      </p:sp>
      <p:sp>
        <p:nvSpPr>
          <p:cNvPr id="39" name="Text 36"/>
          <p:cNvSpPr/>
          <p:nvPr/>
        </p:nvSpPr>
        <p:spPr>
          <a:xfrm>
            <a:off x="929643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Result</a:t>
            </a:r>
            <a:endParaRPr lang="en-US" sz="1350" dirty="0"/>
          </a:p>
        </p:txBody>
      </p:sp>
      <p:sp>
        <p:nvSpPr>
          <p:cNvPr id="40" name="Shape 38"/>
          <p:cNvSpPr/>
          <p:nvPr/>
        </p:nvSpPr>
        <p:spPr>
          <a:xfrm>
            <a:off x="9296430" y="2400300"/>
            <a:ext cx="488930" cy="203180"/>
          </a:xfrm>
          <a:prstGeom prst="roundRect">
            <a:avLst>
              <a:gd name="adj" fmla="val 50000"/>
            </a:avLst>
          </a:prstGeom>
          <a:solidFill>
            <a:srgbClr val="5FD39A">
              <a:alpha val="16000"/>
            </a:srgbClr>
          </a:solidFill>
          <a:ln/>
        </p:spPr>
      </p:sp>
      <p:sp>
        <p:nvSpPr>
          <p:cNvPr id="41" name="Text 38"/>
          <p:cNvSpPr/>
          <p:nvPr/>
        </p:nvSpPr>
        <p:spPr>
          <a:xfrm>
            <a:off x="9296430" y="2440899"/>
            <a:ext cx="48893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auto</a:t>
            </a:r>
            <a:endParaRPr lang="en-US" sz="800" dirty="0"/>
          </a:p>
        </p:txBody>
      </p:sp>
      <p:sp>
        <p:nvSpPr>
          <p:cNvPr id="42" name="Text 39"/>
          <p:cNvSpPr/>
          <p:nvPr/>
        </p:nvSpPr>
        <p:spPr>
          <a:xfrm>
            <a:off x="929643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Compared with the reference profile.</a:t>
            </a:r>
            <a:endParaRPr lang="en-US" sz="900" dirty="0"/>
          </a:p>
        </p:txBody>
      </p:sp>
      <p:sp>
        <p:nvSpPr>
          <p:cNvPr id="43" name="Shape 41"/>
          <p:cNvSpPr/>
          <p:nvPr/>
        </p:nvSpPr>
        <p:spPr>
          <a:xfrm>
            <a:off x="761970" y="3301990"/>
            <a:ext cx="1651041" cy="2667030"/>
          </a:xfrm>
          <a:prstGeom prst="roundRect">
            <a:avLst>
              <a:gd name="adj" fmla="val 13076"/>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4" name="Image 0" descr="The station app: pillgate-dev-shots-ui-measure-390-360c">    </p:cNvPr>
          <p:cNvPicPr>
            <a:picLocks noChangeAspect="1"/>
          </p:cNvPicPr>
          <p:nvPr/>
        </p:nvPicPr>
        <p:blipFill>
          <a:blip r:embed="rId1"/>
          <a:stretch>
            <a:fillRect/>
          </a:stretch>
        </p:blipFill>
        <p:spPr>
          <a:xfrm>
            <a:off x="806409" y="3346430"/>
            <a:ext cx="1562070" cy="2578059"/>
          </a:xfrm>
          <a:prstGeom prst="rect">
            <a:avLst/>
          </a:prstGeom>
        </p:spPr>
      </p:pic>
      <p:sp>
        <p:nvSpPr>
          <p:cNvPr id="45" name="Text 42"/>
          <p:cNvSpPr/>
          <p:nvPr/>
        </p:nvSpPr>
        <p:spPr>
          <a:xfrm>
            <a:off x="761970" y="6032480"/>
            <a:ext cx="1651041"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Measure · the phase rail</a:t>
            </a:r>
            <a:endParaRPr lang="en-US" sz="800" dirty="0"/>
          </a:p>
        </p:txBody>
      </p:sp>
      <p:sp>
        <p:nvSpPr>
          <p:cNvPr id="46" name="Shape 43"/>
          <p:cNvSpPr/>
          <p:nvPr/>
        </p:nvSpPr>
        <p:spPr>
          <a:xfrm>
            <a:off x="2603480" y="3301990"/>
            <a:ext cx="1651041" cy="2667030"/>
          </a:xfrm>
          <a:prstGeom prst="roundRect">
            <a:avLst>
              <a:gd name="adj" fmla="val 13076"/>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7" name="Image 1" descr="The station app: pillgate-dev-shots-ui-flow-06-result-390-360c">    </p:cNvPr>
          <p:cNvPicPr>
            <a:picLocks noChangeAspect="1"/>
          </p:cNvPicPr>
          <p:nvPr/>
        </p:nvPicPr>
        <p:blipFill>
          <a:blip r:embed="rId2"/>
          <a:stretch>
            <a:fillRect/>
          </a:stretch>
        </p:blipFill>
        <p:spPr>
          <a:xfrm>
            <a:off x="2647920" y="3346430"/>
            <a:ext cx="1562070" cy="2578059"/>
          </a:xfrm>
          <a:prstGeom prst="rect">
            <a:avLst/>
          </a:prstGeom>
        </p:spPr>
      </p:pic>
      <p:sp>
        <p:nvSpPr>
          <p:cNvPr id="48" name="Text 45"/>
          <p:cNvSpPr/>
          <p:nvPr/>
        </p:nvSpPr>
        <p:spPr>
          <a:xfrm>
            <a:off x="2603480" y="6032480"/>
            <a:ext cx="1651041"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Guided flow · step 6</a:t>
            </a:r>
            <a:endParaRPr lang="en-US" sz="800" dirty="0"/>
          </a:p>
        </p:txBody>
      </p:sp>
      <p:sp>
        <p:nvSpPr>
          <p:cNvPr id="49" name="Shape 45"/>
          <p:cNvSpPr/>
          <p:nvPr/>
        </p:nvSpPr>
        <p:spPr>
          <a:xfrm>
            <a:off x="4444990" y="3301990"/>
            <a:ext cx="1651041" cy="2667030"/>
          </a:xfrm>
          <a:prstGeom prst="roundRect">
            <a:avLst>
              <a:gd name="adj" fmla="val 13076"/>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50" name="Image 2" descr="The station app: pillgate-dev-shots-ui-result-390-360c">    </p:cNvPr>
          <p:cNvPicPr>
            <a:picLocks noChangeAspect="1"/>
          </p:cNvPicPr>
          <p:nvPr/>
        </p:nvPicPr>
        <p:blipFill>
          <a:blip r:embed="rId3"/>
          <a:stretch>
            <a:fillRect/>
          </a:stretch>
        </p:blipFill>
        <p:spPr>
          <a:xfrm>
            <a:off x="4489430" y="3346430"/>
            <a:ext cx="1562070" cy="2578059"/>
          </a:xfrm>
          <a:prstGeom prst="rect">
            <a:avLst/>
          </a:prstGeom>
        </p:spPr>
      </p:pic>
      <p:sp>
        <p:nvSpPr>
          <p:cNvPr id="51" name="Text 48"/>
          <p:cNvSpPr/>
          <p:nvPr/>
        </p:nvSpPr>
        <p:spPr>
          <a:xfrm>
            <a:off x="4444990" y="6032480"/>
            <a:ext cx="1651041"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Result · the answer</a:t>
            </a:r>
            <a:endParaRPr lang="en-US" sz="800" dirty="0"/>
          </a:p>
        </p:txBody>
      </p:sp>
      <p:sp>
        <p:nvSpPr>
          <p:cNvPr id="52" name="Text 49"/>
          <p:cNvSpPr/>
          <p:nvPr/>
        </p:nvSpPr>
        <p:spPr>
          <a:xfrm>
            <a:off x="6603980" y="3352830"/>
            <a:ext cx="4826020" cy="146030"/>
          </a:xfrm>
          <a:prstGeom prst="rect">
            <a:avLst/>
          </a:prstGeom>
          <a:noFill/>
          <a:ln/>
        </p:spPr>
        <p:txBody>
          <a:bodyPr wrap="square" lIns="0" tIns="0" rIns="0" bIns="0" rtlCol="0" anchor="t"/>
          <a:lstStyle/>
          <a:p>
            <a:pPr algn="l" indent="0" marL="0">
              <a:lnSpc>
                <a:spcPct val="120000"/>
              </a:lnSpc>
              <a:buNone/>
            </a:pPr>
            <a:r>
              <a:rPr lang="en-US" sz="800" spc="112" kern="0" dirty="0">
                <a:solidFill>
                  <a:srgbClr val="7C8188"/>
                </a:solidFill>
                <a:latin typeface="JetBrains Mono" pitchFamily="34" charset="0"/>
                <a:ea typeface="JetBrains Mono" pitchFamily="34" charset="-122"/>
                <a:cs typeface="JetBrains Mono" pitchFamily="34" charset="-120"/>
              </a:rPr>
              <a:t>THREE ANSWERS, WRITTEN THIS WAY IN THE STATION APP</a:t>
            </a:r>
            <a:endParaRPr lang="en-US" sz="800" dirty="0"/>
          </a:p>
        </p:txBody>
      </p:sp>
      <p:sp>
        <p:nvSpPr>
          <p:cNvPr id="53" name="Shape 48"/>
          <p:cNvSpPr/>
          <p:nvPr/>
        </p:nvSpPr>
        <p:spPr>
          <a:xfrm>
            <a:off x="6603980" y="3683020"/>
            <a:ext cx="1828800" cy="254020"/>
          </a:xfrm>
          <a:prstGeom prst="roundRect">
            <a:avLst>
              <a:gd name="adj" fmla="val 50000"/>
            </a:avLst>
          </a:prstGeom>
          <a:solidFill>
            <a:srgbClr val="5FD39A">
              <a:alpha val="16000"/>
            </a:srgbClr>
          </a:solidFill>
          <a:ln/>
        </p:spPr>
      </p:sp>
      <p:sp>
        <p:nvSpPr>
          <p:cNvPr id="54" name="Shape 49"/>
          <p:cNvSpPr/>
          <p:nvPr/>
        </p:nvSpPr>
        <p:spPr>
          <a:xfrm>
            <a:off x="6730990" y="3778209"/>
            <a:ext cx="63459" cy="63459"/>
          </a:xfrm>
          <a:prstGeom prst="ellipse">
            <a:avLst/>
          </a:prstGeom>
          <a:solidFill>
            <a:srgbClr val="5FD39A"/>
          </a:solidFill>
          <a:ln/>
        </p:spPr>
      </p:sp>
      <p:sp>
        <p:nvSpPr>
          <p:cNvPr id="55" name="Text 52"/>
          <p:cNvSpPr/>
          <p:nvPr/>
        </p:nvSpPr>
        <p:spPr>
          <a:xfrm>
            <a:off x="6845290" y="3733770"/>
            <a:ext cx="151132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Passed the screen</a:t>
            </a:r>
            <a:endParaRPr lang="en-US" sz="1000" dirty="0"/>
          </a:p>
        </p:txBody>
      </p:sp>
      <p:sp>
        <p:nvSpPr>
          <p:cNvPr id="56" name="Text 53"/>
          <p:cNvSpPr/>
          <p:nvPr/>
        </p:nvSpPr>
        <p:spPr>
          <a:xfrm>
            <a:off x="6603980" y="4038630"/>
            <a:ext cx="4826020" cy="203180"/>
          </a:xfrm>
          <a:prstGeom prst="rect">
            <a:avLst/>
          </a:prstGeom>
          <a:noFill/>
          <a:ln/>
        </p:spPr>
        <p:txBody>
          <a:bodyPr wrap="square" lIns="0" tIns="0" rIns="0" bIns="0" rtlCol="0" anchor="t"/>
          <a:lstStyle/>
          <a:p>
            <a:pPr algn="l" indent="0" marL="0">
              <a:lnSpc>
                <a:spcPct val="140000"/>
              </a:lnSpc>
              <a:buNone/>
            </a:pPr>
            <a:r>
              <a:rPr lang="en-US" sz="1000" dirty="0">
                <a:solidFill>
                  <a:srgbClr val="4A4E55"/>
                </a:solidFill>
                <a:latin typeface="Inter" pitchFamily="34" charset="0"/>
                <a:ea typeface="Inter" pitchFamily="34" charset="-122"/>
                <a:cs typeface="Inter" pitchFamily="34" charset="-120"/>
              </a:rPr>
              <a:t>Time-to-80 % and final colour inside the spread of the reference runs.</a:t>
            </a:r>
            <a:endParaRPr lang="en-US" sz="1000" dirty="0"/>
          </a:p>
        </p:txBody>
      </p:sp>
      <p:sp>
        <p:nvSpPr>
          <p:cNvPr id="57" name="Shape 52"/>
          <p:cNvSpPr/>
          <p:nvPr/>
        </p:nvSpPr>
        <p:spPr>
          <a:xfrm>
            <a:off x="6603980" y="4508541"/>
            <a:ext cx="1828800" cy="254020"/>
          </a:xfrm>
          <a:prstGeom prst="roundRect">
            <a:avLst>
              <a:gd name="adj" fmla="val 50000"/>
            </a:avLst>
          </a:prstGeom>
          <a:solidFill>
            <a:srgbClr val="E09A3A">
              <a:alpha val="16000"/>
            </a:srgbClr>
          </a:solidFill>
          <a:ln/>
        </p:spPr>
      </p:sp>
      <p:sp>
        <p:nvSpPr>
          <p:cNvPr id="58" name="Shape 53"/>
          <p:cNvSpPr/>
          <p:nvPr/>
        </p:nvSpPr>
        <p:spPr>
          <a:xfrm>
            <a:off x="6730990" y="4603730"/>
            <a:ext cx="63459" cy="63459"/>
          </a:xfrm>
          <a:prstGeom prst="ellipse">
            <a:avLst/>
          </a:prstGeom>
          <a:solidFill>
            <a:srgbClr val="E09A3A"/>
          </a:solidFill>
          <a:ln/>
        </p:spPr>
      </p:sp>
      <p:sp>
        <p:nvSpPr>
          <p:cNvPr id="59" name="Text 56"/>
          <p:cNvSpPr/>
          <p:nvPr/>
        </p:nvSpPr>
        <p:spPr>
          <a:xfrm>
            <a:off x="6845290" y="4559290"/>
            <a:ext cx="151132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Needs lab testing</a:t>
            </a:r>
            <a:endParaRPr lang="en-US" sz="1000" dirty="0"/>
          </a:p>
        </p:txBody>
      </p:sp>
      <p:sp>
        <p:nvSpPr>
          <p:cNvPr id="60" name="Text 57"/>
          <p:cNvSpPr/>
          <p:nvPr/>
        </p:nvSpPr>
        <p:spPr>
          <a:xfrm>
            <a:off x="6603980" y="4864059"/>
            <a:ext cx="4826020" cy="203180"/>
          </a:xfrm>
          <a:prstGeom prst="rect">
            <a:avLst/>
          </a:prstGeom>
          <a:noFill/>
          <a:ln/>
        </p:spPr>
        <p:txBody>
          <a:bodyPr wrap="square" lIns="0" tIns="0" rIns="0" bIns="0" rtlCol="0" anchor="t"/>
          <a:lstStyle/>
          <a:p>
            <a:pPr algn="l" indent="0" marL="0">
              <a:lnSpc>
                <a:spcPct val="140000"/>
              </a:lnSpc>
              <a:buNone/>
            </a:pPr>
            <a:r>
              <a:rPr lang="en-US" sz="1000" dirty="0">
                <a:solidFill>
                  <a:srgbClr val="4A4E55"/>
                </a:solidFill>
                <a:latin typeface="Inter" pitchFamily="34" charset="0"/>
                <a:ea typeface="Inter" pitchFamily="34" charset="-122"/>
                <a:cs typeface="Inter" pitchFamily="34" charset="-120"/>
              </a:rPr>
              <a:t>Outside it: slower, weaker, cloudier or clearer than the reference.</a:t>
            </a:r>
            <a:endParaRPr lang="en-US" sz="1000" dirty="0"/>
          </a:p>
        </p:txBody>
      </p:sp>
      <p:sp>
        <p:nvSpPr>
          <p:cNvPr id="61" name="Shape 56"/>
          <p:cNvSpPr/>
          <p:nvPr/>
        </p:nvSpPr>
        <p:spPr>
          <a:xfrm>
            <a:off x="6603980" y="5333970"/>
            <a:ext cx="1746230" cy="254020"/>
          </a:xfrm>
          <a:prstGeom prst="roundRect">
            <a:avLst>
              <a:gd name="adj" fmla="val 50000"/>
            </a:avLst>
          </a:prstGeom>
          <a:solidFill>
            <a:srgbClr val="9AA0A6">
              <a:alpha val="18000"/>
            </a:srgbClr>
          </a:solidFill>
          <a:ln/>
        </p:spPr>
      </p:sp>
      <p:sp>
        <p:nvSpPr>
          <p:cNvPr id="62" name="Shape 57"/>
          <p:cNvSpPr/>
          <p:nvPr/>
        </p:nvSpPr>
        <p:spPr>
          <a:xfrm>
            <a:off x="6730990" y="5429250"/>
            <a:ext cx="63459" cy="63459"/>
          </a:xfrm>
          <a:prstGeom prst="ellipse">
            <a:avLst/>
          </a:prstGeom>
          <a:solidFill>
            <a:srgbClr val="9AA0A6"/>
          </a:solidFill>
          <a:ln/>
        </p:spPr>
      </p:sp>
      <p:sp>
        <p:nvSpPr>
          <p:cNvPr id="63" name="Text 60"/>
          <p:cNvSpPr/>
          <p:nvPr/>
        </p:nvSpPr>
        <p:spPr>
          <a:xfrm>
            <a:off x="6845290" y="5384810"/>
            <a:ext cx="142875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Unable to verify</a:t>
            </a:r>
            <a:endParaRPr lang="en-US" sz="1000" dirty="0"/>
          </a:p>
        </p:txBody>
      </p:sp>
      <p:sp>
        <p:nvSpPr>
          <p:cNvPr id="64" name="Text 61"/>
          <p:cNvSpPr/>
          <p:nvPr/>
        </p:nvSpPr>
        <p:spPr>
          <a:xfrm>
            <a:off x="6603980" y="5689580"/>
            <a:ext cx="4826020" cy="381030"/>
          </a:xfrm>
          <a:prstGeom prst="rect">
            <a:avLst/>
          </a:prstGeom>
          <a:noFill/>
          <a:ln/>
        </p:spPr>
        <p:txBody>
          <a:bodyPr wrap="square" lIns="0" tIns="0" rIns="0" bIns="0" rtlCol="0" anchor="t"/>
          <a:lstStyle/>
          <a:p>
            <a:pPr algn="l" indent="0" marL="0">
              <a:lnSpc>
                <a:spcPct val="140000"/>
              </a:lnSpc>
              <a:buNone/>
            </a:pPr>
            <a:r>
              <a:rPr lang="en-US" sz="1000" dirty="0">
                <a:solidFill>
                  <a:srgbClr val="4A4E55"/>
                </a:solidFill>
                <a:latin typeface="Inter" pitchFamily="34" charset="0"/>
                <a:ea typeface="Inter" pitchFamily="34" charset="-122"/>
                <a:cs typeface="Inter" pitchFamily="34" charset="-120"/>
              </a:rPr>
              <a:t>No reference for this product, lid open too long, a noisy blank, or the curve never settled.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HOW A RUN WORKS</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06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71500"/>
          </a:xfrm>
          <a:prstGeom prst="rect">
            <a:avLst/>
          </a:prstGeom>
          <a:noFill/>
          <a:ln/>
        </p:spPr>
        <p:txBody>
          <a:bodyPr wrap="square" lIns="0" tIns="0" rIns="0" bIns="0" rtlCol="0" anchor="t"/>
          <a:lstStyle/>
          <a:p>
            <a:pPr algn="l" indent="0" marL="0">
              <a:lnSpc>
                <a:spcPct val="100000"/>
              </a:lnSpc>
              <a:buNone/>
            </a:pPr>
            <a:r>
              <a:rPr lang="en-US" sz="3744" spc="-56" kern="0" dirty="0">
                <a:solidFill>
                  <a:srgbClr val="16181B"/>
                </a:solidFill>
                <a:latin typeface="Instrument Serif" pitchFamily="34" charset="0"/>
                <a:ea typeface="Instrument Serif" pitchFamily="34" charset="-122"/>
                <a:cs typeface="Instrument Serif" pitchFamily="34" charset="-120"/>
              </a:rPr>
              <a:t>60 seconds, start to answer.</a:t>
            </a:r>
            <a:endParaRPr lang="en-US" sz="3744" dirty="0"/>
          </a:p>
        </p:txBody>
      </p:sp>
      <p:sp>
        <p:nvSpPr>
          <p:cNvPr id="11" name="Text 8"/>
          <p:cNvSpPr/>
          <p:nvPr/>
        </p:nvSpPr>
        <p:spPr>
          <a:xfrm>
            <a:off x="761970" y="1714500"/>
            <a:ext cx="9525030" cy="755660"/>
          </a:xfrm>
          <a:prstGeom prst="rect">
            <a:avLst/>
          </a:prstGeom>
          <a:noFill/>
          <a:ln/>
        </p:spPr>
        <p:txBody>
          <a:bodyPr wrap="square" lIns="0" tIns="0" rIns="0" bIns="0" rtlCol="0" anchor="t"/>
          <a:lstStyle/>
          <a:p>
            <a:pPr algn="l" indent="0" marL="0">
              <a:lnSpc>
                <a:spcPct val="145000"/>
              </a:lnSpc>
              <a:buNone/>
            </a:pPr>
            <a:r>
              <a:rPr lang="en-US" sz="1300" dirty="0">
                <a:solidFill>
                  <a:srgbClr val="4A4E55"/>
                </a:solidFill>
                <a:latin typeface="Inter" pitchFamily="34" charset="0"/>
                <a:ea typeface="Inter" pitchFamily="34" charset="-122"/>
                <a:cs typeface="Inter" pitchFamily="34" charset="-120"/>
              </a:rPr>
              <a:t>Quick mode stops 60 s after the tablet goes in; full mode runs 2–10 min until the curve is flat. The station app compares the run with a reference profile (three or more good runs); the clinic app draws it as a pill filling to its reference plateau.</a:t>
            </a:r>
            <a:endParaRPr lang="en-US" sz="1300" dirty="0"/>
          </a:p>
        </p:txBody>
      </p:sp>
      <p:sp>
        <p:nvSpPr>
          <p:cNvPr id="12" name="Shape 10"/>
          <p:cNvSpPr/>
          <p:nvPr/>
        </p:nvSpPr>
        <p:spPr>
          <a:xfrm>
            <a:off x="1352580" y="2286000"/>
            <a:ext cx="952530" cy="2349459"/>
          </a:xfrm>
          <a:prstGeom prst="roundRect">
            <a:avLst>
              <a:gd name="adj" fmla="val 49995"/>
            </a:avLst>
          </a:prstGeom>
          <a:solidFill>
            <a:srgbClr val="FFFFFF"/>
          </a:solidFill>
          <a:ln/>
        </p:spPr>
      </p:sp>
      <p:sp>
        <p:nvSpPr>
          <p:cNvPr id="13" name="Shape 11"/>
          <p:cNvSpPr/>
          <p:nvPr/>
        </p:nvSpPr>
        <p:spPr>
          <a:xfrm>
            <a:off x="1352580" y="2286000"/>
            <a:ext cx="952530" cy="2349459"/>
          </a:xfrm>
          <a:prstGeom prst="roundRect">
            <a:avLst>
              <a:gd name="adj" fmla="val 49995"/>
            </a:avLst>
          </a:prstGeom>
          <a:ln w="31750">
            <a:solidFill>
              <a:srgbClr val="4FB3FF"/>
            </a:solidFill>
            <a:prstDash val="solid"/>
          </a:ln>
        </p:spPr>
      </p:sp>
      <p:sp>
        <p:nvSpPr>
          <p:cNvPr id="14" name="Shape 12"/>
          <p:cNvSpPr/>
          <p:nvPr/>
        </p:nvSpPr>
        <p:spPr>
          <a:xfrm>
            <a:off x="2425720" y="3397270"/>
            <a:ext cx="939820" cy="127010"/>
          </a:xfrm>
          <a:custGeom>
            <a:avLst/>
            <a:gdLst/>
            <a:ahLst/>
            <a:cxnLst/>
            <a:rect l="l" t="t" r="r" b="b"/>
            <a:pathLst>
              <a:path w="939820" h="127010">
                <a:moveTo>
                  <a:pt x="19020" y="63459"/>
                </a:moveTo>
                <a:lnTo>
                  <a:pt x="920709" y="63459"/>
                </a:lnTo>
                <a:moveTo>
                  <a:pt x="842620" y="106070"/>
                </a:moveTo>
                <a:lnTo>
                  <a:pt x="920709" y="63459"/>
                </a:lnTo>
                <a:lnTo>
                  <a:pt x="842620" y="20940"/>
                </a:lnTo>
              </a:path>
            </a:pathLst>
          </a:custGeom>
          <a:ln w="19050">
            <a:solidFill>
              <a:srgbClr val="16181B">
                <a:alpha val="18000"/>
              </a:srgbClr>
            </a:solidFill>
            <a:prstDash val="solid"/>
          </a:ln>
        </p:spPr>
      </p:sp>
      <p:sp>
        <p:nvSpPr>
          <p:cNvPr id="15" name="Text 11"/>
          <p:cNvSpPr/>
          <p:nvPr/>
        </p:nvSpPr>
        <p:spPr>
          <a:xfrm>
            <a:off x="76197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0%</a:t>
            </a:r>
            <a:endParaRPr lang="en-US" sz="2184" dirty="0"/>
          </a:p>
        </p:txBody>
      </p:sp>
      <p:sp>
        <p:nvSpPr>
          <p:cNvPr id="16" name="Text 12"/>
          <p:cNvSpPr/>
          <p:nvPr/>
        </p:nvSpPr>
        <p:spPr>
          <a:xfrm>
            <a:off x="76197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blank</a:t>
            </a:r>
            <a:endParaRPr lang="en-US" sz="850" dirty="0"/>
          </a:p>
        </p:txBody>
      </p:sp>
      <p:sp>
        <p:nvSpPr>
          <p:cNvPr id="17" name="Text 13"/>
          <p:cNvSpPr/>
          <p:nvPr/>
        </p:nvSpPr>
        <p:spPr>
          <a:xfrm>
            <a:off x="876270" y="5410230"/>
            <a:ext cx="1904970" cy="55879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0:00 · dark, then 10 s of clean water. Lid open? No run.</a:t>
            </a:r>
            <a:endParaRPr lang="en-US" sz="1000" dirty="0"/>
          </a:p>
        </p:txBody>
      </p:sp>
      <p:sp>
        <p:nvSpPr>
          <p:cNvPr id="18" name="Shape 16"/>
          <p:cNvSpPr/>
          <p:nvPr/>
        </p:nvSpPr>
        <p:spPr>
          <a:xfrm>
            <a:off x="3486150" y="2286000"/>
            <a:ext cx="952530" cy="2349459"/>
          </a:xfrm>
          <a:prstGeom prst="roundRect">
            <a:avLst>
              <a:gd name="adj" fmla="val 49995"/>
            </a:avLst>
          </a:prstGeom>
          <a:solidFill>
            <a:srgbClr val="FFFFFF"/>
          </a:solidFill>
          <a:ln/>
        </p:spPr>
      </p:sp>
      <p:sp>
        <p:nvSpPr>
          <p:cNvPr id="19" name="Shape 17"/>
          <p:cNvSpPr/>
          <p:nvPr/>
        </p:nvSpPr>
        <p:spPr>
          <a:xfrm>
            <a:off x="3486150" y="2286000"/>
            <a:ext cx="952530" cy="2349459"/>
          </a:xfrm>
          <a:custGeom>
            <a:avLst/>
            <a:gdLst/>
            <a:ahLst/>
            <a:cxnLst/>
            <a:rect l="l" t="t" r="r" b="b"/>
            <a:pathLst>
              <a:path w="952530" h="2349459">
                <a:moveTo>
                  <a:pt x="952530" y="1832640"/>
                </a:moveTo>
                <a:lnTo>
                  <a:pt x="952530" y="1873240"/>
                </a:lnTo>
                <a:lnTo>
                  <a:pt x="948416" y="1935419"/>
                </a:lnTo>
                <a:lnTo>
                  <a:pt x="936254" y="1996501"/>
                </a:lnTo>
                <a:lnTo>
                  <a:pt x="916229" y="2055480"/>
                </a:lnTo>
                <a:lnTo>
                  <a:pt x="888705" y="2111350"/>
                </a:lnTo>
                <a:lnTo>
                  <a:pt x="854050" y="2163196"/>
                </a:lnTo>
                <a:lnTo>
                  <a:pt x="812993" y="2210013"/>
                </a:lnTo>
                <a:lnTo>
                  <a:pt x="766176" y="2251070"/>
                </a:lnTo>
                <a:lnTo>
                  <a:pt x="714421" y="2285726"/>
                </a:lnTo>
                <a:lnTo>
                  <a:pt x="658459" y="2313249"/>
                </a:lnTo>
                <a:lnTo>
                  <a:pt x="599481" y="2333274"/>
                </a:lnTo>
                <a:lnTo>
                  <a:pt x="538399" y="2345436"/>
                </a:lnTo>
                <a:lnTo>
                  <a:pt x="476220" y="2349459"/>
                </a:lnTo>
                <a:lnTo>
                  <a:pt x="414132" y="2345436"/>
                </a:lnTo>
                <a:lnTo>
                  <a:pt x="352958" y="2333274"/>
                </a:lnTo>
                <a:lnTo>
                  <a:pt x="293980" y="2313249"/>
                </a:lnTo>
                <a:lnTo>
                  <a:pt x="238110" y="2285726"/>
                </a:lnTo>
                <a:lnTo>
                  <a:pt x="186355" y="2251070"/>
                </a:lnTo>
                <a:lnTo>
                  <a:pt x="139446" y="2210013"/>
                </a:lnTo>
                <a:lnTo>
                  <a:pt x="98389" y="2163196"/>
                </a:lnTo>
                <a:lnTo>
                  <a:pt x="63825" y="2111350"/>
                </a:lnTo>
                <a:lnTo>
                  <a:pt x="36210" y="2055480"/>
                </a:lnTo>
                <a:lnTo>
                  <a:pt x="16185" y="1996501"/>
                </a:lnTo>
                <a:lnTo>
                  <a:pt x="4115" y="1935419"/>
                </a:lnTo>
                <a:lnTo>
                  <a:pt x="0" y="1873240"/>
                </a:lnTo>
                <a:lnTo>
                  <a:pt x="0" y="1832640"/>
                </a:lnTo>
                <a:close/>
              </a:path>
            </a:pathLst>
          </a:custGeom>
          <a:solidFill>
            <a:srgbClr val="4FB3FF"/>
          </a:solidFill>
          <a:ln/>
        </p:spPr>
      </p:sp>
      <p:sp>
        <p:nvSpPr>
          <p:cNvPr id="20" name="Shape 18"/>
          <p:cNvSpPr/>
          <p:nvPr/>
        </p:nvSpPr>
        <p:spPr>
          <a:xfrm>
            <a:off x="3486150" y="2286000"/>
            <a:ext cx="952530" cy="2349459"/>
          </a:xfrm>
          <a:prstGeom prst="roundRect">
            <a:avLst>
              <a:gd name="adj" fmla="val 49995"/>
            </a:avLst>
          </a:prstGeom>
          <a:ln w="31750">
            <a:solidFill>
              <a:srgbClr val="4FB3FF"/>
            </a:solidFill>
            <a:prstDash val="solid"/>
          </a:ln>
        </p:spPr>
      </p:sp>
      <p:sp>
        <p:nvSpPr>
          <p:cNvPr id="21" name="Shape 19"/>
          <p:cNvSpPr/>
          <p:nvPr/>
        </p:nvSpPr>
        <p:spPr>
          <a:xfrm>
            <a:off x="4559290" y="3397270"/>
            <a:ext cx="939820" cy="127010"/>
          </a:xfrm>
          <a:custGeom>
            <a:avLst/>
            <a:gdLst/>
            <a:ahLst/>
            <a:cxnLst/>
            <a:rect l="l" t="t" r="r" b="b"/>
            <a:pathLst>
              <a:path w="939820" h="127010">
                <a:moveTo>
                  <a:pt x="19020" y="63459"/>
                </a:moveTo>
                <a:lnTo>
                  <a:pt x="920709" y="63459"/>
                </a:lnTo>
                <a:moveTo>
                  <a:pt x="842620" y="106070"/>
                </a:moveTo>
                <a:lnTo>
                  <a:pt x="920709" y="63459"/>
                </a:lnTo>
                <a:lnTo>
                  <a:pt x="842620" y="20940"/>
                </a:lnTo>
              </a:path>
            </a:pathLst>
          </a:custGeom>
          <a:ln w="19050">
            <a:solidFill>
              <a:srgbClr val="16181B">
                <a:alpha val="18000"/>
              </a:srgbClr>
            </a:solidFill>
            <a:prstDash val="solid"/>
          </a:ln>
        </p:spPr>
      </p:sp>
      <p:sp>
        <p:nvSpPr>
          <p:cNvPr id="22" name="Text 16"/>
          <p:cNvSpPr/>
          <p:nvPr/>
        </p:nvSpPr>
        <p:spPr>
          <a:xfrm>
            <a:off x="289563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22%</a:t>
            </a:r>
            <a:endParaRPr lang="en-US" sz="2184" dirty="0"/>
          </a:p>
        </p:txBody>
      </p:sp>
      <p:sp>
        <p:nvSpPr>
          <p:cNvPr id="23" name="Text 17"/>
          <p:cNvSpPr/>
          <p:nvPr/>
        </p:nvSpPr>
        <p:spPr>
          <a:xfrm>
            <a:off x="289563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dissolving</a:t>
            </a:r>
            <a:endParaRPr lang="en-US" sz="850" dirty="0"/>
          </a:p>
        </p:txBody>
      </p:sp>
      <p:sp>
        <p:nvSpPr>
          <p:cNvPr id="24" name="Text 18"/>
          <p:cNvSpPr/>
          <p:nvPr/>
        </p:nvSpPr>
        <p:spPr>
          <a:xfrm>
            <a:off x="3009930" y="5410230"/>
            <a:ext cx="1904970" cy="38103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One whole tablet in; stirred by hand.</a:t>
            </a:r>
            <a:endParaRPr lang="en-US" sz="1000" dirty="0"/>
          </a:p>
        </p:txBody>
      </p:sp>
      <p:sp>
        <p:nvSpPr>
          <p:cNvPr id="25" name="Shape 23"/>
          <p:cNvSpPr/>
          <p:nvPr/>
        </p:nvSpPr>
        <p:spPr>
          <a:xfrm>
            <a:off x="5619720" y="2286000"/>
            <a:ext cx="952530" cy="2349459"/>
          </a:xfrm>
          <a:prstGeom prst="roundRect">
            <a:avLst>
              <a:gd name="adj" fmla="val 49995"/>
            </a:avLst>
          </a:prstGeom>
          <a:solidFill>
            <a:srgbClr val="FFFFFF"/>
          </a:solidFill>
          <a:ln/>
        </p:spPr>
      </p:sp>
      <p:sp>
        <p:nvSpPr>
          <p:cNvPr id="26" name="Shape 24"/>
          <p:cNvSpPr/>
          <p:nvPr/>
        </p:nvSpPr>
        <p:spPr>
          <a:xfrm>
            <a:off x="5619720" y="2286000"/>
            <a:ext cx="952530" cy="2349459"/>
          </a:xfrm>
          <a:custGeom>
            <a:avLst/>
            <a:gdLst/>
            <a:ahLst/>
            <a:cxnLst/>
            <a:rect l="l" t="t" r="r" b="b"/>
            <a:pathLst>
              <a:path w="952530" h="2349459">
                <a:moveTo>
                  <a:pt x="952530" y="1104229"/>
                </a:moveTo>
                <a:lnTo>
                  <a:pt x="952530" y="1873240"/>
                </a:lnTo>
                <a:lnTo>
                  <a:pt x="948416" y="1935419"/>
                </a:lnTo>
                <a:lnTo>
                  <a:pt x="936254" y="1996501"/>
                </a:lnTo>
                <a:lnTo>
                  <a:pt x="916229" y="2055480"/>
                </a:lnTo>
                <a:lnTo>
                  <a:pt x="888705" y="2111350"/>
                </a:lnTo>
                <a:lnTo>
                  <a:pt x="854050" y="2163196"/>
                </a:lnTo>
                <a:lnTo>
                  <a:pt x="812993" y="2210013"/>
                </a:lnTo>
                <a:lnTo>
                  <a:pt x="766176" y="2251070"/>
                </a:lnTo>
                <a:lnTo>
                  <a:pt x="714421" y="2285726"/>
                </a:lnTo>
                <a:lnTo>
                  <a:pt x="658459" y="2313249"/>
                </a:lnTo>
                <a:lnTo>
                  <a:pt x="599481" y="2333274"/>
                </a:lnTo>
                <a:lnTo>
                  <a:pt x="538399" y="2345436"/>
                </a:lnTo>
                <a:lnTo>
                  <a:pt x="476220" y="2349459"/>
                </a:lnTo>
                <a:lnTo>
                  <a:pt x="414132" y="2345436"/>
                </a:lnTo>
                <a:lnTo>
                  <a:pt x="352958" y="2333274"/>
                </a:lnTo>
                <a:lnTo>
                  <a:pt x="293980" y="2313249"/>
                </a:lnTo>
                <a:lnTo>
                  <a:pt x="238110" y="2285726"/>
                </a:lnTo>
                <a:lnTo>
                  <a:pt x="186355" y="2251070"/>
                </a:lnTo>
                <a:lnTo>
                  <a:pt x="139446" y="2210013"/>
                </a:lnTo>
                <a:lnTo>
                  <a:pt x="98389" y="2163196"/>
                </a:lnTo>
                <a:lnTo>
                  <a:pt x="63825" y="2111350"/>
                </a:lnTo>
                <a:lnTo>
                  <a:pt x="36210" y="2055480"/>
                </a:lnTo>
                <a:lnTo>
                  <a:pt x="16185" y="1996501"/>
                </a:lnTo>
                <a:lnTo>
                  <a:pt x="4115" y="1935419"/>
                </a:lnTo>
                <a:lnTo>
                  <a:pt x="0" y="1873240"/>
                </a:lnTo>
                <a:lnTo>
                  <a:pt x="0" y="1104229"/>
                </a:lnTo>
                <a:close/>
              </a:path>
            </a:pathLst>
          </a:custGeom>
          <a:solidFill>
            <a:srgbClr val="4FB3FF"/>
          </a:solidFill>
          <a:ln/>
        </p:spPr>
      </p:sp>
      <p:sp>
        <p:nvSpPr>
          <p:cNvPr id="27" name="Shape 25"/>
          <p:cNvSpPr/>
          <p:nvPr/>
        </p:nvSpPr>
        <p:spPr>
          <a:xfrm>
            <a:off x="5619720" y="2286000"/>
            <a:ext cx="952530" cy="2349459"/>
          </a:xfrm>
          <a:prstGeom prst="roundRect">
            <a:avLst>
              <a:gd name="adj" fmla="val 49995"/>
            </a:avLst>
          </a:prstGeom>
          <a:ln w="31750">
            <a:solidFill>
              <a:srgbClr val="4FB3FF"/>
            </a:solidFill>
            <a:prstDash val="solid"/>
          </a:ln>
        </p:spPr>
      </p:sp>
      <p:sp>
        <p:nvSpPr>
          <p:cNvPr id="28" name="Shape 26"/>
          <p:cNvSpPr/>
          <p:nvPr/>
        </p:nvSpPr>
        <p:spPr>
          <a:xfrm>
            <a:off x="6692859" y="3397270"/>
            <a:ext cx="939820" cy="127010"/>
          </a:xfrm>
          <a:custGeom>
            <a:avLst/>
            <a:gdLst/>
            <a:ahLst/>
            <a:cxnLst/>
            <a:rect l="l" t="t" r="r" b="b"/>
            <a:pathLst>
              <a:path w="939820" h="127010">
                <a:moveTo>
                  <a:pt x="19020" y="63459"/>
                </a:moveTo>
                <a:lnTo>
                  <a:pt x="920709" y="63459"/>
                </a:lnTo>
                <a:moveTo>
                  <a:pt x="842620" y="106070"/>
                </a:moveTo>
                <a:lnTo>
                  <a:pt x="920709" y="63459"/>
                </a:lnTo>
                <a:lnTo>
                  <a:pt x="842620" y="20940"/>
                </a:lnTo>
              </a:path>
            </a:pathLst>
          </a:custGeom>
          <a:ln w="19050">
            <a:solidFill>
              <a:srgbClr val="16181B">
                <a:alpha val="18000"/>
              </a:srgbClr>
            </a:solidFill>
            <a:prstDash val="solid"/>
          </a:ln>
        </p:spPr>
      </p:sp>
      <p:sp>
        <p:nvSpPr>
          <p:cNvPr id="29" name="Text 21"/>
          <p:cNvSpPr/>
          <p:nvPr/>
        </p:nvSpPr>
        <p:spPr>
          <a:xfrm>
            <a:off x="502920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53%</a:t>
            </a:r>
            <a:endParaRPr lang="en-US" sz="2184" dirty="0"/>
          </a:p>
        </p:txBody>
      </p:sp>
      <p:sp>
        <p:nvSpPr>
          <p:cNvPr id="30" name="Text 22"/>
          <p:cNvSpPr/>
          <p:nvPr/>
        </p:nvSpPr>
        <p:spPr>
          <a:xfrm>
            <a:off x="502920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dissolving</a:t>
            </a:r>
            <a:endParaRPr lang="en-US" sz="850" dirty="0"/>
          </a:p>
        </p:txBody>
      </p:sp>
      <p:sp>
        <p:nvSpPr>
          <p:cNvPr id="31" name="Text 23"/>
          <p:cNvSpPr/>
          <p:nvPr/>
        </p:nvSpPr>
        <p:spPr>
          <a:xfrm>
            <a:off x="5143500" y="5410230"/>
            <a:ext cx="1904970" cy="38103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The light through the cup changes as it dissolves.</a:t>
            </a:r>
            <a:endParaRPr lang="en-US" sz="1000" dirty="0"/>
          </a:p>
        </p:txBody>
      </p:sp>
      <p:sp>
        <p:nvSpPr>
          <p:cNvPr id="32" name="Shape 30"/>
          <p:cNvSpPr/>
          <p:nvPr/>
        </p:nvSpPr>
        <p:spPr>
          <a:xfrm>
            <a:off x="7753380" y="2286000"/>
            <a:ext cx="952530" cy="2349459"/>
          </a:xfrm>
          <a:prstGeom prst="roundRect">
            <a:avLst>
              <a:gd name="adj" fmla="val 49995"/>
            </a:avLst>
          </a:prstGeom>
          <a:solidFill>
            <a:srgbClr val="FFFFFF"/>
          </a:solidFill>
          <a:ln/>
        </p:spPr>
      </p:sp>
      <p:sp>
        <p:nvSpPr>
          <p:cNvPr id="33" name="Shape 31"/>
          <p:cNvSpPr/>
          <p:nvPr/>
        </p:nvSpPr>
        <p:spPr>
          <a:xfrm>
            <a:off x="7753380" y="2286000"/>
            <a:ext cx="952530" cy="2349459"/>
          </a:xfrm>
          <a:custGeom>
            <a:avLst/>
            <a:gdLst/>
            <a:ahLst/>
            <a:cxnLst/>
            <a:rect l="l" t="t" r="r" b="b"/>
            <a:pathLst>
              <a:path w="952530" h="2349459">
                <a:moveTo>
                  <a:pt x="0" y="476220"/>
                </a:moveTo>
                <a:lnTo>
                  <a:pt x="4115" y="414132"/>
                </a:lnTo>
                <a:lnTo>
                  <a:pt x="16185" y="352958"/>
                </a:lnTo>
                <a:lnTo>
                  <a:pt x="24414" y="328910"/>
                </a:lnTo>
                <a:lnTo>
                  <a:pt x="928116" y="328910"/>
                </a:lnTo>
                <a:lnTo>
                  <a:pt x="936254" y="352958"/>
                </a:lnTo>
                <a:lnTo>
                  <a:pt x="948416" y="414132"/>
                </a:lnTo>
                <a:lnTo>
                  <a:pt x="952530" y="476220"/>
                </a:lnTo>
                <a:lnTo>
                  <a:pt x="952530" y="1873240"/>
                </a:lnTo>
                <a:lnTo>
                  <a:pt x="948416" y="1935419"/>
                </a:lnTo>
                <a:lnTo>
                  <a:pt x="936254" y="1996501"/>
                </a:lnTo>
                <a:lnTo>
                  <a:pt x="916229" y="2055480"/>
                </a:lnTo>
                <a:lnTo>
                  <a:pt x="888705" y="2111350"/>
                </a:lnTo>
                <a:lnTo>
                  <a:pt x="854050" y="2163196"/>
                </a:lnTo>
                <a:lnTo>
                  <a:pt x="812993" y="2210013"/>
                </a:lnTo>
                <a:lnTo>
                  <a:pt x="766176" y="2251070"/>
                </a:lnTo>
                <a:lnTo>
                  <a:pt x="714421" y="2285726"/>
                </a:lnTo>
                <a:lnTo>
                  <a:pt x="658459" y="2313249"/>
                </a:lnTo>
                <a:lnTo>
                  <a:pt x="599481" y="2333274"/>
                </a:lnTo>
                <a:lnTo>
                  <a:pt x="538399" y="2345436"/>
                </a:lnTo>
                <a:lnTo>
                  <a:pt x="476220" y="2349459"/>
                </a:lnTo>
                <a:lnTo>
                  <a:pt x="414132" y="2345436"/>
                </a:lnTo>
                <a:lnTo>
                  <a:pt x="352958" y="2333274"/>
                </a:lnTo>
                <a:lnTo>
                  <a:pt x="293980" y="2313249"/>
                </a:lnTo>
                <a:lnTo>
                  <a:pt x="238110" y="2285726"/>
                </a:lnTo>
                <a:lnTo>
                  <a:pt x="186355" y="2251070"/>
                </a:lnTo>
                <a:lnTo>
                  <a:pt x="139446" y="2210013"/>
                </a:lnTo>
                <a:lnTo>
                  <a:pt x="98389" y="2163196"/>
                </a:lnTo>
                <a:lnTo>
                  <a:pt x="63825" y="2111350"/>
                </a:lnTo>
                <a:lnTo>
                  <a:pt x="36210" y="2055480"/>
                </a:lnTo>
                <a:lnTo>
                  <a:pt x="16185" y="1996501"/>
                </a:lnTo>
                <a:lnTo>
                  <a:pt x="4115" y="1935419"/>
                </a:lnTo>
                <a:lnTo>
                  <a:pt x="0" y="1873240"/>
                </a:lnTo>
                <a:close/>
              </a:path>
            </a:pathLst>
          </a:custGeom>
          <a:solidFill>
            <a:srgbClr val="4FB3FF"/>
          </a:solidFill>
          <a:ln/>
        </p:spPr>
      </p:sp>
      <p:sp>
        <p:nvSpPr>
          <p:cNvPr id="34" name="Shape 32"/>
          <p:cNvSpPr/>
          <p:nvPr/>
        </p:nvSpPr>
        <p:spPr>
          <a:xfrm>
            <a:off x="7753380" y="2286000"/>
            <a:ext cx="952530" cy="2349459"/>
          </a:xfrm>
          <a:prstGeom prst="roundRect">
            <a:avLst>
              <a:gd name="adj" fmla="val 49995"/>
            </a:avLst>
          </a:prstGeom>
          <a:ln w="31750">
            <a:solidFill>
              <a:srgbClr val="4FB3FF"/>
            </a:solidFill>
            <a:prstDash val="solid"/>
          </a:ln>
        </p:spPr>
      </p:sp>
      <p:sp>
        <p:nvSpPr>
          <p:cNvPr id="35" name="Shape 33"/>
          <p:cNvSpPr/>
          <p:nvPr/>
        </p:nvSpPr>
        <p:spPr>
          <a:xfrm>
            <a:off x="8826520" y="3397270"/>
            <a:ext cx="939820" cy="127010"/>
          </a:xfrm>
          <a:custGeom>
            <a:avLst/>
            <a:gdLst/>
            <a:ahLst/>
            <a:cxnLst/>
            <a:rect l="l" t="t" r="r" b="b"/>
            <a:pathLst>
              <a:path w="939820" h="127010">
                <a:moveTo>
                  <a:pt x="19020" y="63459"/>
                </a:moveTo>
                <a:lnTo>
                  <a:pt x="920709" y="63459"/>
                </a:lnTo>
                <a:moveTo>
                  <a:pt x="842620" y="106070"/>
                </a:moveTo>
                <a:lnTo>
                  <a:pt x="920709" y="63459"/>
                </a:lnTo>
                <a:lnTo>
                  <a:pt x="842620" y="20940"/>
                </a:lnTo>
              </a:path>
            </a:pathLst>
          </a:custGeom>
          <a:ln w="19050">
            <a:solidFill>
              <a:srgbClr val="16181B">
                <a:alpha val="18000"/>
              </a:srgbClr>
            </a:solidFill>
            <a:prstDash val="solid"/>
          </a:ln>
        </p:spPr>
      </p:sp>
      <p:sp>
        <p:nvSpPr>
          <p:cNvPr id="36" name="Text 26"/>
          <p:cNvSpPr/>
          <p:nvPr/>
        </p:nvSpPr>
        <p:spPr>
          <a:xfrm>
            <a:off x="716277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86%</a:t>
            </a:r>
            <a:endParaRPr lang="en-US" sz="2184" dirty="0"/>
          </a:p>
        </p:txBody>
      </p:sp>
      <p:sp>
        <p:nvSpPr>
          <p:cNvPr id="37" name="Text 27"/>
          <p:cNvSpPr/>
          <p:nvPr/>
        </p:nvSpPr>
        <p:spPr>
          <a:xfrm>
            <a:off x="716277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settling</a:t>
            </a:r>
            <a:endParaRPr lang="en-US" sz="850" dirty="0"/>
          </a:p>
        </p:txBody>
      </p:sp>
      <p:sp>
        <p:nvSpPr>
          <p:cNvPr id="38" name="Text 28"/>
          <p:cNvSpPr/>
          <p:nvPr/>
        </p:nvSpPr>
        <p:spPr>
          <a:xfrm>
            <a:off x="7277070" y="5410230"/>
            <a:ext cx="1904970" cy="20318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The curve starts to flatten.</a:t>
            </a:r>
            <a:endParaRPr lang="en-US" sz="1000" dirty="0"/>
          </a:p>
        </p:txBody>
      </p:sp>
      <p:sp>
        <p:nvSpPr>
          <p:cNvPr id="39" name="Shape 37"/>
          <p:cNvSpPr/>
          <p:nvPr/>
        </p:nvSpPr>
        <p:spPr>
          <a:xfrm>
            <a:off x="9886950" y="2286000"/>
            <a:ext cx="952530" cy="2349459"/>
          </a:xfrm>
          <a:prstGeom prst="roundRect">
            <a:avLst>
              <a:gd name="adj" fmla="val 49995"/>
            </a:avLst>
          </a:prstGeom>
          <a:solidFill>
            <a:srgbClr val="FFFFFF"/>
          </a:solidFill>
          <a:ln/>
        </p:spPr>
      </p:sp>
      <p:sp>
        <p:nvSpPr>
          <p:cNvPr id="40" name="Shape 38"/>
          <p:cNvSpPr/>
          <p:nvPr/>
        </p:nvSpPr>
        <p:spPr>
          <a:xfrm>
            <a:off x="9886950" y="2286000"/>
            <a:ext cx="952530" cy="2349459"/>
          </a:xfrm>
          <a:custGeom>
            <a:avLst/>
            <a:gdLst/>
            <a:ahLst/>
            <a:cxnLst/>
            <a:rect l="l" t="t" r="r" b="b"/>
            <a:pathLst>
              <a:path w="952530" h="2349459">
                <a:moveTo>
                  <a:pt x="0" y="476220"/>
                </a:moveTo>
                <a:lnTo>
                  <a:pt x="4115" y="414132"/>
                </a:lnTo>
                <a:lnTo>
                  <a:pt x="16185" y="352958"/>
                </a:lnTo>
                <a:lnTo>
                  <a:pt x="36210" y="293980"/>
                </a:lnTo>
                <a:lnTo>
                  <a:pt x="63825" y="238110"/>
                </a:lnTo>
                <a:lnTo>
                  <a:pt x="98389" y="186355"/>
                </a:lnTo>
                <a:lnTo>
                  <a:pt x="139446" y="139446"/>
                </a:lnTo>
                <a:lnTo>
                  <a:pt x="186355" y="98389"/>
                </a:lnTo>
                <a:lnTo>
                  <a:pt x="238110" y="63825"/>
                </a:lnTo>
                <a:lnTo>
                  <a:pt x="293980" y="36210"/>
                </a:lnTo>
                <a:lnTo>
                  <a:pt x="352958" y="16185"/>
                </a:lnTo>
                <a:lnTo>
                  <a:pt x="414132" y="4115"/>
                </a:lnTo>
                <a:lnTo>
                  <a:pt x="476220" y="0"/>
                </a:lnTo>
                <a:lnTo>
                  <a:pt x="538399" y="4115"/>
                </a:lnTo>
                <a:lnTo>
                  <a:pt x="599481" y="16185"/>
                </a:lnTo>
                <a:lnTo>
                  <a:pt x="658459" y="36210"/>
                </a:lnTo>
                <a:lnTo>
                  <a:pt x="714329" y="63825"/>
                </a:lnTo>
                <a:lnTo>
                  <a:pt x="766176" y="98389"/>
                </a:lnTo>
                <a:lnTo>
                  <a:pt x="812993" y="139446"/>
                </a:lnTo>
                <a:lnTo>
                  <a:pt x="854050" y="186355"/>
                </a:lnTo>
                <a:lnTo>
                  <a:pt x="888705" y="238110"/>
                </a:lnTo>
                <a:lnTo>
                  <a:pt x="916229" y="293980"/>
                </a:lnTo>
                <a:lnTo>
                  <a:pt x="936254" y="352958"/>
                </a:lnTo>
                <a:lnTo>
                  <a:pt x="948416" y="414132"/>
                </a:lnTo>
                <a:lnTo>
                  <a:pt x="952530" y="476220"/>
                </a:lnTo>
                <a:lnTo>
                  <a:pt x="952530" y="1873240"/>
                </a:lnTo>
                <a:lnTo>
                  <a:pt x="948416" y="1935419"/>
                </a:lnTo>
                <a:lnTo>
                  <a:pt x="936254" y="1996501"/>
                </a:lnTo>
                <a:lnTo>
                  <a:pt x="916229" y="2055480"/>
                </a:lnTo>
                <a:lnTo>
                  <a:pt x="888705" y="2111350"/>
                </a:lnTo>
                <a:lnTo>
                  <a:pt x="854050" y="2163196"/>
                </a:lnTo>
                <a:lnTo>
                  <a:pt x="812993" y="2210013"/>
                </a:lnTo>
                <a:lnTo>
                  <a:pt x="766176" y="2251070"/>
                </a:lnTo>
                <a:lnTo>
                  <a:pt x="714421" y="2285726"/>
                </a:lnTo>
                <a:lnTo>
                  <a:pt x="658459" y="2313249"/>
                </a:lnTo>
                <a:lnTo>
                  <a:pt x="599481" y="2333274"/>
                </a:lnTo>
                <a:lnTo>
                  <a:pt x="538399" y="2345436"/>
                </a:lnTo>
                <a:lnTo>
                  <a:pt x="476220" y="2349459"/>
                </a:lnTo>
                <a:lnTo>
                  <a:pt x="414132" y="2345436"/>
                </a:lnTo>
                <a:lnTo>
                  <a:pt x="352958" y="2333274"/>
                </a:lnTo>
                <a:lnTo>
                  <a:pt x="293980" y="2313249"/>
                </a:lnTo>
                <a:lnTo>
                  <a:pt x="238110" y="2285726"/>
                </a:lnTo>
                <a:lnTo>
                  <a:pt x="186355" y="2251070"/>
                </a:lnTo>
                <a:lnTo>
                  <a:pt x="139446" y="2210013"/>
                </a:lnTo>
                <a:lnTo>
                  <a:pt x="98389" y="2163196"/>
                </a:lnTo>
                <a:lnTo>
                  <a:pt x="63825" y="2111350"/>
                </a:lnTo>
                <a:lnTo>
                  <a:pt x="36210" y="2055480"/>
                </a:lnTo>
                <a:lnTo>
                  <a:pt x="16185" y="1996501"/>
                </a:lnTo>
                <a:lnTo>
                  <a:pt x="4115" y="1935419"/>
                </a:lnTo>
                <a:lnTo>
                  <a:pt x="0" y="1873240"/>
                </a:lnTo>
                <a:close/>
              </a:path>
            </a:pathLst>
          </a:custGeom>
          <a:solidFill>
            <a:srgbClr val="5FD39A"/>
          </a:solidFill>
          <a:ln/>
        </p:spPr>
      </p:sp>
      <p:sp>
        <p:nvSpPr>
          <p:cNvPr id="41" name="Shape 39"/>
          <p:cNvSpPr/>
          <p:nvPr/>
        </p:nvSpPr>
        <p:spPr>
          <a:xfrm>
            <a:off x="9886950" y="2286000"/>
            <a:ext cx="952530" cy="2349459"/>
          </a:xfrm>
          <a:prstGeom prst="roundRect">
            <a:avLst>
              <a:gd name="adj" fmla="val 49995"/>
            </a:avLst>
          </a:prstGeom>
          <a:ln w="31750">
            <a:solidFill>
              <a:srgbClr val="5FD39A"/>
            </a:solidFill>
            <a:prstDash val="solid"/>
          </a:ln>
        </p:spPr>
      </p:sp>
      <p:sp>
        <p:nvSpPr>
          <p:cNvPr id="42" name="Text 30"/>
          <p:cNvSpPr/>
          <p:nvPr/>
        </p:nvSpPr>
        <p:spPr>
          <a:xfrm>
            <a:off x="929643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100%</a:t>
            </a:r>
            <a:endParaRPr lang="en-US" sz="2184" dirty="0"/>
          </a:p>
        </p:txBody>
      </p:sp>
      <p:sp>
        <p:nvSpPr>
          <p:cNvPr id="43" name="Text 31"/>
          <p:cNvSpPr/>
          <p:nvPr/>
        </p:nvSpPr>
        <p:spPr>
          <a:xfrm>
            <a:off x="929643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done</a:t>
            </a:r>
            <a:endParaRPr lang="en-US" sz="850" dirty="0"/>
          </a:p>
        </p:txBody>
      </p:sp>
      <p:sp>
        <p:nvSpPr>
          <p:cNvPr id="44" name="Text 32"/>
          <p:cNvSpPr/>
          <p:nvPr/>
        </p:nvSpPr>
        <p:spPr>
          <a:xfrm>
            <a:off x="9410730" y="5410230"/>
            <a:ext cx="1904970" cy="38103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1:00 · compared with the reference.</a:t>
            </a:r>
            <a:endParaRPr lang="en-US" sz="1000" dirty="0"/>
          </a:p>
        </p:txBody>
      </p:sp>
      <p:sp>
        <p:nvSpPr>
          <p:cNvPr id="45" name="Text 33"/>
          <p:cNvSpPr/>
          <p:nvPr/>
        </p:nvSpPr>
        <p:spPr>
          <a:xfrm>
            <a:off x="761970" y="6134070"/>
            <a:ext cx="10668030" cy="16514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Illustration · example levels; the app draws them live from the sensor stream.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THREE ANSWERS</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07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888980"/>
            <a:ext cx="9525030" cy="501640"/>
          </a:xfrm>
          <a:prstGeom prst="rect">
            <a:avLst/>
          </a:prstGeom>
          <a:noFill/>
          <a:ln/>
        </p:spPr>
        <p:txBody>
          <a:bodyPr wrap="square" lIns="0" tIns="0" rIns="0" bIns="0" rtlCol="0" anchor="t"/>
          <a:lstStyle/>
          <a:p>
            <a:pPr algn="l" indent="0" marL="0">
              <a:lnSpc>
                <a:spcPct val="100000"/>
              </a:lnSpc>
              <a:buNone/>
            </a:pPr>
            <a:r>
              <a:rPr lang="en-US" sz="3276" spc="-49" kern="0" dirty="0">
                <a:solidFill>
                  <a:srgbClr val="16181B"/>
                </a:solidFill>
                <a:latin typeface="Instrument Serif" pitchFamily="34" charset="0"/>
                <a:ea typeface="Instrument Serif" pitchFamily="34" charset="-122"/>
                <a:cs typeface="Instrument Serif" pitchFamily="34" charset="-120"/>
              </a:rPr>
              <a:t>Three answers. </a:t>
            </a:r>
            <a:pPr algn="l" indent="0" marL="0">
              <a:lnSpc>
                <a:spcPct val="100000"/>
              </a:lnSpc>
              <a:buNone/>
            </a:pPr>
            <a:r>
              <a:rPr lang="en-US" sz="3276" i="1" spc="-49" kern="0" dirty="0">
                <a:solidFill>
                  <a:srgbClr val="16181B"/>
                </a:solidFill>
                <a:latin typeface="Instrument Serif" pitchFamily="34" charset="0"/>
                <a:ea typeface="Instrument Serif" pitchFamily="34" charset="-122"/>
                <a:cs typeface="Instrument Serif" pitchFamily="34" charset="-120"/>
              </a:rPr>
              <a:t>Never a guess.</a:t>
            </a:r>
            <a:endParaRPr lang="en-US" sz="3276" dirty="0"/>
          </a:p>
        </p:txBody>
      </p:sp>
      <p:sp>
        <p:nvSpPr>
          <p:cNvPr id="11" name="Text 8"/>
          <p:cNvSpPr/>
          <p:nvPr/>
        </p:nvSpPr>
        <p:spPr>
          <a:xfrm>
            <a:off x="761970" y="1524030"/>
            <a:ext cx="9525030" cy="254020"/>
          </a:xfrm>
          <a:prstGeom prst="rect">
            <a:avLst/>
          </a:prstGeom>
          <a:noFill/>
          <a:ln/>
        </p:spPr>
        <p:txBody>
          <a:bodyPr wrap="square" lIns="0" tIns="0" rIns="0" bIns="0" rtlCol="0" anchor="t"/>
          <a:lstStyle/>
          <a:p>
            <a:pPr algn="l" indent="0" marL="0">
              <a:lnSpc>
                <a:spcPct val="145000"/>
              </a:lnSpc>
              <a:buNone/>
            </a:pPr>
            <a:r>
              <a:rPr lang="en-US" sz="1200" dirty="0">
                <a:solidFill>
                  <a:srgbClr val="4A4E55"/>
                </a:solidFill>
                <a:latin typeface="Inter" pitchFamily="34" charset="0"/>
                <a:ea typeface="Inter" pitchFamily="34" charset="-122"/>
                <a:cs typeface="Inter" pitchFamily="34" charset="-120"/>
              </a:rPr>
              <a:t>Seven rules, checked in order. A model writes the plain-English “why”; it never sets the verdict.</a:t>
            </a:r>
            <a:endParaRPr lang="en-US" sz="1200" dirty="0"/>
          </a:p>
        </p:txBody>
      </p:sp>
      <p:sp>
        <p:nvSpPr>
          <p:cNvPr id="12" name="Shape 10"/>
          <p:cNvSpPr/>
          <p:nvPr/>
        </p:nvSpPr>
        <p:spPr>
          <a:xfrm>
            <a:off x="761970" y="1930390"/>
            <a:ext cx="812810" cy="279441"/>
          </a:xfrm>
          <a:prstGeom prst="roundRect">
            <a:avLst>
              <a:gd name="adj" fmla="val 50000"/>
            </a:avLst>
          </a:prstGeom>
          <a:solidFill>
            <a:srgbClr val="5FD39A">
              <a:alpha val="16000"/>
            </a:srgbClr>
          </a:solidFill>
          <a:ln/>
        </p:spPr>
      </p:sp>
      <p:sp>
        <p:nvSpPr>
          <p:cNvPr id="13" name="Shape 11"/>
          <p:cNvSpPr/>
          <p:nvPr/>
        </p:nvSpPr>
        <p:spPr>
          <a:xfrm>
            <a:off x="901690" y="2038380"/>
            <a:ext cx="69860" cy="69860"/>
          </a:xfrm>
          <a:prstGeom prst="ellipse">
            <a:avLst/>
          </a:prstGeom>
          <a:solidFill>
            <a:srgbClr val="5FD39A"/>
          </a:solidFill>
          <a:ln/>
        </p:spPr>
      </p:sp>
      <p:sp>
        <p:nvSpPr>
          <p:cNvPr id="14" name="Text 11"/>
          <p:cNvSpPr/>
          <p:nvPr/>
        </p:nvSpPr>
        <p:spPr>
          <a:xfrm>
            <a:off x="1028700" y="1986260"/>
            <a:ext cx="463509" cy="196870"/>
          </a:xfrm>
          <a:prstGeom prst="rect">
            <a:avLst/>
          </a:prstGeom>
          <a:noFill/>
          <a:ln/>
        </p:spPr>
        <p:txBody>
          <a:bodyPr wrap="square" lIns="0" tIns="0" rIns="0" bIns="0" rtlCol="0" anchor="t"/>
          <a:lstStyle/>
          <a:p>
            <a:pPr algn="l" indent="0" marL="0">
              <a:lnSpc>
                <a:spcPct val="120000"/>
              </a:lnSpc>
              <a:buNone/>
            </a:pPr>
            <a:r>
              <a:rPr lang="en-US" sz="1100" b="1" spc="66" kern="0" dirty="0">
                <a:solidFill>
                  <a:srgbClr val="16181B"/>
                </a:solidFill>
                <a:latin typeface="JetBrains Mono" pitchFamily="34" charset="0"/>
                <a:ea typeface="JetBrains Mono" pitchFamily="34" charset="-122"/>
                <a:cs typeface="JetBrains Mono" pitchFamily="34" charset="-120"/>
              </a:rPr>
              <a:t>PASS</a:t>
            </a:r>
            <a:endParaRPr lang="en-US" sz="1100" dirty="0"/>
          </a:p>
        </p:txBody>
      </p:sp>
      <p:sp>
        <p:nvSpPr>
          <p:cNvPr id="15" name="Text 12"/>
          <p:cNvSpPr/>
          <p:nvPr/>
        </p:nvSpPr>
        <p:spPr>
          <a:xfrm>
            <a:off x="761970" y="2324130"/>
            <a:ext cx="3174980"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Plateau in the reference band and the 90° channel rose with it (P1).</a:t>
            </a:r>
            <a:endParaRPr lang="en-US" sz="1050" dirty="0"/>
          </a:p>
        </p:txBody>
      </p:sp>
      <p:sp>
        <p:nvSpPr>
          <p:cNvPr id="16" name="Shape 14"/>
          <p:cNvSpPr/>
          <p:nvPr/>
        </p:nvSpPr>
        <p:spPr>
          <a:xfrm>
            <a:off x="761970" y="2870210"/>
            <a:ext cx="2031980" cy="3251241"/>
          </a:xfrm>
          <a:prstGeom prst="roundRect">
            <a:avLst>
              <a:gd name="adj" fmla="val 13127"/>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17" name="Image 0" descr="Three answers: app-upgrade-b-evaluation-pass-390-390c">    </p:cNvPr>
          <p:cNvPicPr>
            <a:picLocks noChangeAspect="1"/>
          </p:cNvPicPr>
          <p:nvPr/>
        </p:nvPicPr>
        <p:blipFill>
          <a:blip r:embed="rId1"/>
          <a:stretch>
            <a:fillRect/>
          </a:stretch>
        </p:blipFill>
        <p:spPr>
          <a:xfrm>
            <a:off x="819120" y="2927360"/>
            <a:ext cx="1917680" cy="3136941"/>
          </a:xfrm>
          <a:prstGeom prst="rect">
            <a:avLst/>
          </a:prstGeom>
        </p:spPr>
      </p:pic>
      <p:sp>
        <p:nvSpPr>
          <p:cNvPr id="18" name="Shape 15"/>
          <p:cNvSpPr/>
          <p:nvPr/>
        </p:nvSpPr>
        <p:spPr>
          <a:xfrm>
            <a:off x="4381530" y="1930390"/>
            <a:ext cx="1276320" cy="279441"/>
          </a:xfrm>
          <a:prstGeom prst="roundRect">
            <a:avLst>
              <a:gd name="adj" fmla="val 50000"/>
            </a:avLst>
          </a:prstGeom>
          <a:solidFill>
            <a:srgbClr val="E09A3A">
              <a:alpha val="16000"/>
            </a:srgbClr>
          </a:solidFill>
          <a:ln/>
        </p:spPr>
      </p:sp>
      <p:sp>
        <p:nvSpPr>
          <p:cNvPr id="19" name="Shape 16"/>
          <p:cNvSpPr/>
          <p:nvPr/>
        </p:nvSpPr>
        <p:spPr>
          <a:xfrm>
            <a:off x="4521159" y="2038380"/>
            <a:ext cx="69860" cy="69860"/>
          </a:xfrm>
          <a:prstGeom prst="ellipse">
            <a:avLst/>
          </a:prstGeom>
          <a:solidFill>
            <a:srgbClr val="E09A3A"/>
          </a:solidFill>
          <a:ln/>
        </p:spPr>
      </p:sp>
      <p:sp>
        <p:nvSpPr>
          <p:cNvPr id="20" name="Text 17"/>
          <p:cNvSpPr/>
          <p:nvPr/>
        </p:nvSpPr>
        <p:spPr>
          <a:xfrm>
            <a:off x="4648170" y="1986260"/>
            <a:ext cx="927110" cy="196870"/>
          </a:xfrm>
          <a:prstGeom prst="rect">
            <a:avLst/>
          </a:prstGeom>
          <a:noFill/>
          <a:ln/>
        </p:spPr>
        <p:txBody>
          <a:bodyPr wrap="square" lIns="0" tIns="0" rIns="0" bIns="0" rtlCol="0" anchor="t"/>
          <a:lstStyle/>
          <a:p>
            <a:pPr algn="l" indent="0" marL="0">
              <a:lnSpc>
                <a:spcPct val="120000"/>
              </a:lnSpc>
              <a:buNone/>
            </a:pPr>
            <a:r>
              <a:rPr lang="en-US" sz="1100" b="1" spc="66" kern="0" dirty="0">
                <a:solidFill>
                  <a:srgbClr val="16181B"/>
                </a:solidFill>
                <a:latin typeface="JetBrains Mono" pitchFamily="34" charset="0"/>
                <a:ea typeface="JetBrains Mono" pitchFamily="34" charset="-122"/>
                <a:cs typeface="JetBrains Mono" pitchFamily="34" charset="-120"/>
              </a:rPr>
              <a:t>NEEDS LAB</a:t>
            </a:r>
            <a:endParaRPr lang="en-US" sz="1100" dirty="0"/>
          </a:p>
        </p:txBody>
      </p:sp>
      <p:sp>
        <p:nvSpPr>
          <p:cNvPr id="21" name="Text 18"/>
          <p:cNvSpPr/>
          <p:nvPr/>
        </p:nvSpPr>
        <p:spPr>
          <a:xfrm>
            <a:off x="4381530" y="2324130"/>
            <a:ext cx="3174980"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Light dropped with no rise at 90°, no plateau, or a plateau outside the band (N1–N3).</a:t>
            </a:r>
            <a:endParaRPr lang="en-US" sz="1050" dirty="0"/>
          </a:p>
        </p:txBody>
      </p:sp>
      <p:sp>
        <p:nvSpPr>
          <p:cNvPr id="22" name="Shape 19"/>
          <p:cNvSpPr/>
          <p:nvPr/>
        </p:nvSpPr>
        <p:spPr>
          <a:xfrm>
            <a:off x="4381530" y="2870210"/>
            <a:ext cx="2031980" cy="3251241"/>
          </a:xfrm>
          <a:prstGeom prst="roundRect">
            <a:avLst>
              <a:gd name="adj" fmla="val 13127"/>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3" name="Image 1" descr="Three answers: app-upgrade-b-evaluation-needslab-390-390c">    </p:cNvPr>
          <p:cNvPicPr>
            <a:picLocks noChangeAspect="1"/>
          </p:cNvPicPr>
          <p:nvPr/>
        </p:nvPicPr>
        <p:blipFill>
          <a:blip r:embed="rId2"/>
          <a:stretch>
            <a:fillRect/>
          </a:stretch>
        </p:blipFill>
        <p:spPr>
          <a:xfrm>
            <a:off x="4438680" y="2927360"/>
            <a:ext cx="1917680" cy="3136941"/>
          </a:xfrm>
          <a:prstGeom prst="rect">
            <a:avLst/>
          </a:prstGeom>
        </p:spPr>
      </p:pic>
      <p:sp>
        <p:nvSpPr>
          <p:cNvPr id="24" name="Shape 20"/>
          <p:cNvSpPr/>
          <p:nvPr/>
        </p:nvSpPr>
        <p:spPr>
          <a:xfrm>
            <a:off x="8001000" y="1930390"/>
            <a:ext cx="1924080" cy="279441"/>
          </a:xfrm>
          <a:prstGeom prst="roundRect">
            <a:avLst>
              <a:gd name="adj" fmla="val 50000"/>
            </a:avLst>
          </a:prstGeom>
          <a:solidFill>
            <a:srgbClr val="9AA0A6">
              <a:alpha val="18000"/>
            </a:srgbClr>
          </a:solidFill>
          <a:ln/>
        </p:spPr>
      </p:sp>
      <p:sp>
        <p:nvSpPr>
          <p:cNvPr id="25" name="Shape 21"/>
          <p:cNvSpPr/>
          <p:nvPr/>
        </p:nvSpPr>
        <p:spPr>
          <a:xfrm>
            <a:off x="8140720" y="2038380"/>
            <a:ext cx="69860" cy="69860"/>
          </a:xfrm>
          <a:prstGeom prst="ellipse">
            <a:avLst/>
          </a:prstGeom>
          <a:solidFill>
            <a:srgbClr val="9AA0A6"/>
          </a:solidFill>
          <a:ln/>
        </p:spPr>
      </p:sp>
      <p:sp>
        <p:nvSpPr>
          <p:cNvPr id="26" name="Text 23"/>
          <p:cNvSpPr/>
          <p:nvPr/>
        </p:nvSpPr>
        <p:spPr>
          <a:xfrm>
            <a:off x="8267730" y="1986260"/>
            <a:ext cx="1574780" cy="196870"/>
          </a:xfrm>
          <a:prstGeom prst="rect">
            <a:avLst/>
          </a:prstGeom>
          <a:noFill/>
          <a:ln/>
        </p:spPr>
        <p:txBody>
          <a:bodyPr wrap="square" lIns="0" tIns="0" rIns="0" bIns="0" rtlCol="0" anchor="t"/>
          <a:lstStyle/>
          <a:p>
            <a:pPr algn="l" indent="0" marL="0">
              <a:lnSpc>
                <a:spcPct val="120000"/>
              </a:lnSpc>
              <a:buNone/>
            </a:pPr>
            <a:r>
              <a:rPr lang="en-US" sz="1100" b="1" spc="66" kern="0" dirty="0">
                <a:solidFill>
                  <a:srgbClr val="16181B"/>
                </a:solidFill>
                <a:latin typeface="JetBrains Mono" pitchFamily="34" charset="0"/>
                <a:ea typeface="JetBrains Mono" pitchFamily="34" charset="-122"/>
                <a:cs typeface="JetBrains Mono" pitchFamily="34" charset="-120"/>
              </a:rPr>
              <a:t>UNABLE TO VERIFY</a:t>
            </a:r>
            <a:endParaRPr lang="en-US" sz="1100" dirty="0"/>
          </a:p>
        </p:txBody>
      </p:sp>
      <p:sp>
        <p:nvSpPr>
          <p:cNvPr id="27" name="Text 24"/>
          <p:cNvSpPr/>
          <p:nvPr/>
        </p:nvSpPr>
        <p:spPr>
          <a:xfrm>
            <a:off x="8001000" y="2324130"/>
            <a:ext cx="3174980"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No reference for this drug, a fault, or too little data (U1–U3).</a:t>
            </a:r>
            <a:endParaRPr lang="en-US" sz="1050" dirty="0"/>
          </a:p>
        </p:txBody>
      </p:sp>
      <p:sp>
        <p:nvSpPr>
          <p:cNvPr id="28" name="Shape 24"/>
          <p:cNvSpPr/>
          <p:nvPr/>
        </p:nvSpPr>
        <p:spPr>
          <a:xfrm>
            <a:off x="8001000" y="2870210"/>
            <a:ext cx="2031980" cy="3251241"/>
          </a:xfrm>
          <a:prstGeom prst="roundRect">
            <a:avLst>
              <a:gd name="adj" fmla="val 13127"/>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9" name="Image 2" descr="Three answers: app-pillmotion-eval-u1-phone-390c">    </p:cNvPr>
          <p:cNvPicPr>
            <a:picLocks noChangeAspect="1"/>
          </p:cNvPicPr>
          <p:nvPr/>
        </p:nvPicPr>
        <p:blipFill>
          <a:blip r:embed="rId3"/>
          <a:stretch>
            <a:fillRect/>
          </a:stretch>
        </p:blipFill>
        <p:spPr>
          <a:xfrm>
            <a:off x="8058150" y="2927360"/>
            <a:ext cx="1917680" cy="31369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HOW THE MONEY MOVES</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08 / 21</a:t>
            </a:r>
            <a:endParaRPr lang="en-US" sz="900" dirty="0"/>
          </a:p>
        </p:txBody>
      </p:sp>
      <p:sp>
        <p:nvSpPr>
          <p:cNvPr id="8" name="Title"/>
          <p:cNvSpPr/>
          <p:nvPr/>
        </p:nvSpPr>
        <p:spPr>
          <a:xfrm>
            <a:off x="761970" y="711220"/>
            <a:ext cx="9525030" cy="336591"/>
          </a:xfrm>
          <a:prstGeom prst="rect">
            <a:avLst/>
          </a:prstGeom>
          <a:noFill/>
          <a:ln/>
        </p:spPr>
        <p:txBody>
          <a:bodyPr wrap="square" lIns="0" tIns="0" rIns="0" bIns="0" rtlCol="0" anchor="t"/>
          <a:lstStyle/>
          <a:p>
            <a:pPr algn="l" indent="0" marL="0">
              <a:lnSpc>
                <a:spcPct val="100000"/>
              </a:lnSpc>
              <a:buNone/>
            </a:pPr>
            <a:r>
              <a:rPr lang="en-US" sz="2184" spc="-33" kern="0" dirty="0">
                <a:solidFill>
                  <a:srgbClr val="16181B"/>
                </a:solidFill>
                <a:latin typeface="Instrument Serif" pitchFamily="34" charset="0"/>
                <a:ea typeface="Instrument Serif" pitchFamily="34" charset="-122"/>
                <a:cs typeface="Instrument Serif" pitchFamily="34" charset="-120"/>
              </a:rPr>
              <a:t>How the money moves, and who decides.</a:t>
            </a:r>
            <a:endParaRPr lang="en-US" sz="2184" dirty="0"/>
          </a:p>
        </p:txBody>
      </p:sp>
      <p:sp>
        <p:nvSpPr>
          <p:cNvPr id="9" name="Text 6"/>
          <p:cNvSpPr/>
          <p:nvPr/>
        </p:nvSpPr>
        <p:spPr>
          <a:xfrm>
            <a:off x="761970" y="1244590"/>
            <a:ext cx="298451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MEASURE</a:t>
            </a:r>
            <a:endParaRPr lang="en-US" sz="750" dirty="0"/>
          </a:p>
        </p:txBody>
      </p:sp>
      <p:sp>
        <p:nvSpPr>
          <p:cNvPr id="10" name="Text 7"/>
          <p:cNvSpPr/>
          <p:nvPr/>
        </p:nvSpPr>
        <p:spPr>
          <a:xfrm>
            <a:off x="3047970" y="1244590"/>
            <a:ext cx="298451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THREE ANSWERS</a:t>
            </a:r>
            <a:endParaRPr lang="en-US" sz="750" dirty="0"/>
          </a:p>
        </p:txBody>
      </p:sp>
      <p:sp>
        <p:nvSpPr>
          <p:cNvPr id="11" name="Text 8"/>
          <p:cNvSpPr/>
          <p:nvPr/>
        </p:nvSpPr>
        <p:spPr>
          <a:xfrm>
            <a:off x="5270510" y="1244590"/>
            <a:ext cx="298451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THE POLICY AGENT · PILL/PAY</a:t>
            </a:r>
            <a:endParaRPr lang="en-US" sz="750" dirty="0"/>
          </a:p>
        </p:txBody>
      </p:sp>
      <p:sp>
        <p:nvSpPr>
          <p:cNvPr id="12" name="Text 9"/>
          <p:cNvSpPr/>
          <p:nvPr/>
        </p:nvSpPr>
        <p:spPr>
          <a:xfrm>
            <a:off x="8635959" y="1244590"/>
            <a:ext cx="298451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THE MONEY · COINBASE</a:t>
            </a:r>
            <a:endParaRPr lang="en-US" sz="750" dirty="0"/>
          </a:p>
        </p:txBody>
      </p:sp>
      <p:sp>
        <p:nvSpPr>
          <p:cNvPr id="13" name="Shape 11"/>
          <p:cNvSpPr/>
          <p:nvPr/>
        </p:nvSpPr>
        <p:spPr>
          <a:xfrm>
            <a:off x="761970" y="1447770"/>
            <a:ext cx="1904970" cy="406359"/>
          </a:xfrm>
          <a:prstGeom prst="roundRect">
            <a:avLst>
              <a:gd name="adj" fmla="val 28128"/>
            </a:avLst>
          </a:prstGeom>
          <a:solidFill>
            <a:srgbClr val="FFFFFF"/>
          </a:solidFill>
          <a:ln w="12700">
            <a:solidFill>
              <a:srgbClr val="16181B">
                <a:alpha val="10000"/>
              </a:srgbClr>
            </a:solidFill>
            <a:prstDash val="solid"/>
          </a:ln>
        </p:spPr>
      </p:sp>
      <p:sp>
        <p:nvSpPr>
          <p:cNvPr id="14" name="Text 11"/>
          <p:cNvSpPr/>
          <p:nvPr/>
        </p:nvSpPr>
        <p:spPr>
          <a:xfrm>
            <a:off x="914400" y="1562070"/>
            <a:ext cx="160020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One tablet</a:t>
            </a:r>
            <a:endParaRPr lang="en-US" sz="1000" dirty="0"/>
          </a:p>
        </p:txBody>
      </p:sp>
      <p:sp>
        <p:nvSpPr>
          <p:cNvPr id="15" name="Shape 13"/>
          <p:cNvSpPr/>
          <p:nvPr/>
        </p:nvSpPr>
        <p:spPr>
          <a:xfrm>
            <a:off x="1670060" y="1854220"/>
            <a:ext cx="88880" cy="177759"/>
          </a:xfrm>
          <a:custGeom>
            <a:avLst/>
            <a:gdLst/>
            <a:ahLst/>
            <a:cxnLst/>
            <a:rect l="l" t="t" r="r" b="b"/>
            <a:pathLst>
              <a:path w="88880" h="177759">
                <a:moveTo>
                  <a:pt x="44440" y="12710"/>
                </a:moveTo>
                <a:lnTo>
                  <a:pt x="44440" y="165141"/>
                </a:lnTo>
                <a:moveTo>
                  <a:pt x="13990" y="109179"/>
                </a:moveTo>
                <a:lnTo>
                  <a:pt x="44440" y="165141"/>
                </a:lnTo>
                <a:lnTo>
                  <a:pt x="74889" y="109179"/>
                </a:lnTo>
              </a:path>
            </a:pathLst>
          </a:custGeom>
          <a:ln w="12700">
            <a:solidFill>
              <a:srgbClr val="16181B"/>
            </a:solidFill>
            <a:prstDash val="solid"/>
          </a:ln>
        </p:spPr>
      </p:sp>
      <p:sp>
        <p:nvSpPr>
          <p:cNvPr id="16" name="Shape 14"/>
          <p:cNvSpPr/>
          <p:nvPr/>
        </p:nvSpPr>
        <p:spPr>
          <a:xfrm>
            <a:off x="761970" y="2044690"/>
            <a:ext cx="1904970" cy="952530"/>
          </a:xfrm>
          <a:prstGeom prst="roundRect">
            <a:avLst>
              <a:gd name="adj" fmla="val 12000"/>
            </a:avLst>
          </a:prstGeom>
          <a:solidFill>
            <a:srgbClr val="FFFFFF"/>
          </a:solidFill>
          <a:ln w="12700">
            <a:solidFill>
              <a:srgbClr val="16181B">
                <a:alpha val="10000"/>
              </a:srgbClr>
            </a:solidFill>
            <a:prstDash val="solid"/>
          </a:ln>
        </p:spPr>
      </p:sp>
      <p:sp>
        <p:nvSpPr>
          <p:cNvPr id="17" name="Text 14"/>
          <p:cNvSpPr/>
          <p:nvPr/>
        </p:nvSpPr>
        <p:spPr>
          <a:xfrm>
            <a:off x="914400" y="2146280"/>
            <a:ext cx="160020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Station · Arduino UNO Q</a:t>
            </a:r>
            <a:endParaRPr lang="en-US" sz="1000" dirty="0"/>
          </a:p>
        </p:txBody>
      </p:sp>
      <p:sp>
        <p:nvSpPr>
          <p:cNvPr id="18" name="Text 15"/>
          <p:cNvSpPr/>
          <p:nvPr/>
        </p:nvSpPr>
        <p:spPr>
          <a:xfrm>
            <a:off x="914400" y="2349459"/>
            <a:ext cx="1600200" cy="450891"/>
          </a:xfrm>
          <a:prstGeom prst="rect">
            <a:avLst/>
          </a:prstGeom>
          <a:noFill/>
          <a:ln/>
        </p:spPr>
        <p:txBody>
          <a:bodyPr wrap="square" lIns="0" tIns="0" rIns="0" bIns="0" rtlCol="0" anchor="t"/>
          <a:lstStyle/>
          <a:p>
            <a:pPr algn="l" indent="0" marL="0">
              <a:lnSpc>
                <a:spcPct val="140000"/>
              </a:lnSpc>
              <a:buNone/>
            </a:pPr>
            <a:r>
              <a:rPr lang="en-US" sz="800" dirty="0">
                <a:solidFill>
                  <a:srgbClr val="4A4E55"/>
                </a:solidFill>
                <a:latin typeface="Inter" pitchFamily="34" charset="0"/>
                <a:ea typeface="Inter" pitchFamily="34" charset="-122"/>
                <a:cs typeface="Inter" pitchFamily="34" charset="-120"/>
              </a:rPr>
              <a:t>Blue · white · red LEDs, 2 photoresistors, 1 CSV line/s. The firmware decides nothing.</a:t>
            </a:r>
            <a:endParaRPr lang="en-US" sz="800" dirty="0"/>
          </a:p>
        </p:txBody>
      </p:sp>
      <p:sp>
        <p:nvSpPr>
          <p:cNvPr id="19" name="Shape 17"/>
          <p:cNvSpPr/>
          <p:nvPr/>
        </p:nvSpPr>
        <p:spPr>
          <a:xfrm>
            <a:off x="1670060" y="2997220"/>
            <a:ext cx="88880" cy="177759"/>
          </a:xfrm>
          <a:custGeom>
            <a:avLst/>
            <a:gdLst/>
            <a:ahLst/>
            <a:cxnLst/>
            <a:rect l="l" t="t" r="r" b="b"/>
            <a:pathLst>
              <a:path w="88880" h="177759">
                <a:moveTo>
                  <a:pt x="44440" y="12710"/>
                </a:moveTo>
                <a:lnTo>
                  <a:pt x="44440" y="165141"/>
                </a:lnTo>
                <a:moveTo>
                  <a:pt x="13990" y="109179"/>
                </a:moveTo>
                <a:lnTo>
                  <a:pt x="44440" y="165141"/>
                </a:lnTo>
                <a:lnTo>
                  <a:pt x="74889" y="109179"/>
                </a:lnTo>
              </a:path>
            </a:pathLst>
          </a:custGeom>
          <a:ln w="12700">
            <a:solidFill>
              <a:srgbClr val="16181B"/>
            </a:solidFill>
            <a:prstDash val="solid"/>
          </a:ln>
        </p:spPr>
      </p:sp>
      <p:sp>
        <p:nvSpPr>
          <p:cNvPr id="20" name="Shape 18"/>
          <p:cNvSpPr/>
          <p:nvPr/>
        </p:nvSpPr>
        <p:spPr>
          <a:xfrm>
            <a:off x="761970" y="3187690"/>
            <a:ext cx="1904970" cy="660380"/>
          </a:xfrm>
          <a:prstGeom prst="roundRect">
            <a:avLst>
              <a:gd name="adj" fmla="val 17308"/>
            </a:avLst>
          </a:prstGeom>
          <a:solidFill>
            <a:srgbClr val="FFFFFF"/>
          </a:solidFill>
          <a:ln w="12700">
            <a:solidFill>
              <a:srgbClr val="16181B">
                <a:alpha val="10000"/>
              </a:srgbClr>
            </a:solidFill>
            <a:prstDash val="solid"/>
          </a:ln>
        </p:spPr>
      </p:sp>
      <p:sp>
        <p:nvSpPr>
          <p:cNvPr id="21" name="Text 18"/>
          <p:cNvSpPr/>
          <p:nvPr/>
        </p:nvSpPr>
        <p:spPr>
          <a:xfrm>
            <a:off x="914400" y="3289280"/>
            <a:ext cx="160020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JetBrains Mono" pitchFamily="34" charset="0"/>
                <a:ea typeface="JetBrains Mono" pitchFamily="34" charset="-122"/>
                <a:cs typeface="JetBrains Mono" pitchFamily="34" charset="-120"/>
              </a:rPr>
              <a:t>analysis.py</a:t>
            </a:r>
            <a:endParaRPr lang="en-US" sz="1000" dirty="0"/>
          </a:p>
        </p:txBody>
      </p:sp>
      <p:sp>
        <p:nvSpPr>
          <p:cNvPr id="22" name="Text 19"/>
          <p:cNvSpPr/>
          <p:nvPr/>
        </p:nvSpPr>
        <p:spPr>
          <a:xfrm>
            <a:off x="914400" y="3492459"/>
            <a:ext cx="1600200" cy="304770"/>
          </a:xfrm>
          <a:prstGeom prst="rect">
            <a:avLst/>
          </a:prstGeom>
          <a:noFill/>
          <a:ln/>
        </p:spPr>
        <p:txBody>
          <a:bodyPr wrap="square" lIns="0" tIns="0" rIns="0" bIns="0" rtlCol="0" anchor="t"/>
          <a:lstStyle/>
          <a:p>
            <a:pPr algn="l" indent="0" marL="0">
              <a:lnSpc>
                <a:spcPct val="140000"/>
              </a:lnSpc>
              <a:buNone/>
            </a:pPr>
            <a:r>
              <a:rPr lang="en-US" sz="800" dirty="0">
                <a:solidFill>
                  <a:srgbClr val="4A4E55"/>
                </a:solidFill>
                <a:latin typeface="Inter" pitchFamily="34" charset="0"/>
                <a:ea typeface="Inter" pitchFamily="34" charset="-122"/>
                <a:cs typeface="Inter" pitchFamily="34" charset="-120"/>
              </a:rPr>
              <a:t>Deterministic: curve maths, quality gates.</a:t>
            </a:r>
            <a:endParaRPr lang="en-US" sz="800" dirty="0"/>
          </a:p>
        </p:txBody>
      </p:sp>
      <p:sp>
        <p:nvSpPr>
          <p:cNvPr id="23" name="Shape 21"/>
          <p:cNvSpPr/>
          <p:nvPr/>
        </p:nvSpPr>
        <p:spPr>
          <a:xfrm>
            <a:off x="3047970" y="1524030"/>
            <a:ext cx="1841510" cy="482620"/>
          </a:xfrm>
          <a:prstGeom prst="roundRect">
            <a:avLst>
              <a:gd name="adj" fmla="val 21050"/>
            </a:avLst>
          </a:prstGeom>
          <a:solidFill>
            <a:srgbClr val="5FD39A">
              <a:alpha val="16000"/>
            </a:srgbClr>
          </a:solidFill>
          <a:ln/>
        </p:spPr>
      </p:sp>
      <p:sp>
        <p:nvSpPr>
          <p:cNvPr id="24" name="Text 21"/>
          <p:cNvSpPr/>
          <p:nvPr/>
        </p:nvSpPr>
        <p:spPr>
          <a:xfrm>
            <a:off x="3200400" y="1676370"/>
            <a:ext cx="158749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Passed the screen</a:t>
            </a:r>
            <a:endParaRPr lang="en-US" sz="1000" dirty="0"/>
          </a:p>
        </p:txBody>
      </p:sp>
      <p:sp>
        <p:nvSpPr>
          <p:cNvPr id="25" name="Shape 23"/>
          <p:cNvSpPr/>
          <p:nvPr/>
        </p:nvSpPr>
        <p:spPr>
          <a:xfrm>
            <a:off x="2667030" y="1720809"/>
            <a:ext cx="368320" cy="1809780"/>
          </a:xfrm>
          <a:custGeom>
            <a:avLst/>
            <a:gdLst/>
            <a:ahLst/>
            <a:cxnLst/>
            <a:rect l="l" t="t" r="r" b="b"/>
            <a:pathLst>
              <a:path w="368320" h="1809780">
                <a:moveTo>
                  <a:pt x="12710" y="1797070"/>
                </a:moveTo>
                <a:lnTo>
                  <a:pt x="190470" y="1797070"/>
                </a:lnTo>
                <a:lnTo>
                  <a:pt x="190470" y="44440"/>
                </a:lnTo>
                <a:lnTo>
                  <a:pt x="355610" y="44440"/>
                </a:lnTo>
                <a:moveTo>
                  <a:pt x="299740" y="74889"/>
                </a:moveTo>
                <a:lnTo>
                  <a:pt x="355610" y="44440"/>
                </a:lnTo>
                <a:lnTo>
                  <a:pt x="299740" y="13990"/>
                </a:lnTo>
              </a:path>
            </a:pathLst>
          </a:custGeom>
          <a:ln w="12700">
            <a:solidFill>
              <a:srgbClr val="16181B"/>
            </a:solidFill>
            <a:prstDash val="solid"/>
          </a:ln>
        </p:spPr>
      </p:sp>
      <p:sp>
        <p:nvSpPr>
          <p:cNvPr id="26" name="Shape 24"/>
          <p:cNvSpPr/>
          <p:nvPr/>
        </p:nvSpPr>
        <p:spPr>
          <a:xfrm>
            <a:off x="3047970" y="2133570"/>
            <a:ext cx="1841510" cy="482620"/>
          </a:xfrm>
          <a:prstGeom prst="roundRect">
            <a:avLst>
              <a:gd name="adj" fmla="val 21050"/>
            </a:avLst>
          </a:prstGeom>
          <a:solidFill>
            <a:srgbClr val="E09A3A">
              <a:alpha val="16000"/>
            </a:srgbClr>
          </a:solidFill>
          <a:ln/>
        </p:spPr>
      </p:sp>
      <p:sp>
        <p:nvSpPr>
          <p:cNvPr id="27" name="Text 24"/>
          <p:cNvSpPr/>
          <p:nvPr/>
        </p:nvSpPr>
        <p:spPr>
          <a:xfrm>
            <a:off x="3200400" y="2286000"/>
            <a:ext cx="158749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Needs lab testing</a:t>
            </a:r>
            <a:endParaRPr lang="en-US" sz="1000" dirty="0"/>
          </a:p>
        </p:txBody>
      </p:sp>
      <p:sp>
        <p:nvSpPr>
          <p:cNvPr id="28" name="Shape 26"/>
          <p:cNvSpPr/>
          <p:nvPr/>
        </p:nvSpPr>
        <p:spPr>
          <a:xfrm>
            <a:off x="2667030" y="2330440"/>
            <a:ext cx="368320" cy="1200150"/>
          </a:xfrm>
          <a:custGeom>
            <a:avLst/>
            <a:gdLst/>
            <a:ahLst/>
            <a:cxnLst/>
            <a:rect l="l" t="t" r="r" b="b"/>
            <a:pathLst>
              <a:path w="368320" h="1200150">
                <a:moveTo>
                  <a:pt x="12710" y="1187440"/>
                </a:moveTo>
                <a:lnTo>
                  <a:pt x="190470" y="1187440"/>
                </a:lnTo>
                <a:lnTo>
                  <a:pt x="190470" y="44440"/>
                </a:lnTo>
                <a:lnTo>
                  <a:pt x="355610" y="44440"/>
                </a:lnTo>
                <a:moveTo>
                  <a:pt x="299740" y="74889"/>
                </a:moveTo>
                <a:lnTo>
                  <a:pt x="355610" y="44440"/>
                </a:lnTo>
                <a:lnTo>
                  <a:pt x="299740" y="13990"/>
                </a:lnTo>
              </a:path>
            </a:pathLst>
          </a:custGeom>
          <a:ln w="12700">
            <a:solidFill>
              <a:srgbClr val="16181B"/>
            </a:solidFill>
            <a:prstDash val="solid"/>
          </a:ln>
        </p:spPr>
      </p:sp>
      <p:sp>
        <p:nvSpPr>
          <p:cNvPr id="29" name="Shape 27"/>
          <p:cNvSpPr/>
          <p:nvPr/>
        </p:nvSpPr>
        <p:spPr>
          <a:xfrm>
            <a:off x="3047970" y="2743200"/>
            <a:ext cx="1841510" cy="482620"/>
          </a:xfrm>
          <a:prstGeom prst="roundRect">
            <a:avLst>
              <a:gd name="adj" fmla="val 21050"/>
            </a:avLst>
          </a:prstGeom>
          <a:solidFill>
            <a:srgbClr val="9AA0A6">
              <a:alpha val="18000"/>
            </a:srgbClr>
          </a:solidFill>
          <a:ln/>
        </p:spPr>
      </p:sp>
      <p:sp>
        <p:nvSpPr>
          <p:cNvPr id="30" name="Text 27"/>
          <p:cNvSpPr/>
          <p:nvPr/>
        </p:nvSpPr>
        <p:spPr>
          <a:xfrm>
            <a:off x="3200400" y="2895630"/>
            <a:ext cx="158749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Unable to verify</a:t>
            </a:r>
            <a:endParaRPr lang="en-US" sz="1000" dirty="0"/>
          </a:p>
        </p:txBody>
      </p:sp>
      <p:sp>
        <p:nvSpPr>
          <p:cNvPr id="31" name="Shape 29"/>
          <p:cNvSpPr/>
          <p:nvPr/>
        </p:nvSpPr>
        <p:spPr>
          <a:xfrm>
            <a:off x="2667030" y="2940070"/>
            <a:ext cx="368320" cy="590520"/>
          </a:xfrm>
          <a:custGeom>
            <a:avLst/>
            <a:gdLst/>
            <a:ahLst/>
            <a:cxnLst/>
            <a:rect l="l" t="t" r="r" b="b"/>
            <a:pathLst>
              <a:path w="368320" h="590520">
                <a:moveTo>
                  <a:pt x="12710" y="577809"/>
                </a:moveTo>
                <a:lnTo>
                  <a:pt x="190470" y="577809"/>
                </a:lnTo>
                <a:lnTo>
                  <a:pt x="190470" y="44440"/>
                </a:lnTo>
                <a:lnTo>
                  <a:pt x="355610" y="44440"/>
                </a:lnTo>
                <a:moveTo>
                  <a:pt x="299740" y="74889"/>
                </a:moveTo>
                <a:lnTo>
                  <a:pt x="355610" y="44440"/>
                </a:lnTo>
                <a:lnTo>
                  <a:pt x="299740" y="13990"/>
                </a:lnTo>
              </a:path>
            </a:pathLst>
          </a:custGeom>
          <a:ln w="12700">
            <a:solidFill>
              <a:srgbClr val="16181B"/>
            </a:solidFill>
            <a:prstDash val="solid"/>
          </a:ln>
        </p:spPr>
      </p:sp>
      <p:sp>
        <p:nvSpPr>
          <p:cNvPr id="32" name="Text 29"/>
          <p:cNvSpPr/>
          <p:nvPr/>
        </p:nvSpPr>
        <p:spPr>
          <a:xfrm>
            <a:off x="3047970" y="3352830"/>
            <a:ext cx="1841510" cy="304770"/>
          </a:xfrm>
          <a:prstGeom prst="rect">
            <a:avLst/>
          </a:prstGeom>
          <a:noFill/>
          <a:ln/>
        </p:spPr>
        <p:txBody>
          <a:bodyPr wrap="square" lIns="0" tIns="0" rIns="0" bIns="0" rtlCol="0" anchor="t"/>
          <a:lstStyle/>
          <a:p>
            <a:pPr algn="l" indent="0" marL="0">
              <a:lnSpc>
                <a:spcPct val="140000"/>
              </a:lnSpc>
              <a:buNone/>
            </a:pPr>
            <a:r>
              <a:rPr lang="en-US" sz="800" dirty="0">
                <a:solidFill>
                  <a:srgbClr val="4A4E55"/>
                </a:solidFill>
                <a:latin typeface="Inter" pitchFamily="34" charset="0"/>
                <a:ea typeface="Inter" pitchFamily="34" charset="-122"/>
                <a:cs typeface="Inter" pitchFamily="34" charset="-120"/>
              </a:rPr>
              <a:t>Three answers, never four. No model sets a verdict.</a:t>
            </a:r>
            <a:endParaRPr lang="en-US" sz="800" dirty="0"/>
          </a:p>
        </p:txBody>
      </p:sp>
      <p:sp>
        <p:nvSpPr>
          <p:cNvPr id="33" name="Shape 31"/>
          <p:cNvSpPr/>
          <p:nvPr/>
        </p:nvSpPr>
        <p:spPr>
          <a:xfrm>
            <a:off x="5270510" y="1447770"/>
            <a:ext cx="2984510" cy="1244590"/>
          </a:xfrm>
          <a:prstGeom prst="roundRect">
            <a:avLst>
              <a:gd name="adj" fmla="val 9184"/>
            </a:avLst>
          </a:prstGeom>
          <a:solidFill>
            <a:srgbClr val="FFFFFF"/>
          </a:solidFill>
          <a:ln w="12700">
            <a:solidFill>
              <a:srgbClr val="16181B">
                <a:alpha val="10000"/>
              </a:srgbClr>
            </a:solidFill>
            <a:prstDash val="solid"/>
          </a:ln>
        </p:spPr>
      </p:sp>
      <p:sp>
        <p:nvSpPr>
          <p:cNvPr id="34" name="Text 31"/>
          <p:cNvSpPr/>
          <p:nvPr/>
        </p:nvSpPr>
        <p:spPr>
          <a:xfrm>
            <a:off x="5422941" y="1562070"/>
            <a:ext cx="2679741"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Six clauses P1–P6, in code → a ceiling.</a:t>
            </a:r>
            <a:endParaRPr lang="en-US" sz="1000" dirty="0"/>
          </a:p>
        </p:txBody>
      </p:sp>
      <p:sp>
        <p:nvSpPr>
          <p:cNvPr id="35" name="Text 32"/>
          <p:cNvSpPr/>
          <p:nvPr/>
        </p:nvSpPr>
        <p:spPr>
          <a:xfrm>
            <a:off x="5422941" y="1777959"/>
            <a:ext cx="2679741" cy="177759"/>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Claude may only return the ceiling or escalate.</a:t>
            </a:r>
            <a:endParaRPr lang="en-US" sz="850" dirty="0"/>
          </a:p>
        </p:txBody>
      </p:sp>
      <p:sp>
        <p:nvSpPr>
          <p:cNvPr id="36" name="Text 33"/>
          <p:cNvSpPr/>
          <p:nvPr/>
        </p:nvSpPr>
        <p:spPr>
          <a:xfrm>
            <a:off x="5422941" y="2095530"/>
            <a:ext cx="2679741" cy="520659"/>
          </a:xfrm>
          <a:prstGeom prst="rect">
            <a:avLst/>
          </a:prstGeom>
          <a:noFill/>
          <a:ln/>
        </p:spPr>
        <p:txBody>
          <a:bodyPr wrap="square" lIns="0" tIns="0" rIns="0" bIns="0" rtlCol="0" anchor="t"/>
          <a:lstStyle/>
          <a:p>
            <a:pPr algn="l" indent="0" marL="0">
              <a:lnSpc>
                <a:spcPct val="140000"/>
              </a:lnSpc>
              <a:buNone/>
            </a:pPr>
            <a:r>
              <a:rPr lang="en-US" sz="700" dirty="0">
                <a:solidFill>
                  <a:srgbClr val="4A4E55"/>
                </a:solidFill>
                <a:latin typeface="JetBrains Mono" pitchFamily="34" charset="0"/>
                <a:ea typeface="JetBrains Mono" pitchFamily="34" charset="-122"/>
                <a:cs typeface="JetBrains Mono" pitchFamily="34" charset="-120"/>
              </a:rPr>
              <a:t>in: the verdict · recall lookup (openFDA) · bottle label (Gemini → editable fields; unreadable = null) · invoice amount vs cap · pharmacist’s tap</a:t>
            </a:r>
            <a:endParaRPr lang="en-US" sz="700" dirty="0"/>
          </a:p>
        </p:txBody>
      </p:sp>
      <p:sp>
        <p:nvSpPr>
          <p:cNvPr id="37" name="Shape 35"/>
          <p:cNvSpPr/>
          <p:nvPr/>
        </p:nvSpPr>
        <p:spPr>
          <a:xfrm>
            <a:off x="4876770" y="1720809"/>
            <a:ext cx="381030" cy="88880"/>
          </a:xfrm>
          <a:custGeom>
            <a:avLst/>
            <a:gdLst/>
            <a:ahLst/>
            <a:cxnLst/>
            <a:rect l="l" t="t" r="r" b="b"/>
            <a:pathLst>
              <a:path w="381030" h="88880">
                <a:moveTo>
                  <a:pt x="12710" y="44440"/>
                </a:moveTo>
                <a:lnTo>
                  <a:pt x="368320" y="44440"/>
                </a:lnTo>
                <a:moveTo>
                  <a:pt x="312450" y="74889"/>
                </a:moveTo>
                <a:lnTo>
                  <a:pt x="368320" y="44440"/>
                </a:lnTo>
                <a:lnTo>
                  <a:pt x="312450" y="13990"/>
                </a:lnTo>
              </a:path>
            </a:pathLst>
          </a:custGeom>
          <a:ln w="12700">
            <a:solidFill>
              <a:srgbClr val="16181B"/>
            </a:solidFill>
            <a:prstDash val="solid"/>
          </a:ln>
        </p:spPr>
      </p:sp>
      <p:sp>
        <p:nvSpPr>
          <p:cNvPr id="38" name="Shape 36"/>
          <p:cNvSpPr/>
          <p:nvPr/>
        </p:nvSpPr>
        <p:spPr>
          <a:xfrm>
            <a:off x="4876770" y="2330440"/>
            <a:ext cx="381030" cy="88880"/>
          </a:xfrm>
          <a:custGeom>
            <a:avLst/>
            <a:gdLst/>
            <a:ahLst/>
            <a:cxnLst/>
            <a:rect l="l" t="t" r="r" b="b"/>
            <a:pathLst>
              <a:path w="381030" h="88880">
                <a:moveTo>
                  <a:pt x="12710" y="44440"/>
                </a:moveTo>
                <a:lnTo>
                  <a:pt x="368320" y="44440"/>
                </a:lnTo>
                <a:moveTo>
                  <a:pt x="312450" y="74889"/>
                </a:moveTo>
                <a:lnTo>
                  <a:pt x="368320" y="44440"/>
                </a:lnTo>
                <a:lnTo>
                  <a:pt x="312450" y="13990"/>
                </a:lnTo>
              </a:path>
            </a:pathLst>
          </a:custGeom>
          <a:ln w="12700">
            <a:solidFill>
              <a:srgbClr val="16181B"/>
            </a:solidFill>
            <a:prstDash val="solid"/>
          </a:ln>
        </p:spPr>
      </p:sp>
      <p:sp>
        <p:nvSpPr>
          <p:cNvPr id="39" name="Shape 37"/>
          <p:cNvSpPr/>
          <p:nvPr/>
        </p:nvSpPr>
        <p:spPr>
          <a:xfrm>
            <a:off x="4876770" y="2495580"/>
            <a:ext cx="381030" cy="501640"/>
          </a:xfrm>
          <a:custGeom>
            <a:avLst/>
            <a:gdLst/>
            <a:ahLst/>
            <a:cxnLst/>
            <a:rect l="l" t="t" r="r" b="b"/>
            <a:pathLst>
              <a:path w="381030" h="501640">
                <a:moveTo>
                  <a:pt x="12710" y="488930"/>
                </a:moveTo>
                <a:lnTo>
                  <a:pt x="203180" y="488930"/>
                </a:lnTo>
                <a:lnTo>
                  <a:pt x="203180" y="44440"/>
                </a:lnTo>
                <a:lnTo>
                  <a:pt x="368320" y="44440"/>
                </a:lnTo>
                <a:moveTo>
                  <a:pt x="312450" y="74889"/>
                </a:moveTo>
                <a:lnTo>
                  <a:pt x="368320" y="44440"/>
                </a:lnTo>
                <a:lnTo>
                  <a:pt x="312450" y="13990"/>
                </a:lnTo>
              </a:path>
            </a:pathLst>
          </a:custGeom>
          <a:ln w="12700">
            <a:solidFill>
              <a:srgbClr val="16181B"/>
            </a:solidFill>
            <a:prstDash val="solid"/>
          </a:ln>
        </p:spPr>
      </p:sp>
      <p:sp>
        <p:nvSpPr>
          <p:cNvPr id="40" name="Shape 38"/>
          <p:cNvSpPr/>
          <p:nvPr/>
        </p:nvSpPr>
        <p:spPr>
          <a:xfrm>
            <a:off x="6718280" y="2692359"/>
            <a:ext cx="88880" cy="165141"/>
          </a:xfrm>
          <a:custGeom>
            <a:avLst/>
            <a:gdLst/>
            <a:ahLst/>
            <a:cxnLst/>
            <a:rect l="l" t="t" r="r" b="b"/>
            <a:pathLst>
              <a:path w="88880" h="165141">
                <a:moveTo>
                  <a:pt x="44440" y="12710"/>
                </a:moveTo>
                <a:lnTo>
                  <a:pt x="44440" y="152430"/>
                </a:lnTo>
                <a:moveTo>
                  <a:pt x="13990" y="96561"/>
                </a:moveTo>
                <a:lnTo>
                  <a:pt x="44440" y="152430"/>
                </a:lnTo>
                <a:lnTo>
                  <a:pt x="74889" y="96561"/>
                </a:lnTo>
              </a:path>
            </a:pathLst>
          </a:custGeom>
          <a:ln w="12700">
            <a:solidFill>
              <a:srgbClr val="16181B"/>
            </a:solidFill>
            <a:prstDash val="solid"/>
          </a:ln>
        </p:spPr>
      </p:sp>
      <p:sp>
        <p:nvSpPr>
          <p:cNvPr id="41" name="Shape 39"/>
          <p:cNvSpPr/>
          <p:nvPr/>
        </p:nvSpPr>
        <p:spPr>
          <a:xfrm>
            <a:off x="5270510" y="2870210"/>
            <a:ext cx="2984510" cy="317480"/>
          </a:xfrm>
          <a:prstGeom prst="roundRect">
            <a:avLst>
              <a:gd name="adj" fmla="val 50000"/>
            </a:avLst>
          </a:prstGeom>
          <a:solidFill>
            <a:srgbClr val="5FD39A">
              <a:alpha val="16000"/>
            </a:srgbClr>
          </a:solidFill>
          <a:ln/>
        </p:spPr>
      </p:sp>
      <p:sp>
        <p:nvSpPr>
          <p:cNvPr id="42" name="Text 39"/>
          <p:cNvSpPr/>
          <p:nvPr/>
        </p:nvSpPr>
        <p:spPr>
          <a:xfrm>
            <a:off x="5410230" y="2959090"/>
            <a:ext cx="2730490" cy="152430"/>
          </a:xfrm>
          <a:prstGeom prst="rect">
            <a:avLst/>
          </a:prstGeom>
          <a:noFill/>
          <a:ln/>
        </p:spPr>
        <p:txBody>
          <a:bodyPr wrap="square" lIns="0" tIns="0" rIns="0" bIns="0" rtlCol="0" anchor="t"/>
          <a:lstStyle/>
          <a:p>
            <a:pPr algn="l" indent="0" marL="0">
              <a:lnSpc>
                <a:spcPct val="130000"/>
              </a:lnSpc>
              <a:buNone/>
            </a:pPr>
            <a:r>
              <a:rPr lang="en-US" sz="800" dirty="0">
                <a:solidFill>
                  <a:srgbClr val="16181B"/>
                </a:solidFill>
                <a:latin typeface="Inter" pitchFamily="34" charset="0"/>
                <a:ea typeface="Inter" pitchFamily="34" charset="-122"/>
                <a:cs typeface="Inter" pitchFamily="34" charset="-120"/>
              </a:rPr>
              <a:t>Release · passed + no recall + within cap + tap</a:t>
            </a:r>
            <a:endParaRPr lang="en-US" sz="800" dirty="0"/>
          </a:p>
        </p:txBody>
      </p:sp>
      <p:sp>
        <p:nvSpPr>
          <p:cNvPr id="43" name="Shape 41"/>
          <p:cNvSpPr/>
          <p:nvPr/>
        </p:nvSpPr>
        <p:spPr>
          <a:xfrm>
            <a:off x="5270510" y="3251241"/>
            <a:ext cx="2984510" cy="317480"/>
          </a:xfrm>
          <a:prstGeom prst="roundRect">
            <a:avLst>
              <a:gd name="adj" fmla="val 50000"/>
            </a:avLst>
          </a:prstGeom>
          <a:solidFill>
            <a:srgbClr val="E04848">
              <a:alpha val="16000"/>
            </a:srgbClr>
          </a:solidFill>
          <a:ln/>
        </p:spPr>
      </p:sp>
      <p:sp>
        <p:nvSpPr>
          <p:cNvPr id="44" name="Text 41"/>
          <p:cNvSpPr/>
          <p:nvPr/>
        </p:nvSpPr>
        <p:spPr>
          <a:xfrm>
            <a:off x="5410230" y="3340120"/>
            <a:ext cx="2730490" cy="152430"/>
          </a:xfrm>
          <a:prstGeom prst="rect">
            <a:avLst/>
          </a:prstGeom>
          <a:noFill/>
          <a:ln/>
        </p:spPr>
        <p:txBody>
          <a:bodyPr wrap="square" lIns="0" tIns="0" rIns="0" bIns="0" rtlCol="0" anchor="t"/>
          <a:lstStyle/>
          <a:p>
            <a:pPr algn="l" indent="0" marL="0">
              <a:lnSpc>
                <a:spcPct val="130000"/>
              </a:lnSpc>
              <a:buNone/>
            </a:pPr>
            <a:r>
              <a:rPr lang="en-US" sz="800" dirty="0">
                <a:solidFill>
                  <a:srgbClr val="16181B"/>
                </a:solidFill>
                <a:latin typeface="Inter" pitchFamily="34" charset="0"/>
                <a:ea typeface="Inter" pitchFamily="34" charset="-122"/>
                <a:cs typeface="Inter" pitchFamily="34" charset="-120"/>
              </a:rPr>
              <a:t>Hold · needs lab; lab referral drafted</a:t>
            </a:r>
            <a:endParaRPr lang="en-US" sz="800" dirty="0"/>
          </a:p>
        </p:txBody>
      </p:sp>
      <p:sp>
        <p:nvSpPr>
          <p:cNvPr id="45" name="Shape 43"/>
          <p:cNvSpPr/>
          <p:nvPr/>
        </p:nvSpPr>
        <p:spPr>
          <a:xfrm>
            <a:off x="5270510" y="3632180"/>
            <a:ext cx="2984510" cy="317480"/>
          </a:xfrm>
          <a:prstGeom prst="roundRect">
            <a:avLst>
              <a:gd name="adj" fmla="val 50000"/>
            </a:avLst>
          </a:prstGeom>
          <a:solidFill>
            <a:srgbClr val="9AA0A6">
              <a:alpha val="18000"/>
            </a:srgbClr>
          </a:solidFill>
          <a:ln/>
        </p:spPr>
      </p:sp>
      <p:sp>
        <p:nvSpPr>
          <p:cNvPr id="46" name="Text 43"/>
          <p:cNvSpPr/>
          <p:nvPr/>
        </p:nvSpPr>
        <p:spPr>
          <a:xfrm>
            <a:off x="5410230" y="3721059"/>
            <a:ext cx="2730490" cy="285750"/>
          </a:xfrm>
          <a:prstGeom prst="rect">
            <a:avLst/>
          </a:prstGeom>
          <a:noFill/>
          <a:ln/>
        </p:spPr>
        <p:txBody>
          <a:bodyPr wrap="square" lIns="0" tIns="0" rIns="0" bIns="0" rtlCol="0" anchor="t"/>
          <a:lstStyle/>
          <a:p>
            <a:pPr algn="l" indent="0" marL="0">
              <a:lnSpc>
                <a:spcPct val="130000"/>
              </a:lnSpc>
              <a:buNone/>
            </a:pPr>
            <a:r>
              <a:rPr lang="en-US" sz="800" dirty="0">
                <a:solidFill>
                  <a:srgbClr val="16181B"/>
                </a:solidFill>
                <a:latin typeface="Inter" pitchFamily="34" charset="0"/>
                <a:ea typeface="Inter" pitchFamily="34" charset="-122"/>
                <a:cs typeface="Inter" pitchFamily="34" charset="-120"/>
              </a:rPr>
              <a:t>Escalate · unable to verify → a person; nothing moves</a:t>
            </a:r>
            <a:endParaRPr lang="en-US" sz="800" dirty="0"/>
          </a:p>
        </p:txBody>
      </p:sp>
      <p:sp>
        <p:nvSpPr>
          <p:cNvPr id="47" name="Shape 45"/>
          <p:cNvSpPr/>
          <p:nvPr/>
        </p:nvSpPr>
        <p:spPr>
          <a:xfrm>
            <a:off x="8635959" y="1447770"/>
            <a:ext cx="1587490" cy="406359"/>
          </a:xfrm>
          <a:prstGeom prst="roundRect">
            <a:avLst>
              <a:gd name="adj" fmla="val 25000"/>
            </a:avLst>
          </a:prstGeom>
          <a:solidFill>
            <a:srgbClr val="FFFFFF"/>
          </a:solidFill>
          <a:ln w="12700">
            <a:solidFill>
              <a:srgbClr val="16181B">
                <a:alpha val="10000"/>
              </a:srgbClr>
            </a:solidFill>
            <a:prstDash val="solid"/>
          </a:ln>
        </p:spPr>
      </p:sp>
      <p:sp>
        <p:nvSpPr>
          <p:cNvPr id="48" name="Text 45"/>
          <p:cNvSpPr/>
          <p:nvPr/>
        </p:nvSpPr>
        <p:spPr>
          <a:xfrm>
            <a:off x="8762970" y="1511320"/>
            <a:ext cx="133347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JetBrains Mono" pitchFamily="34" charset="0"/>
                <a:ea typeface="JetBrains Mono" pitchFamily="34" charset="-122"/>
                <a:cs typeface="JetBrains Mono" pitchFamily="34" charset="-120"/>
              </a:rPr>
              <a:t>pill-clinic</a:t>
            </a:r>
            <a:endParaRPr lang="en-US" sz="1000" dirty="0"/>
          </a:p>
        </p:txBody>
      </p:sp>
      <p:sp>
        <p:nvSpPr>
          <p:cNvPr id="49" name="Text 46"/>
          <p:cNvSpPr/>
          <p:nvPr/>
        </p:nvSpPr>
        <p:spPr>
          <a:xfrm>
            <a:off x="8762970" y="1689080"/>
            <a:ext cx="1333470" cy="146030"/>
          </a:xfrm>
          <a:prstGeom prst="rect">
            <a:avLst/>
          </a:prstGeom>
          <a:noFill/>
          <a:ln/>
        </p:spPr>
        <p:txBody>
          <a:bodyPr wrap="square" lIns="0" tIns="0" rIns="0" bIns="0" rtlCol="0" anchor="t"/>
          <a:lstStyle/>
          <a:p>
            <a:pPr algn="l" indent="0" marL="0">
              <a:lnSpc>
                <a:spcPct val="140000"/>
              </a:lnSpc>
              <a:buNone/>
            </a:pPr>
            <a:r>
              <a:rPr lang="en-US" sz="700" dirty="0">
                <a:solidFill>
                  <a:srgbClr val="7C8188"/>
                </a:solidFill>
                <a:latin typeface="JetBrains Mono" pitchFamily="34" charset="0"/>
                <a:ea typeface="JetBrains Mono" pitchFamily="34" charset="-122"/>
                <a:cs typeface="JetBrains Mono" pitchFamily="34" charset="-120"/>
              </a:rPr>
              <a:t>CDP server wallet</a:t>
            </a:r>
            <a:endParaRPr lang="en-US" sz="700" dirty="0"/>
          </a:p>
        </p:txBody>
      </p:sp>
      <p:sp>
        <p:nvSpPr>
          <p:cNvPr id="50" name="Shape 48"/>
          <p:cNvSpPr/>
          <p:nvPr/>
        </p:nvSpPr>
        <p:spPr>
          <a:xfrm>
            <a:off x="8635959" y="2133570"/>
            <a:ext cx="1587490" cy="406359"/>
          </a:xfrm>
          <a:prstGeom prst="roundRect">
            <a:avLst>
              <a:gd name="adj" fmla="val 25000"/>
            </a:avLst>
          </a:prstGeom>
          <a:solidFill>
            <a:srgbClr val="FFFFFF"/>
          </a:solidFill>
          <a:ln w="12700">
            <a:solidFill>
              <a:srgbClr val="16181B">
                <a:alpha val="10000"/>
              </a:srgbClr>
            </a:solidFill>
            <a:prstDash val="solid"/>
          </a:ln>
        </p:spPr>
      </p:sp>
      <p:sp>
        <p:nvSpPr>
          <p:cNvPr id="51" name="Text 48"/>
          <p:cNvSpPr/>
          <p:nvPr/>
        </p:nvSpPr>
        <p:spPr>
          <a:xfrm>
            <a:off x="8762970" y="2197120"/>
            <a:ext cx="133347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JetBrains Mono" pitchFamily="34" charset="0"/>
                <a:ea typeface="JetBrains Mono" pitchFamily="34" charset="-122"/>
                <a:cs typeface="JetBrains Mono" pitchFamily="34" charset="-120"/>
              </a:rPr>
              <a:t>pill-escrow</a:t>
            </a:r>
            <a:endParaRPr lang="en-US" sz="1000" dirty="0"/>
          </a:p>
        </p:txBody>
      </p:sp>
      <p:sp>
        <p:nvSpPr>
          <p:cNvPr id="52" name="Text 49"/>
          <p:cNvSpPr/>
          <p:nvPr/>
        </p:nvSpPr>
        <p:spPr>
          <a:xfrm>
            <a:off x="8762970" y="2374880"/>
            <a:ext cx="1333470" cy="146030"/>
          </a:xfrm>
          <a:prstGeom prst="rect">
            <a:avLst/>
          </a:prstGeom>
          <a:noFill/>
          <a:ln/>
        </p:spPr>
        <p:txBody>
          <a:bodyPr wrap="square" lIns="0" tIns="0" rIns="0" bIns="0" rtlCol="0" anchor="t"/>
          <a:lstStyle/>
          <a:p>
            <a:pPr algn="l" indent="0" marL="0">
              <a:lnSpc>
                <a:spcPct val="140000"/>
              </a:lnSpc>
              <a:buNone/>
            </a:pPr>
            <a:r>
              <a:rPr lang="en-US" sz="700" dirty="0">
                <a:solidFill>
                  <a:srgbClr val="7C8188"/>
                </a:solidFill>
                <a:latin typeface="JetBrains Mono" pitchFamily="34" charset="0"/>
                <a:ea typeface="JetBrains Mono" pitchFamily="34" charset="-122"/>
                <a:cs typeface="JetBrains Mono" pitchFamily="34" charset="-120"/>
              </a:rPr>
              <a:t>CDP server wallet</a:t>
            </a:r>
            <a:endParaRPr lang="en-US" sz="700" dirty="0"/>
          </a:p>
        </p:txBody>
      </p:sp>
      <p:sp>
        <p:nvSpPr>
          <p:cNvPr id="53" name="Shape 51"/>
          <p:cNvSpPr/>
          <p:nvPr/>
        </p:nvSpPr>
        <p:spPr>
          <a:xfrm>
            <a:off x="8635959" y="2819370"/>
            <a:ext cx="1587490" cy="406359"/>
          </a:xfrm>
          <a:prstGeom prst="roundRect">
            <a:avLst>
              <a:gd name="adj" fmla="val 25000"/>
            </a:avLst>
          </a:prstGeom>
          <a:solidFill>
            <a:srgbClr val="FFFFFF"/>
          </a:solidFill>
          <a:ln w="12700">
            <a:solidFill>
              <a:srgbClr val="16181B">
                <a:alpha val="10000"/>
              </a:srgbClr>
            </a:solidFill>
            <a:prstDash val="solid"/>
          </a:ln>
        </p:spPr>
      </p:sp>
      <p:sp>
        <p:nvSpPr>
          <p:cNvPr id="54" name="Text 51"/>
          <p:cNvSpPr/>
          <p:nvPr/>
        </p:nvSpPr>
        <p:spPr>
          <a:xfrm>
            <a:off x="8762970" y="2882920"/>
            <a:ext cx="133347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JetBrains Mono" pitchFamily="34" charset="0"/>
                <a:ea typeface="JetBrains Mono" pitchFamily="34" charset="-122"/>
                <a:cs typeface="JetBrains Mono" pitchFamily="34" charset="-120"/>
              </a:rPr>
              <a:t>pill-supplier</a:t>
            </a:r>
            <a:endParaRPr lang="en-US" sz="1000" dirty="0"/>
          </a:p>
        </p:txBody>
      </p:sp>
      <p:sp>
        <p:nvSpPr>
          <p:cNvPr id="55" name="Text 52"/>
          <p:cNvSpPr/>
          <p:nvPr/>
        </p:nvSpPr>
        <p:spPr>
          <a:xfrm>
            <a:off x="8762970" y="3060680"/>
            <a:ext cx="1333470" cy="146030"/>
          </a:xfrm>
          <a:prstGeom prst="rect">
            <a:avLst/>
          </a:prstGeom>
          <a:noFill/>
          <a:ln/>
        </p:spPr>
        <p:txBody>
          <a:bodyPr wrap="square" lIns="0" tIns="0" rIns="0" bIns="0" rtlCol="0" anchor="t"/>
          <a:lstStyle/>
          <a:p>
            <a:pPr algn="l" indent="0" marL="0">
              <a:lnSpc>
                <a:spcPct val="140000"/>
              </a:lnSpc>
              <a:buNone/>
            </a:pPr>
            <a:r>
              <a:rPr lang="en-US" sz="700" dirty="0">
                <a:solidFill>
                  <a:srgbClr val="7C8188"/>
                </a:solidFill>
                <a:latin typeface="JetBrains Mono" pitchFamily="34" charset="0"/>
                <a:ea typeface="JetBrains Mono" pitchFamily="34" charset="-122"/>
                <a:cs typeface="JetBrains Mono" pitchFamily="34" charset="-120"/>
              </a:rPr>
              <a:t>CDP server wallet</a:t>
            </a:r>
            <a:endParaRPr lang="en-US" sz="700" dirty="0"/>
          </a:p>
        </p:txBody>
      </p:sp>
      <p:sp>
        <p:nvSpPr>
          <p:cNvPr id="56" name="Shape 54"/>
          <p:cNvSpPr/>
          <p:nvPr/>
        </p:nvSpPr>
        <p:spPr>
          <a:xfrm>
            <a:off x="9163020" y="1854220"/>
            <a:ext cx="88880" cy="266730"/>
          </a:xfrm>
          <a:custGeom>
            <a:avLst/>
            <a:gdLst/>
            <a:ahLst/>
            <a:cxnLst/>
            <a:rect l="l" t="t" r="r" b="b"/>
            <a:pathLst>
              <a:path w="88880" h="266730">
                <a:moveTo>
                  <a:pt x="44440" y="12710"/>
                </a:moveTo>
                <a:lnTo>
                  <a:pt x="44440" y="254020"/>
                </a:lnTo>
                <a:moveTo>
                  <a:pt x="13990" y="198150"/>
                </a:moveTo>
                <a:lnTo>
                  <a:pt x="44440" y="254020"/>
                </a:lnTo>
                <a:lnTo>
                  <a:pt x="74889" y="198150"/>
                </a:lnTo>
              </a:path>
            </a:pathLst>
          </a:custGeom>
          <a:ln w="12700">
            <a:solidFill>
              <a:srgbClr val="16181B"/>
            </a:solidFill>
            <a:prstDash val="solid"/>
          </a:ln>
        </p:spPr>
      </p:sp>
      <p:sp>
        <p:nvSpPr>
          <p:cNvPr id="57" name="Text 54"/>
          <p:cNvSpPr/>
          <p:nvPr/>
        </p:nvSpPr>
        <p:spPr>
          <a:xfrm>
            <a:off x="9283720" y="1904970"/>
            <a:ext cx="1079541" cy="266730"/>
          </a:xfrm>
          <a:prstGeom prst="rect">
            <a:avLst/>
          </a:prstGeom>
          <a:noFill/>
          <a:ln/>
        </p:spPr>
        <p:txBody>
          <a:bodyPr wrap="square" lIns="0" tIns="0" rIns="0" bIns="0" rtlCol="0" anchor="t"/>
          <a:lstStyle/>
          <a:p>
            <a:pPr algn="l" indent="0" marL="0">
              <a:lnSpc>
                <a:spcPct val="130000"/>
              </a:lnSpc>
              <a:buNone/>
            </a:pPr>
            <a:r>
              <a:rPr lang="en-US" sz="750" dirty="0">
                <a:solidFill>
                  <a:srgbClr val="4A4E55"/>
                </a:solidFill>
                <a:latin typeface="Inter" pitchFamily="34" charset="0"/>
                <a:ea typeface="Inter" pitchFamily="34" charset="-122"/>
                <a:cs typeface="Inter" pitchFamily="34" charset="-120"/>
              </a:rPr>
              <a:t>hold · delivery logged</a:t>
            </a:r>
            <a:endParaRPr lang="en-US" sz="750" dirty="0"/>
          </a:p>
        </p:txBody>
      </p:sp>
      <p:sp>
        <p:nvSpPr>
          <p:cNvPr id="58" name="Shape 56"/>
          <p:cNvSpPr/>
          <p:nvPr/>
        </p:nvSpPr>
        <p:spPr>
          <a:xfrm>
            <a:off x="9163020" y="2540020"/>
            <a:ext cx="88880" cy="266730"/>
          </a:xfrm>
          <a:custGeom>
            <a:avLst/>
            <a:gdLst/>
            <a:ahLst/>
            <a:cxnLst/>
            <a:rect l="l" t="t" r="r" b="b"/>
            <a:pathLst>
              <a:path w="88880" h="266730">
                <a:moveTo>
                  <a:pt x="44440" y="12710"/>
                </a:moveTo>
                <a:lnTo>
                  <a:pt x="44440" y="254020"/>
                </a:lnTo>
                <a:moveTo>
                  <a:pt x="13990" y="198150"/>
                </a:moveTo>
                <a:lnTo>
                  <a:pt x="44440" y="254020"/>
                </a:lnTo>
                <a:lnTo>
                  <a:pt x="74889" y="198150"/>
                </a:lnTo>
              </a:path>
            </a:pathLst>
          </a:custGeom>
          <a:ln w="12700">
            <a:solidFill>
              <a:srgbClr val="16181B"/>
            </a:solidFill>
            <a:prstDash val="solid"/>
          </a:ln>
        </p:spPr>
      </p:sp>
      <p:sp>
        <p:nvSpPr>
          <p:cNvPr id="59" name="Text 56"/>
          <p:cNvSpPr/>
          <p:nvPr/>
        </p:nvSpPr>
        <p:spPr>
          <a:xfrm>
            <a:off x="9283720" y="2590770"/>
            <a:ext cx="1079541" cy="146030"/>
          </a:xfrm>
          <a:prstGeom prst="rect">
            <a:avLst/>
          </a:prstGeom>
          <a:noFill/>
          <a:ln/>
        </p:spPr>
        <p:txBody>
          <a:bodyPr wrap="square" lIns="0" tIns="0" rIns="0" bIns="0" rtlCol="0" anchor="t"/>
          <a:lstStyle/>
          <a:p>
            <a:pPr algn="l" indent="0" marL="0">
              <a:lnSpc>
                <a:spcPct val="130000"/>
              </a:lnSpc>
              <a:buNone/>
            </a:pPr>
            <a:r>
              <a:rPr lang="en-US" sz="750" dirty="0">
                <a:solidFill>
                  <a:srgbClr val="4A4E55"/>
                </a:solidFill>
                <a:latin typeface="Inter" pitchFamily="34" charset="0"/>
                <a:ea typeface="Inter" pitchFamily="34" charset="-122"/>
                <a:cs typeface="Inter" pitchFamily="34" charset="-120"/>
              </a:rPr>
              <a:t>release</a:t>
            </a:r>
            <a:endParaRPr lang="en-US" sz="750" dirty="0"/>
          </a:p>
        </p:txBody>
      </p:sp>
      <p:sp>
        <p:nvSpPr>
          <p:cNvPr id="60" name="Shape 58"/>
          <p:cNvSpPr/>
          <p:nvPr/>
        </p:nvSpPr>
        <p:spPr>
          <a:xfrm>
            <a:off x="10223541" y="1606509"/>
            <a:ext cx="266730" cy="742950"/>
          </a:xfrm>
          <a:custGeom>
            <a:avLst/>
            <a:gdLst/>
            <a:ahLst/>
            <a:cxnLst/>
            <a:rect l="l" t="t" r="r" b="b"/>
            <a:pathLst>
              <a:path w="266730" h="742950">
                <a:moveTo>
                  <a:pt x="12710" y="730240"/>
                </a:moveTo>
                <a:lnTo>
                  <a:pt x="254020" y="730240"/>
                </a:lnTo>
                <a:lnTo>
                  <a:pt x="254020" y="44440"/>
                </a:lnTo>
                <a:lnTo>
                  <a:pt x="25420" y="44440"/>
                </a:lnTo>
                <a:moveTo>
                  <a:pt x="81290" y="13990"/>
                </a:moveTo>
                <a:lnTo>
                  <a:pt x="25420" y="44440"/>
                </a:lnTo>
                <a:lnTo>
                  <a:pt x="81290" y="74889"/>
                </a:lnTo>
              </a:path>
            </a:pathLst>
          </a:custGeom>
          <a:ln w="12700">
            <a:solidFill>
              <a:srgbClr val="16181B"/>
            </a:solidFill>
            <a:prstDash val="solid"/>
          </a:ln>
        </p:spPr>
      </p:sp>
      <p:sp>
        <p:nvSpPr>
          <p:cNvPr id="61" name="Text 58"/>
          <p:cNvSpPr/>
          <p:nvPr/>
        </p:nvSpPr>
        <p:spPr>
          <a:xfrm>
            <a:off x="10553730" y="1904970"/>
            <a:ext cx="888980" cy="146030"/>
          </a:xfrm>
          <a:prstGeom prst="rect">
            <a:avLst/>
          </a:prstGeom>
          <a:noFill/>
          <a:ln/>
        </p:spPr>
        <p:txBody>
          <a:bodyPr wrap="square" lIns="0" tIns="0" rIns="0" bIns="0" rtlCol="0" anchor="t"/>
          <a:lstStyle/>
          <a:p>
            <a:pPr algn="l" indent="0" marL="0">
              <a:lnSpc>
                <a:spcPct val="130000"/>
              </a:lnSpc>
              <a:buNone/>
            </a:pPr>
            <a:r>
              <a:rPr lang="en-US" sz="750" dirty="0">
                <a:solidFill>
                  <a:srgbClr val="4A4E55"/>
                </a:solidFill>
                <a:latin typeface="Inter" pitchFamily="34" charset="0"/>
                <a:ea typeface="Inter" pitchFamily="34" charset="-122"/>
                <a:cs typeface="Inter" pitchFamily="34" charset="-120"/>
              </a:rPr>
              <a:t>refund</a:t>
            </a:r>
            <a:endParaRPr lang="en-US" sz="750" dirty="0"/>
          </a:p>
        </p:txBody>
      </p:sp>
      <p:sp>
        <p:nvSpPr>
          <p:cNvPr id="62" name="Shape 60"/>
          <p:cNvSpPr/>
          <p:nvPr/>
        </p:nvSpPr>
        <p:spPr>
          <a:xfrm>
            <a:off x="8255020" y="2984510"/>
            <a:ext cx="368320" cy="88880"/>
          </a:xfrm>
          <a:custGeom>
            <a:avLst/>
            <a:gdLst/>
            <a:ahLst/>
            <a:cxnLst/>
            <a:rect l="l" t="t" r="r" b="b"/>
            <a:pathLst>
              <a:path w="368320" h="88880">
                <a:moveTo>
                  <a:pt x="12710" y="44440"/>
                </a:moveTo>
                <a:lnTo>
                  <a:pt x="355610" y="44440"/>
                </a:lnTo>
                <a:moveTo>
                  <a:pt x="299740" y="74889"/>
                </a:moveTo>
                <a:lnTo>
                  <a:pt x="355610" y="44440"/>
                </a:lnTo>
                <a:lnTo>
                  <a:pt x="299740" y="13990"/>
                </a:lnTo>
              </a:path>
            </a:pathLst>
          </a:custGeom>
          <a:ln w="12700">
            <a:solidFill>
              <a:srgbClr val="16181B"/>
            </a:solidFill>
            <a:prstDash val="solid"/>
          </a:ln>
        </p:spPr>
      </p:sp>
      <p:sp>
        <p:nvSpPr>
          <p:cNvPr id="63" name="Shape 61"/>
          <p:cNvSpPr/>
          <p:nvPr/>
        </p:nvSpPr>
        <p:spPr>
          <a:xfrm>
            <a:off x="10414010" y="2565441"/>
            <a:ext cx="1015990" cy="660380"/>
          </a:xfrm>
          <a:prstGeom prst="rect">
            <a:avLst/>
          </a:prstGeom>
          <a:solidFill>
            <a:srgbClr val="FFFFFF"/>
          </a:solidFill>
          <a:ln/>
        </p:spPr>
      </p:sp>
      <p:sp>
        <p:nvSpPr>
          <p:cNvPr id="64" name="Shape 62"/>
          <p:cNvSpPr/>
          <p:nvPr/>
        </p:nvSpPr>
        <p:spPr>
          <a:xfrm>
            <a:off x="10414010" y="2565441"/>
            <a:ext cx="1015990" cy="660380"/>
          </a:xfrm>
          <a:custGeom>
            <a:avLst/>
            <a:gdLst/>
            <a:ahLst/>
            <a:cxnLst/>
            <a:rect l="l" t="t" r="r" b="b"/>
            <a:pathLst>
              <a:path w="1015990" h="660380">
                <a:moveTo>
                  <a:pt x="0" y="0"/>
                </a:moveTo>
                <a:lnTo>
                  <a:pt x="1015990" y="0"/>
                </a:lnTo>
                <a:lnTo>
                  <a:pt x="1015990" y="660380"/>
                </a:lnTo>
                <a:lnTo>
                  <a:pt x="0" y="660380"/>
                </a:lnTo>
                <a:lnTo>
                  <a:pt x="0" y="0"/>
                </a:lnTo>
              </a:path>
            </a:pathLst>
          </a:custGeom>
          <a:ln w="12700">
            <a:solidFill>
              <a:srgbClr val="4A4E55"/>
            </a:solidFill>
            <a:prstDash val="dash"/>
          </a:ln>
        </p:spPr>
      </p:sp>
      <p:sp>
        <p:nvSpPr>
          <p:cNvPr id="65" name="Text 62"/>
          <p:cNvSpPr/>
          <p:nvPr/>
        </p:nvSpPr>
        <p:spPr>
          <a:xfrm>
            <a:off x="10490180" y="2628900"/>
            <a:ext cx="863559" cy="501640"/>
          </a:xfrm>
          <a:prstGeom prst="rect">
            <a:avLst/>
          </a:prstGeom>
          <a:noFill/>
          <a:ln/>
        </p:spPr>
        <p:txBody>
          <a:bodyPr wrap="square" lIns="0" tIns="0" rIns="0" bIns="0" rtlCol="0" anchor="t"/>
          <a:lstStyle/>
          <a:p>
            <a:pPr algn="l" indent="0" marL="0">
              <a:lnSpc>
                <a:spcPct val="135000"/>
              </a:lnSpc>
              <a:buNone/>
            </a:pPr>
            <a:r>
              <a:rPr lang="en-US" sz="700" dirty="0">
                <a:solidFill>
                  <a:srgbClr val="16181B"/>
                </a:solidFill>
                <a:latin typeface="Inter" pitchFamily="34" charset="0"/>
                <a:ea typeface="Inter" pitchFamily="34" charset="-122"/>
                <a:cs typeface="Inter" pitchFamily="34" charset="-120"/>
              </a:rPr>
              <a:t>Capital One Nessie mirror, sandbox dollars (SANDBOX; not yet run)</a:t>
            </a:r>
            <a:endParaRPr lang="en-US" sz="700" dirty="0"/>
          </a:p>
        </p:txBody>
      </p:sp>
      <p:sp>
        <p:nvSpPr>
          <p:cNvPr id="66" name="Text 63"/>
          <p:cNvSpPr/>
          <p:nvPr/>
        </p:nvSpPr>
        <p:spPr>
          <a:xfrm>
            <a:off x="8635959" y="3327410"/>
            <a:ext cx="2794041" cy="304770"/>
          </a:xfrm>
          <a:prstGeom prst="rect">
            <a:avLst/>
          </a:prstGeom>
          <a:noFill/>
          <a:ln/>
        </p:spPr>
        <p:txBody>
          <a:bodyPr wrap="square" lIns="0" tIns="0" rIns="0" bIns="0" rtlCol="0" anchor="t"/>
          <a:lstStyle/>
          <a:p>
            <a:pPr algn="l" indent="0" marL="0">
              <a:lnSpc>
                <a:spcPct val="140000"/>
              </a:lnSpc>
              <a:buNone/>
            </a:pPr>
            <a:r>
              <a:rPr lang="en-US" sz="800" dirty="0">
                <a:solidFill>
                  <a:srgbClr val="4A4E55"/>
                </a:solidFill>
                <a:latin typeface="Inter" pitchFamily="34" charset="0"/>
                <a:ea typeface="Inter" pitchFamily="34" charset="-122"/>
                <a:cs typeface="Inter" pitchFamily="34" charset="-120"/>
              </a:rPr>
              <a:t>USDC on Base Sepolia (TESTNET) · Coinbase CDP SDK server wallets</a:t>
            </a:r>
            <a:endParaRPr lang="en-US" sz="800" dirty="0"/>
          </a:p>
        </p:txBody>
      </p:sp>
      <p:sp>
        <p:nvSpPr>
          <p:cNvPr id="67" name="Shape 65"/>
          <p:cNvSpPr/>
          <p:nvPr/>
        </p:nvSpPr>
        <p:spPr>
          <a:xfrm>
            <a:off x="8635959" y="3670310"/>
            <a:ext cx="2540020" cy="177759"/>
          </a:xfrm>
          <a:prstGeom prst="roundRect">
            <a:avLst>
              <a:gd name="adj" fmla="val 50000"/>
            </a:avLst>
          </a:prstGeom>
          <a:solidFill>
            <a:srgbClr val="9AA0A6">
              <a:alpha val="18000"/>
            </a:srgbClr>
          </a:solidFill>
          <a:ln/>
        </p:spPr>
      </p:sp>
      <p:sp>
        <p:nvSpPr>
          <p:cNvPr id="68" name="Text 65"/>
          <p:cNvSpPr/>
          <p:nvPr/>
        </p:nvSpPr>
        <p:spPr>
          <a:xfrm>
            <a:off x="8635959" y="3705880"/>
            <a:ext cx="254002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ESCROW · MODE: SIMULATED UNTIL A CDP KEY</a:t>
            </a:r>
            <a:endParaRPr lang="en-US" sz="700" dirty="0"/>
          </a:p>
        </p:txBody>
      </p:sp>
      <p:sp>
        <p:nvSpPr>
          <p:cNvPr id="69" name="Text 66"/>
          <p:cNvSpPr/>
          <p:nvPr/>
        </p:nvSpPr>
        <p:spPr>
          <a:xfrm>
            <a:off x="761970" y="4063959"/>
            <a:ext cx="761997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SELLING A VERDICT · COINBASE X402</a:t>
            </a:r>
            <a:endParaRPr lang="en-US" sz="750" dirty="0"/>
          </a:p>
        </p:txBody>
      </p:sp>
      <p:sp>
        <p:nvSpPr>
          <p:cNvPr id="70" name="Shape 68"/>
          <p:cNvSpPr/>
          <p:nvPr/>
        </p:nvSpPr>
        <p:spPr>
          <a:xfrm>
            <a:off x="761970" y="4229100"/>
            <a:ext cx="1625620" cy="609630"/>
          </a:xfrm>
          <a:prstGeom prst="roundRect">
            <a:avLst>
              <a:gd name="adj" fmla="val 16664"/>
            </a:avLst>
          </a:prstGeom>
          <a:solidFill>
            <a:srgbClr val="FFFFFF"/>
          </a:solidFill>
          <a:ln w="12700">
            <a:solidFill>
              <a:srgbClr val="16181B">
                <a:alpha val="10000"/>
              </a:srgbClr>
            </a:solidFill>
            <a:prstDash val="solid"/>
          </a:ln>
        </p:spPr>
      </p:sp>
      <p:sp>
        <p:nvSpPr>
          <p:cNvPr id="71" name="Text 68"/>
          <p:cNvSpPr/>
          <p:nvPr/>
        </p:nvSpPr>
        <p:spPr>
          <a:xfrm>
            <a:off x="838230" y="4305270"/>
            <a:ext cx="1473190" cy="43818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Buyer agent · another clinic, or an agent with no local reference</a:t>
            </a:r>
            <a:endParaRPr lang="en-US" sz="800" dirty="0"/>
          </a:p>
        </p:txBody>
      </p:sp>
      <p:sp>
        <p:nvSpPr>
          <p:cNvPr id="72" name="Shape 70"/>
          <p:cNvSpPr/>
          <p:nvPr/>
        </p:nvSpPr>
        <p:spPr>
          <a:xfrm>
            <a:off x="2387590"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solid"/>
          </a:ln>
        </p:spPr>
      </p:sp>
      <p:sp>
        <p:nvSpPr>
          <p:cNvPr id="73" name="Shape 71"/>
          <p:cNvSpPr/>
          <p:nvPr/>
        </p:nvSpPr>
        <p:spPr>
          <a:xfrm>
            <a:off x="2571750" y="4229100"/>
            <a:ext cx="1625620" cy="609630"/>
          </a:xfrm>
          <a:prstGeom prst="roundRect">
            <a:avLst>
              <a:gd name="adj" fmla="val 16664"/>
            </a:avLst>
          </a:prstGeom>
          <a:solidFill>
            <a:srgbClr val="FFFFFF"/>
          </a:solidFill>
          <a:ln w="12700">
            <a:solidFill>
              <a:srgbClr val="16181B">
                <a:alpha val="10000"/>
              </a:srgbClr>
            </a:solidFill>
            <a:prstDash val="solid"/>
          </a:ln>
        </p:spPr>
      </p:sp>
      <p:sp>
        <p:nvSpPr>
          <p:cNvPr id="74" name="Text 71"/>
          <p:cNvSpPr/>
          <p:nvPr/>
        </p:nvSpPr>
        <p:spPr>
          <a:xfrm>
            <a:off x="2647920" y="4305270"/>
            <a:ext cx="1473190" cy="15874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POST /verify with a curve</a:t>
            </a:r>
            <a:endParaRPr lang="en-US" sz="800" dirty="0"/>
          </a:p>
        </p:txBody>
      </p:sp>
      <p:sp>
        <p:nvSpPr>
          <p:cNvPr id="75" name="Shape 73"/>
          <p:cNvSpPr/>
          <p:nvPr/>
        </p:nvSpPr>
        <p:spPr>
          <a:xfrm>
            <a:off x="4197370"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solid"/>
          </a:ln>
        </p:spPr>
      </p:sp>
      <p:sp>
        <p:nvSpPr>
          <p:cNvPr id="76" name="Shape 74"/>
          <p:cNvSpPr/>
          <p:nvPr/>
        </p:nvSpPr>
        <p:spPr>
          <a:xfrm>
            <a:off x="4381530" y="4229100"/>
            <a:ext cx="1625620" cy="609630"/>
          </a:xfrm>
          <a:prstGeom prst="roundRect">
            <a:avLst>
              <a:gd name="adj" fmla="val 16664"/>
            </a:avLst>
          </a:prstGeom>
          <a:solidFill>
            <a:srgbClr val="7A5CFF">
              <a:alpha val="10000"/>
            </a:srgbClr>
          </a:solidFill>
          <a:ln w="12700">
            <a:solidFill>
              <a:srgbClr val="16181B">
                <a:alpha val="10000"/>
              </a:srgbClr>
            </a:solidFill>
            <a:prstDash val="solid"/>
          </a:ln>
        </p:spPr>
      </p:sp>
      <p:sp>
        <p:nvSpPr>
          <p:cNvPr id="77" name="Text 74"/>
          <p:cNvSpPr/>
          <p:nvPr/>
        </p:nvSpPr>
        <p:spPr>
          <a:xfrm>
            <a:off x="4457700" y="4305270"/>
            <a:ext cx="1473190" cy="438180"/>
          </a:xfrm>
          <a:prstGeom prst="rect">
            <a:avLst/>
          </a:prstGeom>
          <a:noFill/>
          <a:ln/>
        </p:spPr>
        <p:txBody>
          <a:bodyPr wrap="square" lIns="0" tIns="0" rIns="0" bIns="0" rtlCol="0" anchor="t"/>
          <a:lstStyle/>
          <a:p>
            <a:pPr algn="l" indent="0" marL="0">
              <a:lnSpc>
                <a:spcPct val="135000"/>
              </a:lnSpc>
              <a:buNone/>
            </a:pPr>
            <a:r>
              <a:rPr lang="en-US" sz="800" b="1" dirty="0">
                <a:solidFill>
                  <a:srgbClr val="16181B"/>
                </a:solidFill>
                <a:latin typeface="Inter" pitchFamily="34" charset="0"/>
                <a:ea typeface="Inter" pitchFamily="34" charset="-122"/>
                <a:cs typeface="Inter" pitchFamily="34" charset="-120"/>
              </a:rPr>
              <a:t>402 Payment Required · 0.05 USDC (TESTNET); the price travels in the 402</a:t>
            </a:r>
            <a:endParaRPr lang="en-US" sz="800" dirty="0"/>
          </a:p>
        </p:txBody>
      </p:sp>
      <p:sp>
        <p:nvSpPr>
          <p:cNvPr id="78" name="Shape 76"/>
          <p:cNvSpPr/>
          <p:nvPr/>
        </p:nvSpPr>
        <p:spPr>
          <a:xfrm>
            <a:off x="6007059"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solid"/>
          </a:ln>
        </p:spPr>
      </p:sp>
      <p:sp>
        <p:nvSpPr>
          <p:cNvPr id="79" name="Shape 77"/>
          <p:cNvSpPr/>
          <p:nvPr/>
        </p:nvSpPr>
        <p:spPr>
          <a:xfrm>
            <a:off x="6191220" y="4229100"/>
            <a:ext cx="1625620" cy="609630"/>
          </a:xfrm>
          <a:prstGeom prst="roundRect">
            <a:avLst>
              <a:gd name="adj" fmla="val 16664"/>
            </a:avLst>
          </a:prstGeom>
          <a:solidFill>
            <a:srgbClr val="FFFFFF"/>
          </a:solidFill>
          <a:ln w="12700">
            <a:solidFill>
              <a:srgbClr val="16181B">
                <a:alpha val="10000"/>
              </a:srgbClr>
            </a:solidFill>
            <a:prstDash val="solid"/>
          </a:ln>
        </p:spPr>
      </p:sp>
      <p:sp>
        <p:nvSpPr>
          <p:cNvPr id="80" name="Text 77"/>
          <p:cNvSpPr/>
          <p:nvPr/>
        </p:nvSpPr>
        <p:spPr>
          <a:xfrm>
            <a:off x="6267480" y="4305270"/>
            <a:ext cx="1473190" cy="43818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Buyer reads the price, checks its 1 USDC / 24 h cap, signs</a:t>
            </a:r>
            <a:endParaRPr lang="en-US" sz="800" dirty="0"/>
          </a:p>
        </p:txBody>
      </p:sp>
      <p:sp>
        <p:nvSpPr>
          <p:cNvPr id="81" name="Shape 79"/>
          <p:cNvSpPr/>
          <p:nvPr/>
        </p:nvSpPr>
        <p:spPr>
          <a:xfrm>
            <a:off x="7816840"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solid"/>
          </a:ln>
        </p:spPr>
      </p:sp>
      <p:sp>
        <p:nvSpPr>
          <p:cNvPr id="82" name="Shape 80"/>
          <p:cNvSpPr/>
          <p:nvPr/>
        </p:nvSpPr>
        <p:spPr>
          <a:xfrm>
            <a:off x="8001000" y="4229100"/>
            <a:ext cx="1625620" cy="609630"/>
          </a:xfrm>
          <a:prstGeom prst="roundRect">
            <a:avLst>
              <a:gd name="adj" fmla="val 16664"/>
            </a:avLst>
          </a:prstGeom>
          <a:solidFill>
            <a:srgbClr val="FFFFFF"/>
          </a:solidFill>
          <a:ln w="12700">
            <a:solidFill>
              <a:srgbClr val="16181B">
                <a:alpha val="10000"/>
              </a:srgbClr>
            </a:solidFill>
            <a:prstDash val="solid"/>
          </a:ln>
        </p:spPr>
      </p:sp>
      <p:sp>
        <p:nvSpPr>
          <p:cNvPr id="83" name="Text 80"/>
          <p:cNvSpPr/>
          <p:nvPr/>
        </p:nvSpPr>
        <p:spPr>
          <a:xfrm>
            <a:off x="8077170" y="4305270"/>
            <a:ext cx="1473190" cy="29846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Facilitator verifies the signature</a:t>
            </a:r>
            <a:endParaRPr lang="en-US" sz="800" dirty="0"/>
          </a:p>
        </p:txBody>
      </p:sp>
      <p:sp>
        <p:nvSpPr>
          <p:cNvPr id="84" name="Shape 82"/>
          <p:cNvSpPr/>
          <p:nvPr/>
        </p:nvSpPr>
        <p:spPr>
          <a:xfrm>
            <a:off x="9626620"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dash"/>
          </a:ln>
        </p:spPr>
      </p:sp>
      <p:sp>
        <p:nvSpPr>
          <p:cNvPr id="85" name="Shape 83"/>
          <p:cNvSpPr/>
          <p:nvPr/>
        </p:nvSpPr>
        <p:spPr>
          <a:xfrm>
            <a:off x="9810780" y="4229100"/>
            <a:ext cx="1625620" cy="609630"/>
          </a:xfrm>
          <a:prstGeom prst="rect">
            <a:avLst/>
          </a:prstGeom>
          <a:solidFill>
            <a:srgbClr val="FFFFFF"/>
          </a:solidFill>
          <a:ln/>
        </p:spPr>
      </p:sp>
      <p:sp>
        <p:nvSpPr>
          <p:cNvPr id="86" name="Shape 84"/>
          <p:cNvSpPr/>
          <p:nvPr/>
        </p:nvSpPr>
        <p:spPr>
          <a:xfrm>
            <a:off x="9810780" y="4229100"/>
            <a:ext cx="1625620" cy="609630"/>
          </a:xfrm>
          <a:custGeom>
            <a:avLst/>
            <a:gdLst/>
            <a:ahLst/>
            <a:cxnLst/>
            <a:rect l="l" t="t" r="r" b="b"/>
            <a:pathLst>
              <a:path w="1625620" h="609630">
                <a:moveTo>
                  <a:pt x="0" y="0"/>
                </a:moveTo>
                <a:lnTo>
                  <a:pt x="1625620" y="0"/>
                </a:lnTo>
                <a:lnTo>
                  <a:pt x="1625620" y="609630"/>
                </a:lnTo>
                <a:lnTo>
                  <a:pt x="0" y="609630"/>
                </a:lnTo>
                <a:lnTo>
                  <a:pt x="0" y="0"/>
                </a:lnTo>
              </a:path>
            </a:pathLst>
          </a:custGeom>
          <a:ln w="12700">
            <a:solidFill>
              <a:srgbClr val="4A4E55"/>
            </a:solidFill>
            <a:prstDash val="dash"/>
          </a:ln>
        </p:spPr>
      </p:sp>
      <p:sp>
        <p:nvSpPr>
          <p:cNvPr id="87" name="Text 84"/>
          <p:cNvSpPr/>
          <p:nvPr/>
        </p:nvSpPr>
        <p:spPr>
          <a:xfrm>
            <a:off x="9886950" y="4305270"/>
            <a:ext cx="1473190" cy="29846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200 + verdict JSON · pending a CDP key / 0.05 test USDC</a:t>
            </a:r>
            <a:endParaRPr lang="en-US" sz="800" dirty="0"/>
          </a:p>
        </p:txBody>
      </p:sp>
      <p:sp>
        <p:nvSpPr>
          <p:cNvPr id="88" name="Text 85"/>
          <p:cNvSpPr/>
          <p:nvPr/>
        </p:nvSpPr>
        <p:spPr>
          <a:xfrm>
            <a:off x="761970" y="4914900"/>
            <a:ext cx="10668030" cy="285750"/>
          </a:xfrm>
          <a:prstGeom prst="rect">
            <a:avLst/>
          </a:prstGeom>
          <a:noFill/>
          <a:ln/>
        </p:spPr>
        <p:txBody>
          <a:bodyPr wrap="square" lIns="0" tIns="0" rIns="0" bIns="0" rtlCol="0" anchor="t"/>
          <a:lstStyle/>
          <a:p>
            <a:pPr algn="l" indent="0" marL="0">
              <a:lnSpc>
                <a:spcPct val="140000"/>
              </a:lnSpc>
              <a:buNone/>
            </a:pPr>
            <a:r>
              <a:rPr lang="en-US" sz="750" dirty="0">
                <a:solidFill>
                  <a:srgbClr val="4A4E55"/>
                </a:solidFill>
                <a:latin typeface="Inter" pitchFamily="34" charset="0"/>
                <a:ea typeface="Inter" pitchFamily="34" charset="-122"/>
                <a:cs typeface="Inter" pitchFamily="34" charset="-120"/>
              </a:rPr>
              <a:t>Real 402 today; the facilitator’s verify step answered (insufficient_balance on our unfunded test wallet). @x402/express · @x402/evm · CDP SDK. Service modes cdp · public-facilitator · simulated, each named in every response.</a:t>
            </a:r>
            <a:endParaRPr lang="en-US" sz="750" dirty="0"/>
          </a:p>
        </p:txBody>
      </p:sp>
      <p:sp>
        <p:nvSpPr>
          <p:cNvPr id="89" name="Text 86"/>
          <p:cNvSpPr/>
          <p:nvPr/>
        </p:nvSpPr>
        <p:spPr>
          <a:xfrm>
            <a:off x="761970" y="5270510"/>
            <a:ext cx="1651041" cy="146030"/>
          </a:xfrm>
          <a:prstGeom prst="rect">
            <a:avLst/>
          </a:prstGeom>
          <a:noFill/>
          <a:ln/>
        </p:spPr>
        <p:txBody>
          <a:bodyPr wrap="square" lIns="0" tIns="0" rIns="0" bIns="0" rtlCol="0" anchor="t"/>
          <a:lstStyle/>
          <a:p>
            <a:pPr algn="l" indent="0" marL="0">
              <a:lnSpc>
                <a:spcPct val="140000"/>
              </a:lnSpc>
              <a:buNone/>
            </a:pPr>
            <a:r>
              <a:rPr lang="en-US" sz="700" spc="70" kern="0" dirty="0">
                <a:solidFill>
                  <a:srgbClr val="7C8188"/>
                </a:solidFill>
                <a:latin typeface="JetBrains Mono" pitchFamily="34" charset="0"/>
                <a:ea typeface="JetBrains Mono" pitchFamily="34" charset="-122"/>
                <a:cs typeface="JetBrains Mono" pitchFamily="34" charset="-120"/>
              </a:rPr>
              <a:t>MODEL</a:t>
            </a:r>
            <a:endParaRPr lang="en-US" sz="700" dirty="0"/>
          </a:p>
        </p:txBody>
      </p:sp>
      <p:sp>
        <p:nvSpPr>
          <p:cNvPr id="90" name="Text 87"/>
          <p:cNvSpPr/>
          <p:nvPr/>
        </p:nvSpPr>
        <p:spPr>
          <a:xfrm>
            <a:off x="2540020" y="5270510"/>
            <a:ext cx="5715000" cy="146030"/>
          </a:xfrm>
          <a:prstGeom prst="rect">
            <a:avLst/>
          </a:prstGeom>
          <a:noFill/>
          <a:ln/>
        </p:spPr>
        <p:txBody>
          <a:bodyPr wrap="square" lIns="0" tIns="0" rIns="0" bIns="0" rtlCol="0" anchor="t"/>
          <a:lstStyle/>
          <a:p>
            <a:pPr algn="l" indent="0" marL="0">
              <a:lnSpc>
                <a:spcPct val="140000"/>
              </a:lnSpc>
              <a:buNone/>
            </a:pPr>
            <a:r>
              <a:rPr lang="en-US" sz="700" spc="70" kern="0" dirty="0">
                <a:solidFill>
                  <a:srgbClr val="7C8188"/>
                </a:solidFill>
                <a:latin typeface="JetBrains Mono" pitchFamily="34" charset="0"/>
                <a:ea typeface="JetBrains Mono" pitchFamily="34" charset="-122"/>
                <a:cs typeface="JetBrains Mono" pitchFamily="34" charset="-120"/>
              </a:rPr>
              <a:t>DOES</a:t>
            </a:r>
            <a:endParaRPr lang="en-US" sz="700" dirty="0"/>
          </a:p>
        </p:txBody>
      </p:sp>
      <p:sp>
        <p:nvSpPr>
          <p:cNvPr id="91" name="Text 88"/>
          <p:cNvSpPr/>
          <p:nvPr/>
        </p:nvSpPr>
        <p:spPr>
          <a:xfrm>
            <a:off x="9144000" y="5270510"/>
            <a:ext cx="2286000" cy="146030"/>
          </a:xfrm>
          <a:prstGeom prst="rect">
            <a:avLst/>
          </a:prstGeom>
          <a:noFill/>
          <a:ln/>
        </p:spPr>
        <p:txBody>
          <a:bodyPr wrap="square" lIns="0" tIns="0" rIns="0" bIns="0" rtlCol="0" anchor="t"/>
          <a:lstStyle/>
          <a:p>
            <a:pPr algn="l" indent="0" marL="0">
              <a:lnSpc>
                <a:spcPct val="140000"/>
              </a:lnSpc>
              <a:buNone/>
            </a:pPr>
            <a:r>
              <a:rPr lang="en-US" sz="700" spc="70" kern="0" dirty="0">
                <a:solidFill>
                  <a:srgbClr val="7C8188"/>
                </a:solidFill>
                <a:latin typeface="JetBrains Mono" pitchFamily="34" charset="0"/>
                <a:ea typeface="JetBrains Mono" pitchFamily="34" charset="-122"/>
                <a:cs typeface="JetBrains Mono" pitchFamily="34" charset="-120"/>
              </a:rPr>
              <a:t>NEVER</a:t>
            </a:r>
            <a:endParaRPr lang="en-US" sz="700" dirty="0"/>
          </a:p>
        </p:txBody>
      </p:sp>
      <p:sp>
        <p:nvSpPr>
          <p:cNvPr id="92" name="Shape 90"/>
          <p:cNvSpPr/>
          <p:nvPr/>
        </p:nvSpPr>
        <p:spPr>
          <a:xfrm>
            <a:off x="761970" y="5410230"/>
            <a:ext cx="10668030" cy="6309"/>
          </a:xfrm>
          <a:prstGeom prst="rect">
            <a:avLst/>
          </a:prstGeom>
          <a:solidFill>
            <a:srgbClr val="16181B">
              <a:alpha val="10000"/>
            </a:srgbClr>
          </a:solidFill>
          <a:ln/>
        </p:spPr>
      </p:sp>
      <p:sp>
        <p:nvSpPr>
          <p:cNvPr id="93" name="Text 90"/>
          <p:cNvSpPr/>
          <p:nvPr/>
        </p:nvSpPr>
        <p:spPr>
          <a:xfrm>
            <a:off x="761970" y="5460980"/>
            <a:ext cx="1651041" cy="165141"/>
          </a:xfrm>
          <a:prstGeom prst="rect">
            <a:avLst/>
          </a:prstGeom>
          <a:noFill/>
          <a:ln/>
        </p:spPr>
        <p:txBody>
          <a:bodyPr wrap="square" lIns="0" tIns="0" rIns="0" bIns="0" rtlCol="0" anchor="t"/>
          <a:lstStyle/>
          <a:p>
            <a:pPr algn="l" indent="0" marL="0">
              <a:lnSpc>
                <a:spcPct val="130000"/>
              </a:lnSpc>
              <a:buNone/>
            </a:pPr>
            <a:r>
              <a:rPr lang="en-US" sz="850" b="1" dirty="0">
                <a:solidFill>
                  <a:srgbClr val="16181B"/>
                </a:solidFill>
                <a:latin typeface="Inter" pitchFamily="34" charset="0"/>
                <a:ea typeface="Inter" pitchFamily="34" charset="-122"/>
                <a:cs typeface="Inter" pitchFamily="34" charset="-120"/>
              </a:rPr>
              <a:t>Claude</a:t>
            </a:r>
            <a:endParaRPr lang="en-US" sz="850" dirty="0"/>
          </a:p>
        </p:txBody>
      </p:sp>
      <p:sp>
        <p:nvSpPr>
          <p:cNvPr id="94" name="Text 91"/>
          <p:cNvSpPr/>
          <p:nvPr/>
        </p:nvSpPr>
        <p:spPr>
          <a:xfrm>
            <a:off x="2540020" y="5460980"/>
            <a:ext cx="6413510" cy="285750"/>
          </a:xfrm>
          <a:prstGeom prst="rect">
            <a:avLst/>
          </a:prstGeom>
          <a:noFill/>
          <a:ln/>
        </p:spPr>
        <p:txBody>
          <a:bodyPr wrap="square" lIns="0" tIns="0" rIns="0" bIns="0" rtlCol="0" anchor="t"/>
          <a:lstStyle/>
          <a:p>
            <a:pPr algn="l" indent="0" marL="0">
              <a:lnSpc>
                <a:spcPct val="140000"/>
              </a:lnSpc>
              <a:buNone/>
            </a:pPr>
            <a:r>
              <a:rPr lang="en-US" sz="750" dirty="0">
                <a:solidFill>
                  <a:srgbClr val="4A4E55"/>
                </a:solidFill>
                <a:latin typeface="Inter" pitchFamily="34" charset="0"/>
                <a:ea typeface="Inter" pitchFamily="34" charset="-122"/>
                <a:cs typeface="Inter" pitchFamily="34" charset="-120"/>
              </a:rPr>
              <a:t>Station: reads the bottle label + imprint, writes the report, answers Ask, behind the guardrail. Clinic: the two-sentence “why”; the escrow clerk (returns the ceiling computed in code, or escalate).</a:t>
            </a:r>
            <a:endParaRPr lang="en-US" sz="750" dirty="0"/>
          </a:p>
        </p:txBody>
      </p:sp>
      <p:sp>
        <p:nvSpPr>
          <p:cNvPr id="95" name="Text 92"/>
          <p:cNvSpPr/>
          <p:nvPr/>
        </p:nvSpPr>
        <p:spPr>
          <a:xfrm>
            <a:off x="9144000" y="5460980"/>
            <a:ext cx="2286000" cy="152430"/>
          </a:xfrm>
          <a:prstGeom prst="rect">
            <a:avLst/>
          </a:prstGeom>
          <a:noFill/>
          <a:ln/>
        </p:spPr>
        <p:txBody>
          <a:bodyPr wrap="square" lIns="0" tIns="0" rIns="0" bIns="0" rtlCol="0" anchor="t"/>
          <a:lstStyle/>
          <a:p>
            <a:pPr algn="l" indent="0" marL="0">
              <a:lnSpc>
                <a:spcPct val="140000"/>
              </a:lnSpc>
              <a:buNone/>
            </a:pPr>
            <a:r>
              <a:rPr lang="en-US" sz="750" dirty="0">
                <a:solidFill>
                  <a:srgbClr val="16181B"/>
                </a:solidFill>
                <a:latin typeface="Inter" pitchFamily="34" charset="0"/>
                <a:ea typeface="Inter" pitchFamily="34" charset="-122"/>
                <a:cs typeface="Inter" pitchFamily="34" charset="-120"/>
              </a:rPr>
              <a:t>Sets a verdict; moves money</a:t>
            </a:r>
            <a:endParaRPr lang="en-US" sz="750" dirty="0"/>
          </a:p>
        </p:txBody>
      </p:sp>
      <p:sp>
        <p:nvSpPr>
          <p:cNvPr id="96" name="Shape 94"/>
          <p:cNvSpPr/>
          <p:nvPr/>
        </p:nvSpPr>
        <p:spPr>
          <a:xfrm>
            <a:off x="761970" y="5740420"/>
            <a:ext cx="10668030" cy="6309"/>
          </a:xfrm>
          <a:prstGeom prst="rect">
            <a:avLst/>
          </a:prstGeom>
          <a:solidFill>
            <a:srgbClr val="16181B">
              <a:alpha val="10000"/>
            </a:srgbClr>
          </a:solidFill>
          <a:ln/>
        </p:spPr>
      </p:sp>
      <p:sp>
        <p:nvSpPr>
          <p:cNvPr id="97" name="Text 94"/>
          <p:cNvSpPr/>
          <p:nvPr/>
        </p:nvSpPr>
        <p:spPr>
          <a:xfrm>
            <a:off x="761970" y="5791170"/>
            <a:ext cx="1651041" cy="165141"/>
          </a:xfrm>
          <a:prstGeom prst="rect">
            <a:avLst/>
          </a:prstGeom>
          <a:noFill/>
          <a:ln/>
        </p:spPr>
        <p:txBody>
          <a:bodyPr wrap="square" lIns="0" tIns="0" rIns="0" bIns="0" rtlCol="0" anchor="t"/>
          <a:lstStyle/>
          <a:p>
            <a:pPr algn="l" indent="0" marL="0">
              <a:lnSpc>
                <a:spcPct val="130000"/>
              </a:lnSpc>
              <a:buNone/>
            </a:pPr>
            <a:r>
              <a:rPr lang="en-US" sz="850" b="1" dirty="0">
                <a:solidFill>
                  <a:srgbClr val="16181B"/>
                </a:solidFill>
                <a:latin typeface="Inter" pitchFamily="34" charset="0"/>
                <a:ea typeface="Inter" pitchFamily="34" charset="-122"/>
                <a:cs typeface="Inter" pitchFamily="34" charset="-120"/>
              </a:rPr>
              <a:t>Gemini</a:t>
            </a:r>
            <a:endParaRPr lang="en-US" sz="850" dirty="0"/>
          </a:p>
        </p:txBody>
      </p:sp>
      <p:sp>
        <p:nvSpPr>
          <p:cNvPr id="98" name="Text 95"/>
          <p:cNvSpPr/>
          <p:nvPr/>
        </p:nvSpPr>
        <p:spPr>
          <a:xfrm>
            <a:off x="2540020" y="5791170"/>
            <a:ext cx="6413510" cy="285750"/>
          </a:xfrm>
          <a:prstGeom prst="rect">
            <a:avLst/>
          </a:prstGeom>
          <a:noFill/>
          <a:ln/>
        </p:spPr>
        <p:txBody>
          <a:bodyPr wrap="square" lIns="0" tIns="0" rIns="0" bIns="0" rtlCol="0" anchor="t"/>
          <a:lstStyle/>
          <a:p>
            <a:pPr algn="l" indent="0" marL="0">
              <a:lnSpc>
                <a:spcPct val="140000"/>
              </a:lnSpc>
              <a:buNone/>
            </a:pPr>
            <a:r>
              <a:rPr lang="en-US" sz="750" dirty="0">
                <a:solidFill>
                  <a:srgbClr val="4A4E55"/>
                </a:solidFill>
                <a:latin typeface="Inter" pitchFamily="34" charset="0"/>
                <a:ea typeface="Inter" pitchFamily="34" charset="-122"/>
                <a:cs typeface="Inter" pitchFamily="34" charset="-120"/>
              </a:rPr>
              <a:t>Clinic: reads the bottle label into editable fields (unreadable → null); runs the agentic checker (label, up to three cup frames, code tools for the recall lookup).</a:t>
            </a:r>
            <a:endParaRPr lang="en-US" sz="750" dirty="0"/>
          </a:p>
        </p:txBody>
      </p:sp>
      <p:sp>
        <p:nvSpPr>
          <p:cNvPr id="99" name="Text 96"/>
          <p:cNvSpPr/>
          <p:nvPr/>
        </p:nvSpPr>
        <p:spPr>
          <a:xfrm>
            <a:off x="9144000" y="5791170"/>
            <a:ext cx="2286000" cy="152430"/>
          </a:xfrm>
          <a:prstGeom prst="rect">
            <a:avLst/>
          </a:prstGeom>
          <a:noFill/>
          <a:ln/>
        </p:spPr>
        <p:txBody>
          <a:bodyPr wrap="square" lIns="0" tIns="0" rIns="0" bIns="0" rtlCol="0" anchor="t"/>
          <a:lstStyle/>
          <a:p>
            <a:pPr algn="l" indent="0" marL="0">
              <a:lnSpc>
                <a:spcPct val="140000"/>
              </a:lnSpc>
              <a:buNone/>
            </a:pPr>
            <a:r>
              <a:rPr lang="en-US" sz="750" dirty="0">
                <a:solidFill>
                  <a:srgbClr val="16181B"/>
                </a:solidFill>
                <a:latin typeface="Inter" pitchFamily="34" charset="0"/>
                <a:ea typeface="Inter" pitchFamily="34" charset="-122"/>
                <a:cs typeface="Inter" pitchFamily="34" charset="-120"/>
              </a:rPr>
              <a:t>Sets a verdict; invents a field</a:t>
            </a:r>
            <a:endParaRPr lang="en-US" sz="750" dirty="0"/>
          </a:p>
        </p:txBody>
      </p:sp>
      <p:sp>
        <p:nvSpPr>
          <p:cNvPr id="100" name="Shape 98"/>
          <p:cNvSpPr/>
          <p:nvPr/>
        </p:nvSpPr>
        <p:spPr>
          <a:xfrm>
            <a:off x="761970" y="6070610"/>
            <a:ext cx="10668030" cy="6309"/>
          </a:xfrm>
          <a:prstGeom prst="rect">
            <a:avLst/>
          </a:prstGeom>
          <a:solidFill>
            <a:srgbClr val="16181B">
              <a:alpha val="10000"/>
            </a:srgbClr>
          </a:solidFill>
          <a:ln/>
        </p:spPr>
      </p:sp>
      <p:sp>
        <p:nvSpPr>
          <p:cNvPr id="101" name="Text 98"/>
          <p:cNvSpPr/>
          <p:nvPr/>
        </p:nvSpPr>
        <p:spPr>
          <a:xfrm>
            <a:off x="761970" y="6121359"/>
            <a:ext cx="1651041" cy="165141"/>
          </a:xfrm>
          <a:prstGeom prst="rect">
            <a:avLst/>
          </a:prstGeom>
          <a:noFill/>
          <a:ln/>
        </p:spPr>
        <p:txBody>
          <a:bodyPr wrap="square" lIns="0" tIns="0" rIns="0" bIns="0" rtlCol="0" anchor="t"/>
          <a:lstStyle/>
          <a:p>
            <a:pPr algn="l" indent="0" marL="0">
              <a:lnSpc>
                <a:spcPct val="130000"/>
              </a:lnSpc>
              <a:buNone/>
            </a:pPr>
            <a:r>
              <a:rPr lang="en-US" sz="850" b="1" dirty="0">
                <a:solidFill>
                  <a:srgbClr val="16181B"/>
                </a:solidFill>
                <a:latin typeface="Inter" pitchFamily="34" charset="0"/>
                <a:ea typeface="Inter" pitchFamily="34" charset="-122"/>
                <a:cs typeface="Inter" pitchFamily="34" charset="-120"/>
              </a:rPr>
              <a:t>Deterministic code</a:t>
            </a:r>
            <a:endParaRPr lang="en-US" sz="850" dirty="0"/>
          </a:p>
        </p:txBody>
      </p:sp>
      <p:sp>
        <p:nvSpPr>
          <p:cNvPr id="102" name="Text 99"/>
          <p:cNvSpPr/>
          <p:nvPr/>
        </p:nvSpPr>
        <p:spPr>
          <a:xfrm>
            <a:off x="2540020" y="6121359"/>
            <a:ext cx="6413510" cy="285750"/>
          </a:xfrm>
          <a:prstGeom prst="rect">
            <a:avLst/>
          </a:prstGeom>
          <a:noFill/>
          <a:ln/>
        </p:spPr>
        <p:txBody>
          <a:bodyPr wrap="square" lIns="0" tIns="0" rIns="0" bIns="0" rtlCol="0" anchor="t"/>
          <a:lstStyle/>
          <a:p>
            <a:pPr algn="l" indent="0" marL="0">
              <a:lnSpc>
                <a:spcPct val="140000"/>
              </a:lnSpc>
              <a:buNone/>
            </a:pPr>
            <a:r>
              <a:rPr lang="en-US" sz="750" dirty="0">
                <a:solidFill>
                  <a:srgbClr val="4A4E55"/>
                </a:solidFill>
                <a:latin typeface="Inter" pitchFamily="34" charset="0"/>
                <a:ea typeface="Inter" pitchFamily="34" charset="-122"/>
                <a:cs typeface="Inter" pitchFamily="34" charset="-120"/>
              </a:rPr>
              <a:t>analysis.py and rules.ts (U1 U2 U3 N1 N2 N3 P1) set every verdict; the policy computes the ceiling; the clause filter drops any model sentence with a banned claim word (over half dropped → rule text).</a:t>
            </a:r>
            <a:endParaRPr lang="en-US" sz="750" dirty="0"/>
          </a:p>
        </p:txBody>
      </p:sp>
      <p:sp>
        <p:nvSpPr>
          <p:cNvPr id="103" name="Text 100"/>
          <p:cNvSpPr/>
          <p:nvPr/>
        </p:nvSpPr>
        <p:spPr>
          <a:xfrm>
            <a:off x="9144000" y="6121359"/>
            <a:ext cx="2286000" cy="152430"/>
          </a:xfrm>
          <a:prstGeom prst="rect">
            <a:avLst/>
          </a:prstGeom>
          <a:noFill/>
          <a:ln/>
        </p:spPr>
        <p:txBody>
          <a:bodyPr wrap="square" lIns="0" tIns="0" rIns="0" bIns="0" rtlCol="0" anchor="t"/>
          <a:lstStyle/>
          <a:p>
            <a:pPr algn="l" indent="0" marL="0">
              <a:lnSpc>
                <a:spcPct val="140000"/>
              </a:lnSpc>
              <a:buNone/>
            </a:pPr>
            <a:r>
              <a:rPr lang="en-US" sz="750" dirty="0">
                <a:solidFill>
                  <a:srgbClr val="16181B"/>
                </a:solidFill>
                <a:latin typeface="Inter" pitchFamily="34" charset="0"/>
                <a:ea typeface="Inter" pitchFamily="34" charset="-122"/>
                <a:cs typeface="Inter" pitchFamily="34" charset="-120"/>
              </a:rPr>
              <a:t>Calls a model to decide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0" cy="6858000"/>
          </a:xfrm>
          <a:prstGeom prst="rect">
            <a:avLst/>
          </a:prstGeom>
          <a:solidFill>
            <a:srgbClr val="7A5CFF">
              <a:alpha val="10000"/>
            </a:srgbClr>
          </a:solidFill>
          <a:ln/>
        </p:spPr>
      </p:sp>
      <p:sp>
        <p:nvSpPr>
          <p:cNvPr id="3" name="Shape 1"/>
          <p:cNvSpPr/>
          <p:nvPr/>
        </p:nvSpPr>
        <p:spPr>
          <a:xfrm>
            <a:off x="761970" y="355610"/>
            <a:ext cx="325161" cy="142281"/>
          </a:xfrm>
          <a:prstGeom prst="roundRect">
            <a:avLst>
              <a:gd name="adj" fmla="val 50000"/>
            </a:avLst>
          </a:prstGeom>
          <a:solidFill>
            <a:srgbClr val="FFFFFF"/>
          </a:solidFill>
          <a:ln/>
        </p:spPr>
      </p:sp>
      <p:sp>
        <p:nvSpPr>
          <p:cNvPr id="4" name="Shape 2"/>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5" name="Shape 3"/>
          <p:cNvSpPr/>
          <p:nvPr/>
        </p:nvSpPr>
        <p:spPr>
          <a:xfrm>
            <a:off x="761970" y="355610"/>
            <a:ext cx="325161" cy="142281"/>
          </a:xfrm>
          <a:prstGeom prst="roundRect">
            <a:avLst>
              <a:gd name="adj" fmla="val 50000"/>
            </a:avLst>
          </a:prstGeom>
          <a:ln w="12700">
            <a:solidFill>
              <a:srgbClr val="16181B"/>
            </a:solidFill>
            <a:prstDash val="solid"/>
          </a:ln>
        </p:spPr>
      </p:sp>
      <p:sp>
        <p:nvSpPr>
          <p:cNvPr id="6" name="Text 3"/>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7" name="Text 4"/>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COINBASE · X402 · PAYMENT AGENTS</a:t>
            </a:r>
            <a:endParaRPr lang="en-US" sz="900" dirty="0"/>
          </a:p>
        </p:txBody>
      </p:sp>
      <p:sp>
        <p:nvSpPr>
          <p:cNvPr id="8" name="Text 5"/>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09 / 21</a:t>
            </a:r>
            <a:endParaRPr lang="en-US" sz="900" dirty="0"/>
          </a:p>
        </p:txBody>
      </p:sp>
      <p:sp>
        <p:nvSpPr>
          <p:cNvPr id="9" name="Shape 7"/>
          <p:cNvSpPr/>
          <p:nvPr/>
        </p:nvSpPr>
        <p:spPr>
          <a:xfrm>
            <a:off x="761970" y="6413510"/>
            <a:ext cx="10668030" cy="12710"/>
          </a:xfrm>
          <a:prstGeom prst="rect">
            <a:avLst/>
          </a:prstGeom>
          <a:solidFill>
            <a:srgbClr val="16181B">
              <a:alpha val="10000"/>
            </a:srgbClr>
          </a:solidFill>
          <a:ln/>
        </p:spPr>
      </p:sp>
      <p:sp>
        <p:nvSpPr>
          <p:cNvPr id="10" name="Text 7"/>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1" name="Title"/>
          <p:cNvSpPr/>
          <p:nvPr/>
        </p:nvSpPr>
        <p:spPr>
          <a:xfrm>
            <a:off x="761970" y="952530"/>
            <a:ext cx="7937541" cy="571500"/>
          </a:xfrm>
          <a:prstGeom prst="rect">
            <a:avLst/>
          </a:prstGeom>
          <a:noFill/>
          <a:ln/>
        </p:spPr>
        <p:txBody>
          <a:bodyPr wrap="square" lIns="0" tIns="0" rIns="0" bIns="0" rtlCol="0" anchor="t"/>
          <a:lstStyle/>
          <a:p>
            <a:pPr algn="l" indent="0" marL="0">
              <a:lnSpc>
                <a:spcPct val="100000"/>
              </a:lnSpc>
              <a:buNone/>
            </a:pPr>
            <a:r>
              <a:rPr lang="en-US" sz="3744" spc="-56" kern="0" dirty="0">
                <a:solidFill>
                  <a:srgbClr val="16181B"/>
                </a:solidFill>
                <a:latin typeface="Instrument Serif" pitchFamily="34" charset="0"/>
                <a:ea typeface="Instrument Serif" pitchFamily="34" charset="-122"/>
                <a:cs typeface="Instrument Serif" pitchFamily="34" charset="-120"/>
              </a:rPr>
              <a:t>The verdict is the invoice.</a:t>
            </a:r>
            <a:endParaRPr lang="en-US" sz="3744" dirty="0"/>
          </a:p>
        </p:txBody>
      </p:sp>
      <p:sp>
        <p:nvSpPr>
          <p:cNvPr id="12" name="Shape 10"/>
          <p:cNvSpPr/>
          <p:nvPr/>
        </p:nvSpPr>
        <p:spPr>
          <a:xfrm>
            <a:off x="761970" y="1790670"/>
            <a:ext cx="2247870" cy="254020"/>
          </a:xfrm>
          <a:prstGeom prst="roundRect">
            <a:avLst>
              <a:gd name="adj" fmla="val 50000"/>
            </a:avLst>
          </a:prstGeom>
          <a:solidFill>
            <a:srgbClr val="7A5CFF">
              <a:alpha val="16000"/>
            </a:srgbClr>
          </a:solidFill>
          <a:ln/>
        </p:spPr>
      </p:sp>
      <p:sp>
        <p:nvSpPr>
          <p:cNvPr id="13" name="Shape 11"/>
          <p:cNvSpPr/>
          <p:nvPr/>
        </p:nvSpPr>
        <p:spPr>
          <a:xfrm>
            <a:off x="888980" y="1885950"/>
            <a:ext cx="63459" cy="63459"/>
          </a:xfrm>
          <a:prstGeom prst="ellipse">
            <a:avLst/>
          </a:prstGeom>
          <a:solidFill>
            <a:srgbClr val="7A5CFF"/>
          </a:solidFill>
          <a:ln/>
        </p:spPr>
      </p:sp>
      <p:sp>
        <p:nvSpPr>
          <p:cNvPr id="14" name="Text 11"/>
          <p:cNvSpPr/>
          <p:nvPr/>
        </p:nvSpPr>
        <p:spPr>
          <a:xfrm>
            <a:off x="1003280" y="1841510"/>
            <a:ext cx="193039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TESTNET · BASE SEPOLIA</a:t>
            </a:r>
            <a:endParaRPr lang="en-US" sz="1000" dirty="0"/>
          </a:p>
        </p:txBody>
      </p:sp>
      <p:sp>
        <p:nvSpPr>
          <p:cNvPr id="15" name="Shape 13"/>
          <p:cNvSpPr/>
          <p:nvPr/>
        </p:nvSpPr>
        <p:spPr>
          <a:xfrm>
            <a:off x="3098810" y="1790670"/>
            <a:ext cx="2038380" cy="254020"/>
          </a:xfrm>
          <a:prstGeom prst="roundRect">
            <a:avLst>
              <a:gd name="adj" fmla="val 50000"/>
            </a:avLst>
          </a:prstGeom>
          <a:solidFill>
            <a:srgbClr val="FFFFFF"/>
          </a:solidFill>
          <a:ln w="12700">
            <a:solidFill>
              <a:srgbClr val="16181B">
                <a:alpha val="18000"/>
              </a:srgbClr>
            </a:solidFill>
            <a:prstDash val="solid"/>
          </a:ln>
        </p:spPr>
      </p:sp>
      <p:sp>
        <p:nvSpPr>
          <p:cNvPr id="16" name="Text 13"/>
          <p:cNvSpPr/>
          <p:nvPr/>
        </p:nvSpPr>
        <p:spPr>
          <a:xfrm>
            <a:off x="3098810" y="1841510"/>
            <a:ext cx="2038380" cy="177759"/>
          </a:xfrm>
          <a:prstGeom prst="rect">
            <a:avLst/>
          </a:prstGeom>
          <a:noFill/>
          <a:ln/>
        </p:spPr>
        <p:txBody>
          <a:bodyPr wrap="square" lIns="0" tIns="0" rIns="0" bIns="0" rtlCol="0" anchor="t"/>
          <a:lstStyle/>
          <a:p>
            <a:pPr algn="ctr"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0.05 USDC PER VERDICT</a:t>
            </a:r>
            <a:endParaRPr lang="en-US" sz="1000" dirty="0"/>
          </a:p>
        </p:txBody>
      </p:sp>
      <p:sp>
        <p:nvSpPr>
          <p:cNvPr id="17" name="Shape 15"/>
          <p:cNvSpPr/>
          <p:nvPr/>
        </p:nvSpPr>
        <p:spPr>
          <a:xfrm>
            <a:off x="761970" y="2413010"/>
            <a:ext cx="1714500" cy="1841510"/>
          </a:xfrm>
          <a:prstGeom prst="roundRect">
            <a:avLst>
              <a:gd name="adj" fmla="val 8891"/>
            </a:avLst>
          </a:prstGeom>
          <a:solidFill>
            <a:srgbClr val="FFFFFF"/>
          </a:solidFill>
          <a:ln w="12700">
            <a:solidFill>
              <a:srgbClr val="7A5CFF">
                <a:alpha val="30000"/>
              </a:srgbClr>
            </a:solidFill>
            <a:prstDash val="solid"/>
          </a:ln>
        </p:spPr>
      </p:sp>
      <p:sp>
        <p:nvSpPr>
          <p:cNvPr id="18" name="Shape 16"/>
          <p:cNvSpPr/>
          <p:nvPr/>
        </p:nvSpPr>
        <p:spPr>
          <a:xfrm>
            <a:off x="939820" y="2590770"/>
            <a:ext cx="304770" cy="38130"/>
          </a:xfrm>
          <a:prstGeom prst="roundRect">
            <a:avLst>
              <a:gd name="adj" fmla="val 49881"/>
            </a:avLst>
          </a:prstGeom>
          <a:solidFill>
            <a:srgbClr val="7A5CFF"/>
          </a:solidFill>
          <a:ln/>
        </p:spPr>
      </p:sp>
      <p:sp>
        <p:nvSpPr>
          <p:cNvPr id="19" name="Text 16"/>
          <p:cNvSpPr/>
          <p:nvPr/>
        </p:nvSpPr>
        <p:spPr>
          <a:xfrm>
            <a:off x="939820" y="2730490"/>
            <a:ext cx="1358890" cy="450891"/>
          </a:xfrm>
          <a:prstGeom prst="rect">
            <a:avLst/>
          </a:prstGeom>
          <a:noFill/>
          <a:ln/>
        </p:spPr>
        <p:txBody>
          <a:bodyPr wrap="square" lIns="0" tIns="0" rIns="0" bIns="0" rtlCol="0" anchor="t"/>
          <a:lstStyle/>
          <a:p>
            <a:pPr algn="l" indent="0" marL="0">
              <a:lnSpc>
                <a:spcPct val="110000"/>
              </a:lnSpc>
              <a:buNone/>
            </a:pPr>
            <a:r>
              <a:rPr lang="en-US" sz="2700" b="1" dirty="0">
                <a:solidFill>
                  <a:srgbClr val="16181B"/>
                </a:solidFill>
                <a:latin typeface="JetBrains Mono" pitchFamily="34" charset="0"/>
                <a:ea typeface="JetBrains Mono" pitchFamily="34" charset="-122"/>
                <a:cs typeface="JetBrains Mono" pitchFamily="34" charset="-120"/>
              </a:rPr>
              <a:t>402</a:t>
            </a:r>
            <a:endParaRPr lang="en-US" sz="2700" dirty="0"/>
          </a:p>
        </p:txBody>
      </p:sp>
      <p:sp>
        <p:nvSpPr>
          <p:cNvPr id="20" name="Text 17"/>
          <p:cNvSpPr/>
          <p:nvPr/>
        </p:nvSpPr>
        <p:spPr>
          <a:xfrm>
            <a:off x="939820" y="3251241"/>
            <a:ext cx="1358890" cy="70482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The server answers “Payment Required”: 0.05 USDC on Base Sepolia.</a:t>
            </a:r>
            <a:endParaRPr lang="en-US" sz="950" dirty="0"/>
          </a:p>
        </p:txBody>
      </p:sp>
      <p:sp>
        <p:nvSpPr>
          <p:cNvPr id="21" name="Shape 19"/>
          <p:cNvSpPr/>
          <p:nvPr/>
        </p:nvSpPr>
        <p:spPr>
          <a:xfrm>
            <a:off x="2508291" y="3282970"/>
            <a:ext cx="254020" cy="101590"/>
          </a:xfrm>
          <a:custGeom>
            <a:avLst/>
            <a:gdLst/>
            <a:ahLst/>
            <a:cxnLst/>
            <a:rect l="l" t="t" r="r" b="b"/>
            <a:pathLst>
              <a:path w="254020" h="101590">
                <a:moveTo>
                  <a:pt x="19020" y="50841"/>
                </a:moveTo>
                <a:lnTo>
                  <a:pt x="234909" y="50841"/>
                </a:lnTo>
                <a:moveTo>
                  <a:pt x="179040" y="81290"/>
                </a:moveTo>
                <a:lnTo>
                  <a:pt x="234909" y="50841"/>
                </a:lnTo>
                <a:lnTo>
                  <a:pt x="179040" y="20300"/>
                </a:lnTo>
              </a:path>
            </a:pathLst>
          </a:custGeom>
          <a:ln w="19050">
            <a:solidFill>
              <a:srgbClr val="7A5CFF"/>
            </a:solidFill>
            <a:prstDash val="solid"/>
          </a:ln>
        </p:spPr>
      </p:sp>
      <p:sp>
        <p:nvSpPr>
          <p:cNvPr id="22" name="Shape 20"/>
          <p:cNvSpPr/>
          <p:nvPr/>
        </p:nvSpPr>
        <p:spPr>
          <a:xfrm>
            <a:off x="2794041" y="2413010"/>
            <a:ext cx="1714500" cy="1841510"/>
          </a:xfrm>
          <a:prstGeom prst="roundRect">
            <a:avLst>
              <a:gd name="adj" fmla="val 8891"/>
            </a:avLst>
          </a:prstGeom>
          <a:solidFill>
            <a:srgbClr val="FFFFFF"/>
          </a:solidFill>
          <a:ln w="12700">
            <a:solidFill>
              <a:srgbClr val="7A5CFF">
                <a:alpha val="30000"/>
              </a:srgbClr>
            </a:solidFill>
            <a:prstDash val="solid"/>
          </a:ln>
        </p:spPr>
      </p:sp>
      <p:sp>
        <p:nvSpPr>
          <p:cNvPr id="23" name="Shape 21"/>
          <p:cNvSpPr/>
          <p:nvPr/>
        </p:nvSpPr>
        <p:spPr>
          <a:xfrm>
            <a:off x="2971800" y="2590770"/>
            <a:ext cx="304770" cy="38130"/>
          </a:xfrm>
          <a:prstGeom prst="roundRect">
            <a:avLst>
              <a:gd name="adj" fmla="val 49881"/>
            </a:avLst>
          </a:prstGeom>
          <a:solidFill>
            <a:srgbClr val="7A5CFF"/>
          </a:solidFill>
          <a:ln/>
        </p:spPr>
      </p:sp>
      <p:sp>
        <p:nvSpPr>
          <p:cNvPr id="24" name="Text 21"/>
          <p:cNvSpPr/>
          <p:nvPr/>
        </p:nvSpPr>
        <p:spPr>
          <a:xfrm>
            <a:off x="2971800" y="2730490"/>
            <a:ext cx="1358890" cy="450891"/>
          </a:xfrm>
          <a:prstGeom prst="rect">
            <a:avLst/>
          </a:prstGeom>
          <a:noFill/>
          <a:ln/>
        </p:spPr>
        <p:txBody>
          <a:bodyPr wrap="square" lIns="0" tIns="0" rIns="0" bIns="0" rtlCol="0" anchor="t"/>
          <a:lstStyle/>
          <a:p>
            <a:pPr algn="l" indent="0" marL="0">
              <a:lnSpc>
                <a:spcPct val="110000"/>
              </a:lnSpc>
              <a:buNone/>
            </a:pPr>
            <a:r>
              <a:rPr lang="en-US" sz="2700" b="1" dirty="0">
                <a:solidFill>
                  <a:srgbClr val="16181B"/>
                </a:solidFill>
                <a:latin typeface="JetBrains Mono" pitchFamily="34" charset="0"/>
                <a:ea typeface="JetBrains Mono" pitchFamily="34" charset="-122"/>
                <a:cs typeface="JetBrains Mono" pitchFamily="34" charset="-120"/>
              </a:rPr>
              <a:t>sign</a:t>
            </a:r>
            <a:endParaRPr lang="en-US" sz="2700" dirty="0"/>
          </a:p>
        </p:txBody>
      </p:sp>
      <p:sp>
        <p:nvSpPr>
          <p:cNvPr id="25" name="Text 22"/>
          <p:cNvSpPr/>
          <p:nvPr/>
        </p:nvSpPr>
        <p:spPr>
          <a:xfrm>
            <a:off x="2971800" y="3251241"/>
            <a:ext cx="1358890" cy="86996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The buyer’s wallet signs that exact payment; over its spend cap, it refuses.</a:t>
            </a:r>
            <a:endParaRPr lang="en-US" sz="950" dirty="0"/>
          </a:p>
        </p:txBody>
      </p:sp>
      <p:sp>
        <p:nvSpPr>
          <p:cNvPr id="26" name="Shape 24"/>
          <p:cNvSpPr/>
          <p:nvPr/>
        </p:nvSpPr>
        <p:spPr>
          <a:xfrm>
            <a:off x="4540270" y="3282970"/>
            <a:ext cx="254020" cy="101590"/>
          </a:xfrm>
          <a:custGeom>
            <a:avLst/>
            <a:gdLst/>
            <a:ahLst/>
            <a:cxnLst/>
            <a:rect l="l" t="t" r="r" b="b"/>
            <a:pathLst>
              <a:path w="254020" h="101590">
                <a:moveTo>
                  <a:pt x="19020" y="50841"/>
                </a:moveTo>
                <a:lnTo>
                  <a:pt x="234909" y="50841"/>
                </a:lnTo>
                <a:moveTo>
                  <a:pt x="179040" y="81290"/>
                </a:moveTo>
                <a:lnTo>
                  <a:pt x="234909" y="50841"/>
                </a:lnTo>
                <a:lnTo>
                  <a:pt x="179040" y="20300"/>
                </a:lnTo>
              </a:path>
            </a:pathLst>
          </a:custGeom>
          <a:ln w="19050">
            <a:solidFill>
              <a:srgbClr val="7A5CFF"/>
            </a:solidFill>
            <a:prstDash val="solid"/>
          </a:ln>
        </p:spPr>
      </p:sp>
      <p:sp>
        <p:nvSpPr>
          <p:cNvPr id="27" name="Shape 25"/>
          <p:cNvSpPr/>
          <p:nvPr/>
        </p:nvSpPr>
        <p:spPr>
          <a:xfrm>
            <a:off x="4826020" y="2413010"/>
            <a:ext cx="1714500" cy="1841510"/>
          </a:xfrm>
          <a:prstGeom prst="roundRect">
            <a:avLst>
              <a:gd name="adj" fmla="val 8891"/>
            </a:avLst>
          </a:prstGeom>
          <a:solidFill>
            <a:srgbClr val="FFFFFF"/>
          </a:solidFill>
          <a:ln w="12700">
            <a:solidFill>
              <a:srgbClr val="7A5CFF">
                <a:alpha val="30000"/>
              </a:srgbClr>
            </a:solidFill>
            <a:prstDash val="solid"/>
          </a:ln>
        </p:spPr>
      </p:sp>
      <p:sp>
        <p:nvSpPr>
          <p:cNvPr id="28" name="Shape 26"/>
          <p:cNvSpPr/>
          <p:nvPr/>
        </p:nvSpPr>
        <p:spPr>
          <a:xfrm>
            <a:off x="5003780" y="2590770"/>
            <a:ext cx="304770" cy="38130"/>
          </a:xfrm>
          <a:prstGeom prst="roundRect">
            <a:avLst>
              <a:gd name="adj" fmla="val 49881"/>
            </a:avLst>
          </a:prstGeom>
          <a:solidFill>
            <a:srgbClr val="7A5CFF"/>
          </a:solidFill>
          <a:ln/>
        </p:spPr>
      </p:sp>
      <p:sp>
        <p:nvSpPr>
          <p:cNvPr id="29" name="Text 26"/>
          <p:cNvSpPr/>
          <p:nvPr/>
        </p:nvSpPr>
        <p:spPr>
          <a:xfrm>
            <a:off x="5003780" y="2730490"/>
            <a:ext cx="1358890" cy="450891"/>
          </a:xfrm>
          <a:prstGeom prst="rect">
            <a:avLst/>
          </a:prstGeom>
          <a:noFill/>
          <a:ln/>
        </p:spPr>
        <p:txBody>
          <a:bodyPr wrap="square" lIns="0" tIns="0" rIns="0" bIns="0" rtlCol="0" anchor="t"/>
          <a:lstStyle/>
          <a:p>
            <a:pPr algn="l" indent="0" marL="0">
              <a:lnSpc>
                <a:spcPct val="110000"/>
              </a:lnSpc>
              <a:buNone/>
            </a:pPr>
            <a:r>
              <a:rPr lang="en-US" sz="2700" b="1" dirty="0">
                <a:solidFill>
                  <a:srgbClr val="16181B"/>
                </a:solidFill>
                <a:latin typeface="JetBrains Mono" pitchFamily="34" charset="0"/>
                <a:ea typeface="JetBrains Mono" pitchFamily="34" charset="-122"/>
                <a:cs typeface="JetBrains Mono" pitchFamily="34" charset="-120"/>
              </a:rPr>
              <a:t>settle</a:t>
            </a:r>
            <a:endParaRPr lang="en-US" sz="2700" dirty="0"/>
          </a:p>
        </p:txBody>
      </p:sp>
      <p:sp>
        <p:nvSpPr>
          <p:cNvPr id="30" name="Text 27"/>
          <p:cNvSpPr/>
          <p:nvPr/>
        </p:nvSpPr>
        <p:spPr>
          <a:xfrm>
            <a:off x="5003780" y="3251241"/>
            <a:ext cx="1358890" cy="86996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PENDING · the facilitator settles it on Base Sepolia (needs 0.05 test USDC or a CDP key).</a:t>
            </a:r>
            <a:endParaRPr lang="en-US" sz="950" dirty="0"/>
          </a:p>
        </p:txBody>
      </p:sp>
      <p:sp>
        <p:nvSpPr>
          <p:cNvPr id="31" name="Shape 29"/>
          <p:cNvSpPr/>
          <p:nvPr/>
        </p:nvSpPr>
        <p:spPr>
          <a:xfrm>
            <a:off x="6572250" y="3282970"/>
            <a:ext cx="254020" cy="101590"/>
          </a:xfrm>
          <a:custGeom>
            <a:avLst/>
            <a:gdLst/>
            <a:ahLst/>
            <a:cxnLst/>
            <a:rect l="l" t="t" r="r" b="b"/>
            <a:pathLst>
              <a:path w="254020" h="101590">
                <a:moveTo>
                  <a:pt x="19020" y="50841"/>
                </a:moveTo>
                <a:lnTo>
                  <a:pt x="234909" y="50841"/>
                </a:lnTo>
                <a:moveTo>
                  <a:pt x="179040" y="81290"/>
                </a:moveTo>
                <a:lnTo>
                  <a:pt x="234909" y="50841"/>
                </a:lnTo>
                <a:lnTo>
                  <a:pt x="179040" y="20300"/>
                </a:lnTo>
              </a:path>
            </a:pathLst>
          </a:custGeom>
          <a:ln w="19050">
            <a:solidFill>
              <a:srgbClr val="7A5CFF"/>
            </a:solidFill>
            <a:prstDash val="solid"/>
          </a:ln>
        </p:spPr>
      </p:sp>
      <p:sp>
        <p:nvSpPr>
          <p:cNvPr id="32" name="Shape 30"/>
          <p:cNvSpPr/>
          <p:nvPr/>
        </p:nvSpPr>
        <p:spPr>
          <a:xfrm>
            <a:off x="6858000" y="2413010"/>
            <a:ext cx="1714500" cy="1841510"/>
          </a:xfrm>
          <a:prstGeom prst="roundRect">
            <a:avLst>
              <a:gd name="adj" fmla="val 8891"/>
            </a:avLst>
          </a:prstGeom>
          <a:solidFill>
            <a:srgbClr val="FFFFFF"/>
          </a:solidFill>
          <a:ln w="12700">
            <a:solidFill>
              <a:srgbClr val="7A5CFF">
                <a:alpha val="30000"/>
              </a:srgbClr>
            </a:solidFill>
            <a:prstDash val="solid"/>
          </a:ln>
        </p:spPr>
      </p:sp>
      <p:sp>
        <p:nvSpPr>
          <p:cNvPr id="33" name="Shape 31"/>
          <p:cNvSpPr/>
          <p:nvPr/>
        </p:nvSpPr>
        <p:spPr>
          <a:xfrm>
            <a:off x="7035759" y="2590770"/>
            <a:ext cx="304770" cy="38130"/>
          </a:xfrm>
          <a:prstGeom prst="roundRect">
            <a:avLst>
              <a:gd name="adj" fmla="val 49881"/>
            </a:avLst>
          </a:prstGeom>
          <a:solidFill>
            <a:srgbClr val="7A5CFF"/>
          </a:solidFill>
          <a:ln/>
        </p:spPr>
      </p:sp>
      <p:sp>
        <p:nvSpPr>
          <p:cNvPr id="34" name="Text 31"/>
          <p:cNvSpPr/>
          <p:nvPr/>
        </p:nvSpPr>
        <p:spPr>
          <a:xfrm>
            <a:off x="7035759" y="2730490"/>
            <a:ext cx="1358890" cy="450891"/>
          </a:xfrm>
          <a:prstGeom prst="rect">
            <a:avLst/>
          </a:prstGeom>
          <a:noFill/>
          <a:ln/>
        </p:spPr>
        <p:txBody>
          <a:bodyPr wrap="square" lIns="0" tIns="0" rIns="0" bIns="0" rtlCol="0" anchor="t"/>
          <a:lstStyle/>
          <a:p>
            <a:pPr algn="l" indent="0" marL="0">
              <a:lnSpc>
                <a:spcPct val="110000"/>
              </a:lnSpc>
              <a:buNone/>
            </a:pPr>
            <a:r>
              <a:rPr lang="en-US" sz="2700" b="1" dirty="0">
                <a:solidFill>
                  <a:srgbClr val="16181B"/>
                </a:solidFill>
                <a:latin typeface="JetBrains Mono" pitchFamily="34" charset="0"/>
                <a:ea typeface="JetBrains Mono" pitchFamily="34" charset="-122"/>
                <a:cs typeface="JetBrains Mono" pitchFamily="34" charset="-120"/>
              </a:rPr>
              <a:t>200</a:t>
            </a:r>
            <a:endParaRPr lang="en-US" sz="2700" dirty="0"/>
          </a:p>
        </p:txBody>
      </p:sp>
      <p:sp>
        <p:nvSpPr>
          <p:cNvPr id="35" name="Text 32"/>
          <p:cNvSpPr/>
          <p:nvPr/>
        </p:nvSpPr>
        <p:spPr>
          <a:xfrm>
            <a:off x="7035759" y="3251241"/>
            <a:ext cx="1358890" cy="70482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PENDING · the server answers with the verdict and the rule id that fired.</a:t>
            </a:r>
            <a:endParaRPr lang="en-US" sz="950" dirty="0"/>
          </a:p>
        </p:txBody>
      </p:sp>
      <p:sp>
        <p:nvSpPr>
          <p:cNvPr id="36" name="Shape 34"/>
          <p:cNvSpPr/>
          <p:nvPr/>
        </p:nvSpPr>
        <p:spPr>
          <a:xfrm>
            <a:off x="761970" y="4610130"/>
            <a:ext cx="38130" cy="952530"/>
          </a:xfrm>
          <a:prstGeom prst="roundRect">
            <a:avLst>
              <a:gd name="adj" fmla="val 49881"/>
            </a:avLst>
          </a:prstGeom>
          <a:solidFill>
            <a:srgbClr val="7A5CFF"/>
          </a:solidFill>
          <a:ln/>
        </p:spPr>
      </p:sp>
      <p:sp>
        <p:nvSpPr>
          <p:cNvPr id="37" name="Text 34"/>
          <p:cNvSpPr/>
          <p:nvPr/>
        </p:nvSpPr>
        <p:spPr>
          <a:xfrm>
            <a:off x="939820" y="4610130"/>
            <a:ext cx="228600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01</a:t>
            </a:r>
            <a:endParaRPr lang="en-US" sz="900" dirty="0"/>
          </a:p>
        </p:txBody>
      </p:sp>
      <p:sp>
        <p:nvSpPr>
          <p:cNvPr id="38" name="Text 35"/>
          <p:cNvSpPr/>
          <p:nvPr/>
        </p:nvSpPr>
        <p:spPr>
          <a:xfrm>
            <a:off x="939820" y="4800600"/>
            <a:ext cx="2286000" cy="266730"/>
          </a:xfrm>
          <a:prstGeom prst="rect">
            <a:avLst/>
          </a:prstGeom>
          <a:noFill/>
          <a:ln/>
        </p:spPr>
        <p:txBody>
          <a:bodyPr wrap="square" lIns="0" tIns="0" rIns="0" bIns="0" rtlCol="0" anchor="t"/>
          <a:lstStyle/>
          <a:p>
            <a:pPr algn="l" indent="0" marL="0">
              <a:lnSpc>
                <a:spcPct val="120000"/>
              </a:lnSpc>
              <a:buNone/>
            </a:pPr>
            <a:r>
              <a:rPr lang="en-US" sz="1500" b="1" dirty="0">
                <a:solidFill>
                  <a:srgbClr val="16181B"/>
                </a:solidFill>
                <a:latin typeface="Inter" pitchFamily="34" charset="0"/>
                <a:ea typeface="Inter" pitchFamily="34" charset="-122"/>
                <a:cs typeface="Inter" pitchFamily="34" charset="-120"/>
              </a:rPr>
              <a:t>Pay</a:t>
            </a:r>
            <a:endParaRPr lang="en-US" sz="1500" dirty="0"/>
          </a:p>
        </p:txBody>
      </p:sp>
      <p:sp>
        <p:nvSpPr>
          <p:cNvPr id="39" name="Text 36"/>
          <p:cNvSpPr/>
          <p:nvPr/>
        </p:nvSpPr>
        <p:spPr>
          <a:xfrm>
            <a:off x="939820" y="5080041"/>
            <a:ext cx="2349459"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Escrow → supplier in USDC, only after PASS and a pharmacist’s tap.</a:t>
            </a:r>
            <a:endParaRPr lang="en-US" sz="1050" dirty="0"/>
          </a:p>
        </p:txBody>
      </p:sp>
      <p:sp>
        <p:nvSpPr>
          <p:cNvPr id="40" name="Shape 38"/>
          <p:cNvSpPr/>
          <p:nvPr/>
        </p:nvSpPr>
        <p:spPr>
          <a:xfrm>
            <a:off x="3492459" y="4610130"/>
            <a:ext cx="38130" cy="952530"/>
          </a:xfrm>
          <a:prstGeom prst="roundRect">
            <a:avLst>
              <a:gd name="adj" fmla="val 49881"/>
            </a:avLst>
          </a:prstGeom>
          <a:solidFill>
            <a:srgbClr val="7A5CFF"/>
          </a:solidFill>
          <a:ln/>
        </p:spPr>
      </p:sp>
      <p:sp>
        <p:nvSpPr>
          <p:cNvPr id="41" name="Text 38"/>
          <p:cNvSpPr/>
          <p:nvPr/>
        </p:nvSpPr>
        <p:spPr>
          <a:xfrm>
            <a:off x="3670310" y="4610130"/>
            <a:ext cx="228600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02</a:t>
            </a:r>
            <a:endParaRPr lang="en-US" sz="900" dirty="0"/>
          </a:p>
        </p:txBody>
      </p:sp>
      <p:sp>
        <p:nvSpPr>
          <p:cNvPr id="42" name="Text 39"/>
          <p:cNvSpPr/>
          <p:nvPr/>
        </p:nvSpPr>
        <p:spPr>
          <a:xfrm>
            <a:off x="3670310" y="4800600"/>
            <a:ext cx="2286000" cy="266730"/>
          </a:xfrm>
          <a:prstGeom prst="rect">
            <a:avLst/>
          </a:prstGeom>
          <a:noFill/>
          <a:ln/>
        </p:spPr>
        <p:txBody>
          <a:bodyPr wrap="square" lIns="0" tIns="0" rIns="0" bIns="0" rtlCol="0" anchor="t"/>
          <a:lstStyle/>
          <a:p>
            <a:pPr algn="l" indent="0" marL="0">
              <a:lnSpc>
                <a:spcPct val="120000"/>
              </a:lnSpc>
              <a:buNone/>
            </a:pPr>
            <a:r>
              <a:rPr lang="en-US" sz="1500" b="1" dirty="0">
                <a:solidFill>
                  <a:srgbClr val="16181B"/>
                </a:solidFill>
                <a:latin typeface="Inter" pitchFamily="34" charset="0"/>
                <a:ea typeface="Inter" pitchFamily="34" charset="-122"/>
                <a:cs typeface="Inter" pitchFamily="34" charset="-120"/>
              </a:rPr>
              <a:t>Buy</a:t>
            </a:r>
            <a:endParaRPr lang="en-US" sz="1500" dirty="0"/>
          </a:p>
        </p:txBody>
      </p:sp>
      <p:sp>
        <p:nvSpPr>
          <p:cNvPr id="43" name="Text 40"/>
          <p:cNvSpPr/>
          <p:nvPr/>
        </p:nvSpPr>
        <p:spPr>
          <a:xfrm>
            <a:off x="3670310" y="5080041"/>
            <a:ext cx="2349459" cy="59052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No local reference? Buy a verdict from another station over x402, capped per day.</a:t>
            </a:r>
            <a:endParaRPr lang="en-US" sz="1050" dirty="0"/>
          </a:p>
        </p:txBody>
      </p:sp>
      <p:sp>
        <p:nvSpPr>
          <p:cNvPr id="44" name="Shape 42"/>
          <p:cNvSpPr/>
          <p:nvPr/>
        </p:nvSpPr>
        <p:spPr>
          <a:xfrm>
            <a:off x="6223041" y="4610130"/>
            <a:ext cx="38130" cy="952530"/>
          </a:xfrm>
          <a:prstGeom prst="roundRect">
            <a:avLst>
              <a:gd name="adj" fmla="val 49881"/>
            </a:avLst>
          </a:prstGeom>
          <a:solidFill>
            <a:srgbClr val="7A5CFF"/>
          </a:solidFill>
          <a:ln/>
        </p:spPr>
      </p:sp>
      <p:sp>
        <p:nvSpPr>
          <p:cNvPr id="45" name="Text 42"/>
          <p:cNvSpPr/>
          <p:nvPr/>
        </p:nvSpPr>
        <p:spPr>
          <a:xfrm>
            <a:off x="6400800" y="4610130"/>
            <a:ext cx="228600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03</a:t>
            </a:r>
            <a:endParaRPr lang="en-US" sz="900" dirty="0"/>
          </a:p>
        </p:txBody>
      </p:sp>
      <p:sp>
        <p:nvSpPr>
          <p:cNvPr id="46" name="Text 43"/>
          <p:cNvSpPr/>
          <p:nvPr/>
        </p:nvSpPr>
        <p:spPr>
          <a:xfrm>
            <a:off x="6400800" y="4800600"/>
            <a:ext cx="2286000" cy="266730"/>
          </a:xfrm>
          <a:prstGeom prst="rect">
            <a:avLst/>
          </a:prstGeom>
          <a:noFill/>
          <a:ln/>
        </p:spPr>
        <p:txBody>
          <a:bodyPr wrap="square" lIns="0" tIns="0" rIns="0" bIns="0" rtlCol="0" anchor="t"/>
          <a:lstStyle/>
          <a:p>
            <a:pPr algn="l" indent="0" marL="0">
              <a:lnSpc>
                <a:spcPct val="120000"/>
              </a:lnSpc>
              <a:buNone/>
            </a:pPr>
            <a:r>
              <a:rPr lang="en-US" sz="1500" b="1" dirty="0">
                <a:solidFill>
                  <a:srgbClr val="16181B"/>
                </a:solidFill>
                <a:latin typeface="Inter" pitchFamily="34" charset="0"/>
                <a:ea typeface="Inter" pitchFamily="34" charset="-122"/>
                <a:cs typeface="Inter" pitchFamily="34" charset="-120"/>
              </a:rPr>
              <a:t>Earn</a:t>
            </a:r>
            <a:endParaRPr lang="en-US" sz="1500" dirty="0"/>
          </a:p>
        </p:txBody>
      </p:sp>
      <p:sp>
        <p:nvSpPr>
          <p:cNvPr id="47" name="Text 44"/>
          <p:cNvSpPr/>
          <p:nvPr/>
        </p:nvSpPr>
        <p:spPr>
          <a:xfrm>
            <a:off x="6400800" y="5080041"/>
            <a:ext cx="2349459"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Every station can sell /verify to other clinics.</a:t>
            </a:r>
            <a:endParaRPr lang="en-US" sz="1050" dirty="0"/>
          </a:p>
        </p:txBody>
      </p:sp>
      <p:sp>
        <p:nvSpPr>
          <p:cNvPr id="48" name="Shape 46"/>
          <p:cNvSpPr/>
          <p:nvPr/>
        </p:nvSpPr>
        <p:spPr>
          <a:xfrm>
            <a:off x="9207459" y="952530"/>
            <a:ext cx="2222541" cy="5080041"/>
          </a:xfrm>
          <a:prstGeom prst="roundRect">
            <a:avLst>
              <a:gd name="adj" fmla="val 13141"/>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9" name="Image 0" descr="Coinbase: app-upgrade-b-verify-390-390c">    </p:cNvPr>
          <p:cNvPicPr>
            <a:picLocks noChangeAspect="1"/>
          </p:cNvPicPr>
          <p:nvPr/>
        </p:nvPicPr>
        <p:blipFill>
          <a:blip r:embed="rId1"/>
          <a:stretch>
            <a:fillRect/>
          </a:stretch>
        </p:blipFill>
        <p:spPr>
          <a:xfrm>
            <a:off x="9271010" y="1015990"/>
            <a:ext cx="2095530" cy="4953030"/>
          </a:xfrm>
          <a:prstGeom prst="rect">
            <a:avLst/>
          </a:prstGeom>
        </p:spPr>
      </p:pic>
      <p:sp>
        <p:nvSpPr>
          <p:cNvPr id="50" name="Text 47"/>
          <p:cNvSpPr/>
          <p:nvPr/>
        </p:nvSpPr>
        <p:spPr>
          <a:xfrm>
            <a:off x="9207459" y="6108741"/>
            <a:ext cx="2222541" cy="165141"/>
          </a:xfrm>
          <a:prstGeom prst="rect">
            <a:avLst/>
          </a:prstGeom>
          <a:noFill/>
          <a:ln/>
        </p:spPr>
        <p:txBody>
          <a:bodyPr wrap="square" lIns="0" tIns="0" rIns="0" bIns="0" rtlCol="0" anchor="t"/>
          <a:lstStyle/>
          <a:p>
            <a:pPr algn="ctr"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app · /verify over x402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APP</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10 / 21</a:t>
            </a:r>
            <a:endParaRPr lang="en-US" sz="900" dirty="0"/>
          </a:p>
        </p:txBody>
      </p:sp>
      <p:sp>
        <p:nvSpPr>
          <p:cNvPr id="8" name="Title"/>
          <p:cNvSpPr/>
          <p:nvPr/>
        </p:nvSpPr>
        <p:spPr>
          <a:xfrm>
            <a:off x="761970" y="812810"/>
            <a:ext cx="6985010" cy="361920"/>
          </a:xfrm>
          <a:prstGeom prst="rect">
            <a:avLst/>
          </a:prstGeom>
          <a:noFill/>
          <a:ln/>
        </p:spPr>
        <p:txBody>
          <a:bodyPr wrap="square" lIns="0" tIns="0" rIns="0" bIns="0" rtlCol="0" anchor="t"/>
          <a:lstStyle/>
          <a:p>
            <a:pPr algn="l" indent="0" marL="0">
              <a:lnSpc>
                <a:spcPct val="100000"/>
              </a:lnSpc>
              <a:buNone/>
            </a:pPr>
            <a:r>
              <a:rPr lang="en-US" sz="2368" spc="-36" kern="0" dirty="0">
                <a:solidFill>
                  <a:srgbClr val="16181B"/>
                </a:solidFill>
                <a:latin typeface="Instrument Serif" pitchFamily="34" charset="0"/>
                <a:ea typeface="Instrument Serif" pitchFamily="34" charset="-122"/>
                <a:cs typeface="Instrument Serif" pitchFamily="34" charset="-120"/>
              </a:rPr>
              <a:t>The clinic app: on a laptop and a phone.</a:t>
            </a:r>
            <a:endParaRPr lang="en-US" sz="2368" dirty="0"/>
          </a:p>
        </p:txBody>
      </p:sp>
      <p:sp>
        <p:nvSpPr>
          <p:cNvPr id="9" name="Text 6"/>
          <p:cNvSpPr/>
          <p:nvPr/>
        </p:nvSpPr>
        <p:spPr>
          <a:xfrm>
            <a:off x="7937541" y="812810"/>
            <a:ext cx="3492459" cy="53337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25 routes in React. All 364 app screenshots go into the Design file, one frame each, labelled with their route. These twelve are the newest pass.</a:t>
            </a:r>
            <a:endParaRPr lang="en-US" sz="950" dirty="0"/>
          </a:p>
        </p:txBody>
      </p:sp>
      <p:sp>
        <p:nvSpPr>
          <p:cNvPr id="10" name="Shape 8"/>
          <p:cNvSpPr/>
          <p:nvPr/>
        </p:nvSpPr>
        <p:spPr>
          <a:xfrm>
            <a:off x="76197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11" name="Image 0" descr="App screens: app-upgrade-a-onboarding-390-390c">    </p:cNvPr>
          <p:cNvPicPr>
            <a:picLocks noChangeAspect="1"/>
          </p:cNvPicPr>
          <p:nvPr/>
        </p:nvPicPr>
        <p:blipFill>
          <a:blip r:embed="rId1"/>
          <a:stretch>
            <a:fillRect/>
          </a:stretch>
        </p:blipFill>
        <p:spPr>
          <a:xfrm>
            <a:off x="806409" y="1543050"/>
            <a:ext cx="1524030" cy="2146280"/>
          </a:xfrm>
          <a:prstGeom prst="rect">
            <a:avLst/>
          </a:prstGeom>
        </p:spPr>
      </p:pic>
      <p:sp>
        <p:nvSpPr>
          <p:cNvPr id="12" name="Text 9"/>
          <p:cNvSpPr/>
          <p:nvPr/>
        </p:nvSpPr>
        <p:spPr>
          <a:xfrm>
            <a:off x="76197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welcome</a:t>
            </a:r>
            <a:endParaRPr lang="en-US" sz="800" dirty="0"/>
          </a:p>
        </p:txBody>
      </p:sp>
      <p:sp>
        <p:nvSpPr>
          <p:cNvPr id="13" name="Shape 10"/>
          <p:cNvSpPr/>
          <p:nvPr/>
        </p:nvSpPr>
        <p:spPr>
          <a:xfrm>
            <a:off x="257175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14" name="Image 1" descr="App screens: app-upgrade-b-bottle-390-390c">    </p:cNvPr>
          <p:cNvPicPr>
            <a:picLocks noChangeAspect="1"/>
          </p:cNvPicPr>
          <p:nvPr/>
        </p:nvPicPr>
        <p:blipFill>
          <a:blip r:embed="rId2"/>
          <a:stretch>
            <a:fillRect/>
          </a:stretch>
        </p:blipFill>
        <p:spPr>
          <a:xfrm>
            <a:off x="2616190" y="1543050"/>
            <a:ext cx="1524030" cy="2146280"/>
          </a:xfrm>
          <a:prstGeom prst="rect">
            <a:avLst/>
          </a:prstGeom>
        </p:spPr>
      </p:pic>
      <p:sp>
        <p:nvSpPr>
          <p:cNvPr id="15" name="Text 12"/>
          <p:cNvSpPr/>
          <p:nvPr/>
        </p:nvSpPr>
        <p:spPr>
          <a:xfrm>
            <a:off x="257175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bottle</a:t>
            </a:r>
            <a:endParaRPr lang="en-US" sz="800" dirty="0"/>
          </a:p>
        </p:txBody>
      </p:sp>
      <p:sp>
        <p:nvSpPr>
          <p:cNvPr id="16" name="Shape 12"/>
          <p:cNvSpPr/>
          <p:nvPr/>
        </p:nvSpPr>
        <p:spPr>
          <a:xfrm>
            <a:off x="438153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17" name="Image 2" descr="App screens: app-upgrade-b-place-390-390c">    </p:cNvPr>
          <p:cNvPicPr>
            <a:picLocks noChangeAspect="1"/>
          </p:cNvPicPr>
          <p:nvPr/>
        </p:nvPicPr>
        <p:blipFill>
          <a:blip r:embed="rId3"/>
          <a:stretch>
            <a:fillRect/>
          </a:stretch>
        </p:blipFill>
        <p:spPr>
          <a:xfrm>
            <a:off x="4425970" y="1543050"/>
            <a:ext cx="1524030" cy="2146280"/>
          </a:xfrm>
          <a:prstGeom prst="rect">
            <a:avLst/>
          </a:prstGeom>
        </p:spPr>
      </p:pic>
      <p:sp>
        <p:nvSpPr>
          <p:cNvPr id="18" name="Text 15"/>
          <p:cNvSpPr/>
          <p:nvPr/>
        </p:nvSpPr>
        <p:spPr>
          <a:xfrm>
            <a:off x="438153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place</a:t>
            </a:r>
            <a:endParaRPr lang="en-US" sz="800" dirty="0"/>
          </a:p>
        </p:txBody>
      </p:sp>
      <p:sp>
        <p:nvSpPr>
          <p:cNvPr id="19" name="Shape 14"/>
          <p:cNvSpPr/>
          <p:nvPr/>
        </p:nvSpPr>
        <p:spPr>
          <a:xfrm>
            <a:off x="619122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0" name="Image 3" descr="App screens: app-upgrade-b-run-390-390c">    </p:cNvPr>
          <p:cNvPicPr>
            <a:picLocks noChangeAspect="1"/>
          </p:cNvPicPr>
          <p:nvPr/>
        </p:nvPicPr>
        <p:blipFill>
          <a:blip r:embed="rId4"/>
          <a:stretch>
            <a:fillRect/>
          </a:stretch>
        </p:blipFill>
        <p:spPr>
          <a:xfrm>
            <a:off x="6235659" y="1543050"/>
            <a:ext cx="1524030" cy="2146280"/>
          </a:xfrm>
          <a:prstGeom prst="rect">
            <a:avLst/>
          </a:prstGeom>
        </p:spPr>
      </p:pic>
      <p:sp>
        <p:nvSpPr>
          <p:cNvPr id="21" name="Text 18"/>
          <p:cNvSpPr/>
          <p:nvPr/>
        </p:nvSpPr>
        <p:spPr>
          <a:xfrm>
            <a:off x="619122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run</a:t>
            </a:r>
            <a:endParaRPr lang="en-US" sz="800" dirty="0"/>
          </a:p>
        </p:txBody>
      </p:sp>
      <p:sp>
        <p:nvSpPr>
          <p:cNvPr id="22" name="Shape 16"/>
          <p:cNvSpPr/>
          <p:nvPr/>
        </p:nvSpPr>
        <p:spPr>
          <a:xfrm>
            <a:off x="800100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3" name="Image 4" descr="App screens: app-upgrade-b-evaluation-pass-390-390c">    </p:cNvPr>
          <p:cNvPicPr>
            <a:picLocks noChangeAspect="1"/>
          </p:cNvPicPr>
          <p:nvPr/>
        </p:nvPicPr>
        <p:blipFill>
          <a:blip r:embed="rId5"/>
          <a:stretch>
            <a:fillRect/>
          </a:stretch>
        </p:blipFill>
        <p:spPr>
          <a:xfrm>
            <a:off x="8045440" y="1543050"/>
            <a:ext cx="1524030" cy="2146280"/>
          </a:xfrm>
          <a:prstGeom prst="rect">
            <a:avLst/>
          </a:prstGeom>
        </p:spPr>
      </p:pic>
      <p:sp>
        <p:nvSpPr>
          <p:cNvPr id="24" name="Text 21"/>
          <p:cNvSpPr/>
          <p:nvPr/>
        </p:nvSpPr>
        <p:spPr>
          <a:xfrm>
            <a:off x="800100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PASS</a:t>
            </a:r>
            <a:endParaRPr lang="en-US" sz="800" dirty="0"/>
          </a:p>
        </p:txBody>
      </p:sp>
      <p:sp>
        <p:nvSpPr>
          <p:cNvPr id="25" name="Shape 18"/>
          <p:cNvSpPr/>
          <p:nvPr/>
        </p:nvSpPr>
        <p:spPr>
          <a:xfrm>
            <a:off x="981078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6" name="Image 5" descr="App screens: app-upgrade-b-evaluation-needslab-390-390c">    </p:cNvPr>
          <p:cNvPicPr>
            <a:picLocks noChangeAspect="1"/>
          </p:cNvPicPr>
          <p:nvPr/>
        </p:nvPicPr>
        <p:blipFill>
          <a:blip r:embed="rId6"/>
          <a:stretch>
            <a:fillRect/>
          </a:stretch>
        </p:blipFill>
        <p:spPr>
          <a:xfrm>
            <a:off x="9855220" y="1543050"/>
            <a:ext cx="1524030" cy="2146280"/>
          </a:xfrm>
          <a:prstGeom prst="rect">
            <a:avLst/>
          </a:prstGeom>
        </p:spPr>
      </p:pic>
      <p:sp>
        <p:nvSpPr>
          <p:cNvPr id="27" name="Text 24"/>
          <p:cNvSpPr/>
          <p:nvPr/>
        </p:nvSpPr>
        <p:spPr>
          <a:xfrm>
            <a:off x="981078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NEEDS LAB</a:t>
            </a:r>
            <a:endParaRPr lang="en-US" sz="800" dirty="0"/>
          </a:p>
        </p:txBody>
      </p:sp>
      <p:sp>
        <p:nvSpPr>
          <p:cNvPr id="28" name="Shape 20"/>
          <p:cNvSpPr/>
          <p:nvPr/>
        </p:nvSpPr>
        <p:spPr>
          <a:xfrm>
            <a:off x="76197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9" name="Image 6" descr="App screens: app-upgrade-b-delivery-held-policy-390-390c">    </p:cNvPr>
          <p:cNvPicPr>
            <a:picLocks noChangeAspect="1"/>
          </p:cNvPicPr>
          <p:nvPr/>
        </p:nvPicPr>
        <p:blipFill>
          <a:blip r:embed="rId7"/>
          <a:stretch>
            <a:fillRect/>
          </a:stretch>
        </p:blipFill>
        <p:spPr>
          <a:xfrm>
            <a:off x="806409" y="4146530"/>
            <a:ext cx="1524030" cy="2146280"/>
          </a:xfrm>
          <a:prstGeom prst="rect">
            <a:avLst/>
          </a:prstGeom>
        </p:spPr>
      </p:pic>
      <p:sp>
        <p:nvSpPr>
          <p:cNvPr id="30" name="Text 27"/>
          <p:cNvSpPr/>
          <p:nvPr/>
        </p:nvSpPr>
        <p:spPr>
          <a:xfrm>
            <a:off x="76197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held · P2</a:t>
            </a:r>
            <a:endParaRPr lang="en-US" sz="800" dirty="0"/>
          </a:p>
        </p:txBody>
      </p:sp>
      <p:sp>
        <p:nvSpPr>
          <p:cNvPr id="31" name="Shape 22"/>
          <p:cNvSpPr/>
          <p:nvPr/>
        </p:nvSpPr>
        <p:spPr>
          <a:xfrm>
            <a:off x="257175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2" name="Image 7" descr="App screens: app-upgrade-b-delivery-released-390-390c">    </p:cNvPr>
          <p:cNvPicPr>
            <a:picLocks noChangeAspect="1"/>
          </p:cNvPicPr>
          <p:nvPr/>
        </p:nvPicPr>
        <p:blipFill>
          <a:blip r:embed="rId8"/>
          <a:stretch>
            <a:fillRect/>
          </a:stretch>
        </p:blipFill>
        <p:spPr>
          <a:xfrm>
            <a:off x="2616190" y="4146530"/>
            <a:ext cx="1524030" cy="2146280"/>
          </a:xfrm>
          <a:prstGeom prst="rect">
            <a:avLst/>
          </a:prstGeom>
        </p:spPr>
      </p:pic>
      <p:sp>
        <p:nvSpPr>
          <p:cNvPr id="33" name="Text 30"/>
          <p:cNvSpPr/>
          <p:nvPr/>
        </p:nvSpPr>
        <p:spPr>
          <a:xfrm>
            <a:off x="257175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released</a:t>
            </a:r>
            <a:endParaRPr lang="en-US" sz="800" dirty="0"/>
          </a:p>
        </p:txBody>
      </p:sp>
      <p:sp>
        <p:nvSpPr>
          <p:cNvPr id="34" name="Shape 24"/>
          <p:cNvSpPr/>
          <p:nvPr/>
        </p:nvSpPr>
        <p:spPr>
          <a:xfrm>
            <a:off x="438153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5" name="Image 8" descr="App screens: app-upgrade-b-verify-390-390c">    </p:cNvPr>
          <p:cNvPicPr>
            <a:picLocks noChangeAspect="1"/>
          </p:cNvPicPr>
          <p:nvPr/>
        </p:nvPicPr>
        <p:blipFill>
          <a:blip r:embed="rId9"/>
          <a:stretch>
            <a:fillRect/>
          </a:stretch>
        </p:blipFill>
        <p:spPr>
          <a:xfrm>
            <a:off x="4425970" y="4146530"/>
            <a:ext cx="1524030" cy="2146280"/>
          </a:xfrm>
          <a:prstGeom prst="rect">
            <a:avLst/>
          </a:prstGeom>
        </p:spPr>
      </p:pic>
      <p:sp>
        <p:nvSpPr>
          <p:cNvPr id="36" name="Text 33"/>
          <p:cNvSpPr/>
          <p:nvPr/>
        </p:nvSpPr>
        <p:spPr>
          <a:xfrm>
            <a:off x="438153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/verify · x402</a:t>
            </a:r>
            <a:endParaRPr lang="en-US" sz="800" dirty="0"/>
          </a:p>
        </p:txBody>
      </p:sp>
      <p:sp>
        <p:nvSpPr>
          <p:cNvPr id="37" name="Shape 26"/>
          <p:cNvSpPr/>
          <p:nvPr/>
        </p:nvSpPr>
        <p:spPr>
          <a:xfrm>
            <a:off x="619122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8" name="Image 9" descr="App screens: app-upgrade-a-home-390-390c">    </p:cNvPr>
          <p:cNvPicPr>
            <a:picLocks noChangeAspect="1"/>
          </p:cNvPicPr>
          <p:nvPr/>
        </p:nvPicPr>
        <p:blipFill>
          <a:blip r:embed="rId10"/>
          <a:stretch>
            <a:fillRect/>
          </a:stretch>
        </p:blipFill>
        <p:spPr>
          <a:xfrm>
            <a:off x="6235659" y="4146530"/>
            <a:ext cx="1524030" cy="2146280"/>
          </a:xfrm>
          <a:prstGeom prst="rect">
            <a:avLst/>
          </a:prstGeom>
        </p:spPr>
      </p:pic>
      <p:sp>
        <p:nvSpPr>
          <p:cNvPr id="39" name="Text 36"/>
          <p:cNvSpPr/>
          <p:nvPr/>
        </p:nvSpPr>
        <p:spPr>
          <a:xfrm>
            <a:off x="619122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home</a:t>
            </a:r>
            <a:endParaRPr lang="en-US" sz="800" dirty="0"/>
          </a:p>
        </p:txBody>
      </p:sp>
      <p:sp>
        <p:nvSpPr>
          <p:cNvPr id="40" name="Shape 28"/>
          <p:cNvSpPr/>
          <p:nvPr/>
        </p:nvSpPr>
        <p:spPr>
          <a:xfrm>
            <a:off x="800100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1" name="Image 10" descr="App screens: app-upgrade-a-medicines-390-390c">    </p:cNvPr>
          <p:cNvPicPr>
            <a:picLocks noChangeAspect="1"/>
          </p:cNvPicPr>
          <p:nvPr/>
        </p:nvPicPr>
        <p:blipFill>
          <a:blip r:embed="rId11"/>
          <a:stretch>
            <a:fillRect/>
          </a:stretch>
        </p:blipFill>
        <p:spPr>
          <a:xfrm>
            <a:off x="8045440" y="4146530"/>
            <a:ext cx="1524030" cy="2146280"/>
          </a:xfrm>
          <a:prstGeom prst="rect">
            <a:avLst/>
          </a:prstGeom>
        </p:spPr>
      </p:pic>
      <p:sp>
        <p:nvSpPr>
          <p:cNvPr id="42" name="Text 39"/>
          <p:cNvSpPr/>
          <p:nvPr/>
        </p:nvSpPr>
        <p:spPr>
          <a:xfrm>
            <a:off x="800100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medicines</a:t>
            </a:r>
            <a:endParaRPr lang="en-US" sz="800" dirty="0"/>
          </a:p>
        </p:txBody>
      </p:sp>
      <p:sp>
        <p:nvSpPr>
          <p:cNvPr id="43" name="Shape 30"/>
          <p:cNvSpPr/>
          <p:nvPr/>
        </p:nvSpPr>
        <p:spPr>
          <a:xfrm>
            <a:off x="981078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4" name="Image 11" descr="App screens: app-upgrade-b-ask-390-390c">    </p:cNvPr>
          <p:cNvPicPr>
            <a:picLocks noChangeAspect="1"/>
          </p:cNvPicPr>
          <p:nvPr/>
        </p:nvPicPr>
        <p:blipFill>
          <a:blip r:embed="rId12"/>
          <a:stretch>
            <a:fillRect/>
          </a:stretch>
        </p:blipFill>
        <p:spPr>
          <a:xfrm>
            <a:off x="9855220" y="4146530"/>
            <a:ext cx="1524030" cy="2146280"/>
          </a:xfrm>
          <a:prstGeom prst="rect">
            <a:avLst/>
          </a:prstGeom>
        </p:spPr>
      </p:pic>
      <p:sp>
        <p:nvSpPr>
          <p:cNvPr id="45" name="Text 42"/>
          <p:cNvSpPr/>
          <p:nvPr/>
        </p:nvSpPr>
        <p:spPr>
          <a:xfrm>
            <a:off x="981078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ask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CLINIC APP, PHASE BY PHASE</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11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812810"/>
            <a:ext cx="6349959" cy="431780"/>
          </a:xfrm>
          <a:prstGeom prst="rect">
            <a:avLst/>
          </a:prstGeom>
          <a:noFill/>
          <a:ln/>
        </p:spPr>
        <p:txBody>
          <a:bodyPr wrap="square" lIns="0" tIns="0" rIns="0" bIns="0" rtlCol="0" anchor="t"/>
          <a:lstStyle/>
          <a:p>
            <a:pPr algn="l" indent="0" marL="0">
              <a:lnSpc>
                <a:spcPct val="100000"/>
              </a:lnSpc>
              <a:buNone/>
            </a:pPr>
            <a:r>
              <a:rPr lang="en-US" sz="2808" spc="-42" kern="0" dirty="0">
                <a:solidFill>
                  <a:srgbClr val="16181B"/>
                </a:solidFill>
                <a:latin typeface="Instrument Serif" pitchFamily="34" charset="0"/>
                <a:ea typeface="Instrument Serif" pitchFamily="34" charset="-122"/>
                <a:cs typeface="Instrument Serif" pitchFamily="34" charset="-120"/>
              </a:rPr>
              <a:t>Six phases, one run.</a:t>
            </a:r>
            <a:endParaRPr lang="en-US" sz="2808" dirty="0"/>
          </a:p>
        </p:txBody>
      </p:sp>
      <p:sp>
        <p:nvSpPr>
          <p:cNvPr id="11" name="Text 8"/>
          <p:cNvSpPr/>
          <p:nvPr/>
        </p:nvSpPr>
        <p:spPr>
          <a:xfrm>
            <a:off x="7492959" y="838230"/>
            <a:ext cx="3937041" cy="53337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The clinic app’s run, live against its simulated station. Each phase has its own time, its own look and its own check; a failed check stops the run and says why.</a:t>
            </a:r>
            <a:endParaRPr lang="en-US" sz="950" dirty="0"/>
          </a:p>
        </p:txBody>
      </p:sp>
      <p:sp>
        <p:nvSpPr>
          <p:cNvPr id="12" name="Shape 10"/>
          <p:cNvSpPr/>
          <p:nvPr/>
        </p:nvSpPr>
        <p:spPr>
          <a:xfrm>
            <a:off x="838230" y="1885950"/>
            <a:ext cx="8966241" cy="12710"/>
          </a:xfrm>
          <a:prstGeom prst="rect">
            <a:avLst/>
          </a:prstGeom>
          <a:solidFill>
            <a:srgbClr val="16181B">
              <a:alpha val="18000"/>
            </a:srgbClr>
          </a:solidFill>
          <a:ln/>
        </p:spPr>
      </p:sp>
      <p:sp>
        <p:nvSpPr>
          <p:cNvPr id="13" name="Shape 11"/>
          <p:cNvSpPr/>
          <p:nvPr/>
        </p:nvSpPr>
        <p:spPr>
          <a:xfrm>
            <a:off x="761970" y="1816090"/>
            <a:ext cx="152430" cy="152430"/>
          </a:xfrm>
          <a:prstGeom prst="ellipse">
            <a:avLst/>
          </a:prstGeom>
          <a:solidFill>
            <a:srgbClr val="0E1216"/>
          </a:solidFill>
          <a:ln w="25400">
            <a:solidFill>
              <a:srgbClr val="FFFFFF"/>
            </a:solidFill>
            <a:prstDash val="solid"/>
          </a:ln>
        </p:spPr>
      </p:sp>
      <p:sp>
        <p:nvSpPr>
          <p:cNvPr id="14" name="Text 11"/>
          <p:cNvSpPr/>
          <p:nvPr/>
        </p:nvSpPr>
        <p:spPr>
          <a:xfrm>
            <a:off x="101599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01</a:t>
            </a:r>
            <a:endParaRPr lang="en-US" sz="850" dirty="0"/>
          </a:p>
        </p:txBody>
      </p:sp>
      <p:sp>
        <p:nvSpPr>
          <p:cNvPr id="15" name="Text 12"/>
          <p:cNvSpPr/>
          <p:nvPr/>
        </p:nvSpPr>
        <p:spPr>
          <a:xfrm>
            <a:off x="76197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Lights off</a:t>
            </a:r>
            <a:endParaRPr lang="en-US" sz="1350" dirty="0"/>
          </a:p>
        </p:txBody>
      </p:sp>
      <p:sp>
        <p:nvSpPr>
          <p:cNvPr id="16" name="Shape 14"/>
          <p:cNvSpPr/>
          <p:nvPr/>
        </p:nvSpPr>
        <p:spPr>
          <a:xfrm>
            <a:off x="761970" y="2400300"/>
            <a:ext cx="425470" cy="203180"/>
          </a:xfrm>
          <a:prstGeom prst="roundRect">
            <a:avLst>
              <a:gd name="adj" fmla="val 50000"/>
            </a:avLst>
          </a:prstGeom>
          <a:solidFill>
            <a:srgbClr val="9AA0A6">
              <a:alpha val="18000"/>
            </a:srgbClr>
          </a:solidFill>
          <a:ln/>
        </p:spPr>
      </p:sp>
      <p:sp>
        <p:nvSpPr>
          <p:cNvPr id="17" name="Text 14"/>
          <p:cNvSpPr/>
          <p:nvPr/>
        </p:nvSpPr>
        <p:spPr>
          <a:xfrm>
            <a:off x="761970" y="2440899"/>
            <a:ext cx="42547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3 s</a:t>
            </a:r>
            <a:endParaRPr lang="en-US" sz="800" dirty="0"/>
          </a:p>
        </p:txBody>
      </p:sp>
      <p:sp>
        <p:nvSpPr>
          <p:cNvPr id="18" name="Text 15"/>
          <p:cNvSpPr/>
          <p:nvPr/>
        </p:nvSpPr>
        <p:spPr>
          <a:xfrm>
            <a:off x="761970" y="2717780"/>
            <a:ext cx="1625620" cy="62865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LEDs off. The box must read dark; a light leak means the lid is open, and the run stops.</a:t>
            </a:r>
            <a:endParaRPr lang="en-US" sz="850" dirty="0"/>
          </a:p>
        </p:txBody>
      </p:sp>
      <p:sp>
        <p:nvSpPr>
          <p:cNvPr id="19" name="Shape 17"/>
          <p:cNvSpPr/>
          <p:nvPr/>
        </p:nvSpPr>
        <p:spPr>
          <a:xfrm>
            <a:off x="76197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0" name="Image 0" descr="Six phases: app-phases-02-dark-390-320c">    </p:cNvPr>
          <p:cNvPicPr>
            <a:picLocks noChangeAspect="1"/>
          </p:cNvPicPr>
          <p:nvPr/>
        </p:nvPicPr>
        <p:blipFill>
          <a:blip r:embed="rId1"/>
          <a:stretch>
            <a:fillRect/>
          </a:stretch>
        </p:blipFill>
        <p:spPr>
          <a:xfrm>
            <a:off x="800100" y="3467130"/>
            <a:ext cx="1384310" cy="2527310"/>
          </a:xfrm>
          <a:prstGeom prst="rect">
            <a:avLst/>
          </a:prstGeom>
        </p:spPr>
      </p:pic>
      <p:sp>
        <p:nvSpPr>
          <p:cNvPr id="21" name="Shape 18"/>
          <p:cNvSpPr/>
          <p:nvPr/>
        </p:nvSpPr>
        <p:spPr>
          <a:xfrm>
            <a:off x="2540020" y="1816090"/>
            <a:ext cx="152430" cy="152430"/>
          </a:xfrm>
          <a:prstGeom prst="ellipse">
            <a:avLst/>
          </a:prstGeom>
          <a:solidFill>
            <a:srgbClr val="4FB3FF"/>
          </a:solidFill>
          <a:ln w="25400">
            <a:solidFill>
              <a:srgbClr val="FFFFFF"/>
            </a:solidFill>
            <a:prstDash val="solid"/>
          </a:ln>
        </p:spPr>
      </p:sp>
      <p:sp>
        <p:nvSpPr>
          <p:cNvPr id="22" name="Text 19"/>
          <p:cNvSpPr/>
          <p:nvPr/>
        </p:nvSpPr>
        <p:spPr>
          <a:xfrm>
            <a:off x="2794041"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02</a:t>
            </a:r>
            <a:endParaRPr lang="en-US" sz="850" dirty="0"/>
          </a:p>
        </p:txBody>
      </p:sp>
      <p:sp>
        <p:nvSpPr>
          <p:cNvPr id="23" name="Text 20"/>
          <p:cNvSpPr/>
          <p:nvPr/>
        </p:nvSpPr>
        <p:spPr>
          <a:xfrm>
            <a:off x="254002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Clear water</a:t>
            </a:r>
            <a:endParaRPr lang="en-US" sz="1350" dirty="0"/>
          </a:p>
        </p:txBody>
      </p:sp>
      <p:sp>
        <p:nvSpPr>
          <p:cNvPr id="24" name="Shape 21"/>
          <p:cNvSpPr/>
          <p:nvPr/>
        </p:nvSpPr>
        <p:spPr>
          <a:xfrm>
            <a:off x="2540020" y="2400300"/>
            <a:ext cx="488930" cy="203180"/>
          </a:xfrm>
          <a:prstGeom prst="roundRect">
            <a:avLst>
              <a:gd name="adj" fmla="val 50000"/>
            </a:avLst>
          </a:prstGeom>
          <a:solidFill>
            <a:srgbClr val="4FB3FF">
              <a:alpha val="14000"/>
            </a:srgbClr>
          </a:solidFill>
          <a:ln/>
        </p:spPr>
      </p:sp>
      <p:sp>
        <p:nvSpPr>
          <p:cNvPr id="25" name="Text 22"/>
          <p:cNvSpPr/>
          <p:nvPr/>
        </p:nvSpPr>
        <p:spPr>
          <a:xfrm>
            <a:off x="2540020" y="2440899"/>
            <a:ext cx="48893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10 s</a:t>
            </a:r>
            <a:endParaRPr lang="en-US" sz="800" dirty="0"/>
          </a:p>
        </p:txBody>
      </p:sp>
      <p:sp>
        <p:nvSpPr>
          <p:cNvPr id="26" name="Text 23"/>
          <p:cNvSpPr/>
          <p:nvPr/>
        </p:nvSpPr>
        <p:spPr>
          <a:xfrm>
            <a:off x="2540020" y="2717780"/>
            <a:ext cx="162562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Plain water. The blank must hold steady (CV under 2 %) or it retries, up to 3 times.</a:t>
            </a:r>
            <a:endParaRPr lang="en-US" sz="850" dirty="0"/>
          </a:p>
        </p:txBody>
      </p:sp>
      <p:sp>
        <p:nvSpPr>
          <p:cNvPr id="27" name="Shape 24"/>
          <p:cNvSpPr/>
          <p:nvPr/>
        </p:nvSpPr>
        <p:spPr>
          <a:xfrm>
            <a:off x="254002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8" name="Image 1" descr="Six phases: app-phases-03-water-390-320c">    </p:cNvPr>
          <p:cNvPicPr>
            <a:picLocks noChangeAspect="1"/>
          </p:cNvPicPr>
          <p:nvPr/>
        </p:nvPicPr>
        <p:blipFill>
          <a:blip r:embed="rId2"/>
          <a:stretch>
            <a:fillRect/>
          </a:stretch>
        </p:blipFill>
        <p:spPr>
          <a:xfrm>
            <a:off x="2578059" y="3467130"/>
            <a:ext cx="1384310" cy="2527310"/>
          </a:xfrm>
          <a:prstGeom prst="rect">
            <a:avLst/>
          </a:prstGeom>
        </p:spPr>
      </p:pic>
      <p:sp>
        <p:nvSpPr>
          <p:cNvPr id="29" name="Shape 25"/>
          <p:cNvSpPr/>
          <p:nvPr/>
        </p:nvSpPr>
        <p:spPr>
          <a:xfrm>
            <a:off x="4317980" y="1816090"/>
            <a:ext cx="152430" cy="152430"/>
          </a:xfrm>
          <a:prstGeom prst="ellipse">
            <a:avLst/>
          </a:prstGeom>
          <a:solidFill>
            <a:srgbClr val="7A5CFF"/>
          </a:solidFill>
          <a:ln w="25400">
            <a:solidFill>
              <a:srgbClr val="FFFFFF"/>
            </a:solidFill>
            <a:prstDash val="solid"/>
          </a:ln>
        </p:spPr>
      </p:sp>
      <p:sp>
        <p:nvSpPr>
          <p:cNvPr id="30" name="Text 27"/>
          <p:cNvSpPr/>
          <p:nvPr/>
        </p:nvSpPr>
        <p:spPr>
          <a:xfrm>
            <a:off x="457200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03</a:t>
            </a:r>
            <a:endParaRPr lang="en-US" sz="850" dirty="0"/>
          </a:p>
        </p:txBody>
      </p:sp>
      <p:sp>
        <p:nvSpPr>
          <p:cNvPr id="31" name="Text 28"/>
          <p:cNvSpPr/>
          <p:nvPr/>
        </p:nvSpPr>
        <p:spPr>
          <a:xfrm>
            <a:off x="431798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Drop the tablet</a:t>
            </a:r>
            <a:endParaRPr lang="en-US" sz="1350" dirty="0"/>
          </a:p>
        </p:txBody>
      </p:sp>
      <p:sp>
        <p:nvSpPr>
          <p:cNvPr id="32" name="Shape 28"/>
          <p:cNvSpPr/>
          <p:nvPr/>
        </p:nvSpPr>
        <p:spPr>
          <a:xfrm>
            <a:off x="4317980" y="2400300"/>
            <a:ext cx="628650" cy="203180"/>
          </a:xfrm>
          <a:prstGeom prst="roundRect">
            <a:avLst>
              <a:gd name="adj" fmla="val 50000"/>
            </a:avLst>
          </a:prstGeom>
          <a:solidFill>
            <a:srgbClr val="7A5CFF">
              <a:alpha val="10000"/>
            </a:srgbClr>
          </a:solidFill>
          <a:ln/>
        </p:spPr>
      </p:sp>
      <p:sp>
        <p:nvSpPr>
          <p:cNvPr id="33" name="Text 30"/>
          <p:cNvSpPr/>
          <p:nvPr/>
        </p:nvSpPr>
        <p:spPr>
          <a:xfrm>
            <a:off x="4317980" y="2440899"/>
            <a:ext cx="62865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 30 s</a:t>
            </a:r>
            <a:endParaRPr lang="en-US" sz="800" dirty="0"/>
          </a:p>
        </p:txBody>
      </p:sp>
      <p:sp>
        <p:nvSpPr>
          <p:cNvPr id="34" name="Text 31"/>
          <p:cNvSpPr/>
          <p:nvPr/>
        </p:nvSpPr>
        <p:spPr>
          <a:xfrm>
            <a:off x="4317980" y="2717780"/>
            <a:ext cx="162562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It waits for the inline reading to fall 6 %. After 30 s the screen prompts.</a:t>
            </a:r>
            <a:endParaRPr lang="en-US" sz="850" dirty="0"/>
          </a:p>
        </p:txBody>
      </p:sp>
      <p:sp>
        <p:nvSpPr>
          <p:cNvPr id="35" name="Shape 31"/>
          <p:cNvSpPr/>
          <p:nvPr/>
        </p:nvSpPr>
        <p:spPr>
          <a:xfrm>
            <a:off x="431798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6" name="Image 2" descr="Six phases: app-phases-04-drop-390-320c">    </p:cNvPr>
          <p:cNvPicPr>
            <a:picLocks noChangeAspect="1"/>
          </p:cNvPicPr>
          <p:nvPr/>
        </p:nvPicPr>
        <p:blipFill>
          <a:blip r:embed="rId3"/>
          <a:stretch>
            <a:fillRect/>
          </a:stretch>
        </p:blipFill>
        <p:spPr>
          <a:xfrm>
            <a:off x="4356110" y="3467130"/>
            <a:ext cx="1384310" cy="2527310"/>
          </a:xfrm>
          <a:prstGeom prst="rect">
            <a:avLst/>
          </a:prstGeom>
        </p:spPr>
      </p:pic>
      <p:sp>
        <p:nvSpPr>
          <p:cNvPr id="37" name="Shape 32"/>
          <p:cNvSpPr/>
          <p:nvPr/>
        </p:nvSpPr>
        <p:spPr>
          <a:xfrm>
            <a:off x="6096030" y="1816090"/>
            <a:ext cx="152430" cy="152430"/>
          </a:xfrm>
          <a:prstGeom prst="ellipse">
            <a:avLst/>
          </a:prstGeom>
          <a:solidFill>
            <a:srgbClr val="2A8FE0"/>
          </a:solidFill>
          <a:ln w="25400">
            <a:solidFill>
              <a:srgbClr val="FFFFFF"/>
            </a:solidFill>
            <a:prstDash val="solid"/>
          </a:ln>
        </p:spPr>
      </p:sp>
      <p:sp>
        <p:nvSpPr>
          <p:cNvPr id="38" name="Text 35"/>
          <p:cNvSpPr/>
          <p:nvPr/>
        </p:nvSpPr>
        <p:spPr>
          <a:xfrm>
            <a:off x="6349959"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04</a:t>
            </a:r>
            <a:endParaRPr lang="en-US" sz="850" dirty="0"/>
          </a:p>
        </p:txBody>
      </p:sp>
      <p:sp>
        <p:nvSpPr>
          <p:cNvPr id="39" name="Text 36"/>
          <p:cNvSpPr/>
          <p:nvPr/>
        </p:nvSpPr>
        <p:spPr>
          <a:xfrm>
            <a:off x="609603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Dissolving</a:t>
            </a:r>
            <a:endParaRPr lang="en-US" sz="1350" dirty="0"/>
          </a:p>
        </p:txBody>
      </p:sp>
      <p:sp>
        <p:nvSpPr>
          <p:cNvPr id="40" name="Shape 35"/>
          <p:cNvSpPr/>
          <p:nvPr/>
        </p:nvSpPr>
        <p:spPr>
          <a:xfrm>
            <a:off x="6096030" y="2400300"/>
            <a:ext cx="692109" cy="203180"/>
          </a:xfrm>
          <a:prstGeom prst="roundRect">
            <a:avLst>
              <a:gd name="adj" fmla="val 50000"/>
            </a:avLst>
          </a:prstGeom>
          <a:solidFill>
            <a:srgbClr val="4FB3FF">
              <a:alpha val="14000"/>
            </a:srgbClr>
          </a:solidFill>
          <a:ln/>
        </p:spPr>
      </p:sp>
      <p:sp>
        <p:nvSpPr>
          <p:cNvPr id="41" name="Text 38"/>
          <p:cNvSpPr/>
          <p:nvPr/>
        </p:nvSpPr>
        <p:spPr>
          <a:xfrm>
            <a:off x="6096030" y="2440899"/>
            <a:ext cx="692109"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1–2 min</a:t>
            </a:r>
            <a:endParaRPr lang="en-US" sz="800" dirty="0"/>
          </a:p>
        </p:txBody>
      </p:sp>
      <p:sp>
        <p:nvSpPr>
          <p:cNvPr id="42" name="Text 39"/>
          <p:cNvSpPr/>
          <p:nvPr/>
        </p:nvSpPr>
        <p:spPr>
          <a:xfrm>
            <a:off x="6096030" y="2717780"/>
            <a:ext cx="1625620" cy="62865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The pill fills, the curve falls, the 90° channel rises. Flat at 90° while blue falls: the amber moment.</a:t>
            </a:r>
            <a:endParaRPr lang="en-US" sz="850" dirty="0"/>
          </a:p>
        </p:txBody>
      </p:sp>
      <p:sp>
        <p:nvSpPr>
          <p:cNvPr id="43" name="Shape 38"/>
          <p:cNvSpPr/>
          <p:nvPr/>
        </p:nvSpPr>
        <p:spPr>
          <a:xfrm>
            <a:off x="609603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4" name="Image 3" descr="Six phases: app-phases-05-dissolving-390-320c">    </p:cNvPr>
          <p:cNvPicPr>
            <a:picLocks noChangeAspect="1"/>
          </p:cNvPicPr>
          <p:nvPr/>
        </p:nvPicPr>
        <p:blipFill>
          <a:blip r:embed="rId4"/>
          <a:stretch>
            <a:fillRect/>
          </a:stretch>
        </p:blipFill>
        <p:spPr>
          <a:xfrm>
            <a:off x="6134070" y="3467130"/>
            <a:ext cx="1384310" cy="2527310"/>
          </a:xfrm>
          <a:prstGeom prst="rect">
            <a:avLst/>
          </a:prstGeom>
        </p:spPr>
      </p:pic>
      <p:sp>
        <p:nvSpPr>
          <p:cNvPr id="45" name="Shape 39"/>
          <p:cNvSpPr/>
          <p:nvPr/>
        </p:nvSpPr>
        <p:spPr>
          <a:xfrm>
            <a:off x="7873990" y="1816090"/>
            <a:ext cx="152430" cy="152430"/>
          </a:xfrm>
          <a:prstGeom prst="ellipse">
            <a:avLst/>
          </a:prstGeom>
          <a:solidFill>
            <a:srgbClr val="9AA0A6"/>
          </a:solidFill>
          <a:ln w="25400">
            <a:solidFill>
              <a:srgbClr val="FFFFFF"/>
            </a:solidFill>
            <a:prstDash val="solid"/>
          </a:ln>
        </p:spPr>
      </p:sp>
      <p:sp>
        <p:nvSpPr>
          <p:cNvPr id="46" name="Text 43"/>
          <p:cNvSpPr/>
          <p:nvPr/>
        </p:nvSpPr>
        <p:spPr>
          <a:xfrm>
            <a:off x="812801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05</a:t>
            </a:r>
            <a:endParaRPr lang="en-US" sz="850" dirty="0"/>
          </a:p>
        </p:txBody>
      </p:sp>
      <p:sp>
        <p:nvSpPr>
          <p:cNvPr id="47" name="Text 44"/>
          <p:cNvSpPr/>
          <p:nvPr/>
        </p:nvSpPr>
        <p:spPr>
          <a:xfrm>
            <a:off x="787399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Settling</a:t>
            </a:r>
            <a:endParaRPr lang="en-US" sz="1350" dirty="0"/>
          </a:p>
        </p:txBody>
      </p:sp>
      <p:sp>
        <p:nvSpPr>
          <p:cNvPr id="48" name="Shape 42"/>
          <p:cNvSpPr/>
          <p:nvPr/>
        </p:nvSpPr>
        <p:spPr>
          <a:xfrm>
            <a:off x="7873990" y="2400300"/>
            <a:ext cx="958840" cy="203180"/>
          </a:xfrm>
          <a:prstGeom prst="roundRect">
            <a:avLst>
              <a:gd name="adj" fmla="val 50000"/>
            </a:avLst>
          </a:prstGeom>
          <a:solidFill>
            <a:srgbClr val="9AA0A6">
              <a:alpha val="18000"/>
            </a:srgbClr>
          </a:solidFill>
          <a:ln/>
        </p:spPr>
      </p:sp>
      <p:sp>
        <p:nvSpPr>
          <p:cNvPr id="49" name="Text 46"/>
          <p:cNvSpPr/>
          <p:nvPr/>
        </p:nvSpPr>
        <p:spPr>
          <a:xfrm>
            <a:off x="7873990" y="2440899"/>
            <a:ext cx="95884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20 s window</a:t>
            </a:r>
            <a:endParaRPr lang="en-US" sz="800" dirty="0"/>
          </a:p>
        </p:txBody>
      </p:sp>
      <p:sp>
        <p:nvSpPr>
          <p:cNvPr id="50" name="Text 47"/>
          <p:cNvSpPr/>
          <p:nvPr/>
        </p:nvSpPr>
        <p:spPr>
          <a:xfrm>
            <a:off x="7873990" y="2717780"/>
            <a:ext cx="162562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Flat for 20 s (|dA/dt| &lt; ε) means plateau. No plateau by 180 s: timeout.</a:t>
            </a:r>
            <a:endParaRPr lang="en-US" sz="850" dirty="0"/>
          </a:p>
        </p:txBody>
      </p:sp>
      <p:sp>
        <p:nvSpPr>
          <p:cNvPr id="51" name="Shape 45"/>
          <p:cNvSpPr/>
          <p:nvPr/>
        </p:nvSpPr>
        <p:spPr>
          <a:xfrm>
            <a:off x="787399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52" name="Image 4" descr="Six phases: app-phases-06-settling-390-320c">    </p:cNvPr>
          <p:cNvPicPr>
            <a:picLocks noChangeAspect="1"/>
          </p:cNvPicPr>
          <p:nvPr/>
        </p:nvPicPr>
        <p:blipFill>
          <a:blip r:embed="rId5"/>
          <a:stretch>
            <a:fillRect/>
          </a:stretch>
        </p:blipFill>
        <p:spPr>
          <a:xfrm>
            <a:off x="7912120" y="3467130"/>
            <a:ext cx="1384310" cy="2527310"/>
          </a:xfrm>
          <a:prstGeom prst="rect">
            <a:avLst/>
          </a:prstGeom>
        </p:spPr>
      </p:pic>
      <p:sp>
        <p:nvSpPr>
          <p:cNvPr id="53" name="Shape 46"/>
          <p:cNvSpPr/>
          <p:nvPr/>
        </p:nvSpPr>
        <p:spPr>
          <a:xfrm>
            <a:off x="9652041" y="1816090"/>
            <a:ext cx="152430" cy="152430"/>
          </a:xfrm>
          <a:prstGeom prst="ellipse">
            <a:avLst/>
          </a:prstGeom>
          <a:solidFill>
            <a:srgbClr val="5FD39A"/>
          </a:solidFill>
          <a:ln w="25400">
            <a:solidFill>
              <a:srgbClr val="FFFFFF"/>
            </a:solidFill>
            <a:prstDash val="solid"/>
          </a:ln>
        </p:spPr>
      </p:sp>
      <p:sp>
        <p:nvSpPr>
          <p:cNvPr id="54" name="Text 51"/>
          <p:cNvSpPr/>
          <p:nvPr/>
        </p:nvSpPr>
        <p:spPr>
          <a:xfrm>
            <a:off x="990597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06</a:t>
            </a:r>
            <a:endParaRPr lang="en-US" sz="850" dirty="0"/>
          </a:p>
        </p:txBody>
      </p:sp>
      <p:sp>
        <p:nvSpPr>
          <p:cNvPr id="55" name="Text 52"/>
          <p:cNvSpPr/>
          <p:nvPr/>
        </p:nvSpPr>
        <p:spPr>
          <a:xfrm>
            <a:off x="9652041"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Verdict</a:t>
            </a:r>
            <a:endParaRPr lang="en-US" sz="1350" dirty="0"/>
          </a:p>
        </p:txBody>
      </p:sp>
      <p:sp>
        <p:nvSpPr>
          <p:cNvPr id="56" name="Shape 49"/>
          <p:cNvSpPr/>
          <p:nvPr/>
        </p:nvSpPr>
        <p:spPr>
          <a:xfrm>
            <a:off x="9652041" y="2400300"/>
            <a:ext cx="692109" cy="203180"/>
          </a:xfrm>
          <a:prstGeom prst="roundRect">
            <a:avLst>
              <a:gd name="adj" fmla="val 50000"/>
            </a:avLst>
          </a:prstGeom>
          <a:solidFill>
            <a:srgbClr val="5FD39A">
              <a:alpha val="16000"/>
            </a:srgbClr>
          </a:solidFill>
          <a:ln/>
        </p:spPr>
      </p:sp>
      <p:sp>
        <p:nvSpPr>
          <p:cNvPr id="57" name="Text 54"/>
          <p:cNvSpPr/>
          <p:nvPr/>
        </p:nvSpPr>
        <p:spPr>
          <a:xfrm>
            <a:off x="9652041" y="2440899"/>
            <a:ext cx="692109"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7 rules</a:t>
            </a:r>
            <a:endParaRPr lang="en-US" sz="800" dirty="0"/>
          </a:p>
        </p:txBody>
      </p:sp>
      <p:sp>
        <p:nvSpPr>
          <p:cNvPr id="58" name="Text 55"/>
          <p:cNvSpPr/>
          <p:nvPr/>
        </p:nvSpPr>
        <p:spPr>
          <a:xfrm>
            <a:off x="9652041" y="2717780"/>
            <a:ext cx="162562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Seven rules, in order. The rule that fired is printed with the word.</a:t>
            </a:r>
            <a:endParaRPr lang="en-US" sz="850" dirty="0"/>
          </a:p>
        </p:txBody>
      </p:sp>
      <p:sp>
        <p:nvSpPr>
          <p:cNvPr id="59" name="Shape 52"/>
          <p:cNvSpPr/>
          <p:nvPr/>
        </p:nvSpPr>
        <p:spPr>
          <a:xfrm>
            <a:off x="9652041"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60" name="Image 5" descr="Six phases: app-phases-07-verdict-390-320c">    </p:cNvPr>
          <p:cNvPicPr>
            <a:picLocks noChangeAspect="1"/>
          </p:cNvPicPr>
          <p:nvPr/>
        </p:nvPicPr>
        <p:blipFill>
          <a:blip r:embed="rId6"/>
          <a:stretch>
            <a:fillRect/>
          </a:stretch>
        </p:blipFill>
        <p:spPr>
          <a:xfrm>
            <a:off x="9690080" y="3467130"/>
            <a:ext cx="1384310" cy="25273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GEMINI CHECKS THE SENSOR</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12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812810"/>
            <a:ext cx="4317980" cy="787390"/>
          </a:xfrm>
          <a:prstGeom prst="rect">
            <a:avLst/>
          </a:prstGeom>
          <a:noFill/>
          <a:ln/>
        </p:spPr>
        <p:txBody>
          <a:bodyPr wrap="square" lIns="0" tIns="0" rIns="0" bIns="0" rtlCol="0" anchor="t"/>
          <a:lstStyle/>
          <a:p>
            <a:pPr algn="l" indent="0" marL="0">
              <a:lnSpc>
                <a:spcPct val="100000"/>
              </a:lnSpc>
              <a:buNone/>
            </a:pPr>
            <a:r>
              <a:rPr lang="en-US" sz="2808" spc="-42" kern="0" dirty="0">
                <a:solidFill>
                  <a:srgbClr val="16181B"/>
                </a:solidFill>
                <a:latin typeface="Instrument Serif" pitchFamily="34" charset="0"/>
                <a:ea typeface="Instrument Serif" pitchFamily="34" charset="-122"/>
                <a:cs typeface="Instrument Serif" pitchFamily="34" charset="-120"/>
              </a:rPr>
              <a:t>Gemini checks what the sensor says.</a:t>
            </a:r>
            <a:endParaRPr lang="en-US" sz="2808" dirty="0"/>
          </a:p>
        </p:txBody>
      </p:sp>
      <p:sp>
        <p:nvSpPr>
          <p:cNvPr id="11" name="Text 8"/>
          <p:cNvSpPr/>
          <p:nvPr/>
        </p:nvSpPr>
        <p:spPr>
          <a:xfrm>
            <a:off x="761970" y="1904970"/>
            <a:ext cx="4063959" cy="609630"/>
          </a:xfrm>
          <a:prstGeom prst="rect">
            <a:avLst/>
          </a:prstGeom>
          <a:noFill/>
          <a:ln/>
        </p:spPr>
        <p:txBody>
          <a:bodyPr wrap="square" lIns="0" tIns="0" rIns="0" bIns="0" rtlCol="0" anchor="t"/>
          <a:lstStyle/>
          <a:p>
            <a:pPr algn="l" indent="0" marL="0">
              <a:lnSpc>
                <a:spcPct val="145000"/>
              </a:lnSpc>
              <a:buNone/>
            </a:pPr>
            <a:r>
              <a:rPr lang="en-US" sz="1050" dirty="0">
                <a:solidFill>
                  <a:srgbClr val="4A4E55"/>
                </a:solidFill>
                <a:latin typeface="Inter" pitchFamily="34" charset="0"/>
                <a:ea typeface="Inter" pitchFamily="34" charset="-122"/>
                <a:cs typeface="Inter" pitchFamily="34" charset="-120"/>
              </a:rPr>
              <a:t>After the run, Gemini reads the label, looks at the cup and checks for a recall, then compares that with the sensor. Six steps, each logged with its own time.</a:t>
            </a:r>
            <a:endParaRPr lang="en-US" sz="1050" dirty="0"/>
          </a:p>
        </p:txBody>
      </p:sp>
      <p:sp>
        <p:nvSpPr>
          <p:cNvPr id="12" name="Shape 10"/>
          <p:cNvSpPr/>
          <p:nvPr/>
        </p:nvSpPr>
        <p:spPr>
          <a:xfrm>
            <a:off x="761970" y="2984510"/>
            <a:ext cx="228600" cy="228600"/>
          </a:xfrm>
          <a:prstGeom prst="ellipse">
            <a:avLst/>
          </a:prstGeom>
          <a:solidFill>
            <a:srgbClr val="4FB3FF">
              <a:alpha val="14000"/>
            </a:srgbClr>
          </a:solidFill>
          <a:ln/>
        </p:spPr>
      </p:sp>
      <p:sp>
        <p:nvSpPr>
          <p:cNvPr id="13" name="Text 10"/>
          <p:cNvSpPr/>
          <p:nvPr/>
        </p:nvSpPr>
        <p:spPr>
          <a:xfrm>
            <a:off x="761970" y="3028950"/>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1</a:t>
            </a:r>
            <a:endParaRPr lang="en-US" sz="850" dirty="0"/>
          </a:p>
        </p:txBody>
      </p:sp>
      <p:sp>
        <p:nvSpPr>
          <p:cNvPr id="14" name="Text 11"/>
          <p:cNvSpPr/>
          <p:nvPr/>
        </p:nvSpPr>
        <p:spPr>
          <a:xfrm>
            <a:off x="1104870" y="300353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Read the label</a:t>
            </a:r>
            <a:endParaRPr lang="en-US" sz="1050" dirty="0"/>
          </a:p>
        </p:txBody>
      </p:sp>
      <p:sp>
        <p:nvSpPr>
          <p:cNvPr id="15" name="Text 12"/>
          <p:cNvSpPr/>
          <p:nvPr/>
        </p:nvSpPr>
        <p:spPr>
          <a:xfrm>
            <a:off x="3556010" y="3035259"/>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gemini vision</a:t>
            </a:r>
            <a:endParaRPr lang="en-US" sz="800" dirty="0"/>
          </a:p>
        </p:txBody>
      </p:sp>
      <p:sp>
        <p:nvSpPr>
          <p:cNvPr id="16" name="Shape 14"/>
          <p:cNvSpPr/>
          <p:nvPr/>
        </p:nvSpPr>
        <p:spPr>
          <a:xfrm>
            <a:off x="761970" y="3340120"/>
            <a:ext cx="228600" cy="228600"/>
          </a:xfrm>
          <a:prstGeom prst="ellipse">
            <a:avLst/>
          </a:prstGeom>
          <a:solidFill>
            <a:srgbClr val="4FB3FF">
              <a:alpha val="14000"/>
            </a:srgbClr>
          </a:solidFill>
          <a:ln/>
        </p:spPr>
      </p:sp>
      <p:sp>
        <p:nvSpPr>
          <p:cNvPr id="17" name="Text 14"/>
          <p:cNvSpPr/>
          <p:nvPr/>
        </p:nvSpPr>
        <p:spPr>
          <a:xfrm>
            <a:off x="761970" y="3384560"/>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2</a:t>
            </a:r>
            <a:endParaRPr lang="en-US" sz="850" dirty="0"/>
          </a:p>
        </p:txBody>
      </p:sp>
      <p:sp>
        <p:nvSpPr>
          <p:cNvPr id="18" name="Text 15"/>
          <p:cNvSpPr/>
          <p:nvPr/>
        </p:nvSpPr>
        <p:spPr>
          <a:xfrm>
            <a:off x="1104870" y="335914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Look at the cup</a:t>
            </a:r>
            <a:endParaRPr lang="en-US" sz="1050" dirty="0"/>
          </a:p>
        </p:txBody>
      </p:sp>
      <p:sp>
        <p:nvSpPr>
          <p:cNvPr id="19" name="Text 16"/>
          <p:cNvSpPr/>
          <p:nvPr/>
        </p:nvSpPr>
        <p:spPr>
          <a:xfrm>
            <a:off x="3556010" y="339087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gemini vision</a:t>
            </a:r>
            <a:endParaRPr lang="en-US" sz="800" dirty="0"/>
          </a:p>
        </p:txBody>
      </p:sp>
      <p:sp>
        <p:nvSpPr>
          <p:cNvPr id="20" name="Shape 18"/>
          <p:cNvSpPr/>
          <p:nvPr/>
        </p:nvSpPr>
        <p:spPr>
          <a:xfrm>
            <a:off x="761970" y="3695730"/>
            <a:ext cx="228600" cy="228600"/>
          </a:xfrm>
          <a:prstGeom prst="ellipse">
            <a:avLst/>
          </a:prstGeom>
          <a:solidFill>
            <a:srgbClr val="4FB3FF">
              <a:alpha val="14000"/>
            </a:srgbClr>
          </a:solidFill>
          <a:ln/>
        </p:spPr>
      </p:sp>
      <p:sp>
        <p:nvSpPr>
          <p:cNvPr id="21" name="Text 18"/>
          <p:cNvSpPr/>
          <p:nvPr/>
        </p:nvSpPr>
        <p:spPr>
          <a:xfrm>
            <a:off x="761970" y="3740170"/>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3</a:t>
            </a:r>
            <a:endParaRPr lang="en-US" sz="850" dirty="0"/>
          </a:p>
        </p:txBody>
      </p:sp>
      <p:sp>
        <p:nvSpPr>
          <p:cNvPr id="22" name="Text 19"/>
          <p:cNvSpPr/>
          <p:nvPr/>
        </p:nvSpPr>
        <p:spPr>
          <a:xfrm>
            <a:off x="1104870" y="371475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Check for a recall</a:t>
            </a:r>
            <a:endParaRPr lang="en-US" sz="1050" dirty="0"/>
          </a:p>
        </p:txBody>
      </p:sp>
      <p:sp>
        <p:nvSpPr>
          <p:cNvPr id="23" name="Text 20"/>
          <p:cNvSpPr/>
          <p:nvPr/>
        </p:nvSpPr>
        <p:spPr>
          <a:xfrm>
            <a:off x="3556010" y="374648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openFDA</a:t>
            </a:r>
            <a:endParaRPr lang="en-US" sz="800" dirty="0"/>
          </a:p>
        </p:txBody>
      </p:sp>
      <p:sp>
        <p:nvSpPr>
          <p:cNvPr id="24" name="Shape 22"/>
          <p:cNvSpPr/>
          <p:nvPr/>
        </p:nvSpPr>
        <p:spPr>
          <a:xfrm>
            <a:off x="761970" y="4051341"/>
            <a:ext cx="228600" cy="228600"/>
          </a:xfrm>
          <a:prstGeom prst="ellipse">
            <a:avLst/>
          </a:prstGeom>
          <a:solidFill>
            <a:srgbClr val="4FB3FF">
              <a:alpha val="14000"/>
            </a:srgbClr>
          </a:solidFill>
          <a:ln/>
        </p:spPr>
      </p:sp>
      <p:sp>
        <p:nvSpPr>
          <p:cNvPr id="25" name="Text 22"/>
          <p:cNvSpPr/>
          <p:nvPr/>
        </p:nvSpPr>
        <p:spPr>
          <a:xfrm>
            <a:off x="761970" y="4095780"/>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4</a:t>
            </a:r>
            <a:endParaRPr lang="en-US" sz="850" dirty="0"/>
          </a:p>
        </p:txBody>
      </p:sp>
      <p:sp>
        <p:nvSpPr>
          <p:cNvPr id="26" name="Text 23"/>
          <p:cNvSpPr/>
          <p:nvPr/>
        </p:nvSpPr>
        <p:spPr>
          <a:xfrm>
            <a:off x="1104870" y="407036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Check expiry, drug and lot</a:t>
            </a:r>
            <a:endParaRPr lang="en-US" sz="1050" dirty="0"/>
          </a:p>
        </p:txBody>
      </p:sp>
      <p:sp>
        <p:nvSpPr>
          <p:cNvPr id="27" name="Text 24"/>
          <p:cNvSpPr/>
          <p:nvPr/>
        </p:nvSpPr>
        <p:spPr>
          <a:xfrm>
            <a:off x="3556010" y="410209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code</a:t>
            </a:r>
            <a:endParaRPr lang="en-US" sz="800" dirty="0"/>
          </a:p>
        </p:txBody>
      </p:sp>
      <p:sp>
        <p:nvSpPr>
          <p:cNvPr id="28" name="Shape 26"/>
          <p:cNvSpPr/>
          <p:nvPr/>
        </p:nvSpPr>
        <p:spPr>
          <a:xfrm>
            <a:off x="761970" y="4406859"/>
            <a:ext cx="228600" cy="228600"/>
          </a:xfrm>
          <a:prstGeom prst="ellipse">
            <a:avLst/>
          </a:prstGeom>
          <a:solidFill>
            <a:srgbClr val="4FB3FF">
              <a:alpha val="14000"/>
            </a:srgbClr>
          </a:solidFill>
          <a:ln/>
        </p:spPr>
      </p:sp>
      <p:sp>
        <p:nvSpPr>
          <p:cNvPr id="29" name="Text 26"/>
          <p:cNvSpPr/>
          <p:nvPr/>
        </p:nvSpPr>
        <p:spPr>
          <a:xfrm>
            <a:off x="761970" y="4451391"/>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5</a:t>
            </a:r>
            <a:endParaRPr lang="en-US" sz="850" dirty="0"/>
          </a:p>
        </p:txBody>
      </p:sp>
      <p:sp>
        <p:nvSpPr>
          <p:cNvPr id="30" name="Text 27"/>
          <p:cNvSpPr/>
          <p:nvPr/>
        </p:nvSpPr>
        <p:spPr>
          <a:xfrm>
            <a:off x="1104870" y="442597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Compare with the sensor</a:t>
            </a:r>
            <a:endParaRPr lang="en-US" sz="1050" dirty="0"/>
          </a:p>
        </p:txBody>
      </p:sp>
      <p:sp>
        <p:nvSpPr>
          <p:cNvPr id="31" name="Text 28"/>
          <p:cNvSpPr/>
          <p:nvPr/>
        </p:nvSpPr>
        <p:spPr>
          <a:xfrm>
            <a:off x="3556010" y="445770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code</a:t>
            </a:r>
            <a:endParaRPr lang="en-US" sz="800" dirty="0"/>
          </a:p>
        </p:txBody>
      </p:sp>
      <p:sp>
        <p:nvSpPr>
          <p:cNvPr id="32" name="Shape 30"/>
          <p:cNvSpPr/>
          <p:nvPr/>
        </p:nvSpPr>
        <p:spPr>
          <a:xfrm>
            <a:off x="761970" y="4762470"/>
            <a:ext cx="228600" cy="228600"/>
          </a:xfrm>
          <a:prstGeom prst="ellipse">
            <a:avLst/>
          </a:prstGeom>
          <a:solidFill>
            <a:srgbClr val="4FB3FF">
              <a:alpha val="14000"/>
            </a:srgbClr>
          </a:solidFill>
          <a:ln/>
        </p:spPr>
      </p:sp>
      <p:sp>
        <p:nvSpPr>
          <p:cNvPr id="33" name="Text 30"/>
          <p:cNvSpPr/>
          <p:nvPr/>
        </p:nvSpPr>
        <p:spPr>
          <a:xfrm>
            <a:off x="761970" y="4806909"/>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6</a:t>
            </a:r>
            <a:endParaRPr lang="en-US" sz="850" dirty="0"/>
          </a:p>
        </p:txBody>
      </p:sp>
      <p:sp>
        <p:nvSpPr>
          <p:cNvPr id="34" name="Text 31"/>
          <p:cNvSpPr/>
          <p:nvPr/>
        </p:nvSpPr>
        <p:spPr>
          <a:xfrm>
            <a:off x="1104870" y="478158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Say it in plain words</a:t>
            </a:r>
            <a:endParaRPr lang="en-US" sz="1050" dirty="0"/>
          </a:p>
        </p:txBody>
      </p:sp>
      <p:sp>
        <p:nvSpPr>
          <p:cNvPr id="35" name="Text 32"/>
          <p:cNvSpPr/>
          <p:nvPr/>
        </p:nvSpPr>
        <p:spPr>
          <a:xfrm>
            <a:off x="3556010" y="481331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gemini · filtered</a:t>
            </a:r>
            <a:endParaRPr lang="en-US" sz="800" dirty="0"/>
          </a:p>
        </p:txBody>
      </p:sp>
      <p:sp>
        <p:nvSpPr>
          <p:cNvPr id="36" name="Shape 34"/>
          <p:cNvSpPr/>
          <p:nvPr/>
        </p:nvSpPr>
        <p:spPr>
          <a:xfrm>
            <a:off x="761970" y="5270510"/>
            <a:ext cx="4063959" cy="761970"/>
          </a:xfrm>
          <a:prstGeom prst="roundRect">
            <a:avLst>
              <a:gd name="adj" fmla="val 23329"/>
            </a:avLst>
          </a:prstGeom>
          <a:solidFill>
            <a:srgbClr val="5FD39A">
              <a:alpha val="16000"/>
            </a:srgbClr>
          </a:solidFill>
          <a:ln w="12700">
            <a:solidFill>
              <a:srgbClr val="5FD39A">
                <a:alpha val="45000"/>
              </a:srgbClr>
            </a:solidFill>
            <a:prstDash val="solid"/>
          </a:ln>
        </p:spPr>
      </p:sp>
      <p:sp>
        <p:nvSpPr>
          <p:cNvPr id="37" name="Text 34"/>
          <p:cNvSpPr/>
          <p:nvPr/>
        </p:nvSpPr>
        <p:spPr>
          <a:xfrm>
            <a:off x="939820" y="5410230"/>
            <a:ext cx="3708441" cy="381030"/>
          </a:xfrm>
          <a:prstGeom prst="rect">
            <a:avLst/>
          </a:prstGeom>
          <a:noFill/>
          <a:ln/>
        </p:spPr>
        <p:txBody>
          <a:bodyPr wrap="square" lIns="0" tIns="0" rIns="0" bIns="0" rtlCol="0" anchor="t"/>
          <a:lstStyle/>
          <a:p>
            <a:pPr algn="l" indent="0" marL="0">
              <a:lnSpc>
                <a:spcPct val="140000"/>
              </a:lnSpc>
              <a:buNone/>
            </a:pPr>
            <a:r>
              <a:rPr lang="en-US" sz="1000" dirty="0">
                <a:solidFill>
                  <a:srgbClr val="16181B"/>
                </a:solidFill>
                <a:latin typeface="Inter" pitchFamily="34" charset="0"/>
                <a:ea typeface="Inter" pitchFamily="34" charset="-122"/>
                <a:cs typeface="Inter" pitchFamily="34" charset="-120"/>
              </a:rPr>
              <a:t>The sensor decides. The checker explains and never changes the word. A pharmacist or doctor decides.</a:t>
            </a:r>
            <a:endParaRPr lang="en-US" sz="1000" dirty="0"/>
          </a:p>
        </p:txBody>
      </p:sp>
      <p:sp>
        <p:nvSpPr>
          <p:cNvPr id="38" name="Shape 36"/>
          <p:cNvSpPr/>
          <p:nvPr/>
        </p:nvSpPr>
        <p:spPr>
          <a:xfrm>
            <a:off x="5206959" y="1244590"/>
            <a:ext cx="1904970" cy="4063959"/>
          </a:xfrm>
          <a:prstGeom prst="roundRect">
            <a:avLst>
              <a:gd name="adj" fmla="val 12999"/>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9" name="Image 0" descr="Gemini checker: app-gemini-checker-steps-390-340c">    </p:cNvPr>
          <p:cNvPicPr>
            <a:picLocks noChangeAspect="1"/>
          </p:cNvPicPr>
          <p:nvPr/>
        </p:nvPicPr>
        <p:blipFill>
          <a:blip r:embed="rId1"/>
          <a:stretch>
            <a:fillRect/>
          </a:stretch>
        </p:blipFill>
        <p:spPr>
          <a:xfrm>
            <a:off x="5257800" y="1295430"/>
            <a:ext cx="1803380" cy="3962370"/>
          </a:xfrm>
          <a:prstGeom prst="rect">
            <a:avLst/>
          </a:prstGeom>
        </p:spPr>
      </p:pic>
      <p:sp>
        <p:nvSpPr>
          <p:cNvPr id="40" name="Text 37"/>
          <p:cNvSpPr/>
          <p:nvPr/>
        </p:nvSpPr>
        <p:spPr>
          <a:xfrm>
            <a:off x="5206959" y="5410230"/>
            <a:ext cx="190497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Checker · the step log</a:t>
            </a:r>
            <a:endParaRPr lang="en-US" sz="800" dirty="0"/>
          </a:p>
        </p:txBody>
      </p:sp>
      <p:sp>
        <p:nvSpPr>
          <p:cNvPr id="41" name="Shape 38"/>
          <p:cNvSpPr/>
          <p:nvPr/>
        </p:nvSpPr>
        <p:spPr>
          <a:xfrm>
            <a:off x="7302490" y="1244590"/>
            <a:ext cx="1904970" cy="4063959"/>
          </a:xfrm>
          <a:prstGeom prst="roundRect">
            <a:avLst>
              <a:gd name="adj" fmla="val 12999"/>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2" name="Image 1" descr="Gemini checker: app-gemini-checker-report-390-340c">    </p:cNvPr>
          <p:cNvPicPr>
            <a:picLocks noChangeAspect="1"/>
          </p:cNvPicPr>
          <p:nvPr/>
        </p:nvPicPr>
        <p:blipFill>
          <a:blip r:embed="rId2"/>
          <a:stretch>
            <a:fillRect/>
          </a:stretch>
        </p:blipFill>
        <p:spPr>
          <a:xfrm>
            <a:off x="7353330" y="1295430"/>
            <a:ext cx="1803380" cy="3962370"/>
          </a:xfrm>
          <a:prstGeom prst="rect">
            <a:avLst/>
          </a:prstGeom>
        </p:spPr>
      </p:pic>
      <p:sp>
        <p:nvSpPr>
          <p:cNvPr id="43" name="Text 40"/>
          <p:cNvSpPr/>
          <p:nvPr/>
        </p:nvSpPr>
        <p:spPr>
          <a:xfrm>
            <a:off x="7302490" y="5410230"/>
            <a:ext cx="190497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Checker · the report</a:t>
            </a:r>
            <a:endParaRPr lang="en-US" sz="800" dirty="0"/>
          </a:p>
        </p:txBody>
      </p:sp>
      <p:sp>
        <p:nvSpPr>
          <p:cNvPr id="44" name="Shape 40"/>
          <p:cNvSpPr/>
          <p:nvPr/>
        </p:nvSpPr>
        <p:spPr>
          <a:xfrm>
            <a:off x="9398020" y="1244590"/>
            <a:ext cx="1904970" cy="4063959"/>
          </a:xfrm>
          <a:prstGeom prst="roundRect">
            <a:avLst>
              <a:gd name="adj" fmla="val 12999"/>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5" name="Image 2" descr="Gemini checker: app-gemini-follower-open-390-340c">    </p:cNvPr>
          <p:cNvPicPr>
            <a:picLocks noChangeAspect="1"/>
          </p:cNvPicPr>
          <p:nvPr/>
        </p:nvPicPr>
        <p:blipFill>
          <a:blip r:embed="rId3"/>
          <a:stretch>
            <a:fillRect/>
          </a:stretch>
        </p:blipFill>
        <p:spPr>
          <a:xfrm>
            <a:off x="9448770" y="1295430"/>
            <a:ext cx="1803380" cy="3962370"/>
          </a:xfrm>
          <a:prstGeom prst="rect">
            <a:avLst/>
          </a:prstGeom>
        </p:spPr>
      </p:pic>
      <p:sp>
        <p:nvSpPr>
          <p:cNvPr id="46" name="Text 43"/>
          <p:cNvSpPr/>
          <p:nvPr/>
        </p:nvSpPr>
        <p:spPr>
          <a:xfrm>
            <a:off x="9398020" y="5410230"/>
            <a:ext cx="190497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Follower · on every screen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WEBSITE</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13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6349959" cy="476220"/>
          </a:xfrm>
          <a:prstGeom prst="rect">
            <a:avLst/>
          </a:prstGeom>
          <a:noFill/>
          <a:ln/>
        </p:spPr>
        <p:txBody>
          <a:bodyPr wrap="square" lIns="0" tIns="0" rIns="0" bIns="0" rtlCol="0" anchor="t"/>
          <a:lstStyle/>
          <a:p>
            <a:pPr algn="l" indent="0" marL="0">
              <a:lnSpc>
                <a:spcPct val="100000"/>
              </a:lnSpc>
              <a:buNone/>
            </a:pPr>
            <a:r>
              <a:rPr lang="en-US" sz="3120" spc="-47" kern="0" dirty="0">
                <a:solidFill>
                  <a:srgbClr val="16181B"/>
                </a:solidFill>
                <a:latin typeface="Instrument Serif" pitchFamily="34" charset="0"/>
                <a:ea typeface="Instrument Serif" pitchFamily="34" charset="-122"/>
                <a:cs typeface="Instrument Serif" pitchFamily="34" charset="-120"/>
              </a:rPr>
              <a:t>pill-site.vercel.app</a:t>
            </a:r>
            <a:endParaRPr lang="en-US" sz="3120" dirty="0"/>
          </a:p>
        </p:txBody>
      </p:sp>
      <p:sp>
        <p:nvSpPr>
          <p:cNvPr id="11" name="Text 8"/>
          <p:cNvSpPr/>
          <p:nvPr/>
        </p:nvSpPr>
        <p:spPr>
          <a:xfrm>
            <a:off x="761970" y="1625620"/>
            <a:ext cx="10159990" cy="495330"/>
          </a:xfrm>
          <a:prstGeom prst="rect">
            <a:avLst/>
          </a:prstGeom>
          <a:noFill/>
          <a:ln/>
        </p:spPr>
        <p:txBody>
          <a:bodyPr wrap="square" lIns="0" tIns="0" rIns="0" bIns="0" rtlCol="0" anchor="t"/>
          <a:lstStyle/>
          <a:p>
            <a:pPr algn="l" indent="0" marL="0">
              <a:lnSpc>
                <a:spcPct val="145000"/>
              </a:lnSpc>
              <a:buNone/>
            </a:pPr>
            <a:r>
              <a:rPr lang="en-US" sz="1250" dirty="0">
                <a:solidFill>
                  <a:srgbClr val="4A4E55"/>
                </a:solidFill>
                <a:latin typeface="Inter" pitchFamily="34" charset="0"/>
                <a:ea typeface="Inter" pitchFamily="34" charset="-122"/>
                <a:cs typeface="Inter" pitchFamily="34" charset="-120"/>
              </a:rPr>
              <a:t>Built code-first (Vite + anime.js) after a 16-persona panel scored a plain, honest page 8.0 against a copied storytelling site at 3.7. Words stay ink; colour lives in backgrounds and lines.</a:t>
            </a:r>
            <a:endParaRPr lang="en-US" sz="1250" dirty="0"/>
          </a:p>
        </p:txBody>
      </p:sp>
      <p:sp>
        <p:nvSpPr>
          <p:cNvPr id="12" name="Shape 10"/>
          <p:cNvSpPr/>
          <p:nvPr/>
        </p:nvSpPr>
        <p:spPr>
          <a:xfrm>
            <a:off x="761970" y="2286000"/>
            <a:ext cx="5460980" cy="3530590"/>
          </a:xfrm>
          <a:prstGeom prst="roundRect">
            <a:avLst>
              <a:gd name="adj" fmla="val 3957"/>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sp>
        <p:nvSpPr>
          <p:cNvPr id="13" name="Shape 11"/>
          <p:cNvSpPr/>
          <p:nvPr/>
        </p:nvSpPr>
        <p:spPr>
          <a:xfrm>
            <a:off x="901690" y="2381280"/>
            <a:ext cx="88880" cy="88880"/>
          </a:xfrm>
          <a:prstGeom prst="ellipse">
            <a:avLst/>
          </a:prstGeom>
          <a:solidFill>
            <a:srgbClr val="FF6159"/>
          </a:solidFill>
          <a:ln/>
        </p:spPr>
      </p:sp>
      <p:sp>
        <p:nvSpPr>
          <p:cNvPr id="14" name="Shape 12"/>
          <p:cNvSpPr/>
          <p:nvPr/>
        </p:nvSpPr>
        <p:spPr>
          <a:xfrm>
            <a:off x="1054120" y="2381280"/>
            <a:ext cx="88880" cy="88880"/>
          </a:xfrm>
          <a:prstGeom prst="ellipse">
            <a:avLst/>
          </a:prstGeom>
          <a:solidFill>
            <a:srgbClr val="FFBD2E"/>
          </a:solidFill>
          <a:ln/>
        </p:spPr>
      </p:sp>
      <p:sp>
        <p:nvSpPr>
          <p:cNvPr id="15" name="Shape 13"/>
          <p:cNvSpPr/>
          <p:nvPr/>
        </p:nvSpPr>
        <p:spPr>
          <a:xfrm>
            <a:off x="1206459" y="2381280"/>
            <a:ext cx="88880" cy="88880"/>
          </a:xfrm>
          <a:prstGeom prst="ellipse">
            <a:avLst/>
          </a:prstGeom>
          <a:solidFill>
            <a:srgbClr val="28C941"/>
          </a:solidFill>
          <a:ln/>
        </p:spPr>
      </p:sp>
      <p:pic>
        <p:nvPicPr>
          <p:cNvPr id="16" name="Image 0" descr="Website: figma-art-site-hero-1100">    </p:cNvPr>
          <p:cNvPicPr>
            <a:picLocks noChangeAspect="1"/>
          </p:cNvPicPr>
          <p:nvPr/>
        </p:nvPicPr>
        <p:blipFill>
          <a:blip r:embed="rId1"/>
          <a:stretch>
            <a:fillRect/>
          </a:stretch>
        </p:blipFill>
        <p:spPr>
          <a:xfrm>
            <a:off x="774680" y="2565441"/>
            <a:ext cx="5435559" cy="3238530"/>
          </a:xfrm>
          <a:prstGeom prst="rect">
            <a:avLst/>
          </a:prstGeom>
        </p:spPr>
      </p:pic>
      <p:sp>
        <p:nvSpPr>
          <p:cNvPr id="17" name="Text 14"/>
          <p:cNvSpPr/>
          <p:nvPr/>
        </p:nvSpPr>
        <p:spPr>
          <a:xfrm>
            <a:off x="761970" y="5880141"/>
            <a:ext cx="546098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Hero · the binary pill, drawn in characters by pill.js</a:t>
            </a:r>
            <a:endParaRPr lang="en-US" sz="850" dirty="0"/>
          </a:p>
        </p:txBody>
      </p:sp>
      <p:sp>
        <p:nvSpPr>
          <p:cNvPr id="18" name="Shape 15"/>
          <p:cNvSpPr/>
          <p:nvPr/>
        </p:nvSpPr>
        <p:spPr>
          <a:xfrm>
            <a:off x="6413510" y="2286000"/>
            <a:ext cx="5016490" cy="1689080"/>
          </a:xfrm>
          <a:prstGeom prst="roundRect">
            <a:avLst>
              <a:gd name="adj" fmla="val 827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sp>
        <p:nvSpPr>
          <p:cNvPr id="19" name="Shape 16"/>
          <p:cNvSpPr/>
          <p:nvPr/>
        </p:nvSpPr>
        <p:spPr>
          <a:xfrm>
            <a:off x="6553230" y="2381280"/>
            <a:ext cx="88880" cy="88880"/>
          </a:xfrm>
          <a:prstGeom prst="ellipse">
            <a:avLst/>
          </a:prstGeom>
          <a:solidFill>
            <a:srgbClr val="FF6159"/>
          </a:solidFill>
          <a:ln/>
        </p:spPr>
      </p:sp>
      <p:sp>
        <p:nvSpPr>
          <p:cNvPr id="20" name="Shape 17"/>
          <p:cNvSpPr/>
          <p:nvPr/>
        </p:nvSpPr>
        <p:spPr>
          <a:xfrm>
            <a:off x="6705570" y="2381280"/>
            <a:ext cx="88880" cy="88880"/>
          </a:xfrm>
          <a:prstGeom prst="ellipse">
            <a:avLst/>
          </a:prstGeom>
          <a:solidFill>
            <a:srgbClr val="FFBD2E"/>
          </a:solidFill>
          <a:ln/>
        </p:spPr>
      </p:sp>
      <p:sp>
        <p:nvSpPr>
          <p:cNvPr id="21" name="Shape 18"/>
          <p:cNvSpPr/>
          <p:nvPr/>
        </p:nvSpPr>
        <p:spPr>
          <a:xfrm>
            <a:off x="6858000" y="2381280"/>
            <a:ext cx="88880" cy="88880"/>
          </a:xfrm>
          <a:prstGeom prst="ellipse">
            <a:avLst/>
          </a:prstGeom>
          <a:solidFill>
            <a:srgbClr val="28C941"/>
          </a:solidFill>
          <a:ln/>
        </p:spPr>
      </p:sp>
      <p:pic>
        <p:nvPicPr>
          <p:cNvPr id="22" name="Image 1" descr="Website: figma-art-site-verdicts-900">    </p:cNvPr>
          <p:cNvPicPr>
            <a:picLocks noChangeAspect="1"/>
          </p:cNvPicPr>
          <p:nvPr/>
        </p:nvPicPr>
        <p:blipFill>
          <a:blip r:embed="rId2"/>
          <a:stretch>
            <a:fillRect/>
          </a:stretch>
        </p:blipFill>
        <p:spPr>
          <a:xfrm>
            <a:off x="6426220" y="2565441"/>
            <a:ext cx="4991070" cy="1397020"/>
          </a:xfrm>
          <a:prstGeom prst="rect">
            <a:avLst/>
          </a:prstGeom>
        </p:spPr>
      </p:pic>
      <p:sp>
        <p:nvSpPr>
          <p:cNvPr id="23" name="Text 20"/>
          <p:cNvSpPr/>
          <p:nvPr/>
        </p:nvSpPr>
        <p:spPr>
          <a:xfrm>
            <a:off x="6413510" y="4038630"/>
            <a:ext cx="501649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Fig 3 · three answers, the same screen as the app</a:t>
            </a:r>
            <a:endParaRPr lang="en-US" sz="850" dirty="0"/>
          </a:p>
        </p:txBody>
      </p:sp>
      <p:sp>
        <p:nvSpPr>
          <p:cNvPr id="24" name="Shape 20"/>
          <p:cNvSpPr/>
          <p:nvPr/>
        </p:nvSpPr>
        <p:spPr>
          <a:xfrm>
            <a:off x="6413510" y="4292559"/>
            <a:ext cx="5016490" cy="1524030"/>
          </a:xfrm>
          <a:prstGeom prst="roundRect">
            <a:avLst>
              <a:gd name="adj" fmla="val 9168"/>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sp>
        <p:nvSpPr>
          <p:cNvPr id="25" name="Shape 21"/>
          <p:cNvSpPr/>
          <p:nvPr/>
        </p:nvSpPr>
        <p:spPr>
          <a:xfrm>
            <a:off x="6553230" y="4387840"/>
            <a:ext cx="88880" cy="88880"/>
          </a:xfrm>
          <a:prstGeom prst="ellipse">
            <a:avLst/>
          </a:prstGeom>
          <a:solidFill>
            <a:srgbClr val="FF6159"/>
          </a:solidFill>
          <a:ln/>
        </p:spPr>
      </p:sp>
      <p:sp>
        <p:nvSpPr>
          <p:cNvPr id="26" name="Shape 22"/>
          <p:cNvSpPr/>
          <p:nvPr/>
        </p:nvSpPr>
        <p:spPr>
          <a:xfrm>
            <a:off x="6705570" y="4387840"/>
            <a:ext cx="88880" cy="88880"/>
          </a:xfrm>
          <a:prstGeom prst="ellipse">
            <a:avLst/>
          </a:prstGeom>
          <a:solidFill>
            <a:srgbClr val="FFBD2E"/>
          </a:solidFill>
          <a:ln/>
        </p:spPr>
      </p:sp>
      <p:sp>
        <p:nvSpPr>
          <p:cNvPr id="27" name="Shape 23"/>
          <p:cNvSpPr/>
          <p:nvPr/>
        </p:nvSpPr>
        <p:spPr>
          <a:xfrm>
            <a:off x="6858000" y="4387840"/>
            <a:ext cx="88880" cy="88880"/>
          </a:xfrm>
          <a:prstGeom prst="ellipse">
            <a:avLst/>
          </a:prstGeom>
          <a:solidFill>
            <a:srgbClr val="28C941"/>
          </a:solidFill>
          <a:ln/>
        </p:spPr>
      </p:sp>
      <p:pic>
        <p:nvPicPr>
          <p:cNvPr id="28" name="Image 2" descr="Website: figma-art-site-payments-900">    </p:cNvPr>
          <p:cNvPicPr>
            <a:picLocks noChangeAspect="1"/>
          </p:cNvPicPr>
          <p:nvPr/>
        </p:nvPicPr>
        <p:blipFill>
          <a:blip r:embed="rId3"/>
          <a:stretch>
            <a:fillRect/>
          </a:stretch>
        </p:blipFill>
        <p:spPr>
          <a:xfrm>
            <a:off x="6426220" y="4572000"/>
            <a:ext cx="4991070" cy="1231880"/>
          </a:xfrm>
          <a:prstGeom prst="rect">
            <a:avLst/>
          </a:prstGeom>
        </p:spPr>
      </p:pic>
      <p:sp>
        <p:nvSpPr>
          <p:cNvPr id="29" name="Text 26"/>
          <p:cNvSpPr/>
          <p:nvPr/>
        </p:nvSpPr>
        <p:spPr>
          <a:xfrm>
            <a:off x="6413510" y="5880141"/>
            <a:ext cx="501649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Payments · the verdict is the invoice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WORKFLOW · IDEA TO DEMO</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14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27060"/>
          </a:xfrm>
          <a:prstGeom prst="rect">
            <a:avLst/>
          </a:prstGeom>
          <a:noFill/>
          <a:ln/>
        </p:spPr>
        <p:txBody>
          <a:bodyPr wrap="square" lIns="0" tIns="0" rIns="0" bIns="0" rtlCol="0" anchor="t"/>
          <a:lstStyle/>
          <a:p>
            <a:pPr algn="l" indent="0" marL="0">
              <a:lnSpc>
                <a:spcPct val="100000"/>
              </a:lnSpc>
              <a:buNone/>
            </a:pPr>
            <a:r>
              <a:rPr lang="en-US" sz="3432" spc="-51" kern="0" dirty="0">
                <a:solidFill>
                  <a:srgbClr val="16181B"/>
                </a:solidFill>
                <a:latin typeface="Instrument Serif" pitchFamily="34" charset="0"/>
                <a:ea typeface="Instrument Serif" pitchFamily="34" charset="-122"/>
                <a:cs typeface="Instrument Serif" pitchFamily="34" charset="-120"/>
              </a:rPr>
              <a:t>Code first, then Figma from the code.</a:t>
            </a:r>
            <a:endParaRPr lang="en-US" sz="3432" dirty="0"/>
          </a:p>
        </p:txBody>
      </p:sp>
      <p:sp>
        <p:nvSpPr>
          <p:cNvPr id="11" name="Shape 9"/>
          <p:cNvSpPr/>
          <p:nvPr/>
        </p:nvSpPr>
        <p:spPr>
          <a:xfrm>
            <a:off x="908091" y="2324130"/>
            <a:ext cx="10414010" cy="127010"/>
          </a:xfrm>
          <a:custGeom>
            <a:avLst/>
            <a:gdLst/>
            <a:ahLst/>
            <a:cxnLst/>
            <a:rect l="l" t="t" r="r" b="b"/>
            <a:pathLst>
              <a:path w="10414010" h="127010">
                <a:moveTo>
                  <a:pt x="19020" y="63459"/>
                </a:moveTo>
                <a:lnTo>
                  <a:pt x="10394991" y="63459"/>
                </a:lnTo>
                <a:moveTo>
                  <a:pt x="10316809" y="106070"/>
                </a:moveTo>
                <a:lnTo>
                  <a:pt x="10394991" y="63459"/>
                </a:lnTo>
                <a:lnTo>
                  <a:pt x="10316809" y="20940"/>
                </a:lnTo>
              </a:path>
            </a:pathLst>
          </a:custGeom>
          <a:ln w="19050">
            <a:solidFill>
              <a:srgbClr val="4FB3FF"/>
            </a:solidFill>
            <a:prstDash val="solid"/>
          </a:ln>
        </p:spPr>
      </p:sp>
      <p:sp>
        <p:nvSpPr>
          <p:cNvPr id="12" name="Text 9"/>
          <p:cNvSpPr/>
          <p:nvPr/>
        </p:nvSpPr>
        <p:spPr>
          <a:xfrm>
            <a:off x="10287000" y="2095530"/>
            <a:ext cx="1015990" cy="177759"/>
          </a:xfrm>
          <a:prstGeom prst="rect">
            <a:avLst/>
          </a:prstGeom>
          <a:noFill/>
          <a:ln/>
        </p:spPr>
        <p:txBody>
          <a:bodyPr wrap="square" lIns="0" tIns="0" rIns="0" bIns="0" rtlCol="0" anchor="t"/>
          <a:lstStyle/>
          <a:p>
            <a:pPr algn="r" indent="0" marL="0">
              <a:lnSpc>
                <a:spcPct val="140000"/>
              </a:lnSpc>
              <a:buNone/>
            </a:pPr>
            <a:r>
              <a:rPr lang="en-US" sz="850" dirty="0">
                <a:solidFill>
                  <a:srgbClr val="4A4E55"/>
                </a:solidFill>
                <a:latin typeface="JetBrains Mono" pitchFamily="34" charset="0"/>
                <a:ea typeface="JetBrains Mono" pitchFamily="34" charset="-122"/>
                <a:cs typeface="JetBrains Mono" pitchFamily="34" charset="-120"/>
              </a:rPr>
              <a:t>demo</a:t>
            </a:r>
            <a:endParaRPr lang="en-US" sz="850" dirty="0"/>
          </a:p>
        </p:txBody>
      </p:sp>
      <p:sp>
        <p:nvSpPr>
          <p:cNvPr id="13" name="Shape 11"/>
          <p:cNvSpPr/>
          <p:nvPr/>
        </p:nvSpPr>
        <p:spPr>
          <a:xfrm>
            <a:off x="761970" y="2222541"/>
            <a:ext cx="330190" cy="330190"/>
          </a:xfrm>
          <a:prstGeom prst="ellipse">
            <a:avLst/>
          </a:prstGeom>
          <a:solidFill>
            <a:srgbClr val="FFFFFF"/>
          </a:solidFill>
          <a:ln w="25400">
            <a:solidFill>
              <a:srgbClr val="4FB3FF"/>
            </a:solidFill>
            <a:prstDash val="solid"/>
          </a:ln>
        </p:spPr>
      </p:sp>
      <p:sp>
        <p:nvSpPr>
          <p:cNvPr id="14" name="Text 11"/>
          <p:cNvSpPr/>
          <p:nvPr/>
        </p:nvSpPr>
        <p:spPr>
          <a:xfrm>
            <a:off x="761970" y="2692359"/>
            <a:ext cx="190497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01</a:t>
            </a:r>
            <a:endParaRPr lang="en-US" sz="900" dirty="0"/>
          </a:p>
        </p:txBody>
      </p:sp>
      <p:sp>
        <p:nvSpPr>
          <p:cNvPr id="15" name="Text 12"/>
          <p:cNvSpPr/>
          <p:nvPr/>
        </p:nvSpPr>
        <p:spPr>
          <a:xfrm>
            <a:off x="761970" y="2870210"/>
            <a:ext cx="2540020" cy="285750"/>
          </a:xfrm>
          <a:prstGeom prst="rect">
            <a:avLst/>
          </a:prstGeom>
          <a:noFill/>
          <a:ln/>
        </p:spPr>
        <p:txBody>
          <a:bodyPr wrap="square" lIns="0" tIns="0" rIns="0" bIns="0" rtlCol="0" anchor="t"/>
          <a:lstStyle/>
          <a:p>
            <a:pPr algn="l"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Ideation</a:t>
            </a:r>
            <a:endParaRPr lang="en-US" sz="1872" dirty="0"/>
          </a:p>
        </p:txBody>
      </p:sp>
      <p:sp>
        <p:nvSpPr>
          <p:cNvPr id="16" name="Text 13"/>
          <p:cNvSpPr/>
          <p:nvPr/>
        </p:nvSpPr>
        <p:spPr>
          <a:xfrm>
            <a:off x="761970" y="328928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CODE</a:t>
            </a:r>
            <a:endParaRPr lang="en-US" sz="750" dirty="0"/>
          </a:p>
        </p:txBody>
      </p:sp>
      <p:sp>
        <p:nvSpPr>
          <p:cNvPr id="17" name="Shape 15"/>
          <p:cNvSpPr/>
          <p:nvPr/>
        </p:nvSpPr>
        <p:spPr>
          <a:xfrm>
            <a:off x="761970" y="3454420"/>
            <a:ext cx="1447770" cy="215890"/>
          </a:xfrm>
          <a:prstGeom prst="roundRect">
            <a:avLst>
              <a:gd name="adj" fmla="val 50021"/>
            </a:avLst>
          </a:prstGeom>
          <a:solidFill>
            <a:srgbClr val="FFFFFF"/>
          </a:solidFill>
          <a:ln w="12700">
            <a:solidFill>
              <a:srgbClr val="16181B">
                <a:alpha val="18000"/>
              </a:srgbClr>
            </a:solidFill>
            <a:prstDash val="solid"/>
          </a:ln>
        </p:spPr>
      </p:sp>
      <p:sp>
        <p:nvSpPr>
          <p:cNvPr id="18" name="Text 15"/>
          <p:cNvSpPr/>
          <p:nvPr/>
        </p:nvSpPr>
        <p:spPr>
          <a:xfrm>
            <a:off x="761970" y="3497580"/>
            <a:ext cx="1447770"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AI persona panels</a:t>
            </a:r>
            <a:endParaRPr lang="en-US" sz="850" dirty="0"/>
          </a:p>
        </p:txBody>
      </p:sp>
      <p:sp>
        <p:nvSpPr>
          <p:cNvPr id="19" name="Shape 17"/>
          <p:cNvSpPr/>
          <p:nvPr/>
        </p:nvSpPr>
        <p:spPr>
          <a:xfrm>
            <a:off x="761970" y="3771900"/>
            <a:ext cx="1092159" cy="215890"/>
          </a:xfrm>
          <a:prstGeom prst="roundRect">
            <a:avLst>
              <a:gd name="adj" fmla="val 50021"/>
            </a:avLst>
          </a:prstGeom>
          <a:solidFill>
            <a:srgbClr val="FFFFFF"/>
          </a:solidFill>
          <a:ln w="12700">
            <a:solidFill>
              <a:srgbClr val="16181B">
                <a:alpha val="18000"/>
              </a:srgbClr>
            </a:solidFill>
            <a:prstDash val="solid"/>
          </a:ln>
        </p:spPr>
      </p:sp>
      <p:sp>
        <p:nvSpPr>
          <p:cNvPr id="20" name="Text 17"/>
          <p:cNvSpPr/>
          <p:nvPr/>
        </p:nvSpPr>
        <p:spPr>
          <a:xfrm>
            <a:off x="761970" y="3815060"/>
            <a:ext cx="1092159"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Web research</a:t>
            </a:r>
            <a:endParaRPr lang="en-US" sz="850" dirty="0"/>
          </a:p>
        </p:txBody>
      </p:sp>
      <p:sp>
        <p:nvSpPr>
          <p:cNvPr id="21" name="Text 18"/>
          <p:cNvSpPr/>
          <p:nvPr/>
        </p:nvSpPr>
        <p:spPr>
          <a:xfrm>
            <a:off x="761970" y="434340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FIGMA</a:t>
            </a:r>
            <a:endParaRPr lang="en-US" sz="750" dirty="0"/>
          </a:p>
        </p:txBody>
      </p:sp>
      <p:sp>
        <p:nvSpPr>
          <p:cNvPr id="22" name="Shape 20"/>
          <p:cNvSpPr/>
          <p:nvPr/>
        </p:nvSpPr>
        <p:spPr>
          <a:xfrm>
            <a:off x="761970" y="4533870"/>
            <a:ext cx="1200150" cy="215890"/>
          </a:xfrm>
          <a:prstGeom prst="roundRect">
            <a:avLst>
              <a:gd name="adj" fmla="val 50021"/>
            </a:avLst>
          </a:prstGeom>
          <a:solidFill>
            <a:srgbClr val="7A5CFF">
              <a:alpha val="10000"/>
            </a:srgbClr>
          </a:solidFill>
          <a:ln/>
        </p:spPr>
      </p:sp>
      <p:sp>
        <p:nvSpPr>
          <p:cNvPr id="23" name="Shape 21"/>
          <p:cNvSpPr/>
          <p:nvPr/>
        </p:nvSpPr>
        <p:spPr>
          <a:xfrm>
            <a:off x="869960" y="4616440"/>
            <a:ext cx="57150" cy="57150"/>
          </a:xfrm>
          <a:prstGeom prst="ellipse">
            <a:avLst/>
          </a:prstGeom>
          <a:solidFill>
            <a:srgbClr val="7A5CFF"/>
          </a:solidFill>
          <a:ln/>
        </p:spPr>
      </p:sp>
      <p:sp>
        <p:nvSpPr>
          <p:cNvPr id="24" name="Text 21"/>
          <p:cNvSpPr/>
          <p:nvPr/>
        </p:nvSpPr>
        <p:spPr>
          <a:xfrm>
            <a:off x="971550" y="4577121"/>
            <a:ext cx="92711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FigJam board</a:t>
            </a:r>
            <a:endParaRPr lang="en-US" sz="850" dirty="0"/>
          </a:p>
        </p:txBody>
      </p:sp>
      <p:sp>
        <p:nvSpPr>
          <p:cNvPr id="25" name="Text 22"/>
          <p:cNvSpPr/>
          <p:nvPr/>
        </p:nvSpPr>
        <p:spPr>
          <a:xfrm>
            <a:off x="761970" y="4940320"/>
            <a:ext cx="2540020"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≈255 min · 4/5</a:t>
            </a:r>
            <a:endParaRPr lang="en-US" sz="900" dirty="0"/>
          </a:p>
        </p:txBody>
      </p:sp>
      <p:sp>
        <p:nvSpPr>
          <p:cNvPr id="26" name="Shape 24"/>
          <p:cNvSpPr/>
          <p:nvPr/>
        </p:nvSpPr>
        <p:spPr>
          <a:xfrm>
            <a:off x="761970" y="5143500"/>
            <a:ext cx="1339870" cy="190470"/>
          </a:xfrm>
          <a:prstGeom prst="roundRect">
            <a:avLst>
              <a:gd name="adj" fmla="val 50024"/>
            </a:avLst>
          </a:prstGeom>
          <a:solidFill>
            <a:srgbClr val="9AA0A6">
              <a:alpha val="18000"/>
            </a:srgbClr>
          </a:solidFill>
          <a:ln/>
        </p:spPr>
      </p:sp>
      <p:sp>
        <p:nvSpPr>
          <p:cNvPr id="27" name="Text 24"/>
          <p:cNvSpPr/>
          <p:nvPr/>
        </p:nvSpPr>
        <p:spPr>
          <a:xfrm>
            <a:off x="761970" y="5181630"/>
            <a:ext cx="1339870" cy="133320"/>
          </a:xfrm>
          <a:prstGeom prst="rect">
            <a:avLst/>
          </a:prstGeom>
          <a:noFill/>
          <a:ln/>
        </p:spPr>
        <p:txBody>
          <a:bodyPr wrap="square" lIns="0" tIns="0" rIns="0" bIns="0" rtlCol="0" anchor="t"/>
          <a:lstStyle/>
          <a:p>
            <a:pPr algn="ctr"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FIGMA STEP PENDING</a:t>
            </a:r>
            <a:endParaRPr lang="en-US" sz="750" dirty="0"/>
          </a:p>
        </p:txBody>
      </p:sp>
      <p:sp>
        <p:nvSpPr>
          <p:cNvPr id="28" name="Shape 26"/>
          <p:cNvSpPr/>
          <p:nvPr/>
        </p:nvSpPr>
        <p:spPr>
          <a:xfrm>
            <a:off x="3556010" y="2222541"/>
            <a:ext cx="330190" cy="330190"/>
          </a:xfrm>
          <a:prstGeom prst="ellipse">
            <a:avLst/>
          </a:prstGeom>
          <a:solidFill>
            <a:srgbClr val="FFFFFF"/>
          </a:solidFill>
          <a:ln w="25400">
            <a:solidFill>
              <a:srgbClr val="4FB3FF"/>
            </a:solidFill>
            <a:prstDash val="solid"/>
          </a:ln>
        </p:spPr>
      </p:sp>
      <p:sp>
        <p:nvSpPr>
          <p:cNvPr id="29" name="Text 26"/>
          <p:cNvSpPr/>
          <p:nvPr/>
        </p:nvSpPr>
        <p:spPr>
          <a:xfrm>
            <a:off x="3556010" y="2692359"/>
            <a:ext cx="190497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02</a:t>
            </a:r>
            <a:endParaRPr lang="en-US" sz="900" dirty="0"/>
          </a:p>
        </p:txBody>
      </p:sp>
      <p:sp>
        <p:nvSpPr>
          <p:cNvPr id="30" name="Text 27"/>
          <p:cNvSpPr/>
          <p:nvPr/>
        </p:nvSpPr>
        <p:spPr>
          <a:xfrm>
            <a:off x="3556010" y="2870210"/>
            <a:ext cx="2540020" cy="285750"/>
          </a:xfrm>
          <a:prstGeom prst="rect">
            <a:avLst/>
          </a:prstGeom>
          <a:noFill/>
          <a:ln/>
        </p:spPr>
        <p:txBody>
          <a:bodyPr wrap="square" lIns="0" tIns="0" rIns="0" bIns="0" rtlCol="0" anchor="t"/>
          <a:lstStyle/>
          <a:p>
            <a:pPr algn="l"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Prototyping</a:t>
            </a:r>
            <a:endParaRPr lang="en-US" sz="1872" dirty="0"/>
          </a:p>
        </p:txBody>
      </p:sp>
      <p:sp>
        <p:nvSpPr>
          <p:cNvPr id="31" name="Text 28"/>
          <p:cNvSpPr/>
          <p:nvPr/>
        </p:nvSpPr>
        <p:spPr>
          <a:xfrm>
            <a:off x="3556010" y="328928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CODE</a:t>
            </a:r>
            <a:endParaRPr lang="en-US" sz="750" dirty="0"/>
          </a:p>
        </p:txBody>
      </p:sp>
      <p:sp>
        <p:nvSpPr>
          <p:cNvPr id="32" name="Shape 30"/>
          <p:cNvSpPr/>
          <p:nvPr/>
        </p:nvSpPr>
        <p:spPr>
          <a:xfrm>
            <a:off x="3556010" y="3454420"/>
            <a:ext cx="1377909" cy="215890"/>
          </a:xfrm>
          <a:prstGeom prst="roundRect">
            <a:avLst>
              <a:gd name="adj" fmla="val 50021"/>
            </a:avLst>
          </a:prstGeom>
          <a:solidFill>
            <a:srgbClr val="FFFFFF"/>
          </a:solidFill>
          <a:ln w="12700">
            <a:solidFill>
              <a:srgbClr val="16181B">
                <a:alpha val="18000"/>
              </a:srgbClr>
            </a:solidFill>
            <a:prstDash val="solid"/>
          </a:ln>
        </p:spPr>
      </p:sp>
      <p:sp>
        <p:nvSpPr>
          <p:cNvPr id="33" name="Text 30"/>
          <p:cNvSpPr/>
          <p:nvPr/>
        </p:nvSpPr>
        <p:spPr>
          <a:xfrm>
            <a:off x="3556010" y="3497580"/>
            <a:ext cx="1377909"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binary-pill.html</a:t>
            </a:r>
            <a:endParaRPr lang="en-US" sz="850" dirty="0"/>
          </a:p>
        </p:txBody>
      </p:sp>
      <p:sp>
        <p:nvSpPr>
          <p:cNvPr id="34" name="Shape 32"/>
          <p:cNvSpPr/>
          <p:nvPr/>
        </p:nvSpPr>
        <p:spPr>
          <a:xfrm>
            <a:off x="3556010" y="3771900"/>
            <a:ext cx="1447770" cy="215890"/>
          </a:xfrm>
          <a:prstGeom prst="roundRect">
            <a:avLst>
              <a:gd name="adj" fmla="val 50021"/>
            </a:avLst>
          </a:prstGeom>
          <a:solidFill>
            <a:srgbClr val="FFFFFF"/>
          </a:solidFill>
          <a:ln w="12700">
            <a:solidFill>
              <a:srgbClr val="16181B">
                <a:alpha val="18000"/>
              </a:srgbClr>
            </a:solidFill>
            <a:prstDash val="solid"/>
          </a:ln>
        </p:spPr>
      </p:sp>
      <p:sp>
        <p:nvSpPr>
          <p:cNvPr id="35" name="Text 32"/>
          <p:cNvSpPr/>
          <p:nvPr/>
        </p:nvSpPr>
        <p:spPr>
          <a:xfrm>
            <a:off x="3556010" y="3815060"/>
            <a:ext cx="1447770"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Phone mock (Vite)</a:t>
            </a:r>
            <a:endParaRPr lang="en-US" sz="850" dirty="0"/>
          </a:p>
        </p:txBody>
      </p:sp>
      <p:sp>
        <p:nvSpPr>
          <p:cNvPr id="36" name="Text 33"/>
          <p:cNvSpPr/>
          <p:nvPr/>
        </p:nvSpPr>
        <p:spPr>
          <a:xfrm>
            <a:off x="3556010" y="434340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FIGMA</a:t>
            </a:r>
            <a:endParaRPr lang="en-US" sz="750" dirty="0"/>
          </a:p>
        </p:txBody>
      </p:sp>
      <p:sp>
        <p:nvSpPr>
          <p:cNvPr id="37" name="Shape 35"/>
          <p:cNvSpPr/>
          <p:nvPr/>
        </p:nvSpPr>
        <p:spPr>
          <a:xfrm>
            <a:off x="3556010" y="4533870"/>
            <a:ext cx="1555760" cy="215890"/>
          </a:xfrm>
          <a:prstGeom prst="roundRect">
            <a:avLst>
              <a:gd name="adj" fmla="val 50021"/>
            </a:avLst>
          </a:prstGeom>
          <a:solidFill>
            <a:srgbClr val="7A5CFF">
              <a:alpha val="10000"/>
            </a:srgbClr>
          </a:solidFill>
          <a:ln/>
        </p:spPr>
      </p:sp>
      <p:sp>
        <p:nvSpPr>
          <p:cNvPr id="38" name="Shape 36"/>
          <p:cNvSpPr/>
          <p:nvPr/>
        </p:nvSpPr>
        <p:spPr>
          <a:xfrm>
            <a:off x="3663909" y="4616440"/>
            <a:ext cx="57150" cy="57150"/>
          </a:xfrm>
          <a:prstGeom prst="ellipse">
            <a:avLst/>
          </a:prstGeom>
          <a:solidFill>
            <a:srgbClr val="7A5CFF"/>
          </a:solidFill>
          <a:ln/>
        </p:spPr>
      </p:sp>
      <p:sp>
        <p:nvSpPr>
          <p:cNvPr id="39" name="Text 36"/>
          <p:cNvSpPr/>
          <p:nvPr/>
        </p:nvSpPr>
        <p:spPr>
          <a:xfrm>
            <a:off x="3765591" y="4577121"/>
            <a:ext cx="128272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Figma Make prompt</a:t>
            </a:r>
            <a:endParaRPr lang="en-US" sz="850" dirty="0"/>
          </a:p>
        </p:txBody>
      </p:sp>
      <p:sp>
        <p:nvSpPr>
          <p:cNvPr id="40" name="Text 37"/>
          <p:cNvSpPr/>
          <p:nvPr/>
        </p:nvSpPr>
        <p:spPr>
          <a:xfrm>
            <a:off x="3556010" y="4940320"/>
            <a:ext cx="2540020"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≈65 min · 3/5</a:t>
            </a:r>
            <a:endParaRPr lang="en-US" sz="900" dirty="0"/>
          </a:p>
        </p:txBody>
      </p:sp>
      <p:sp>
        <p:nvSpPr>
          <p:cNvPr id="41" name="Shape 39"/>
          <p:cNvSpPr/>
          <p:nvPr/>
        </p:nvSpPr>
        <p:spPr>
          <a:xfrm>
            <a:off x="3556010" y="5143500"/>
            <a:ext cx="1339870" cy="190470"/>
          </a:xfrm>
          <a:prstGeom prst="roundRect">
            <a:avLst>
              <a:gd name="adj" fmla="val 50024"/>
            </a:avLst>
          </a:prstGeom>
          <a:solidFill>
            <a:srgbClr val="9AA0A6">
              <a:alpha val="18000"/>
            </a:srgbClr>
          </a:solidFill>
          <a:ln/>
        </p:spPr>
      </p:sp>
      <p:sp>
        <p:nvSpPr>
          <p:cNvPr id="42" name="Text 39"/>
          <p:cNvSpPr/>
          <p:nvPr/>
        </p:nvSpPr>
        <p:spPr>
          <a:xfrm>
            <a:off x="3556010" y="5181630"/>
            <a:ext cx="1339870" cy="133320"/>
          </a:xfrm>
          <a:prstGeom prst="rect">
            <a:avLst/>
          </a:prstGeom>
          <a:noFill/>
          <a:ln/>
        </p:spPr>
        <p:txBody>
          <a:bodyPr wrap="square" lIns="0" tIns="0" rIns="0" bIns="0" rtlCol="0" anchor="t"/>
          <a:lstStyle/>
          <a:p>
            <a:pPr algn="ctr"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FIGMA STEP PENDING</a:t>
            </a:r>
            <a:endParaRPr lang="en-US" sz="750" dirty="0"/>
          </a:p>
        </p:txBody>
      </p:sp>
      <p:sp>
        <p:nvSpPr>
          <p:cNvPr id="43" name="Shape 41"/>
          <p:cNvSpPr/>
          <p:nvPr/>
        </p:nvSpPr>
        <p:spPr>
          <a:xfrm>
            <a:off x="6349959" y="2222541"/>
            <a:ext cx="330190" cy="330190"/>
          </a:xfrm>
          <a:prstGeom prst="ellipse">
            <a:avLst/>
          </a:prstGeom>
          <a:solidFill>
            <a:srgbClr val="FFFFFF"/>
          </a:solidFill>
          <a:ln w="25400">
            <a:solidFill>
              <a:srgbClr val="4FB3FF"/>
            </a:solidFill>
            <a:prstDash val="solid"/>
          </a:ln>
        </p:spPr>
      </p:sp>
      <p:sp>
        <p:nvSpPr>
          <p:cNvPr id="44" name="Text 41"/>
          <p:cNvSpPr/>
          <p:nvPr/>
        </p:nvSpPr>
        <p:spPr>
          <a:xfrm>
            <a:off x="6349959" y="2692359"/>
            <a:ext cx="190497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03</a:t>
            </a:r>
            <a:endParaRPr lang="en-US" sz="900" dirty="0"/>
          </a:p>
        </p:txBody>
      </p:sp>
      <p:sp>
        <p:nvSpPr>
          <p:cNvPr id="45" name="Text 42"/>
          <p:cNvSpPr/>
          <p:nvPr/>
        </p:nvSpPr>
        <p:spPr>
          <a:xfrm>
            <a:off x="6349959" y="2870210"/>
            <a:ext cx="2540020" cy="285750"/>
          </a:xfrm>
          <a:prstGeom prst="rect">
            <a:avLst/>
          </a:prstGeom>
          <a:noFill/>
          <a:ln/>
        </p:spPr>
        <p:txBody>
          <a:bodyPr wrap="square" lIns="0" tIns="0" rIns="0" bIns="0" rtlCol="0" anchor="t"/>
          <a:lstStyle/>
          <a:p>
            <a:pPr algn="l"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Handoff</a:t>
            </a:r>
            <a:endParaRPr lang="en-US" sz="1872" dirty="0"/>
          </a:p>
        </p:txBody>
      </p:sp>
      <p:sp>
        <p:nvSpPr>
          <p:cNvPr id="46" name="Text 43"/>
          <p:cNvSpPr/>
          <p:nvPr/>
        </p:nvSpPr>
        <p:spPr>
          <a:xfrm>
            <a:off x="6349959" y="328928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CODE</a:t>
            </a:r>
            <a:endParaRPr lang="en-US" sz="750" dirty="0"/>
          </a:p>
        </p:txBody>
      </p:sp>
      <p:sp>
        <p:nvSpPr>
          <p:cNvPr id="47" name="Shape 45"/>
          <p:cNvSpPr/>
          <p:nvPr/>
        </p:nvSpPr>
        <p:spPr>
          <a:xfrm>
            <a:off x="6349959" y="3454420"/>
            <a:ext cx="1517630" cy="215890"/>
          </a:xfrm>
          <a:prstGeom prst="roundRect">
            <a:avLst>
              <a:gd name="adj" fmla="val 50021"/>
            </a:avLst>
          </a:prstGeom>
          <a:solidFill>
            <a:srgbClr val="FFFFFF"/>
          </a:solidFill>
          <a:ln w="12700">
            <a:solidFill>
              <a:srgbClr val="16181B">
                <a:alpha val="18000"/>
              </a:srgbClr>
            </a:solidFill>
            <a:prstDash val="solid"/>
          </a:ln>
        </p:spPr>
      </p:sp>
      <p:sp>
        <p:nvSpPr>
          <p:cNvPr id="48" name="Text 45"/>
          <p:cNvSpPr/>
          <p:nvPr/>
        </p:nvSpPr>
        <p:spPr>
          <a:xfrm>
            <a:off x="6349959" y="3497580"/>
            <a:ext cx="1517630"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CSS :root, by hand</a:t>
            </a:r>
            <a:endParaRPr lang="en-US" sz="850" dirty="0"/>
          </a:p>
        </p:txBody>
      </p:sp>
      <p:sp>
        <p:nvSpPr>
          <p:cNvPr id="49" name="Text 46"/>
          <p:cNvSpPr/>
          <p:nvPr/>
        </p:nvSpPr>
        <p:spPr>
          <a:xfrm>
            <a:off x="6349959" y="402592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FIGMA</a:t>
            </a:r>
            <a:endParaRPr lang="en-US" sz="750" dirty="0"/>
          </a:p>
        </p:txBody>
      </p:sp>
      <p:sp>
        <p:nvSpPr>
          <p:cNvPr id="50" name="Shape 48"/>
          <p:cNvSpPr/>
          <p:nvPr/>
        </p:nvSpPr>
        <p:spPr>
          <a:xfrm>
            <a:off x="6349959" y="4216390"/>
            <a:ext cx="1625620" cy="215890"/>
          </a:xfrm>
          <a:prstGeom prst="roundRect">
            <a:avLst>
              <a:gd name="adj" fmla="val 50021"/>
            </a:avLst>
          </a:prstGeom>
          <a:solidFill>
            <a:srgbClr val="7A5CFF">
              <a:alpha val="10000"/>
            </a:srgbClr>
          </a:solidFill>
          <a:ln/>
        </p:spPr>
      </p:sp>
      <p:sp>
        <p:nvSpPr>
          <p:cNvPr id="51" name="Shape 49"/>
          <p:cNvSpPr/>
          <p:nvPr/>
        </p:nvSpPr>
        <p:spPr>
          <a:xfrm>
            <a:off x="6457950" y="4298960"/>
            <a:ext cx="57150" cy="57150"/>
          </a:xfrm>
          <a:prstGeom prst="ellipse">
            <a:avLst/>
          </a:prstGeom>
          <a:solidFill>
            <a:srgbClr val="7A5CFF"/>
          </a:solidFill>
          <a:ln/>
        </p:spPr>
      </p:sp>
      <p:sp>
        <p:nvSpPr>
          <p:cNvPr id="52" name="Text 49"/>
          <p:cNvSpPr/>
          <p:nvPr/>
        </p:nvSpPr>
        <p:spPr>
          <a:xfrm>
            <a:off x="6559540" y="4259550"/>
            <a:ext cx="135258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Styles + variables</a:t>
            </a:r>
            <a:endParaRPr lang="en-US" sz="850" dirty="0"/>
          </a:p>
        </p:txBody>
      </p:sp>
      <p:sp>
        <p:nvSpPr>
          <p:cNvPr id="53" name="Shape 51"/>
          <p:cNvSpPr/>
          <p:nvPr/>
        </p:nvSpPr>
        <p:spPr>
          <a:xfrm>
            <a:off x="6349959" y="4533870"/>
            <a:ext cx="1339870" cy="215890"/>
          </a:xfrm>
          <a:prstGeom prst="roundRect">
            <a:avLst>
              <a:gd name="adj" fmla="val 50021"/>
            </a:avLst>
          </a:prstGeom>
          <a:solidFill>
            <a:srgbClr val="7A5CFF">
              <a:alpha val="10000"/>
            </a:srgbClr>
          </a:solidFill>
          <a:ln/>
        </p:spPr>
      </p:sp>
      <p:sp>
        <p:nvSpPr>
          <p:cNvPr id="54" name="Shape 52"/>
          <p:cNvSpPr/>
          <p:nvPr/>
        </p:nvSpPr>
        <p:spPr>
          <a:xfrm>
            <a:off x="6457950" y="4616440"/>
            <a:ext cx="57150" cy="57150"/>
          </a:xfrm>
          <a:prstGeom prst="ellipse">
            <a:avLst/>
          </a:prstGeom>
          <a:solidFill>
            <a:srgbClr val="7A5CFF"/>
          </a:solidFill>
          <a:ln/>
        </p:spPr>
      </p:sp>
      <p:sp>
        <p:nvSpPr>
          <p:cNvPr id="55" name="Text 52"/>
          <p:cNvSpPr/>
          <p:nvPr/>
        </p:nvSpPr>
        <p:spPr>
          <a:xfrm>
            <a:off x="6559540" y="4577121"/>
            <a:ext cx="106683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Composio → CSS</a:t>
            </a:r>
            <a:endParaRPr lang="en-US" sz="850" dirty="0"/>
          </a:p>
        </p:txBody>
      </p:sp>
      <p:sp>
        <p:nvSpPr>
          <p:cNvPr id="56" name="Text 53"/>
          <p:cNvSpPr/>
          <p:nvPr/>
        </p:nvSpPr>
        <p:spPr>
          <a:xfrm>
            <a:off x="6349959" y="4940320"/>
            <a:ext cx="2540020"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≈7 min · 2/5</a:t>
            </a:r>
            <a:endParaRPr lang="en-US" sz="900" dirty="0"/>
          </a:p>
        </p:txBody>
      </p:sp>
      <p:sp>
        <p:nvSpPr>
          <p:cNvPr id="57" name="Shape 55"/>
          <p:cNvSpPr/>
          <p:nvPr/>
        </p:nvSpPr>
        <p:spPr>
          <a:xfrm>
            <a:off x="6349959" y="5143500"/>
            <a:ext cx="1339870" cy="190470"/>
          </a:xfrm>
          <a:prstGeom prst="roundRect">
            <a:avLst>
              <a:gd name="adj" fmla="val 50024"/>
            </a:avLst>
          </a:prstGeom>
          <a:solidFill>
            <a:srgbClr val="9AA0A6">
              <a:alpha val="18000"/>
            </a:srgbClr>
          </a:solidFill>
          <a:ln/>
        </p:spPr>
      </p:sp>
      <p:sp>
        <p:nvSpPr>
          <p:cNvPr id="58" name="Text 55"/>
          <p:cNvSpPr/>
          <p:nvPr/>
        </p:nvSpPr>
        <p:spPr>
          <a:xfrm>
            <a:off x="6349959" y="5181630"/>
            <a:ext cx="1339870" cy="133320"/>
          </a:xfrm>
          <a:prstGeom prst="rect">
            <a:avLst/>
          </a:prstGeom>
          <a:noFill/>
          <a:ln/>
        </p:spPr>
        <p:txBody>
          <a:bodyPr wrap="square" lIns="0" tIns="0" rIns="0" bIns="0" rtlCol="0" anchor="t"/>
          <a:lstStyle/>
          <a:p>
            <a:pPr algn="ctr"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FIGMA STEP PENDING</a:t>
            </a:r>
            <a:endParaRPr lang="en-US" sz="750" dirty="0"/>
          </a:p>
        </p:txBody>
      </p:sp>
      <p:sp>
        <p:nvSpPr>
          <p:cNvPr id="59" name="Shape 57"/>
          <p:cNvSpPr/>
          <p:nvPr/>
        </p:nvSpPr>
        <p:spPr>
          <a:xfrm>
            <a:off x="9144000" y="2222541"/>
            <a:ext cx="330190" cy="330190"/>
          </a:xfrm>
          <a:prstGeom prst="ellipse">
            <a:avLst/>
          </a:prstGeom>
          <a:solidFill>
            <a:srgbClr val="4FB3FF"/>
          </a:solidFill>
          <a:ln w="25400">
            <a:solidFill>
              <a:srgbClr val="4FB3FF"/>
            </a:solidFill>
            <a:prstDash val="solid"/>
          </a:ln>
        </p:spPr>
      </p:sp>
      <p:sp>
        <p:nvSpPr>
          <p:cNvPr id="60" name="Text 57"/>
          <p:cNvSpPr/>
          <p:nvPr/>
        </p:nvSpPr>
        <p:spPr>
          <a:xfrm>
            <a:off x="9144000" y="2692359"/>
            <a:ext cx="190497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04</a:t>
            </a:r>
            <a:endParaRPr lang="en-US" sz="900" dirty="0"/>
          </a:p>
        </p:txBody>
      </p:sp>
      <p:sp>
        <p:nvSpPr>
          <p:cNvPr id="61" name="Text 58"/>
          <p:cNvSpPr/>
          <p:nvPr/>
        </p:nvSpPr>
        <p:spPr>
          <a:xfrm>
            <a:off x="9144000" y="2870210"/>
            <a:ext cx="2540020" cy="285750"/>
          </a:xfrm>
          <a:prstGeom prst="rect">
            <a:avLst/>
          </a:prstGeom>
          <a:noFill/>
          <a:ln/>
        </p:spPr>
        <p:txBody>
          <a:bodyPr wrap="square" lIns="0" tIns="0" rIns="0" bIns="0" rtlCol="0" anchor="t"/>
          <a:lstStyle/>
          <a:p>
            <a:pPr algn="l"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Code generation</a:t>
            </a:r>
            <a:endParaRPr lang="en-US" sz="1872" dirty="0"/>
          </a:p>
        </p:txBody>
      </p:sp>
      <p:sp>
        <p:nvSpPr>
          <p:cNvPr id="62" name="Text 59"/>
          <p:cNvSpPr/>
          <p:nvPr/>
        </p:nvSpPr>
        <p:spPr>
          <a:xfrm>
            <a:off x="9144000" y="328928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CODE</a:t>
            </a:r>
            <a:endParaRPr lang="en-US" sz="750" dirty="0"/>
          </a:p>
        </p:txBody>
      </p:sp>
      <p:sp>
        <p:nvSpPr>
          <p:cNvPr id="63" name="Shape 61"/>
          <p:cNvSpPr/>
          <p:nvPr/>
        </p:nvSpPr>
        <p:spPr>
          <a:xfrm>
            <a:off x="9144000" y="3454420"/>
            <a:ext cx="1949409" cy="215890"/>
          </a:xfrm>
          <a:prstGeom prst="roundRect">
            <a:avLst>
              <a:gd name="adj" fmla="val 50021"/>
            </a:avLst>
          </a:prstGeom>
          <a:solidFill>
            <a:srgbClr val="FFFFFF"/>
          </a:solidFill>
          <a:ln w="12700">
            <a:solidFill>
              <a:srgbClr val="16181B">
                <a:alpha val="18000"/>
              </a:srgbClr>
            </a:solidFill>
            <a:prstDash val="solid"/>
          </a:ln>
        </p:spPr>
      </p:sp>
      <p:sp>
        <p:nvSpPr>
          <p:cNvPr id="64" name="Text 61"/>
          <p:cNvSpPr/>
          <p:nvPr/>
        </p:nvSpPr>
        <p:spPr>
          <a:xfrm>
            <a:off x="9144000" y="3497580"/>
            <a:ext cx="1949409"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Claude Code + 3 builders</a:t>
            </a:r>
            <a:endParaRPr lang="en-US" sz="850" dirty="0"/>
          </a:p>
        </p:txBody>
      </p:sp>
      <p:sp>
        <p:nvSpPr>
          <p:cNvPr id="65" name="Text 62"/>
          <p:cNvSpPr/>
          <p:nvPr/>
        </p:nvSpPr>
        <p:spPr>
          <a:xfrm>
            <a:off x="9144000" y="402592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FIGMA</a:t>
            </a:r>
            <a:endParaRPr lang="en-US" sz="750" dirty="0"/>
          </a:p>
        </p:txBody>
      </p:sp>
      <p:sp>
        <p:nvSpPr>
          <p:cNvPr id="66" name="Shape 64"/>
          <p:cNvSpPr/>
          <p:nvPr/>
        </p:nvSpPr>
        <p:spPr>
          <a:xfrm>
            <a:off x="9144000" y="4216390"/>
            <a:ext cx="1701790" cy="215890"/>
          </a:xfrm>
          <a:prstGeom prst="roundRect">
            <a:avLst>
              <a:gd name="adj" fmla="val 50021"/>
            </a:avLst>
          </a:prstGeom>
          <a:solidFill>
            <a:srgbClr val="7A5CFF">
              <a:alpha val="10000"/>
            </a:srgbClr>
          </a:solidFill>
          <a:ln/>
        </p:spPr>
      </p:sp>
      <p:sp>
        <p:nvSpPr>
          <p:cNvPr id="67" name="Shape 65"/>
          <p:cNvSpPr/>
          <p:nvPr/>
        </p:nvSpPr>
        <p:spPr>
          <a:xfrm>
            <a:off x="9251991" y="4298960"/>
            <a:ext cx="57150" cy="57150"/>
          </a:xfrm>
          <a:prstGeom prst="ellipse">
            <a:avLst/>
          </a:prstGeom>
          <a:solidFill>
            <a:srgbClr val="7A5CFF"/>
          </a:solidFill>
          <a:ln/>
        </p:spPr>
      </p:sp>
      <p:sp>
        <p:nvSpPr>
          <p:cNvPr id="68" name="Text 65"/>
          <p:cNvSpPr/>
          <p:nvPr/>
        </p:nvSpPr>
        <p:spPr>
          <a:xfrm>
            <a:off x="9353580" y="4259550"/>
            <a:ext cx="142875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Pill → Figma plugin</a:t>
            </a:r>
            <a:endParaRPr lang="en-US" sz="850" dirty="0"/>
          </a:p>
        </p:txBody>
      </p:sp>
      <p:sp>
        <p:nvSpPr>
          <p:cNvPr id="69" name="Text 66"/>
          <p:cNvSpPr/>
          <p:nvPr/>
        </p:nvSpPr>
        <p:spPr>
          <a:xfrm>
            <a:off x="9144000" y="4622841"/>
            <a:ext cx="2540020"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≈92 min · 4/5</a:t>
            </a:r>
            <a:endParaRPr lang="en-US" sz="900" dirty="0"/>
          </a:p>
        </p:txBody>
      </p:sp>
      <p:sp>
        <p:nvSpPr>
          <p:cNvPr id="70" name="Shape 68"/>
          <p:cNvSpPr/>
          <p:nvPr/>
        </p:nvSpPr>
        <p:spPr>
          <a:xfrm>
            <a:off x="9144000" y="4826020"/>
            <a:ext cx="1339870" cy="190470"/>
          </a:xfrm>
          <a:prstGeom prst="roundRect">
            <a:avLst>
              <a:gd name="adj" fmla="val 50024"/>
            </a:avLst>
          </a:prstGeom>
          <a:solidFill>
            <a:srgbClr val="9AA0A6">
              <a:alpha val="18000"/>
            </a:srgbClr>
          </a:solidFill>
          <a:ln/>
        </p:spPr>
      </p:sp>
      <p:sp>
        <p:nvSpPr>
          <p:cNvPr id="71" name="Text 68"/>
          <p:cNvSpPr/>
          <p:nvPr/>
        </p:nvSpPr>
        <p:spPr>
          <a:xfrm>
            <a:off x="9144000" y="4864059"/>
            <a:ext cx="1339870" cy="133320"/>
          </a:xfrm>
          <a:prstGeom prst="rect">
            <a:avLst/>
          </a:prstGeom>
          <a:noFill/>
          <a:ln/>
        </p:spPr>
        <p:txBody>
          <a:bodyPr wrap="square" lIns="0" tIns="0" rIns="0" bIns="0" rtlCol="0" anchor="t"/>
          <a:lstStyle/>
          <a:p>
            <a:pPr algn="ctr"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FIGMA STEP PENDING</a:t>
            </a:r>
            <a:endParaRPr lang="en-US" sz="750" dirty="0"/>
          </a:p>
        </p:txBody>
      </p:sp>
      <p:sp>
        <p:nvSpPr>
          <p:cNvPr id="72" name="Text 69"/>
          <p:cNvSpPr/>
          <p:nvPr/>
        </p:nvSpPr>
        <p:spPr>
          <a:xfrm>
            <a:off x="761970" y="6083320"/>
            <a:ext cx="10668030" cy="228600"/>
          </a:xfrm>
          <a:prstGeom prst="rect">
            <a:avLst/>
          </a:prstGeom>
          <a:noFill/>
          <a:ln/>
        </p:spPr>
        <p:txBody>
          <a:bodyPr wrap="square" lIns="0" tIns="0" rIns="0" bIns="0" rtlCol="0" anchor="t"/>
          <a:lstStyle/>
          <a:p>
            <a:pPr algn="l" indent="0" marL="0">
              <a:lnSpc>
                <a:spcPct val="140000"/>
              </a:lnSpc>
              <a:buNone/>
            </a:pPr>
            <a:r>
              <a:rPr lang="en-US" sz="1100" dirty="0">
                <a:solidFill>
                  <a:srgbClr val="4A4E55"/>
                </a:solidFill>
                <a:latin typeface="Inter" pitchFamily="34" charset="0"/>
                <a:ea typeface="Inter" pitchFamily="34" charset="-122"/>
                <a:cs typeface="Inter" pitchFamily="34" charset="-120"/>
              </a:rPr>
              <a:t>Honest order: no Figma was used Friday or Saturday morning. The Figma files are generated from the repo, and the log says so.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FIGMA STEP</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15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27060"/>
          </a:xfrm>
          <a:prstGeom prst="rect">
            <a:avLst/>
          </a:prstGeom>
          <a:noFill/>
          <a:ln/>
        </p:spPr>
        <p:txBody>
          <a:bodyPr wrap="square" lIns="0" tIns="0" rIns="0" bIns="0" rtlCol="0" anchor="t"/>
          <a:lstStyle/>
          <a:p>
            <a:pPr algn="l" indent="0" marL="0">
              <a:lnSpc>
                <a:spcPct val="100000"/>
              </a:lnSpc>
              <a:buNone/>
            </a:pPr>
            <a:r>
              <a:rPr lang="en-US" sz="3432" spc="-51" kern="0" dirty="0">
                <a:solidFill>
                  <a:srgbClr val="16181B"/>
                </a:solidFill>
                <a:latin typeface="Instrument Serif" pitchFamily="34" charset="0"/>
                <a:ea typeface="Instrument Serif" pitchFamily="34" charset="-122"/>
                <a:cs typeface="Instrument Serif" pitchFamily="34" charset="-120"/>
              </a:rPr>
              <a:t>This deck was </a:t>
            </a:r>
            <a:pPr algn="l" indent="0" marL="0">
              <a:lnSpc>
                <a:spcPct val="100000"/>
              </a:lnSpc>
              <a:buNone/>
            </a:pPr>
            <a:r>
              <a:rPr lang="en-US" sz="3432" i="1" spc="-51" kern="0" dirty="0">
                <a:solidFill>
                  <a:srgbClr val="16181B"/>
                </a:solidFill>
                <a:latin typeface="Instrument Serif" pitchFamily="34" charset="0"/>
                <a:ea typeface="Instrument Serif" pitchFamily="34" charset="-122"/>
                <a:cs typeface="Instrument Serif" pitchFamily="34" charset="-120"/>
              </a:rPr>
              <a:t>generated from the repo.</a:t>
            </a:r>
            <a:endParaRPr lang="en-US" sz="3432" dirty="0"/>
          </a:p>
        </p:txBody>
      </p:sp>
      <p:sp>
        <p:nvSpPr>
          <p:cNvPr id="11" name="Shape 9"/>
          <p:cNvSpPr/>
          <p:nvPr/>
        </p:nvSpPr>
        <p:spPr>
          <a:xfrm>
            <a:off x="761970" y="2508291"/>
            <a:ext cx="1460480" cy="952530"/>
          </a:xfrm>
          <a:prstGeom prst="roundRect">
            <a:avLst>
              <a:gd name="adj" fmla="val 14668"/>
            </a:avLst>
          </a:prstGeom>
          <a:solidFill>
            <a:srgbClr val="FFFFFF"/>
          </a:solidFill>
          <a:ln w="12700">
            <a:solidFill>
              <a:srgbClr val="16181B">
                <a:alpha val="10000"/>
              </a:srgbClr>
            </a:solidFill>
            <a:prstDash val="solid"/>
          </a:ln>
        </p:spPr>
      </p:sp>
      <p:sp>
        <p:nvSpPr>
          <p:cNvPr id="12" name="Text 9"/>
          <p:cNvSpPr/>
          <p:nvPr/>
        </p:nvSpPr>
        <p:spPr>
          <a:xfrm>
            <a:off x="914400" y="2647920"/>
            <a:ext cx="115571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repo</a:t>
            </a:r>
            <a:endParaRPr lang="en-US" sz="1050" dirty="0"/>
          </a:p>
        </p:txBody>
      </p:sp>
      <p:sp>
        <p:nvSpPr>
          <p:cNvPr id="13" name="Text 10"/>
          <p:cNvSpPr/>
          <p:nvPr/>
        </p:nvSpPr>
        <p:spPr>
          <a:xfrm>
            <a:off x="914400" y="2876520"/>
            <a:ext cx="115571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screenshots · CSS :root · debate JSON · stage log</a:t>
            </a:r>
            <a:endParaRPr lang="en-US" sz="850" dirty="0"/>
          </a:p>
        </p:txBody>
      </p:sp>
      <p:sp>
        <p:nvSpPr>
          <p:cNvPr id="14" name="Shape 12"/>
          <p:cNvSpPr/>
          <p:nvPr/>
        </p:nvSpPr>
        <p:spPr>
          <a:xfrm>
            <a:off x="2603480" y="2508291"/>
            <a:ext cx="1587490" cy="952530"/>
          </a:xfrm>
          <a:prstGeom prst="roundRect">
            <a:avLst>
              <a:gd name="adj" fmla="val 14668"/>
            </a:avLst>
          </a:prstGeom>
          <a:solidFill>
            <a:srgbClr val="FFFFFF"/>
          </a:solidFill>
          <a:ln w="12700">
            <a:solidFill>
              <a:srgbClr val="16181B">
                <a:alpha val="10000"/>
              </a:srgbClr>
            </a:solidFill>
            <a:prstDash val="solid"/>
          </a:ln>
        </p:spPr>
      </p:sp>
      <p:sp>
        <p:nvSpPr>
          <p:cNvPr id="15" name="Text 12"/>
          <p:cNvSpPr/>
          <p:nvPr/>
        </p:nvSpPr>
        <p:spPr>
          <a:xfrm>
            <a:off x="2755910" y="2647920"/>
            <a:ext cx="128272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build-deck.mjs</a:t>
            </a:r>
            <a:endParaRPr lang="en-US" sz="1050" dirty="0"/>
          </a:p>
        </p:txBody>
      </p:sp>
      <p:sp>
        <p:nvSpPr>
          <p:cNvPr id="16" name="Text 13"/>
          <p:cNvSpPr/>
          <p:nvPr/>
        </p:nvSpPr>
        <p:spPr>
          <a:xfrm>
            <a:off x="2755910" y="2876520"/>
            <a:ext cx="1282720" cy="32388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Node, no npm deps; ffmpeg for images</a:t>
            </a:r>
            <a:endParaRPr lang="en-US" sz="850" dirty="0"/>
          </a:p>
        </p:txBody>
      </p:sp>
      <p:sp>
        <p:nvSpPr>
          <p:cNvPr id="17" name="Shape 15"/>
          <p:cNvSpPr/>
          <p:nvPr/>
        </p:nvSpPr>
        <p:spPr>
          <a:xfrm>
            <a:off x="4572000" y="2508291"/>
            <a:ext cx="1460480" cy="952530"/>
          </a:xfrm>
          <a:prstGeom prst="roundRect">
            <a:avLst>
              <a:gd name="adj" fmla="val 14668"/>
            </a:avLst>
          </a:prstGeom>
          <a:solidFill>
            <a:srgbClr val="FFFFFF"/>
          </a:solidFill>
          <a:ln w="12700">
            <a:solidFill>
              <a:srgbClr val="16181B">
                <a:alpha val="10000"/>
              </a:srgbClr>
            </a:solidFill>
            <a:prstDash val="solid"/>
          </a:ln>
        </p:spPr>
      </p:sp>
      <p:sp>
        <p:nvSpPr>
          <p:cNvPr id="18" name="Text 15"/>
          <p:cNvSpPr/>
          <p:nvPr/>
        </p:nvSpPr>
        <p:spPr>
          <a:xfrm>
            <a:off x="4724430" y="2647920"/>
            <a:ext cx="115571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deck.json</a:t>
            </a:r>
            <a:endParaRPr lang="en-US" sz="1050" dirty="0"/>
          </a:p>
        </p:txBody>
      </p:sp>
      <p:sp>
        <p:nvSpPr>
          <p:cNvPr id="19" name="Text 16"/>
          <p:cNvSpPr/>
          <p:nvPr/>
        </p:nvSpPr>
        <p:spPr>
          <a:xfrm>
            <a:off x="4724430" y="2876520"/>
            <a:ext cx="1155710" cy="32388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slides, pages and board in one file</a:t>
            </a:r>
            <a:endParaRPr lang="en-US" sz="850" dirty="0"/>
          </a:p>
        </p:txBody>
      </p:sp>
      <p:sp>
        <p:nvSpPr>
          <p:cNvPr id="20" name="Shape 18"/>
          <p:cNvSpPr/>
          <p:nvPr/>
        </p:nvSpPr>
        <p:spPr>
          <a:xfrm>
            <a:off x="6413510" y="2508291"/>
            <a:ext cx="1587490" cy="952530"/>
          </a:xfrm>
          <a:prstGeom prst="roundRect">
            <a:avLst>
              <a:gd name="adj" fmla="val 14668"/>
            </a:avLst>
          </a:prstGeom>
          <a:solidFill>
            <a:srgbClr val="7A5CFF">
              <a:alpha val="10000"/>
            </a:srgbClr>
          </a:solidFill>
          <a:ln w="12700">
            <a:solidFill>
              <a:srgbClr val="7A5CFF">
                <a:alpha val="35000"/>
              </a:srgbClr>
            </a:solidFill>
            <a:prstDash val="solid"/>
          </a:ln>
        </p:spPr>
      </p:sp>
      <p:sp>
        <p:nvSpPr>
          <p:cNvPr id="21" name="Text 18"/>
          <p:cNvSpPr/>
          <p:nvPr/>
        </p:nvSpPr>
        <p:spPr>
          <a:xfrm>
            <a:off x="6565941" y="2647920"/>
            <a:ext cx="128272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Pill → Figma</a:t>
            </a:r>
            <a:endParaRPr lang="en-US" sz="1050" dirty="0"/>
          </a:p>
        </p:txBody>
      </p:sp>
      <p:sp>
        <p:nvSpPr>
          <p:cNvPr id="22" name="Text 19"/>
          <p:cNvSpPr/>
          <p:nvPr/>
        </p:nvSpPr>
        <p:spPr>
          <a:xfrm>
            <a:off x="6565941" y="2876520"/>
            <a:ext cx="1282720" cy="32388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one-file plugin that draws deck.json</a:t>
            </a:r>
            <a:endParaRPr lang="en-US" sz="850" dirty="0"/>
          </a:p>
        </p:txBody>
      </p:sp>
      <p:sp>
        <p:nvSpPr>
          <p:cNvPr id="23" name="Shape 21"/>
          <p:cNvSpPr/>
          <p:nvPr/>
        </p:nvSpPr>
        <p:spPr>
          <a:xfrm>
            <a:off x="2228850" y="2920959"/>
            <a:ext cx="355610" cy="127010"/>
          </a:xfrm>
          <a:custGeom>
            <a:avLst/>
            <a:gdLst/>
            <a:ahLst/>
            <a:cxnLst/>
            <a:rect l="l" t="t" r="r" b="b"/>
            <a:pathLst>
              <a:path w="355610" h="127010">
                <a:moveTo>
                  <a:pt x="19020" y="63459"/>
                </a:moveTo>
                <a:lnTo>
                  <a:pt x="336591" y="63459"/>
                </a:lnTo>
                <a:moveTo>
                  <a:pt x="258409" y="106070"/>
                </a:moveTo>
                <a:lnTo>
                  <a:pt x="336591" y="63459"/>
                </a:lnTo>
                <a:lnTo>
                  <a:pt x="258409" y="20940"/>
                </a:lnTo>
              </a:path>
            </a:pathLst>
          </a:custGeom>
          <a:ln w="19050">
            <a:solidFill>
              <a:srgbClr val="4FB3FF"/>
            </a:solidFill>
            <a:prstDash val="solid"/>
          </a:ln>
        </p:spPr>
      </p:sp>
      <p:sp>
        <p:nvSpPr>
          <p:cNvPr id="24" name="Shape 22"/>
          <p:cNvSpPr/>
          <p:nvPr/>
        </p:nvSpPr>
        <p:spPr>
          <a:xfrm>
            <a:off x="4197370" y="2920959"/>
            <a:ext cx="355610" cy="127010"/>
          </a:xfrm>
          <a:custGeom>
            <a:avLst/>
            <a:gdLst/>
            <a:ahLst/>
            <a:cxnLst/>
            <a:rect l="l" t="t" r="r" b="b"/>
            <a:pathLst>
              <a:path w="355610" h="127010">
                <a:moveTo>
                  <a:pt x="19020" y="63459"/>
                </a:moveTo>
                <a:lnTo>
                  <a:pt x="336591" y="63459"/>
                </a:lnTo>
                <a:moveTo>
                  <a:pt x="258409" y="106070"/>
                </a:moveTo>
                <a:lnTo>
                  <a:pt x="336591" y="63459"/>
                </a:lnTo>
                <a:lnTo>
                  <a:pt x="258409" y="20940"/>
                </a:lnTo>
              </a:path>
            </a:pathLst>
          </a:custGeom>
          <a:ln w="19050">
            <a:solidFill>
              <a:srgbClr val="4FB3FF"/>
            </a:solidFill>
            <a:prstDash val="solid"/>
          </a:ln>
        </p:spPr>
      </p:sp>
      <p:sp>
        <p:nvSpPr>
          <p:cNvPr id="25" name="Shape 23"/>
          <p:cNvSpPr/>
          <p:nvPr/>
        </p:nvSpPr>
        <p:spPr>
          <a:xfrm>
            <a:off x="6038880" y="2920959"/>
            <a:ext cx="355610" cy="127010"/>
          </a:xfrm>
          <a:custGeom>
            <a:avLst/>
            <a:gdLst/>
            <a:ahLst/>
            <a:cxnLst/>
            <a:rect l="l" t="t" r="r" b="b"/>
            <a:pathLst>
              <a:path w="355610" h="127010">
                <a:moveTo>
                  <a:pt x="19020" y="63459"/>
                </a:moveTo>
                <a:lnTo>
                  <a:pt x="336591" y="63459"/>
                </a:lnTo>
                <a:moveTo>
                  <a:pt x="258409" y="106070"/>
                </a:moveTo>
                <a:lnTo>
                  <a:pt x="336591" y="63459"/>
                </a:lnTo>
                <a:lnTo>
                  <a:pt x="258409" y="20940"/>
                </a:lnTo>
              </a:path>
            </a:pathLst>
          </a:custGeom>
          <a:ln w="19050">
            <a:solidFill>
              <a:srgbClr val="4FB3FF"/>
            </a:solidFill>
            <a:prstDash val="solid"/>
          </a:ln>
        </p:spPr>
      </p:sp>
      <p:sp>
        <p:nvSpPr>
          <p:cNvPr id="26" name="Shape 24"/>
          <p:cNvSpPr/>
          <p:nvPr/>
        </p:nvSpPr>
        <p:spPr>
          <a:xfrm>
            <a:off x="8445490" y="2019270"/>
            <a:ext cx="1397020" cy="533370"/>
          </a:xfrm>
          <a:prstGeom prst="roundRect">
            <a:avLst>
              <a:gd name="adj" fmla="val 21430"/>
            </a:avLst>
          </a:prstGeom>
          <a:solidFill>
            <a:srgbClr val="FFFFFF"/>
          </a:solidFill>
          <a:ln w="12700">
            <a:solidFill>
              <a:srgbClr val="16181B">
                <a:alpha val="10000"/>
              </a:srgbClr>
            </a:solidFill>
            <a:prstDash val="solid"/>
          </a:ln>
        </p:spPr>
      </p:sp>
      <p:sp>
        <p:nvSpPr>
          <p:cNvPr id="27" name="Text 24"/>
          <p:cNvSpPr/>
          <p:nvPr/>
        </p:nvSpPr>
        <p:spPr>
          <a:xfrm>
            <a:off x="8585210" y="2095530"/>
            <a:ext cx="1143000" cy="215890"/>
          </a:xfrm>
          <a:prstGeom prst="rect">
            <a:avLst/>
          </a:prstGeom>
          <a:noFill/>
          <a:ln/>
        </p:spPr>
        <p:txBody>
          <a:bodyPr wrap="square" lIns="0" tIns="0" rIns="0" bIns="0" rtlCol="0" anchor="t"/>
          <a:lstStyle/>
          <a:p>
            <a:pPr algn="l" indent="0" marL="0">
              <a:lnSpc>
                <a:spcPct val="120000"/>
              </a:lnSpc>
              <a:buNone/>
            </a:pPr>
            <a:r>
              <a:rPr lang="en-US" sz="1200" b="1" dirty="0">
                <a:solidFill>
                  <a:srgbClr val="16181B"/>
                </a:solidFill>
                <a:latin typeface="Inter" pitchFamily="34" charset="0"/>
                <a:ea typeface="Inter" pitchFamily="34" charset="-122"/>
                <a:cs typeface="Inter" pitchFamily="34" charset="-120"/>
              </a:rPr>
              <a:t>Slides</a:t>
            </a:r>
            <a:endParaRPr lang="en-US" sz="1200" dirty="0"/>
          </a:p>
        </p:txBody>
      </p:sp>
      <p:sp>
        <p:nvSpPr>
          <p:cNvPr id="28" name="Text 25"/>
          <p:cNvSpPr/>
          <p:nvPr/>
        </p:nvSpPr>
        <p:spPr>
          <a:xfrm>
            <a:off x="8585210" y="2324130"/>
            <a:ext cx="1206459" cy="146030"/>
          </a:xfrm>
          <a:prstGeom prst="rect">
            <a:avLst/>
          </a:prstGeom>
          <a:noFill/>
          <a:ln/>
        </p:spPr>
        <p:txBody>
          <a:bodyPr wrap="square" lIns="0" tIns="0" rIns="0" bIns="0" rtlCol="0" anchor="t"/>
          <a:lstStyle/>
          <a:p>
            <a:pPr algn="l" indent="0" marL="0">
              <a:lnSpc>
                <a:spcPct val="140000"/>
              </a:lnSpc>
              <a:buNone/>
            </a:pPr>
            <a:r>
              <a:rPr lang="en-US" sz="700" dirty="0">
                <a:solidFill>
                  <a:srgbClr val="4A4E55"/>
                </a:solidFill>
                <a:latin typeface="JetBrains Mono" pitchFamily="34" charset="0"/>
                <a:ea typeface="JetBrains Mono" pitchFamily="34" charset="-122"/>
                <a:cs typeface="JetBrains Mono" pitchFamily="34" charset="-120"/>
              </a:rPr>
              <a:t>deck + speaker notes</a:t>
            </a:r>
            <a:endParaRPr lang="en-US" sz="700" dirty="0"/>
          </a:p>
        </p:txBody>
      </p:sp>
      <p:sp>
        <p:nvSpPr>
          <p:cNvPr id="29" name="Shape 27"/>
          <p:cNvSpPr/>
          <p:nvPr/>
        </p:nvSpPr>
        <p:spPr>
          <a:xfrm>
            <a:off x="8013710" y="2273290"/>
            <a:ext cx="412760" cy="723930"/>
          </a:xfrm>
          <a:custGeom>
            <a:avLst/>
            <a:gdLst/>
            <a:ahLst/>
            <a:cxnLst/>
            <a:rect l="l" t="t" r="r" b="b"/>
            <a:pathLst>
              <a:path w="412760" h="723930">
                <a:moveTo>
                  <a:pt x="12710" y="711220"/>
                </a:moveTo>
                <a:lnTo>
                  <a:pt x="393741" y="12710"/>
                </a:lnTo>
                <a:moveTo>
                  <a:pt x="393741" y="76170"/>
                </a:moveTo>
                <a:lnTo>
                  <a:pt x="393741" y="12710"/>
                </a:lnTo>
                <a:lnTo>
                  <a:pt x="340340" y="47000"/>
                </a:lnTo>
              </a:path>
            </a:pathLst>
          </a:custGeom>
          <a:ln w="12700">
            <a:solidFill>
              <a:srgbClr val="7A5CFF"/>
            </a:solidFill>
            <a:prstDash val="solid"/>
          </a:ln>
        </p:spPr>
      </p:sp>
      <p:sp>
        <p:nvSpPr>
          <p:cNvPr id="30" name="Shape 28"/>
          <p:cNvSpPr/>
          <p:nvPr/>
        </p:nvSpPr>
        <p:spPr>
          <a:xfrm>
            <a:off x="9855220" y="2273290"/>
            <a:ext cx="292059" cy="723930"/>
          </a:xfrm>
          <a:custGeom>
            <a:avLst/>
            <a:gdLst/>
            <a:ahLst/>
            <a:cxnLst/>
            <a:rect l="l" t="t" r="r" b="b"/>
            <a:pathLst>
              <a:path w="292059" h="723930">
                <a:moveTo>
                  <a:pt x="12710" y="12710"/>
                </a:moveTo>
                <a:lnTo>
                  <a:pt x="266730" y="711220"/>
                </a:lnTo>
                <a:moveTo>
                  <a:pt x="219090" y="669249"/>
                </a:moveTo>
                <a:lnTo>
                  <a:pt x="266730" y="711220"/>
                </a:lnTo>
                <a:lnTo>
                  <a:pt x="276240" y="648310"/>
                </a:lnTo>
              </a:path>
            </a:pathLst>
          </a:custGeom>
          <a:ln w="12700">
            <a:solidFill>
              <a:srgbClr val="16181B">
                <a:alpha val="18000"/>
              </a:srgbClr>
            </a:solidFill>
            <a:prstDash val="solid"/>
          </a:ln>
        </p:spPr>
      </p:sp>
      <p:sp>
        <p:nvSpPr>
          <p:cNvPr id="31" name="Shape 29"/>
          <p:cNvSpPr/>
          <p:nvPr/>
        </p:nvSpPr>
        <p:spPr>
          <a:xfrm>
            <a:off x="8445490" y="2717780"/>
            <a:ext cx="1397020" cy="533370"/>
          </a:xfrm>
          <a:prstGeom prst="roundRect">
            <a:avLst>
              <a:gd name="adj" fmla="val 21430"/>
            </a:avLst>
          </a:prstGeom>
          <a:solidFill>
            <a:srgbClr val="FFFFFF"/>
          </a:solidFill>
          <a:ln w="12700">
            <a:solidFill>
              <a:srgbClr val="16181B">
                <a:alpha val="10000"/>
              </a:srgbClr>
            </a:solidFill>
            <a:prstDash val="solid"/>
          </a:ln>
        </p:spPr>
      </p:sp>
      <p:sp>
        <p:nvSpPr>
          <p:cNvPr id="32" name="Text 29"/>
          <p:cNvSpPr/>
          <p:nvPr/>
        </p:nvSpPr>
        <p:spPr>
          <a:xfrm>
            <a:off x="8585210" y="2794041"/>
            <a:ext cx="1143000" cy="215890"/>
          </a:xfrm>
          <a:prstGeom prst="rect">
            <a:avLst/>
          </a:prstGeom>
          <a:noFill/>
          <a:ln/>
        </p:spPr>
        <p:txBody>
          <a:bodyPr wrap="square" lIns="0" tIns="0" rIns="0" bIns="0" rtlCol="0" anchor="t"/>
          <a:lstStyle/>
          <a:p>
            <a:pPr algn="l" indent="0" marL="0">
              <a:lnSpc>
                <a:spcPct val="120000"/>
              </a:lnSpc>
              <a:buNone/>
            </a:pPr>
            <a:r>
              <a:rPr lang="en-US" sz="1200" b="1" dirty="0">
                <a:solidFill>
                  <a:srgbClr val="16181B"/>
                </a:solidFill>
                <a:latin typeface="Inter" pitchFamily="34" charset="0"/>
                <a:ea typeface="Inter" pitchFamily="34" charset="-122"/>
                <a:cs typeface="Inter" pitchFamily="34" charset="-120"/>
              </a:rPr>
              <a:t>Design</a:t>
            </a:r>
            <a:endParaRPr lang="en-US" sz="1200" dirty="0"/>
          </a:p>
        </p:txBody>
      </p:sp>
      <p:sp>
        <p:nvSpPr>
          <p:cNvPr id="33" name="Text 30"/>
          <p:cNvSpPr/>
          <p:nvPr/>
        </p:nvSpPr>
        <p:spPr>
          <a:xfrm>
            <a:off x="8585210" y="3022641"/>
            <a:ext cx="1206459" cy="146030"/>
          </a:xfrm>
          <a:prstGeom prst="rect">
            <a:avLst/>
          </a:prstGeom>
          <a:noFill/>
          <a:ln/>
        </p:spPr>
        <p:txBody>
          <a:bodyPr wrap="square" lIns="0" tIns="0" rIns="0" bIns="0" rtlCol="0" anchor="t"/>
          <a:lstStyle/>
          <a:p>
            <a:pPr algn="l" indent="0" marL="0">
              <a:lnSpc>
                <a:spcPct val="140000"/>
              </a:lnSpc>
              <a:buNone/>
            </a:pPr>
            <a:r>
              <a:rPr lang="en-US" sz="700" dirty="0">
                <a:solidFill>
                  <a:srgbClr val="4A4E55"/>
                </a:solidFill>
                <a:latin typeface="JetBrains Mono" pitchFamily="34" charset="0"/>
                <a:ea typeface="JetBrains Mono" pitchFamily="34" charset="-122"/>
                <a:cs typeface="JetBrains Mono" pitchFamily="34" charset="-120"/>
              </a:rPr>
              <a:t>pages + styles</a:t>
            </a:r>
            <a:endParaRPr lang="en-US" sz="700" dirty="0"/>
          </a:p>
        </p:txBody>
      </p:sp>
      <p:sp>
        <p:nvSpPr>
          <p:cNvPr id="34" name="Shape 32"/>
          <p:cNvSpPr/>
          <p:nvPr/>
        </p:nvSpPr>
        <p:spPr>
          <a:xfrm>
            <a:off x="8013710" y="2940070"/>
            <a:ext cx="406359" cy="88880"/>
          </a:xfrm>
          <a:custGeom>
            <a:avLst/>
            <a:gdLst/>
            <a:ahLst/>
            <a:cxnLst/>
            <a:rect l="l" t="t" r="r" b="b"/>
            <a:pathLst>
              <a:path w="406359" h="88880">
                <a:moveTo>
                  <a:pt x="12710" y="44440"/>
                </a:moveTo>
                <a:lnTo>
                  <a:pt x="393741" y="44440"/>
                </a:lnTo>
                <a:moveTo>
                  <a:pt x="337779" y="74889"/>
                </a:moveTo>
                <a:lnTo>
                  <a:pt x="393741" y="44440"/>
                </a:lnTo>
                <a:lnTo>
                  <a:pt x="337779" y="13990"/>
                </a:lnTo>
              </a:path>
            </a:pathLst>
          </a:custGeom>
          <a:ln w="12700">
            <a:solidFill>
              <a:srgbClr val="7A5CFF"/>
            </a:solidFill>
            <a:prstDash val="solid"/>
          </a:ln>
        </p:spPr>
      </p:sp>
      <p:sp>
        <p:nvSpPr>
          <p:cNvPr id="35" name="Shape 33"/>
          <p:cNvSpPr/>
          <p:nvPr/>
        </p:nvSpPr>
        <p:spPr>
          <a:xfrm>
            <a:off x="9855220" y="2940070"/>
            <a:ext cx="279441" cy="88880"/>
          </a:xfrm>
          <a:custGeom>
            <a:avLst/>
            <a:gdLst/>
            <a:ahLst/>
            <a:cxnLst/>
            <a:rect l="l" t="t" r="r" b="b"/>
            <a:pathLst>
              <a:path w="279441" h="88880">
                <a:moveTo>
                  <a:pt x="12710" y="44440"/>
                </a:moveTo>
                <a:lnTo>
                  <a:pt x="266730" y="44440"/>
                </a:lnTo>
                <a:moveTo>
                  <a:pt x="210861" y="74889"/>
                </a:moveTo>
                <a:lnTo>
                  <a:pt x="266730" y="44440"/>
                </a:lnTo>
                <a:lnTo>
                  <a:pt x="210861" y="13990"/>
                </a:lnTo>
              </a:path>
            </a:pathLst>
          </a:custGeom>
          <a:ln w="12700">
            <a:solidFill>
              <a:srgbClr val="16181B">
                <a:alpha val="18000"/>
              </a:srgbClr>
            </a:solidFill>
            <a:prstDash val="solid"/>
          </a:ln>
        </p:spPr>
      </p:sp>
      <p:sp>
        <p:nvSpPr>
          <p:cNvPr id="36" name="Shape 34"/>
          <p:cNvSpPr/>
          <p:nvPr/>
        </p:nvSpPr>
        <p:spPr>
          <a:xfrm>
            <a:off x="8445490" y="3416290"/>
            <a:ext cx="1397020" cy="533370"/>
          </a:xfrm>
          <a:prstGeom prst="roundRect">
            <a:avLst>
              <a:gd name="adj" fmla="val 21430"/>
            </a:avLst>
          </a:prstGeom>
          <a:solidFill>
            <a:srgbClr val="FFFFFF"/>
          </a:solidFill>
          <a:ln w="12700">
            <a:solidFill>
              <a:srgbClr val="16181B">
                <a:alpha val="10000"/>
              </a:srgbClr>
            </a:solidFill>
            <a:prstDash val="solid"/>
          </a:ln>
        </p:spPr>
      </p:sp>
      <p:sp>
        <p:nvSpPr>
          <p:cNvPr id="37" name="Text 34"/>
          <p:cNvSpPr/>
          <p:nvPr/>
        </p:nvSpPr>
        <p:spPr>
          <a:xfrm>
            <a:off x="8585210" y="3492459"/>
            <a:ext cx="1143000" cy="215890"/>
          </a:xfrm>
          <a:prstGeom prst="rect">
            <a:avLst/>
          </a:prstGeom>
          <a:noFill/>
          <a:ln/>
        </p:spPr>
        <p:txBody>
          <a:bodyPr wrap="square" lIns="0" tIns="0" rIns="0" bIns="0" rtlCol="0" anchor="t"/>
          <a:lstStyle/>
          <a:p>
            <a:pPr algn="l" indent="0" marL="0">
              <a:lnSpc>
                <a:spcPct val="120000"/>
              </a:lnSpc>
              <a:buNone/>
            </a:pPr>
            <a:r>
              <a:rPr lang="en-US" sz="1200" b="1" dirty="0">
                <a:solidFill>
                  <a:srgbClr val="16181B"/>
                </a:solidFill>
                <a:latin typeface="Inter" pitchFamily="34" charset="0"/>
                <a:ea typeface="Inter" pitchFamily="34" charset="-122"/>
                <a:cs typeface="Inter" pitchFamily="34" charset="-120"/>
              </a:rPr>
              <a:t>FigJam</a:t>
            </a:r>
            <a:endParaRPr lang="en-US" sz="1200" dirty="0"/>
          </a:p>
        </p:txBody>
      </p:sp>
      <p:sp>
        <p:nvSpPr>
          <p:cNvPr id="38" name="Text 35"/>
          <p:cNvSpPr/>
          <p:nvPr/>
        </p:nvSpPr>
        <p:spPr>
          <a:xfrm>
            <a:off x="8585210" y="3721059"/>
            <a:ext cx="1206459" cy="146030"/>
          </a:xfrm>
          <a:prstGeom prst="rect">
            <a:avLst/>
          </a:prstGeom>
          <a:noFill/>
          <a:ln/>
        </p:spPr>
        <p:txBody>
          <a:bodyPr wrap="square" lIns="0" tIns="0" rIns="0" bIns="0" rtlCol="0" anchor="t"/>
          <a:lstStyle/>
          <a:p>
            <a:pPr algn="l" indent="0" marL="0">
              <a:lnSpc>
                <a:spcPct val="140000"/>
              </a:lnSpc>
              <a:buNone/>
            </a:pPr>
            <a:r>
              <a:rPr lang="en-US" sz="700" dirty="0">
                <a:solidFill>
                  <a:srgbClr val="4A4E55"/>
                </a:solidFill>
                <a:latin typeface="JetBrains Mono" pitchFamily="34" charset="0"/>
                <a:ea typeface="JetBrains Mono" pitchFamily="34" charset="-122"/>
                <a:cs typeface="JetBrains Mono" pitchFamily="34" charset="-120"/>
              </a:rPr>
              <a:t>the ideation board</a:t>
            </a:r>
            <a:endParaRPr lang="en-US" sz="700" dirty="0"/>
          </a:p>
        </p:txBody>
      </p:sp>
      <p:sp>
        <p:nvSpPr>
          <p:cNvPr id="39" name="Shape 37"/>
          <p:cNvSpPr/>
          <p:nvPr/>
        </p:nvSpPr>
        <p:spPr>
          <a:xfrm>
            <a:off x="8013710" y="2971800"/>
            <a:ext cx="412760" cy="723930"/>
          </a:xfrm>
          <a:custGeom>
            <a:avLst/>
            <a:gdLst/>
            <a:ahLst/>
            <a:cxnLst/>
            <a:rect l="l" t="t" r="r" b="b"/>
            <a:pathLst>
              <a:path w="412760" h="723930">
                <a:moveTo>
                  <a:pt x="12710" y="12710"/>
                </a:moveTo>
                <a:lnTo>
                  <a:pt x="393741" y="711220"/>
                </a:lnTo>
                <a:moveTo>
                  <a:pt x="340340" y="676930"/>
                </a:moveTo>
                <a:lnTo>
                  <a:pt x="393741" y="711220"/>
                </a:lnTo>
                <a:lnTo>
                  <a:pt x="393741" y="647670"/>
                </a:lnTo>
              </a:path>
            </a:pathLst>
          </a:custGeom>
          <a:ln w="12700">
            <a:solidFill>
              <a:srgbClr val="7A5CFF"/>
            </a:solidFill>
            <a:prstDash val="solid"/>
          </a:ln>
        </p:spPr>
      </p:sp>
      <p:sp>
        <p:nvSpPr>
          <p:cNvPr id="40" name="Shape 38"/>
          <p:cNvSpPr/>
          <p:nvPr/>
        </p:nvSpPr>
        <p:spPr>
          <a:xfrm>
            <a:off x="9855220" y="2971800"/>
            <a:ext cx="292059" cy="723930"/>
          </a:xfrm>
          <a:custGeom>
            <a:avLst/>
            <a:gdLst/>
            <a:ahLst/>
            <a:cxnLst/>
            <a:rect l="l" t="t" r="r" b="b"/>
            <a:pathLst>
              <a:path w="292059" h="723930">
                <a:moveTo>
                  <a:pt x="12710" y="711220"/>
                </a:moveTo>
                <a:lnTo>
                  <a:pt x="266730" y="12710"/>
                </a:lnTo>
                <a:moveTo>
                  <a:pt x="276240" y="75529"/>
                </a:moveTo>
                <a:lnTo>
                  <a:pt x="266730" y="12710"/>
                </a:lnTo>
                <a:lnTo>
                  <a:pt x="219090" y="54590"/>
                </a:lnTo>
              </a:path>
            </a:pathLst>
          </a:custGeom>
          <a:ln w="12700">
            <a:solidFill>
              <a:srgbClr val="16181B">
                <a:alpha val="18000"/>
              </a:srgbClr>
            </a:solidFill>
            <a:prstDash val="solid"/>
          </a:ln>
        </p:spPr>
      </p:sp>
      <p:sp>
        <p:nvSpPr>
          <p:cNvPr id="41" name="Shape 39"/>
          <p:cNvSpPr/>
          <p:nvPr/>
        </p:nvSpPr>
        <p:spPr>
          <a:xfrm>
            <a:off x="10159990" y="2508291"/>
            <a:ext cx="1270010" cy="952530"/>
          </a:xfrm>
          <a:prstGeom prst="roundRect">
            <a:avLst>
              <a:gd name="adj" fmla="val 14668"/>
            </a:avLst>
          </a:prstGeom>
          <a:solidFill>
            <a:srgbClr val="FFFFFF"/>
          </a:solidFill>
          <a:ln w="12700">
            <a:solidFill>
              <a:srgbClr val="16181B">
                <a:alpha val="10000"/>
              </a:srgbClr>
            </a:solidFill>
            <a:prstDash val="solid"/>
          </a:ln>
        </p:spPr>
      </p:sp>
      <p:sp>
        <p:nvSpPr>
          <p:cNvPr id="42" name="Text 39"/>
          <p:cNvSpPr/>
          <p:nvPr/>
        </p:nvSpPr>
        <p:spPr>
          <a:xfrm>
            <a:off x="10312420" y="2647920"/>
            <a:ext cx="965241"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Composio</a:t>
            </a:r>
            <a:endParaRPr lang="en-US" sz="1050" dirty="0"/>
          </a:p>
        </p:txBody>
      </p:sp>
      <p:sp>
        <p:nvSpPr>
          <p:cNvPr id="43" name="Text 40"/>
          <p:cNvSpPr/>
          <p:nvPr/>
        </p:nvSpPr>
        <p:spPr>
          <a:xfrm>
            <a:off x="10312420" y="2876520"/>
            <a:ext cx="965241"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comments, thumbnails, tokens</a:t>
            </a:r>
            <a:endParaRPr lang="en-US" sz="850" dirty="0"/>
          </a:p>
        </p:txBody>
      </p:sp>
      <p:sp>
        <p:nvSpPr>
          <p:cNvPr id="44" name="Shape 42"/>
          <p:cNvSpPr/>
          <p:nvPr/>
        </p:nvSpPr>
        <p:spPr>
          <a:xfrm>
            <a:off x="10159990" y="4063959"/>
            <a:ext cx="1270010" cy="698510"/>
          </a:xfrm>
          <a:prstGeom prst="roundRect">
            <a:avLst>
              <a:gd name="adj" fmla="val 20003"/>
            </a:avLst>
          </a:prstGeom>
          <a:solidFill>
            <a:srgbClr val="FFFFFF"/>
          </a:solidFill>
          <a:ln w="12700">
            <a:solidFill>
              <a:srgbClr val="16181B">
                <a:alpha val="10000"/>
              </a:srgbClr>
            </a:solidFill>
            <a:prstDash val="solid"/>
          </a:ln>
        </p:spPr>
      </p:sp>
      <p:sp>
        <p:nvSpPr>
          <p:cNvPr id="45" name="Text 42"/>
          <p:cNvSpPr/>
          <p:nvPr/>
        </p:nvSpPr>
        <p:spPr>
          <a:xfrm>
            <a:off x="10312420" y="4203680"/>
            <a:ext cx="965241"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CSS</a:t>
            </a:r>
            <a:endParaRPr lang="en-US" sz="1050" dirty="0"/>
          </a:p>
        </p:txBody>
      </p:sp>
      <p:sp>
        <p:nvSpPr>
          <p:cNvPr id="46" name="Text 43"/>
          <p:cNvSpPr/>
          <p:nvPr/>
        </p:nvSpPr>
        <p:spPr>
          <a:xfrm>
            <a:off x="10312420" y="4432280"/>
            <a:ext cx="965241" cy="177759"/>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tokens-from-figma.mjs</a:t>
            </a:r>
            <a:endParaRPr lang="en-US" sz="850" dirty="0"/>
          </a:p>
        </p:txBody>
      </p:sp>
      <p:sp>
        <p:nvSpPr>
          <p:cNvPr id="47" name="Shape 45"/>
          <p:cNvSpPr/>
          <p:nvPr/>
        </p:nvSpPr>
        <p:spPr>
          <a:xfrm>
            <a:off x="10731490" y="3467130"/>
            <a:ext cx="127010" cy="577809"/>
          </a:xfrm>
          <a:custGeom>
            <a:avLst/>
            <a:gdLst/>
            <a:ahLst/>
            <a:cxnLst/>
            <a:rect l="l" t="t" r="r" b="b"/>
            <a:pathLst>
              <a:path w="127010" h="577809">
                <a:moveTo>
                  <a:pt x="63459" y="19020"/>
                </a:moveTo>
                <a:lnTo>
                  <a:pt x="63459" y="558790"/>
                </a:lnTo>
                <a:moveTo>
                  <a:pt x="20940" y="480700"/>
                </a:moveTo>
                <a:lnTo>
                  <a:pt x="63459" y="558790"/>
                </a:lnTo>
                <a:lnTo>
                  <a:pt x="106070" y="480700"/>
                </a:lnTo>
              </a:path>
            </a:pathLst>
          </a:custGeom>
          <a:ln w="19050">
            <a:solidFill>
              <a:srgbClr val="5FD39A"/>
            </a:solidFill>
            <a:prstDash val="solid"/>
          </a:ln>
        </p:spPr>
      </p:sp>
      <p:sp>
        <p:nvSpPr>
          <p:cNvPr id="48" name="Shape 46"/>
          <p:cNvSpPr/>
          <p:nvPr/>
        </p:nvSpPr>
        <p:spPr>
          <a:xfrm>
            <a:off x="1428750" y="3479841"/>
            <a:ext cx="8712220" cy="952530"/>
          </a:xfrm>
          <a:custGeom>
            <a:avLst/>
            <a:gdLst/>
            <a:ahLst/>
            <a:cxnLst/>
            <a:rect l="l" t="t" r="r" b="b"/>
            <a:pathLst>
              <a:path w="8712220" h="952530">
                <a:moveTo>
                  <a:pt x="8693109" y="933420"/>
                </a:moveTo>
                <a:lnTo>
                  <a:pt x="63459" y="933420"/>
                </a:lnTo>
                <a:lnTo>
                  <a:pt x="63459" y="19020"/>
                </a:lnTo>
                <a:moveTo>
                  <a:pt x="106070" y="97201"/>
                </a:moveTo>
                <a:lnTo>
                  <a:pt x="63459" y="19020"/>
                </a:lnTo>
                <a:lnTo>
                  <a:pt x="20940" y="97201"/>
                </a:lnTo>
              </a:path>
            </a:pathLst>
          </a:custGeom>
          <a:ln w="19050">
            <a:solidFill>
              <a:srgbClr val="5FD39A"/>
            </a:solidFill>
            <a:prstDash val="dash"/>
          </a:ln>
        </p:spPr>
      </p:sp>
      <p:sp>
        <p:nvSpPr>
          <p:cNvPr id="49" name="Text 46"/>
          <p:cNvSpPr/>
          <p:nvPr/>
        </p:nvSpPr>
        <p:spPr>
          <a:xfrm>
            <a:off x="1777959" y="4495830"/>
            <a:ext cx="8255020" cy="177759"/>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JetBrains Mono" pitchFamily="34" charset="0"/>
                <a:ea typeface="JetBrains Mono" pitchFamily="34" charset="-122"/>
                <a:cs typeface="JetBrains Mono" pitchFamily="34" charset="-120"/>
              </a:rPr>
              <a:t>the loop: Figma styles and variables → Composio → CSS back in the repo</a:t>
            </a:r>
            <a:endParaRPr lang="en-US" sz="850" dirty="0"/>
          </a:p>
        </p:txBody>
      </p:sp>
      <p:sp>
        <p:nvSpPr>
          <p:cNvPr id="50" name="Text 47"/>
          <p:cNvSpPr/>
          <p:nvPr/>
        </p:nvSpPr>
        <p:spPr>
          <a:xfrm>
            <a:off x="761970" y="5016490"/>
            <a:ext cx="10668030" cy="533370"/>
          </a:xfrm>
          <a:prstGeom prst="rect">
            <a:avLst/>
          </a:prstGeom>
          <a:noFill/>
          <a:ln/>
        </p:spPr>
        <p:txBody>
          <a:bodyPr wrap="square" lIns="0" tIns="0" rIns="0" bIns="0" rtlCol="0" anchor="t"/>
          <a:lstStyle/>
          <a:p>
            <a:pPr algn="l" indent="0" marL="0">
              <a:lnSpc>
                <a:spcPct val="145000"/>
              </a:lnSpc>
              <a:buNone/>
            </a:pPr>
            <a:r>
              <a:rPr lang="en-US" sz="1350" dirty="0">
                <a:solidFill>
                  <a:srgbClr val="16181B"/>
                </a:solidFill>
                <a:latin typeface="Inter" pitchFamily="34" charset="0"/>
                <a:ea typeface="Inter" pitchFamily="34" charset="-122"/>
                <a:cs typeface="Inter" pitchFamily="34" charset="-120"/>
              </a:rPr>
              <a:t>Recipe for code-first teams: keep the repo as the source of truth, emit one JSON, let a plugin draw it. One run gives designers editable layers, every screen, the tokens as styles, and a board of how you decided.</a:t>
            </a:r>
            <a:endParaRPr lang="en-US" sz="1350" dirty="0"/>
          </a:p>
        </p:txBody>
      </p:sp>
      <p:sp>
        <p:nvSpPr>
          <p:cNvPr id="51" name="Text 48"/>
          <p:cNvSpPr/>
          <p:nvPr/>
        </p:nvSpPr>
        <p:spPr>
          <a:xfrm>
            <a:off x="761970" y="5791170"/>
            <a:ext cx="10668030" cy="222291"/>
          </a:xfrm>
          <a:prstGeom prst="rect">
            <a:avLst/>
          </a:prstGeom>
          <a:noFill/>
          <a:ln/>
        </p:spPr>
        <p:txBody>
          <a:bodyPr wrap="square" lIns="0" tIns="0" rIns="0" bIns="0" rtlCol="0" anchor="t"/>
          <a:lstStyle/>
          <a:p>
            <a:pPr algn="l" indent="0" marL="0">
              <a:lnSpc>
                <a:spcPct val="145000"/>
              </a:lnSpc>
              <a:buNone/>
            </a:pPr>
            <a:r>
              <a:rPr lang="en-US" sz="1050" dirty="0">
                <a:solidFill>
                  <a:srgbClr val="4A4E55"/>
                </a:solidFill>
                <a:latin typeface="Inter" pitchFamily="34" charset="0"/>
                <a:ea typeface="Inter" pitchFamily="34" charset="-122"/>
                <a:cs typeface="Inter" pitchFamily="34" charset="-120"/>
              </a:rPr>
              <a:t>Why a plugin: the Figma REST API and our Composio connector can read, comment and set variables, but cannot create layers or slides. The Plugin API can.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STAGE LOG</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16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01640"/>
          </a:xfrm>
          <a:prstGeom prst="rect">
            <a:avLst/>
          </a:prstGeom>
          <a:noFill/>
          <a:ln/>
        </p:spPr>
        <p:txBody>
          <a:bodyPr wrap="square" lIns="0" tIns="0" rIns="0" bIns="0" rtlCol="0" anchor="t"/>
          <a:lstStyle/>
          <a:p>
            <a:pPr algn="l" indent="0" marL="0">
              <a:lnSpc>
                <a:spcPct val="100000"/>
              </a:lnSpc>
              <a:buNone/>
            </a:pPr>
            <a:r>
              <a:rPr lang="en-US" sz="3276" spc="-49" kern="0" dirty="0">
                <a:solidFill>
                  <a:srgbClr val="16181B"/>
                </a:solidFill>
                <a:latin typeface="Instrument Serif" pitchFamily="34" charset="0"/>
                <a:ea typeface="Instrument Serif" pitchFamily="34" charset="-122"/>
                <a:cs typeface="Instrument Serif" pitchFamily="34" charset="-120"/>
              </a:rPr>
              <a:t>Four stages, timed from git.</a:t>
            </a:r>
            <a:endParaRPr lang="en-US" sz="3276" dirty="0"/>
          </a:p>
        </p:txBody>
      </p:sp>
      <p:sp>
        <p:nvSpPr>
          <p:cNvPr id="11" name="Text 8"/>
          <p:cNvSpPr/>
          <p:nvPr/>
        </p:nvSpPr>
        <p:spPr>
          <a:xfrm>
            <a:off x="761970" y="1841510"/>
            <a:ext cx="158749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STAGE</a:t>
            </a:r>
            <a:endParaRPr lang="en-US" sz="900" dirty="0"/>
          </a:p>
        </p:txBody>
      </p:sp>
      <p:sp>
        <p:nvSpPr>
          <p:cNvPr id="12" name="Text 9"/>
          <p:cNvSpPr/>
          <p:nvPr/>
        </p:nvSpPr>
        <p:spPr>
          <a:xfrm>
            <a:off x="2413010" y="1841510"/>
            <a:ext cx="298451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TOOLS</a:t>
            </a:r>
            <a:endParaRPr lang="en-US" sz="900" dirty="0"/>
          </a:p>
        </p:txBody>
      </p:sp>
      <p:sp>
        <p:nvSpPr>
          <p:cNvPr id="13" name="Text 10"/>
          <p:cNvSpPr/>
          <p:nvPr/>
        </p:nvSpPr>
        <p:spPr>
          <a:xfrm>
            <a:off x="5587990" y="1841510"/>
            <a:ext cx="95253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MINUTES</a:t>
            </a:r>
            <a:endParaRPr lang="en-US" sz="900" dirty="0"/>
          </a:p>
        </p:txBody>
      </p:sp>
      <p:sp>
        <p:nvSpPr>
          <p:cNvPr id="14" name="Text 11"/>
          <p:cNvSpPr/>
          <p:nvPr/>
        </p:nvSpPr>
        <p:spPr>
          <a:xfrm>
            <a:off x="6603980" y="1841510"/>
            <a:ext cx="82552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RATING</a:t>
            </a:r>
            <a:endParaRPr lang="en-US" sz="900" dirty="0"/>
          </a:p>
        </p:txBody>
      </p:sp>
      <p:sp>
        <p:nvSpPr>
          <p:cNvPr id="15" name="Text 12"/>
          <p:cNvSpPr/>
          <p:nvPr/>
        </p:nvSpPr>
        <p:spPr>
          <a:xfrm>
            <a:off x="7492959" y="1841510"/>
            <a:ext cx="209553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WHAT BROKE</a:t>
            </a:r>
            <a:endParaRPr lang="en-US" sz="900" dirty="0"/>
          </a:p>
        </p:txBody>
      </p:sp>
      <p:sp>
        <p:nvSpPr>
          <p:cNvPr id="16" name="Text 13"/>
          <p:cNvSpPr/>
          <p:nvPr/>
        </p:nvSpPr>
        <p:spPr>
          <a:xfrm>
            <a:off x="9715500" y="1841510"/>
            <a:ext cx="171450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INTO THE PROJECT</a:t>
            </a:r>
            <a:endParaRPr lang="en-US" sz="900" dirty="0"/>
          </a:p>
        </p:txBody>
      </p:sp>
      <p:sp>
        <p:nvSpPr>
          <p:cNvPr id="17" name="Shape 15"/>
          <p:cNvSpPr/>
          <p:nvPr/>
        </p:nvSpPr>
        <p:spPr>
          <a:xfrm>
            <a:off x="761970" y="2095530"/>
            <a:ext cx="10668030" cy="12710"/>
          </a:xfrm>
          <a:prstGeom prst="rect">
            <a:avLst/>
          </a:prstGeom>
          <a:solidFill>
            <a:srgbClr val="16181B">
              <a:alpha val="10000"/>
            </a:srgbClr>
          </a:solidFill>
          <a:ln/>
        </p:spPr>
      </p:sp>
      <p:sp>
        <p:nvSpPr>
          <p:cNvPr id="18" name="Text 15"/>
          <p:cNvSpPr/>
          <p:nvPr/>
        </p:nvSpPr>
        <p:spPr>
          <a:xfrm>
            <a:off x="761970" y="2247870"/>
            <a:ext cx="1587490" cy="254020"/>
          </a:xfrm>
          <a:prstGeom prst="rect">
            <a:avLst/>
          </a:prstGeom>
          <a:noFill/>
          <a:ln/>
        </p:spPr>
        <p:txBody>
          <a:bodyPr wrap="square" lIns="0" tIns="0" rIns="0" bIns="0" rtlCol="0" anchor="t"/>
          <a:lstStyle/>
          <a:p>
            <a:pPr algn="l" indent="0" marL="0">
              <a:lnSpc>
                <a:spcPct val="105000"/>
              </a:lnSpc>
              <a:buNone/>
            </a:pPr>
            <a:r>
              <a:rPr lang="en-US" sz="1560" dirty="0">
                <a:solidFill>
                  <a:srgbClr val="16181B"/>
                </a:solidFill>
                <a:latin typeface="Instrument Serif" pitchFamily="34" charset="0"/>
                <a:ea typeface="Instrument Serif" pitchFamily="34" charset="-122"/>
                <a:cs typeface="Instrument Serif" pitchFamily="34" charset="-120"/>
              </a:rPr>
              <a:t>Ideation</a:t>
            </a:r>
            <a:endParaRPr lang="en-US" sz="1560" dirty="0"/>
          </a:p>
        </p:txBody>
      </p:sp>
      <p:sp>
        <p:nvSpPr>
          <p:cNvPr id="19" name="Text 16"/>
          <p:cNvSpPr/>
          <p:nvPr/>
        </p:nvSpPr>
        <p:spPr>
          <a:xfrm>
            <a:off x="2413010" y="2247870"/>
            <a:ext cx="2984510" cy="387340"/>
          </a:xfrm>
          <a:prstGeom prst="rect">
            <a:avLst/>
          </a:prstGeom>
          <a:noFill/>
          <a:ln/>
        </p:spPr>
        <p:txBody>
          <a:bodyPr wrap="square" lIns="0" tIns="0" rIns="0" bIns="0" rtlCol="0" anchor="t"/>
          <a:lstStyle/>
          <a:p>
            <a:pPr algn="l" indent="0" marL="0">
              <a:lnSpc>
                <a:spcPct val="135000"/>
              </a:lnSpc>
              <a:buNone/>
            </a:pPr>
            <a:r>
              <a:rPr lang="en-US" sz="1050" dirty="0">
                <a:solidFill>
                  <a:srgbClr val="16181B"/>
                </a:solidFill>
                <a:latin typeface="Inter" pitchFamily="34" charset="0"/>
                <a:ea typeface="Inter" pitchFamily="34" charset="-122"/>
                <a:cs typeface="Inter" pitchFamily="34" charset="-120"/>
              </a:rPr>
              <a:t>16 AI personas per panel, reference study; FigJam board generated after</a:t>
            </a:r>
            <a:endParaRPr lang="en-US" sz="1050" dirty="0"/>
          </a:p>
        </p:txBody>
      </p:sp>
      <p:sp>
        <p:nvSpPr>
          <p:cNvPr id="20" name="Text 17"/>
          <p:cNvSpPr/>
          <p:nvPr/>
        </p:nvSpPr>
        <p:spPr>
          <a:xfrm>
            <a:off x="5587990" y="2260580"/>
            <a:ext cx="952530" cy="215890"/>
          </a:xfrm>
          <a:prstGeom prst="rect">
            <a:avLst/>
          </a:prstGeom>
          <a:noFill/>
          <a:ln/>
        </p:spPr>
        <p:txBody>
          <a:bodyPr wrap="square" lIns="0" tIns="0" rIns="0" bIns="0" rtlCol="0" anchor="t"/>
          <a:lstStyle/>
          <a:p>
            <a:pPr algn="l" indent="0" marL="0">
              <a:lnSpc>
                <a:spcPct val="140000"/>
              </a:lnSpc>
              <a:buNone/>
            </a:pPr>
            <a:r>
              <a:rPr lang="en-US" sz="1050" dirty="0">
                <a:solidFill>
                  <a:srgbClr val="16181B"/>
                </a:solidFill>
                <a:latin typeface="JetBrains Mono" pitchFamily="34" charset="0"/>
                <a:ea typeface="JetBrains Mono" pitchFamily="34" charset="-122"/>
                <a:cs typeface="JetBrains Mono" pitchFamily="34" charset="-120"/>
              </a:rPr>
              <a:t>≈255 min</a:t>
            </a:r>
            <a:endParaRPr lang="en-US" sz="1050" dirty="0"/>
          </a:p>
        </p:txBody>
      </p:sp>
      <p:sp>
        <p:nvSpPr>
          <p:cNvPr id="21" name="Text 18"/>
          <p:cNvSpPr/>
          <p:nvPr/>
        </p:nvSpPr>
        <p:spPr>
          <a:xfrm>
            <a:off x="6603980" y="2260580"/>
            <a:ext cx="825520" cy="228600"/>
          </a:xfrm>
          <a:prstGeom prst="rect">
            <a:avLst/>
          </a:prstGeom>
          <a:noFill/>
          <a:ln/>
        </p:spPr>
        <p:txBody>
          <a:bodyPr wrap="square" lIns="0" tIns="0" rIns="0" bIns="0" rtlCol="0" anchor="t"/>
          <a:lstStyle/>
          <a:p>
            <a:pPr algn="l" indent="0" marL="0">
              <a:lnSpc>
                <a:spcPct val="140000"/>
              </a:lnSpc>
              <a:buNone/>
            </a:pPr>
            <a:r>
              <a:rPr lang="en-US" sz="1100" b="1" dirty="0">
                <a:solidFill>
                  <a:srgbClr val="16181B"/>
                </a:solidFill>
                <a:latin typeface="JetBrains Mono" pitchFamily="34" charset="0"/>
                <a:ea typeface="JetBrains Mono" pitchFamily="34" charset="-122"/>
                <a:cs typeface="JetBrains Mono" pitchFamily="34" charset="-120"/>
              </a:rPr>
              <a:t>4/5</a:t>
            </a:r>
            <a:endParaRPr lang="en-US" sz="1100" dirty="0"/>
          </a:p>
        </p:txBody>
      </p:sp>
      <p:sp>
        <p:nvSpPr>
          <p:cNvPr id="22" name="Shape 20"/>
          <p:cNvSpPr/>
          <p:nvPr/>
        </p:nvSpPr>
        <p:spPr>
          <a:xfrm>
            <a:off x="6603980" y="2514600"/>
            <a:ext cx="603230" cy="177759"/>
          </a:xfrm>
          <a:prstGeom prst="roundRect">
            <a:avLst>
              <a:gd name="adj" fmla="val 50000"/>
            </a:avLst>
          </a:prstGeom>
          <a:solidFill>
            <a:srgbClr val="9AA0A6">
              <a:alpha val="18000"/>
            </a:srgbClr>
          </a:solidFill>
          <a:ln/>
        </p:spPr>
      </p:sp>
      <p:sp>
        <p:nvSpPr>
          <p:cNvPr id="23" name="Text 20"/>
          <p:cNvSpPr/>
          <p:nvPr/>
        </p:nvSpPr>
        <p:spPr>
          <a:xfrm>
            <a:off x="6603980" y="2550170"/>
            <a:ext cx="60323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PENDING</a:t>
            </a:r>
            <a:endParaRPr lang="en-US" sz="700" dirty="0"/>
          </a:p>
        </p:txBody>
      </p:sp>
      <p:sp>
        <p:nvSpPr>
          <p:cNvPr id="24" name="Text 21"/>
          <p:cNvSpPr/>
          <p:nvPr/>
        </p:nvSpPr>
        <p:spPr>
          <a:xfrm>
            <a:off x="7492959" y="2247870"/>
            <a:ext cx="209553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One model played all 16: agreement inflated (SD 0)</a:t>
            </a:r>
            <a:endParaRPr lang="en-US" sz="1050" dirty="0"/>
          </a:p>
        </p:txBody>
      </p:sp>
      <p:sp>
        <p:nvSpPr>
          <p:cNvPr id="25" name="Text 22"/>
          <p:cNvSpPr/>
          <p:nvPr/>
        </p:nvSpPr>
        <p:spPr>
          <a:xfrm>
            <a:off x="9715500" y="2247870"/>
            <a:ext cx="171450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PLAN.md decisions, scope, site outline</a:t>
            </a:r>
            <a:endParaRPr lang="en-US" sz="1050" dirty="0"/>
          </a:p>
        </p:txBody>
      </p:sp>
      <p:sp>
        <p:nvSpPr>
          <p:cNvPr id="26" name="Shape 24"/>
          <p:cNvSpPr/>
          <p:nvPr/>
        </p:nvSpPr>
        <p:spPr>
          <a:xfrm>
            <a:off x="761970" y="3047970"/>
            <a:ext cx="10668030" cy="12710"/>
          </a:xfrm>
          <a:prstGeom prst="rect">
            <a:avLst/>
          </a:prstGeom>
          <a:solidFill>
            <a:srgbClr val="16181B">
              <a:alpha val="10000"/>
            </a:srgbClr>
          </a:solidFill>
          <a:ln/>
        </p:spPr>
      </p:sp>
      <p:sp>
        <p:nvSpPr>
          <p:cNvPr id="27" name="Text 24"/>
          <p:cNvSpPr/>
          <p:nvPr/>
        </p:nvSpPr>
        <p:spPr>
          <a:xfrm>
            <a:off x="761970" y="3200400"/>
            <a:ext cx="1587490" cy="254020"/>
          </a:xfrm>
          <a:prstGeom prst="rect">
            <a:avLst/>
          </a:prstGeom>
          <a:noFill/>
          <a:ln/>
        </p:spPr>
        <p:txBody>
          <a:bodyPr wrap="square" lIns="0" tIns="0" rIns="0" bIns="0" rtlCol="0" anchor="t"/>
          <a:lstStyle/>
          <a:p>
            <a:pPr algn="l" indent="0" marL="0">
              <a:lnSpc>
                <a:spcPct val="105000"/>
              </a:lnSpc>
              <a:buNone/>
            </a:pPr>
            <a:r>
              <a:rPr lang="en-US" sz="1560" dirty="0">
                <a:solidFill>
                  <a:srgbClr val="16181B"/>
                </a:solidFill>
                <a:latin typeface="Instrument Serif" pitchFamily="34" charset="0"/>
                <a:ea typeface="Instrument Serif" pitchFamily="34" charset="-122"/>
                <a:cs typeface="Instrument Serif" pitchFamily="34" charset="-120"/>
              </a:rPr>
              <a:t>Prototyping</a:t>
            </a:r>
            <a:endParaRPr lang="en-US" sz="1560" dirty="0"/>
          </a:p>
        </p:txBody>
      </p:sp>
      <p:sp>
        <p:nvSpPr>
          <p:cNvPr id="28" name="Text 25"/>
          <p:cNvSpPr/>
          <p:nvPr/>
        </p:nvSpPr>
        <p:spPr>
          <a:xfrm>
            <a:off x="2413010" y="3200400"/>
            <a:ext cx="2984510" cy="387340"/>
          </a:xfrm>
          <a:prstGeom prst="rect">
            <a:avLst/>
          </a:prstGeom>
          <a:noFill/>
          <a:ln/>
        </p:spPr>
        <p:txBody>
          <a:bodyPr wrap="square" lIns="0" tIns="0" rIns="0" bIns="0" rtlCol="0" anchor="t"/>
          <a:lstStyle/>
          <a:p>
            <a:pPr algn="l" indent="0" marL="0">
              <a:lnSpc>
                <a:spcPct val="135000"/>
              </a:lnSpc>
              <a:buNone/>
            </a:pPr>
            <a:r>
              <a:rPr lang="en-US" sz="1050" dirty="0">
                <a:solidFill>
                  <a:srgbClr val="16181B"/>
                </a:solidFill>
                <a:latin typeface="Inter" pitchFamily="34" charset="0"/>
                <a:ea typeface="Inter" pitchFamily="34" charset="-122"/>
                <a:cs typeface="Inter" pitchFamily="34" charset="-120"/>
              </a:rPr>
              <a:t>binary-pill.html, phone mock in the site’s JS; Figma Make prompt written</a:t>
            </a:r>
            <a:endParaRPr lang="en-US" sz="1050" dirty="0"/>
          </a:p>
        </p:txBody>
      </p:sp>
      <p:sp>
        <p:nvSpPr>
          <p:cNvPr id="29" name="Text 26"/>
          <p:cNvSpPr/>
          <p:nvPr/>
        </p:nvSpPr>
        <p:spPr>
          <a:xfrm>
            <a:off x="5587990" y="3213110"/>
            <a:ext cx="952530" cy="215890"/>
          </a:xfrm>
          <a:prstGeom prst="rect">
            <a:avLst/>
          </a:prstGeom>
          <a:noFill/>
          <a:ln/>
        </p:spPr>
        <p:txBody>
          <a:bodyPr wrap="square" lIns="0" tIns="0" rIns="0" bIns="0" rtlCol="0" anchor="t"/>
          <a:lstStyle/>
          <a:p>
            <a:pPr algn="l" indent="0" marL="0">
              <a:lnSpc>
                <a:spcPct val="140000"/>
              </a:lnSpc>
              <a:buNone/>
            </a:pPr>
            <a:r>
              <a:rPr lang="en-US" sz="1050" dirty="0">
                <a:solidFill>
                  <a:srgbClr val="16181B"/>
                </a:solidFill>
                <a:latin typeface="JetBrains Mono" pitchFamily="34" charset="0"/>
                <a:ea typeface="JetBrains Mono" pitchFamily="34" charset="-122"/>
                <a:cs typeface="JetBrains Mono" pitchFamily="34" charset="-120"/>
              </a:rPr>
              <a:t>≈65 min</a:t>
            </a:r>
            <a:endParaRPr lang="en-US" sz="1050" dirty="0"/>
          </a:p>
        </p:txBody>
      </p:sp>
      <p:sp>
        <p:nvSpPr>
          <p:cNvPr id="30" name="Text 27"/>
          <p:cNvSpPr/>
          <p:nvPr/>
        </p:nvSpPr>
        <p:spPr>
          <a:xfrm>
            <a:off x="6603980" y="3213110"/>
            <a:ext cx="825520" cy="228600"/>
          </a:xfrm>
          <a:prstGeom prst="rect">
            <a:avLst/>
          </a:prstGeom>
          <a:noFill/>
          <a:ln/>
        </p:spPr>
        <p:txBody>
          <a:bodyPr wrap="square" lIns="0" tIns="0" rIns="0" bIns="0" rtlCol="0" anchor="t"/>
          <a:lstStyle/>
          <a:p>
            <a:pPr algn="l" indent="0" marL="0">
              <a:lnSpc>
                <a:spcPct val="140000"/>
              </a:lnSpc>
              <a:buNone/>
            </a:pPr>
            <a:r>
              <a:rPr lang="en-US" sz="1100" b="1" dirty="0">
                <a:solidFill>
                  <a:srgbClr val="16181B"/>
                </a:solidFill>
                <a:latin typeface="JetBrains Mono" pitchFamily="34" charset="0"/>
                <a:ea typeface="JetBrains Mono" pitchFamily="34" charset="-122"/>
                <a:cs typeface="JetBrains Mono" pitchFamily="34" charset="-120"/>
              </a:rPr>
              <a:t>3/5</a:t>
            </a:r>
            <a:endParaRPr lang="en-US" sz="1100" dirty="0"/>
          </a:p>
        </p:txBody>
      </p:sp>
      <p:sp>
        <p:nvSpPr>
          <p:cNvPr id="31" name="Shape 29"/>
          <p:cNvSpPr/>
          <p:nvPr/>
        </p:nvSpPr>
        <p:spPr>
          <a:xfrm>
            <a:off x="6603980" y="3467130"/>
            <a:ext cx="603230" cy="177759"/>
          </a:xfrm>
          <a:prstGeom prst="roundRect">
            <a:avLst>
              <a:gd name="adj" fmla="val 50000"/>
            </a:avLst>
          </a:prstGeom>
          <a:solidFill>
            <a:srgbClr val="9AA0A6">
              <a:alpha val="18000"/>
            </a:srgbClr>
          </a:solidFill>
          <a:ln/>
        </p:spPr>
      </p:sp>
      <p:sp>
        <p:nvSpPr>
          <p:cNvPr id="32" name="Text 29"/>
          <p:cNvSpPr/>
          <p:nvPr/>
        </p:nvSpPr>
        <p:spPr>
          <a:xfrm>
            <a:off x="6603980" y="3502701"/>
            <a:ext cx="60323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PENDING</a:t>
            </a:r>
            <a:endParaRPr lang="en-US" sz="700" dirty="0"/>
          </a:p>
        </p:txBody>
      </p:sp>
      <p:sp>
        <p:nvSpPr>
          <p:cNvPr id="33" name="Text 30"/>
          <p:cNvSpPr/>
          <p:nvPr/>
        </p:nvSpPr>
        <p:spPr>
          <a:xfrm>
            <a:off x="7492959" y="3200400"/>
            <a:ext cx="209553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Nobody could click it without a code editor</a:t>
            </a:r>
            <a:endParaRPr lang="en-US" sz="1050" dirty="0"/>
          </a:p>
        </p:txBody>
      </p:sp>
      <p:sp>
        <p:nvSpPr>
          <p:cNvPr id="34" name="Text 31"/>
          <p:cNvSpPr/>
          <p:nvPr/>
        </p:nvSpPr>
        <p:spPr>
          <a:xfrm>
            <a:off x="9715500" y="3200400"/>
            <a:ext cx="171450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APP-PLAN’s 12 screens, the pill fill</a:t>
            </a:r>
            <a:endParaRPr lang="en-US" sz="1050" dirty="0"/>
          </a:p>
        </p:txBody>
      </p:sp>
      <p:sp>
        <p:nvSpPr>
          <p:cNvPr id="35" name="Shape 33"/>
          <p:cNvSpPr/>
          <p:nvPr/>
        </p:nvSpPr>
        <p:spPr>
          <a:xfrm>
            <a:off x="761970" y="4000500"/>
            <a:ext cx="10668030" cy="12710"/>
          </a:xfrm>
          <a:prstGeom prst="rect">
            <a:avLst/>
          </a:prstGeom>
          <a:solidFill>
            <a:srgbClr val="16181B">
              <a:alpha val="10000"/>
            </a:srgbClr>
          </a:solidFill>
          <a:ln/>
        </p:spPr>
      </p:sp>
      <p:sp>
        <p:nvSpPr>
          <p:cNvPr id="36" name="Text 33"/>
          <p:cNvSpPr/>
          <p:nvPr/>
        </p:nvSpPr>
        <p:spPr>
          <a:xfrm>
            <a:off x="761970" y="4152930"/>
            <a:ext cx="1587490" cy="254020"/>
          </a:xfrm>
          <a:prstGeom prst="rect">
            <a:avLst/>
          </a:prstGeom>
          <a:noFill/>
          <a:ln/>
        </p:spPr>
        <p:txBody>
          <a:bodyPr wrap="square" lIns="0" tIns="0" rIns="0" bIns="0" rtlCol="0" anchor="t"/>
          <a:lstStyle/>
          <a:p>
            <a:pPr algn="l" indent="0" marL="0">
              <a:lnSpc>
                <a:spcPct val="105000"/>
              </a:lnSpc>
              <a:buNone/>
            </a:pPr>
            <a:r>
              <a:rPr lang="en-US" sz="1560" dirty="0">
                <a:solidFill>
                  <a:srgbClr val="16181B"/>
                </a:solidFill>
                <a:latin typeface="Instrument Serif" pitchFamily="34" charset="0"/>
                <a:ea typeface="Instrument Serif" pitchFamily="34" charset="-122"/>
                <a:cs typeface="Instrument Serif" pitchFamily="34" charset="-120"/>
              </a:rPr>
              <a:t>Handoff</a:t>
            </a:r>
            <a:endParaRPr lang="en-US" sz="1560" dirty="0"/>
          </a:p>
        </p:txBody>
      </p:sp>
      <p:sp>
        <p:nvSpPr>
          <p:cNvPr id="37" name="Text 34"/>
          <p:cNvSpPr/>
          <p:nvPr/>
        </p:nvSpPr>
        <p:spPr>
          <a:xfrm>
            <a:off x="2413010" y="4152930"/>
            <a:ext cx="2984510" cy="387340"/>
          </a:xfrm>
          <a:prstGeom prst="rect">
            <a:avLst/>
          </a:prstGeom>
          <a:noFill/>
          <a:ln/>
        </p:spPr>
        <p:txBody>
          <a:bodyPr wrap="square" lIns="0" tIns="0" rIns="0" bIns="0" rtlCol="0" anchor="t"/>
          <a:lstStyle/>
          <a:p>
            <a:pPr algn="l" indent="0" marL="0">
              <a:lnSpc>
                <a:spcPct val="135000"/>
              </a:lnSpc>
              <a:buNone/>
            </a:pPr>
            <a:r>
              <a:rPr lang="en-US" sz="1050" dirty="0">
                <a:solidFill>
                  <a:srgbClr val="16181B"/>
                </a:solidFill>
                <a:latin typeface="Inter" pitchFamily="34" charset="0"/>
                <a:ea typeface="Inter" pitchFamily="34" charset="-122"/>
                <a:cs typeface="Inter" pitchFamily="34" charset="-120"/>
              </a:rPr>
              <a:t>CSS :root copied site → app; Figma styles + variables; Composio → CSS</a:t>
            </a:r>
            <a:endParaRPr lang="en-US" sz="1050" dirty="0"/>
          </a:p>
        </p:txBody>
      </p:sp>
      <p:sp>
        <p:nvSpPr>
          <p:cNvPr id="38" name="Text 35"/>
          <p:cNvSpPr/>
          <p:nvPr/>
        </p:nvSpPr>
        <p:spPr>
          <a:xfrm>
            <a:off x="5587990" y="4165641"/>
            <a:ext cx="952530" cy="215890"/>
          </a:xfrm>
          <a:prstGeom prst="rect">
            <a:avLst/>
          </a:prstGeom>
          <a:noFill/>
          <a:ln/>
        </p:spPr>
        <p:txBody>
          <a:bodyPr wrap="square" lIns="0" tIns="0" rIns="0" bIns="0" rtlCol="0" anchor="t"/>
          <a:lstStyle/>
          <a:p>
            <a:pPr algn="l" indent="0" marL="0">
              <a:lnSpc>
                <a:spcPct val="140000"/>
              </a:lnSpc>
              <a:buNone/>
            </a:pPr>
            <a:r>
              <a:rPr lang="en-US" sz="1050" dirty="0">
                <a:solidFill>
                  <a:srgbClr val="16181B"/>
                </a:solidFill>
                <a:latin typeface="JetBrains Mono" pitchFamily="34" charset="0"/>
                <a:ea typeface="JetBrains Mono" pitchFamily="34" charset="-122"/>
                <a:cs typeface="JetBrains Mono" pitchFamily="34" charset="-120"/>
              </a:rPr>
              <a:t>≈7 min</a:t>
            </a:r>
            <a:endParaRPr lang="en-US" sz="1050" dirty="0"/>
          </a:p>
        </p:txBody>
      </p:sp>
      <p:sp>
        <p:nvSpPr>
          <p:cNvPr id="39" name="Text 36"/>
          <p:cNvSpPr/>
          <p:nvPr/>
        </p:nvSpPr>
        <p:spPr>
          <a:xfrm>
            <a:off x="6603980" y="4165641"/>
            <a:ext cx="825520" cy="228600"/>
          </a:xfrm>
          <a:prstGeom prst="rect">
            <a:avLst/>
          </a:prstGeom>
          <a:noFill/>
          <a:ln/>
        </p:spPr>
        <p:txBody>
          <a:bodyPr wrap="square" lIns="0" tIns="0" rIns="0" bIns="0" rtlCol="0" anchor="t"/>
          <a:lstStyle/>
          <a:p>
            <a:pPr algn="l" indent="0" marL="0">
              <a:lnSpc>
                <a:spcPct val="140000"/>
              </a:lnSpc>
              <a:buNone/>
            </a:pPr>
            <a:r>
              <a:rPr lang="en-US" sz="1100" b="1" dirty="0">
                <a:solidFill>
                  <a:srgbClr val="16181B"/>
                </a:solidFill>
                <a:latin typeface="JetBrains Mono" pitchFamily="34" charset="0"/>
                <a:ea typeface="JetBrains Mono" pitchFamily="34" charset="-122"/>
                <a:cs typeface="JetBrains Mono" pitchFamily="34" charset="-120"/>
              </a:rPr>
              <a:t>2/5</a:t>
            </a:r>
            <a:endParaRPr lang="en-US" sz="1100" dirty="0"/>
          </a:p>
        </p:txBody>
      </p:sp>
      <p:sp>
        <p:nvSpPr>
          <p:cNvPr id="40" name="Shape 38"/>
          <p:cNvSpPr/>
          <p:nvPr/>
        </p:nvSpPr>
        <p:spPr>
          <a:xfrm>
            <a:off x="6603980" y="4419570"/>
            <a:ext cx="603230" cy="177759"/>
          </a:xfrm>
          <a:prstGeom prst="roundRect">
            <a:avLst>
              <a:gd name="adj" fmla="val 50000"/>
            </a:avLst>
          </a:prstGeom>
          <a:solidFill>
            <a:srgbClr val="9AA0A6">
              <a:alpha val="18000"/>
            </a:srgbClr>
          </a:solidFill>
          <a:ln/>
        </p:spPr>
      </p:sp>
      <p:sp>
        <p:nvSpPr>
          <p:cNvPr id="41" name="Text 38"/>
          <p:cNvSpPr/>
          <p:nvPr/>
        </p:nvSpPr>
        <p:spPr>
          <a:xfrm>
            <a:off x="6603980" y="4455140"/>
            <a:ext cx="60323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PENDING</a:t>
            </a:r>
            <a:endParaRPr lang="en-US" sz="700" dirty="0"/>
          </a:p>
        </p:txBody>
      </p:sp>
      <p:sp>
        <p:nvSpPr>
          <p:cNvPr id="42" name="Text 39"/>
          <p:cNvSpPr/>
          <p:nvPr/>
        </p:nvSpPr>
        <p:spPr>
          <a:xfrm>
            <a:off x="7492959" y="4152930"/>
            <a:ext cx="209553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8 of 27 tokens arrived identical; no record of intent</a:t>
            </a:r>
            <a:endParaRPr lang="en-US" sz="1050" dirty="0"/>
          </a:p>
        </p:txBody>
      </p:sp>
      <p:sp>
        <p:nvSpPr>
          <p:cNvPr id="43" name="Text 40"/>
          <p:cNvSpPr/>
          <p:nvPr/>
        </p:nvSpPr>
        <p:spPr>
          <a:xfrm>
            <a:off x="9715500" y="4152930"/>
            <a:ext cx="171450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App :root, Tokens page, tokens-from-figma.mjs</a:t>
            </a:r>
            <a:endParaRPr lang="en-US" sz="1050" dirty="0"/>
          </a:p>
        </p:txBody>
      </p:sp>
      <p:sp>
        <p:nvSpPr>
          <p:cNvPr id="44" name="Shape 42"/>
          <p:cNvSpPr/>
          <p:nvPr/>
        </p:nvSpPr>
        <p:spPr>
          <a:xfrm>
            <a:off x="761970" y="4953030"/>
            <a:ext cx="10668030" cy="12710"/>
          </a:xfrm>
          <a:prstGeom prst="rect">
            <a:avLst/>
          </a:prstGeom>
          <a:solidFill>
            <a:srgbClr val="16181B">
              <a:alpha val="10000"/>
            </a:srgbClr>
          </a:solidFill>
          <a:ln/>
        </p:spPr>
      </p:sp>
      <p:sp>
        <p:nvSpPr>
          <p:cNvPr id="45" name="Text 42"/>
          <p:cNvSpPr/>
          <p:nvPr/>
        </p:nvSpPr>
        <p:spPr>
          <a:xfrm>
            <a:off x="761970" y="5105370"/>
            <a:ext cx="1587490" cy="215890"/>
          </a:xfrm>
          <a:prstGeom prst="rect">
            <a:avLst/>
          </a:prstGeom>
          <a:noFill/>
          <a:ln/>
        </p:spPr>
        <p:txBody>
          <a:bodyPr wrap="square" lIns="0" tIns="0" rIns="0" bIns="0" rtlCol="0" anchor="t"/>
          <a:lstStyle/>
          <a:p>
            <a:pPr algn="l" indent="0" marL="0">
              <a:lnSpc>
                <a:spcPct val="105000"/>
              </a:lnSpc>
              <a:buNone/>
            </a:pPr>
            <a:r>
              <a:rPr lang="en-US" sz="1360" dirty="0">
                <a:solidFill>
                  <a:srgbClr val="16181B"/>
                </a:solidFill>
                <a:latin typeface="Instrument Serif" pitchFamily="34" charset="0"/>
                <a:ea typeface="Instrument Serif" pitchFamily="34" charset="-122"/>
                <a:cs typeface="Instrument Serif" pitchFamily="34" charset="-120"/>
              </a:rPr>
              <a:t>Code generation</a:t>
            </a:r>
            <a:endParaRPr lang="en-US" sz="1360" dirty="0"/>
          </a:p>
        </p:txBody>
      </p:sp>
      <p:sp>
        <p:nvSpPr>
          <p:cNvPr id="46" name="Text 43"/>
          <p:cNvSpPr/>
          <p:nvPr/>
        </p:nvSpPr>
        <p:spPr>
          <a:xfrm>
            <a:off x="2413010" y="5105370"/>
            <a:ext cx="2984510" cy="387340"/>
          </a:xfrm>
          <a:prstGeom prst="rect">
            <a:avLst/>
          </a:prstGeom>
          <a:noFill/>
          <a:ln/>
        </p:spPr>
        <p:txBody>
          <a:bodyPr wrap="square" lIns="0" tIns="0" rIns="0" bIns="0" rtlCol="0" anchor="t"/>
          <a:lstStyle/>
          <a:p>
            <a:pPr algn="l" indent="0" marL="0">
              <a:lnSpc>
                <a:spcPct val="135000"/>
              </a:lnSpc>
              <a:buNone/>
            </a:pPr>
            <a:r>
              <a:rPr lang="en-US" sz="1050" dirty="0">
                <a:solidFill>
                  <a:srgbClr val="16181B"/>
                </a:solidFill>
                <a:latin typeface="Inter" pitchFamily="34" charset="0"/>
                <a:ea typeface="Inter" pitchFamily="34" charset="-122"/>
                <a:cs typeface="Inter" pitchFamily="34" charset="-120"/>
              </a:rPr>
              <a:t>Claude Code + 3 parallel builders; Pill → Figma plugin</a:t>
            </a:r>
            <a:endParaRPr lang="en-US" sz="1050" dirty="0"/>
          </a:p>
        </p:txBody>
      </p:sp>
      <p:sp>
        <p:nvSpPr>
          <p:cNvPr id="47" name="Text 44"/>
          <p:cNvSpPr/>
          <p:nvPr/>
        </p:nvSpPr>
        <p:spPr>
          <a:xfrm>
            <a:off x="5587990" y="5118080"/>
            <a:ext cx="952530" cy="215890"/>
          </a:xfrm>
          <a:prstGeom prst="rect">
            <a:avLst/>
          </a:prstGeom>
          <a:noFill/>
          <a:ln/>
        </p:spPr>
        <p:txBody>
          <a:bodyPr wrap="square" lIns="0" tIns="0" rIns="0" bIns="0" rtlCol="0" anchor="t"/>
          <a:lstStyle/>
          <a:p>
            <a:pPr algn="l" indent="0" marL="0">
              <a:lnSpc>
                <a:spcPct val="140000"/>
              </a:lnSpc>
              <a:buNone/>
            </a:pPr>
            <a:r>
              <a:rPr lang="en-US" sz="1050" dirty="0">
                <a:solidFill>
                  <a:srgbClr val="16181B"/>
                </a:solidFill>
                <a:latin typeface="JetBrains Mono" pitchFamily="34" charset="0"/>
                <a:ea typeface="JetBrains Mono" pitchFamily="34" charset="-122"/>
                <a:cs typeface="JetBrains Mono" pitchFamily="34" charset="-120"/>
              </a:rPr>
              <a:t>≈92 min</a:t>
            </a:r>
            <a:endParaRPr lang="en-US" sz="1050" dirty="0"/>
          </a:p>
        </p:txBody>
      </p:sp>
      <p:sp>
        <p:nvSpPr>
          <p:cNvPr id="48" name="Text 45"/>
          <p:cNvSpPr/>
          <p:nvPr/>
        </p:nvSpPr>
        <p:spPr>
          <a:xfrm>
            <a:off x="6603980" y="5118080"/>
            <a:ext cx="825520" cy="228600"/>
          </a:xfrm>
          <a:prstGeom prst="rect">
            <a:avLst/>
          </a:prstGeom>
          <a:noFill/>
          <a:ln/>
        </p:spPr>
        <p:txBody>
          <a:bodyPr wrap="square" lIns="0" tIns="0" rIns="0" bIns="0" rtlCol="0" anchor="t"/>
          <a:lstStyle/>
          <a:p>
            <a:pPr algn="l" indent="0" marL="0">
              <a:lnSpc>
                <a:spcPct val="140000"/>
              </a:lnSpc>
              <a:buNone/>
            </a:pPr>
            <a:r>
              <a:rPr lang="en-US" sz="1100" b="1" dirty="0">
                <a:solidFill>
                  <a:srgbClr val="16181B"/>
                </a:solidFill>
                <a:latin typeface="JetBrains Mono" pitchFamily="34" charset="0"/>
                <a:ea typeface="JetBrains Mono" pitchFamily="34" charset="-122"/>
                <a:cs typeface="JetBrains Mono" pitchFamily="34" charset="-120"/>
              </a:rPr>
              <a:t>4/5</a:t>
            </a:r>
            <a:endParaRPr lang="en-US" sz="1100" dirty="0"/>
          </a:p>
        </p:txBody>
      </p:sp>
      <p:sp>
        <p:nvSpPr>
          <p:cNvPr id="49" name="Shape 47"/>
          <p:cNvSpPr/>
          <p:nvPr/>
        </p:nvSpPr>
        <p:spPr>
          <a:xfrm>
            <a:off x="6603980" y="5372100"/>
            <a:ext cx="603230" cy="177759"/>
          </a:xfrm>
          <a:prstGeom prst="roundRect">
            <a:avLst>
              <a:gd name="adj" fmla="val 50000"/>
            </a:avLst>
          </a:prstGeom>
          <a:solidFill>
            <a:srgbClr val="9AA0A6">
              <a:alpha val="18000"/>
            </a:srgbClr>
          </a:solidFill>
          <a:ln/>
        </p:spPr>
      </p:sp>
      <p:sp>
        <p:nvSpPr>
          <p:cNvPr id="50" name="Text 47"/>
          <p:cNvSpPr/>
          <p:nvPr/>
        </p:nvSpPr>
        <p:spPr>
          <a:xfrm>
            <a:off x="6603980" y="5407670"/>
            <a:ext cx="60323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PENDING</a:t>
            </a:r>
            <a:endParaRPr lang="en-US" sz="700" dirty="0"/>
          </a:p>
        </p:txBody>
      </p:sp>
      <p:sp>
        <p:nvSpPr>
          <p:cNvPr id="51" name="Text 48"/>
          <p:cNvSpPr/>
          <p:nvPr/>
        </p:nvSpPr>
        <p:spPr>
          <a:xfrm>
            <a:off x="7492959" y="5105370"/>
            <a:ext cx="209553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P6 hold rule bug; double deploy; REST API can’t draw</a:t>
            </a:r>
            <a:endParaRPr lang="en-US" sz="1050" dirty="0"/>
          </a:p>
        </p:txBody>
      </p:sp>
      <p:sp>
        <p:nvSpPr>
          <p:cNvPr id="52" name="Text 49"/>
          <p:cNvSpPr/>
          <p:nvPr/>
        </p:nvSpPr>
        <p:spPr>
          <a:xfrm>
            <a:off x="9715500" y="5105370"/>
            <a:ext cx="171450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App, payment service, this deck</a:t>
            </a:r>
            <a:endParaRPr lang="en-US" sz="1050" dirty="0"/>
          </a:p>
        </p:txBody>
      </p:sp>
      <p:sp>
        <p:nvSpPr>
          <p:cNvPr id="53" name="Shape 51"/>
          <p:cNvSpPr/>
          <p:nvPr/>
        </p:nvSpPr>
        <p:spPr>
          <a:xfrm>
            <a:off x="761970" y="5905470"/>
            <a:ext cx="10668030" cy="12710"/>
          </a:xfrm>
          <a:prstGeom prst="rect">
            <a:avLst/>
          </a:prstGeom>
          <a:solidFill>
            <a:srgbClr val="16181B">
              <a:alpha val="10000"/>
            </a:srgbClr>
          </a:solidFill>
          <a:ln/>
        </p:spPr>
      </p:sp>
      <p:sp>
        <p:nvSpPr>
          <p:cNvPr id="54" name="Text 51"/>
          <p:cNvSpPr/>
          <p:nvPr/>
        </p:nvSpPr>
        <p:spPr>
          <a:xfrm>
            <a:off x="761970" y="6057900"/>
            <a:ext cx="1066803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PENDING = the Figma step is written but not yet run; its minutes and rating stay blank in the log, not estimated.</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WHAT BROKE</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17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52480"/>
          </a:xfrm>
          <a:prstGeom prst="rect">
            <a:avLst/>
          </a:prstGeom>
          <a:noFill/>
          <a:ln/>
        </p:spPr>
        <p:txBody>
          <a:bodyPr wrap="square" lIns="0" tIns="0" rIns="0" bIns="0" rtlCol="0" anchor="t"/>
          <a:lstStyle/>
          <a:p>
            <a:pPr algn="l" indent="0" marL="0">
              <a:lnSpc>
                <a:spcPct val="100000"/>
              </a:lnSpc>
              <a:buNone/>
            </a:pPr>
            <a:r>
              <a:rPr lang="en-US" sz="3588" spc="-54" kern="0" dirty="0">
                <a:solidFill>
                  <a:srgbClr val="16181B"/>
                </a:solidFill>
                <a:latin typeface="Instrument Serif" pitchFamily="34" charset="0"/>
                <a:ea typeface="Instrument Serif" pitchFamily="34" charset="-122"/>
                <a:cs typeface="Instrument Serif" pitchFamily="34" charset="-120"/>
              </a:rPr>
              <a:t>What broke, </a:t>
            </a:r>
            <a:pPr algn="l" indent="0" marL="0">
              <a:lnSpc>
                <a:spcPct val="100000"/>
              </a:lnSpc>
              <a:buNone/>
            </a:pPr>
            <a:r>
              <a:rPr lang="en-US" sz="3588" i="1" spc="-54" kern="0" dirty="0">
                <a:solidFill>
                  <a:srgbClr val="16181B"/>
                </a:solidFill>
                <a:latin typeface="Instrument Serif" pitchFamily="34" charset="0"/>
                <a:ea typeface="Instrument Serif" pitchFamily="34" charset="-122"/>
                <a:cs typeface="Instrument Serif" pitchFamily="34" charset="-120"/>
              </a:rPr>
              <a:t>and what it changed.</a:t>
            </a:r>
            <a:endParaRPr lang="en-US" sz="3588" dirty="0"/>
          </a:p>
        </p:txBody>
      </p:sp>
      <p:sp>
        <p:nvSpPr>
          <p:cNvPr id="11" name="Shape 9"/>
          <p:cNvSpPr/>
          <p:nvPr/>
        </p:nvSpPr>
        <p:spPr>
          <a:xfrm>
            <a:off x="761970" y="1904970"/>
            <a:ext cx="5206959" cy="1968520"/>
          </a:xfrm>
          <a:prstGeom prst="roundRect">
            <a:avLst>
              <a:gd name="adj" fmla="val 7743"/>
            </a:avLst>
          </a:prstGeom>
          <a:solidFill>
            <a:srgbClr val="FFFFFF"/>
          </a:solidFill>
          <a:ln w="12700">
            <a:solidFill>
              <a:srgbClr val="16181B">
                <a:alpha val="10000"/>
              </a:srgbClr>
            </a:solidFill>
            <a:prstDash val="solid"/>
          </a:ln>
        </p:spPr>
      </p:sp>
      <p:sp>
        <p:nvSpPr>
          <p:cNvPr id="12" name="Shape 10"/>
          <p:cNvSpPr/>
          <p:nvPr/>
        </p:nvSpPr>
        <p:spPr>
          <a:xfrm>
            <a:off x="990570" y="2133570"/>
            <a:ext cx="355610" cy="38130"/>
          </a:xfrm>
          <a:prstGeom prst="roundRect">
            <a:avLst>
              <a:gd name="adj" fmla="val 49881"/>
            </a:avLst>
          </a:prstGeom>
          <a:solidFill>
            <a:srgbClr val="E09A3A"/>
          </a:solidFill>
          <a:ln/>
        </p:spPr>
      </p:sp>
      <p:sp>
        <p:nvSpPr>
          <p:cNvPr id="13" name="Text 10"/>
          <p:cNvSpPr/>
          <p:nvPr/>
        </p:nvSpPr>
        <p:spPr>
          <a:xfrm>
            <a:off x="990570" y="2311420"/>
            <a:ext cx="4749759" cy="298460"/>
          </a:xfrm>
          <a:prstGeom prst="rect">
            <a:avLst/>
          </a:prstGeom>
          <a:noFill/>
          <a:ln/>
        </p:spPr>
        <p:txBody>
          <a:bodyPr wrap="square" lIns="0" tIns="0" rIns="0" bIns="0" rtlCol="0" anchor="t"/>
          <a:lstStyle/>
          <a:p>
            <a:pPr algn="l" indent="0" marL="0">
              <a:lnSpc>
                <a:spcPct val="125000"/>
              </a:lnSpc>
              <a:buNone/>
            </a:pPr>
            <a:r>
              <a:rPr lang="en-US" sz="1600" b="1" dirty="0">
                <a:solidFill>
                  <a:srgbClr val="16181B"/>
                </a:solidFill>
                <a:latin typeface="Inter" pitchFamily="34" charset="0"/>
                <a:ea typeface="Inter" pitchFamily="34" charset="-122"/>
                <a:cs typeface="Inter" pitchFamily="34" charset="-120"/>
              </a:rPr>
              <a:t>The P6 hold rule</a:t>
            </a:r>
            <a:endParaRPr lang="en-US" sz="1600" dirty="0"/>
          </a:p>
        </p:txBody>
      </p:sp>
      <p:sp>
        <p:nvSpPr>
          <p:cNvPr id="14" name="Text 11"/>
          <p:cNvSpPr/>
          <p:nvPr/>
        </p:nvSpPr>
        <p:spPr>
          <a:xfrm>
            <a:off x="990570" y="2654320"/>
            <a:ext cx="4749759" cy="66678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The scaffold held money only when the recall lookup was unreachable, so a delivery with no bottle attached could be proposed for release.</a:t>
            </a:r>
            <a:endParaRPr lang="en-US" sz="1150" dirty="0"/>
          </a:p>
        </p:txBody>
      </p:sp>
      <p:sp>
        <p:nvSpPr>
          <p:cNvPr id="15" name="Shape 13"/>
          <p:cNvSpPr/>
          <p:nvPr/>
        </p:nvSpPr>
        <p:spPr>
          <a:xfrm>
            <a:off x="990570" y="3403580"/>
            <a:ext cx="4749759" cy="12710"/>
          </a:xfrm>
          <a:prstGeom prst="rect">
            <a:avLst/>
          </a:prstGeom>
          <a:solidFill>
            <a:srgbClr val="16181B">
              <a:alpha val="10000"/>
            </a:srgbClr>
          </a:solidFill>
          <a:ln/>
        </p:spPr>
      </p:sp>
      <p:sp>
        <p:nvSpPr>
          <p:cNvPr id="16" name="Text 13"/>
          <p:cNvSpPr/>
          <p:nvPr/>
        </p:nvSpPr>
        <p:spPr>
          <a:xfrm>
            <a:off x="990570" y="3517880"/>
            <a:ext cx="4749759"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Caught by a builder’s end-to-end test.</a:t>
            </a:r>
            <a:endParaRPr lang="en-US" sz="900" dirty="0"/>
          </a:p>
        </p:txBody>
      </p:sp>
      <p:sp>
        <p:nvSpPr>
          <p:cNvPr id="17" name="Shape 15"/>
          <p:cNvSpPr/>
          <p:nvPr/>
        </p:nvSpPr>
        <p:spPr>
          <a:xfrm>
            <a:off x="6223041" y="1904970"/>
            <a:ext cx="5206959" cy="1968520"/>
          </a:xfrm>
          <a:prstGeom prst="roundRect">
            <a:avLst>
              <a:gd name="adj" fmla="val 7743"/>
            </a:avLst>
          </a:prstGeom>
          <a:solidFill>
            <a:srgbClr val="FFFFFF"/>
          </a:solidFill>
          <a:ln w="12700">
            <a:solidFill>
              <a:srgbClr val="16181B">
                <a:alpha val="10000"/>
              </a:srgbClr>
            </a:solidFill>
            <a:prstDash val="solid"/>
          </a:ln>
        </p:spPr>
      </p:sp>
      <p:sp>
        <p:nvSpPr>
          <p:cNvPr id="18" name="Shape 16"/>
          <p:cNvSpPr/>
          <p:nvPr/>
        </p:nvSpPr>
        <p:spPr>
          <a:xfrm>
            <a:off x="6451641" y="2133570"/>
            <a:ext cx="355610" cy="38130"/>
          </a:xfrm>
          <a:prstGeom prst="roundRect">
            <a:avLst>
              <a:gd name="adj" fmla="val 49881"/>
            </a:avLst>
          </a:prstGeom>
          <a:solidFill>
            <a:srgbClr val="E09A3A"/>
          </a:solidFill>
          <a:ln/>
        </p:spPr>
      </p:sp>
      <p:sp>
        <p:nvSpPr>
          <p:cNvPr id="19" name="Text 16"/>
          <p:cNvSpPr/>
          <p:nvPr/>
        </p:nvSpPr>
        <p:spPr>
          <a:xfrm>
            <a:off x="6451641" y="2311420"/>
            <a:ext cx="4749759" cy="298460"/>
          </a:xfrm>
          <a:prstGeom prst="rect">
            <a:avLst/>
          </a:prstGeom>
          <a:noFill/>
          <a:ln/>
        </p:spPr>
        <p:txBody>
          <a:bodyPr wrap="square" lIns="0" tIns="0" rIns="0" bIns="0" rtlCol="0" anchor="t"/>
          <a:lstStyle/>
          <a:p>
            <a:pPr algn="l" indent="0" marL="0">
              <a:lnSpc>
                <a:spcPct val="125000"/>
              </a:lnSpc>
              <a:buNone/>
            </a:pPr>
            <a:r>
              <a:rPr lang="en-US" sz="1600" b="1" dirty="0">
                <a:solidFill>
                  <a:srgbClr val="16181B"/>
                </a:solidFill>
                <a:latin typeface="Inter" pitchFamily="34" charset="0"/>
                <a:ea typeface="Inter" pitchFamily="34" charset="-122"/>
                <a:cs typeface="Inter" pitchFamily="34" charset="-120"/>
              </a:rPr>
              <a:t>A double deploy</a:t>
            </a:r>
            <a:endParaRPr lang="en-US" sz="1600" dirty="0"/>
          </a:p>
        </p:txBody>
      </p:sp>
      <p:sp>
        <p:nvSpPr>
          <p:cNvPr id="20" name="Text 17"/>
          <p:cNvSpPr/>
          <p:nvPr/>
        </p:nvSpPr>
        <p:spPr>
          <a:xfrm>
            <a:off x="6451641" y="2654320"/>
            <a:ext cx="4749759" cy="45720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A `tail -6` cut off Vercel’s output, the deploy looked unfinished and was re-run: two identical production deploys.</a:t>
            </a:r>
            <a:endParaRPr lang="en-US" sz="1150" dirty="0"/>
          </a:p>
        </p:txBody>
      </p:sp>
      <p:sp>
        <p:nvSpPr>
          <p:cNvPr id="21" name="Shape 19"/>
          <p:cNvSpPr/>
          <p:nvPr/>
        </p:nvSpPr>
        <p:spPr>
          <a:xfrm>
            <a:off x="6451641" y="3403580"/>
            <a:ext cx="4749759" cy="12710"/>
          </a:xfrm>
          <a:prstGeom prst="rect">
            <a:avLst/>
          </a:prstGeom>
          <a:solidFill>
            <a:srgbClr val="16181B">
              <a:alpha val="10000"/>
            </a:srgbClr>
          </a:solidFill>
          <a:ln/>
        </p:spPr>
      </p:sp>
      <p:sp>
        <p:nvSpPr>
          <p:cNvPr id="22" name="Text 19"/>
          <p:cNvSpPr/>
          <p:nvPr/>
        </p:nvSpPr>
        <p:spPr>
          <a:xfrm>
            <a:off x="6451641" y="3517880"/>
            <a:ext cx="4749759"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Read the whole log before re-running.</a:t>
            </a:r>
            <a:endParaRPr lang="en-US" sz="900" dirty="0"/>
          </a:p>
        </p:txBody>
      </p:sp>
      <p:sp>
        <p:nvSpPr>
          <p:cNvPr id="23" name="Shape 21"/>
          <p:cNvSpPr/>
          <p:nvPr/>
        </p:nvSpPr>
        <p:spPr>
          <a:xfrm>
            <a:off x="761970" y="4063959"/>
            <a:ext cx="5206959" cy="1968520"/>
          </a:xfrm>
          <a:prstGeom prst="roundRect">
            <a:avLst>
              <a:gd name="adj" fmla="val 7743"/>
            </a:avLst>
          </a:prstGeom>
          <a:solidFill>
            <a:srgbClr val="FFFFFF"/>
          </a:solidFill>
          <a:ln w="12700">
            <a:solidFill>
              <a:srgbClr val="16181B">
                <a:alpha val="10000"/>
              </a:srgbClr>
            </a:solidFill>
            <a:prstDash val="solid"/>
          </a:ln>
        </p:spPr>
      </p:sp>
      <p:sp>
        <p:nvSpPr>
          <p:cNvPr id="24" name="Shape 22"/>
          <p:cNvSpPr/>
          <p:nvPr/>
        </p:nvSpPr>
        <p:spPr>
          <a:xfrm>
            <a:off x="990570" y="4292559"/>
            <a:ext cx="355610" cy="38130"/>
          </a:xfrm>
          <a:prstGeom prst="roundRect">
            <a:avLst>
              <a:gd name="adj" fmla="val 49881"/>
            </a:avLst>
          </a:prstGeom>
          <a:solidFill>
            <a:srgbClr val="E09A3A"/>
          </a:solidFill>
          <a:ln/>
        </p:spPr>
      </p:sp>
      <p:sp>
        <p:nvSpPr>
          <p:cNvPr id="25" name="Text 22"/>
          <p:cNvSpPr/>
          <p:nvPr/>
        </p:nvSpPr>
        <p:spPr>
          <a:xfrm>
            <a:off x="990570" y="4470410"/>
            <a:ext cx="4749759" cy="298460"/>
          </a:xfrm>
          <a:prstGeom prst="rect">
            <a:avLst/>
          </a:prstGeom>
          <a:noFill/>
          <a:ln/>
        </p:spPr>
        <p:txBody>
          <a:bodyPr wrap="square" lIns="0" tIns="0" rIns="0" bIns="0" rtlCol="0" anchor="t"/>
          <a:lstStyle/>
          <a:p>
            <a:pPr algn="l" indent="0" marL="0">
              <a:lnSpc>
                <a:spcPct val="125000"/>
              </a:lnSpc>
              <a:buNone/>
            </a:pPr>
            <a:r>
              <a:rPr lang="en-US" sz="1600" b="1" dirty="0">
                <a:solidFill>
                  <a:srgbClr val="16181B"/>
                </a:solidFill>
                <a:latin typeface="Inter" pitchFamily="34" charset="0"/>
                <a:ea typeface="Inter" pitchFamily="34" charset="-122"/>
                <a:cs typeface="Inter" pitchFamily="34" charset="-120"/>
              </a:rPr>
              <a:t>The REST API can’t draw</a:t>
            </a:r>
            <a:endParaRPr lang="en-US" sz="1600" dirty="0"/>
          </a:p>
        </p:txBody>
      </p:sp>
      <p:sp>
        <p:nvSpPr>
          <p:cNvPr id="26" name="Text 23"/>
          <p:cNvSpPr/>
          <p:nvPr/>
        </p:nvSpPr>
        <p:spPr>
          <a:xfrm>
            <a:off x="990570" y="4813310"/>
            <a:ext cx="4749759" cy="45720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The Figma REST API and our Composio connector read, comment and set variables. Neither can create a layer or a slide.</a:t>
            </a:r>
            <a:endParaRPr lang="en-US" sz="1150" dirty="0"/>
          </a:p>
        </p:txBody>
      </p:sp>
      <p:sp>
        <p:nvSpPr>
          <p:cNvPr id="27" name="Shape 25"/>
          <p:cNvSpPr/>
          <p:nvPr/>
        </p:nvSpPr>
        <p:spPr>
          <a:xfrm>
            <a:off x="990570" y="5562570"/>
            <a:ext cx="4749759" cy="12710"/>
          </a:xfrm>
          <a:prstGeom prst="rect">
            <a:avLst/>
          </a:prstGeom>
          <a:solidFill>
            <a:srgbClr val="16181B">
              <a:alpha val="10000"/>
            </a:srgbClr>
          </a:solidFill>
          <a:ln/>
        </p:spPr>
      </p:sp>
      <p:sp>
        <p:nvSpPr>
          <p:cNvPr id="28" name="Text 25"/>
          <p:cNvSpPr/>
          <p:nvPr/>
        </p:nvSpPr>
        <p:spPr>
          <a:xfrm>
            <a:off x="990570" y="5676870"/>
            <a:ext cx="4749759"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So the repo emits deck.json and a plugin draws it.</a:t>
            </a:r>
            <a:endParaRPr lang="en-US" sz="900" dirty="0"/>
          </a:p>
        </p:txBody>
      </p:sp>
      <p:sp>
        <p:nvSpPr>
          <p:cNvPr id="29" name="Shape 27"/>
          <p:cNvSpPr/>
          <p:nvPr/>
        </p:nvSpPr>
        <p:spPr>
          <a:xfrm>
            <a:off x="6223041" y="4063959"/>
            <a:ext cx="5206959" cy="1968520"/>
          </a:xfrm>
          <a:prstGeom prst="roundRect">
            <a:avLst>
              <a:gd name="adj" fmla="val 7743"/>
            </a:avLst>
          </a:prstGeom>
          <a:solidFill>
            <a:srgbClr val="FFFFFF"/>
          </a:solidFill>
          <a:ln w="12700">
            <a:solidFill>
              <a:srgbClr val="16181B">
                <a:alpha val="10000"/>
              </a:srgbClr>
            </a:solidFill>
            <a:prstDash val="solid"/>
          </a:ln>
        </p:spPr>
      </p:sp>
      <p:sp>
        <p:nvSpPr>
          <p:cNvPr id="30" name="Shape 28"/>
          <p:cNvSpPr/>
          <p:nvPr/>
        </p:nvSpPr>
        <p:spPr>
          <a:xfrm>
            <a:off x="6451641" y="4292559"/>
            <a:ext cx="355610" cy="38130"/>
          </a:xfrm>
          <a:prstGeom prst="roundRect">
            <a:avLst>
              <a:gd name="adj" fmla="val 49881"/>
            </a:avLst>
          </a:prstGeom>
          <a:solidFill>
            <a:srgbClr val="E09A3A"/>
          </a:solidFill>
          <a:ln/>
        </p:spPr>
      </p:sp>
      <p:sp>
        <p:nvSpPr>
          <p:cNvPr id="31" name="Text 28"/>
          <p:cNvSpPr/>
          <p:nvPr/>
        </p:nvSpPr>
        <p:spPr>
          <a:xfrm>
            <a:off x="6451641" y="4470410"/>
            <a:ext cx="4749759" cy="298460"/>
          </a:xfrm>
          <a:prstGeom prst="rect">
            <a:avLst/>
          </a:prstGeom>
          <a:noFill/>
          <a:ln/>
        </p:spPr>
        <p:txBody>
          <a:bodyPr wrap="square" lIns="0" tIns="0" rIns="0" bIns="0" rtlCol="0" anchor="t"/>
          <a:lstStyle/>
          <a:p>
            <a:pPr algn="l" indent="0" marL="0">
              <a:lnSpc>
                <a:spcPct val="125000"/>
              </a:lnSpc>
              <a:buNone/>
            </a:pPr>
            <a:r>
              <a:rPr lang="en-US" sz="1600" b="1" dirty="0">
                <a:solidFill>
                  <a:srgbClr val="16181B"/>
                </a:solidFill>
                <a:latin typeface="Inter" pitchFamily="34" charset="0"/>
                <a:ea typeface="Inter" pitchFamily="34" charset="-122"/>
                <a:cs typeface="Inter" pitchFamily="34" charset="-120"/>
              </a:rPr>
              <a:t>8 of 27 tokens survived the hand copy</a:t>
            </a:r>
            <a:endParaRPr lang="en-US" sz="1600" dirty="0"/>
          </a:p>
        </p:txBody>
      </p:sp>
      <p:sp>
        <p:nvSpPr>
          <p:cNvPr id="32" name="Text 29"/>
          <p:cNvSpPr/>
          <p:nvPr/>
        </p:nvSpPr>
        <p:spPr>
          <a:xfrm>
            <a:off x="6451641" y="4813310"/>
            <a:ext cx="4749759" cy="45720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Site → app by hand: 8 identical, 7 changed value, 12 renamed or dropped. Nothing recorded which changes were meant.</a:t>
            </a:r>
            <a:endParaRPr lang="en-US" sz="1150" dirty="0"/>
          </a:p>
        </p:txBody>
      </p:sp>
      <p:sp>
        <p:nvSpPr>
          <p:cNvPr id="33" name="Shape 31"/>
          <p:cNvSpPr/>
          <p:nvPr/>
        </p:nvSpPr>
        <p:spPr>
          <a:xfrm>
            <a:off x="6451641" y="5562570"/>
            <a:ext cx="4749759" cy="12710"/>
          </a:xfrm>
          <a:prstGeom prst="rect">
            <a:avLst/>
          </a:prstGeom>
          <a:solidFill>
            <a:srgbClr val="16181B">
              <a:alpha val="10000"/>
            </a:srgbClr>
          </a:solidFill>
          <a:ln/>
        </p:spPr>
      </p:sp>
      <p:sp>
        <p:nvSpPr>
          <p:cNvPr id="34" name="Text 31"/>
          <p:cNvSpPr/>
          <p:nvPr/>
        </p:nvSpPr>
        <p:spPr>
          <a:xfrm>
            <a:off x="6451641" y="5676870"/>
            <a:ext cx="4749759"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Tokens now go to Figma as variables and back as CSS.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BEFORE AND AFTER</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18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52480"/>
          </a:xfrm>
          <a:prstGeom prst="rect">
            <a:avLst/>
          </a:prstGeom>
          <a:noFill/>
          <a:ln/>
        </p:spPr>
        <p:txBody>
          <a:bodyPr wrap="square" lIns="0" tIns="0" rIns="0" bIns="0" rtlCol="0" anchor="t"/>
          <a:lstStyle/>
          <a:p>
            <a:pPr algn="l" indent="0" marL="0">
              <a:lnSpc>
                <a:spcPct val="100000"/>
              </a:lnSpc>
              <a:buNone/>
            </a:pPr>
            <a:r>
              <a:rPr lang="en-US" sz="3588" spc="-54" kern="0" dirty="0">
                <a:solidFill>
                  <a:srgbClr val="16181B"/>
                </a:solidFill>
                <a:latin typeface="Instrument Serif" pitchFamily="34" charset="0"/>
                <a:ea typeface="Instrument Serif" pitchFamily="34" charset="-122"/>
                <a:cs typeface="Instrument Serif" pitchFamily="34" charset="-120"/>
              </a:rPr>
              <a:t>From hours to one click.</a:t>
            </a:r>
            <a:endParaRPr lang="en-US" sz="3588" dirty="0"/>
          </a:p>
        </p:txBody>
      </p:sp>
      <p:sp>
        <p:nvSpPr>
          <p:cNvPr id="11" name="Shape 9"/>
          <p:cNvSpPr/>
          <p:nvPr/>
        </p:nvSpPr>
        <p:spPr>
          <a:xfrm>
            <a:off x="761970" y="1879641"/>
            <a:ext cx="1377909" cy="215890"/>
          </a:xfrm>
          <a:prstGeom prst="roundRect">
            <a:avLst>
              <a:gd name="adj" fmla="val 50021"/>
            </a:avLst>
          </a:prstGeom>
          <a:solidFill>
            <a:srgbClr val="FFFFFF"/>
          </a:solidFill>
          <a:ln w="12700">
            <a:solidFill>
              <a:srgbClr val="16181B">
                <a:alpha val="18000"/>
              </a:srgbClr>
            </a:solidFill>
            <a:prstDash val="solid"/>
          </a:ln>
        </p:spPr>
      </p:sp>
      <p:sp>
        <p:nvSpPr>
          <p:cNvPr id="12" name="Text 9"/>
          <p:cNvSpPr/>
          <p:nvPr/>
        </p:nvSpPr>
        <p:spPr>
          <a:xfrm>
            <a:off x="761970" y="1922800"/>
            <a:ext cx="1377909"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BEFORE · BY HAND</a:t>
            </a:r>
            <a:endParaRPr lang="en-US" sz="850" dirty="0"/>
          </a:p>
        </p:txBody>
      </p:sp>
      <p:sp>
        <p:nvSpPr>
          <p:cNvPr id="13" name="Shape 11"/>
          <p:cNvSpPr/>
          <p:nvPr/>
        </p:nvSpPr>
        <p:spPr>
          <a:xfrm>
            <a:off x="2228850" y="1879641"/>
            <a:ext cx="914400" cy="215890"/>
          </a:xfrm>
          <a:prstGeom prst="roundRect">
            <a:avLst>
              <a:gd name="adj" fmla="val 50021"/>
            </a:avLst>
          </a:prstGeom>
          <a:solidFill>
            <a:srgbClr val="E09A3A">
              <a:alpha val="16000"/>
            </a:srgbClr>
          </a:solidFill>
          <a:ln/>
        </p:spPr>
      </p:sp>
      <p:sp>
        <p:nvSpPr>
          <p:cNvPr id="14" name="Shape 12"/>
          <p:cNvSpPr/>
          <p:nvPr/>
        </p:nvSpPr>
        <p:spPr>
          <a:xfrm>
            <a:off x="2336841" y="1962120"/>
            <a:ext cx="57150" cy="57150"/>
          </a:xfrm>
          <a:prstGeom prst="ellipse">
            <a:avLst/>
          </a:prstGeom>
          <a:solidFill>
            <a:srgbClr val="E09A3A"/>
          </a:solidFill>
          <a:ln/>
        </p:spPr>
      </p:sp>
      <p:sp>
        <p:nvSpPr>
          <p:cNvPr id="15" name="Text 12"/>
          <p:cNvSpPr/>
          <p:nvPr/>
        </p:nvSpPr>
        <p:spPr>
          <a:xfrm>
            <a:off x="2438430" y="1922800"/>
            <a:ext cx="64136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ESTIMATE</a:t>
            </a:r>
            <a:endParaRPr lang="en-US" sz="850" dirty="0"/>
          </a:p>
        </p:txBody>
      </p:sp>
      <p:sp>
        <p:nvSpPr>
          <p:cNvPr id="16" name="Text 13"/>
          <p:cNvSpPr/>
          <p:nvPr/>
        </p:nvSpPr>
        <p:spPr>
          <a:xfrm>
            <a:off x="761970" y="2260580"/>
            <a:ext cx="3174980" cy="622341"/>
          </a:xfrm>
          <a:prstGeom prst="rect">
            <a:avLst/>
          </a:prstGeom>
          <a:noFill/>
          <a:ln/>
        </p:spPr>
        <p:txBody>
          <a:bodyPr wrap="square" lIns="0" tIns="0" rIns="0" bIns="0" rtlCol="0" anchor="t"/>
          <a:lstStyle/>
          <a:p>
            <a:pPr algn="l" indent="0" marL="0">
              <a:lnSpc>
                <a:spcPct val="100000"/>
              </a:lnSpc>
              <a:buNone/>
            </a:pPr>
            <a:r>
              <a:rPr lang="en-US" sz="4056" dirty="0">
                <a:solidFill>
                  <a:srgbClr val="16181B"/>
                </a:solidFill>
                <a:latin typeface="Instrument Serif" pitchFamily="34" charset="0"/>
                <a:ea typeface="Instrument Serif" pitchFamily="34" charset="-122"/>
                <a:cs typeface="Instrument Serif" pitchFamily="34" charset="-120"/>
              </a:rPr>
              <a:t>≈ 18 h</a:t>
            </a:r>
            <a:endParaRPr lang="en-US" sz="4056" dirty="0"/>
          </a:p>
        </p:txBody>
      </p:sp>
      <p:sp>
        <p:nvSpPr>
          <p:cNvPr id="17" name="Text 14"/>
          <p:cNvSpPr/>
          <p:nvPr/>
        </p:nvSpPr>
        <p:spPr>
          <a:xfrm>
            <a:off x="4063959" y="2374880"/>
            <a:ext cx="7366041" cy="203180"/>
          </a:xfrm>
          <a:prstGeom prst="rect">
            <a:avLst/>
          </a:prstGeom>
          <a:noFill/>
          <a:ln/>
        </p:spPr>
        <p:txBody>
          <a:bodyPr wrap="square" lIns="0" tIns="0" rIns="0" bIns="0" rtlCol="0" anchor="t"/>
          <a:lstStyle/>
          <a:p>
            <a:pPr algn="l" indent="0" marL="0">
              <a:lnSpc>
                <a:spcPct val="140000"/>
              </a:lnSpc>
              <a:buNone/>
            </a:pPr>
            <a:r>
              <a:rPr lang="en-US" sz="1000" dirty="0">
                <a:solidFill>
                  <a:srgbClr val="16181B"/>
                </a:solidFill>
                <a:latin typeface="JetBrains Mono" pitchFamily="34" charset="0"/>
                <a:ea typeface="JetBrains Mono" pitchFamily="34" charset="-122"/>
                <a:cs typeface="JetBrains Mono" pitchFamily="34" charset="-120"/>
              </a:rPr>
              <a:t>21 slides × 20 min + 618 screenshots × 1 min + 43 tokens × 1 min = 1081 min</a:t>
            </a:r>
            <a:endParaRPr lang="en-US" sz="1000" dirty="0"/>
          </a:p>
        </p:txBody>
      </p:sp>
      <p:sp>
        <p:nvSpPr>
          <p:cNvPr id="18" name="Text 15"/>
          <p:cNvSpPr/>
          <p:nvPr/>
        </p:nvSpPr>
        <p:spPr>
          <a:xfrm>
            <a:off x="4063959" y="2616190"/>
            <a:ext cx="7366041" cy="184160"/>
          </a:xfrm>
          <a:prstGeom prst="rect">
            <a:avLst/>
          </a:prstGeom>
          <a:noFill/>
          <a:ln/>
        </p:spPr>
        <p:txBody>
          <a:bodyPr wrap="square" lIns="0" tIns="0" rIns="0" bIns="0" rtlCol="0" anchor="t"/>
          <a:lstStyle/>
          <a:p>
            <a:pPr algn="l" indent="0" marL="0">
              <a:lnSpc>
                <a:spcPct val="140000"/>
              </a:lnSpc>
              <a:buNone/>
            </a:pPr>
            <a:r>
              <a:rPr lang="en-US" sz="900" dirty="0">
                <a:solidFill>
                  <a:srgbClr val="7C8188"/>
                </a:solidFill>
                <a:latin typeface="JetBrains Mono" pitchFamily="34" charset="0"/>
                <a:ea typeface="JetBrains Mono" pitchFamily="34" charset="-122"/>
                <a:cs typeface="JetBrains Mono" pitchFamily="34" charset="-120"/>
              </a:rPr>
              <a:t>Per-unit minutes are our assumption, not a measurement.</a:t>
            </a:r>
            <a:endParaRPr lang="en-US" sz="900" dirty="0"/>
          </a:p>
        </p:txBody>
      </p:sp>
      <p:sp>
        <p:nvSpPr>
          <p:cNvPr id="19" name="Shape 17"/>
          <p:cNvSpPr/>
          <p:nvPr/>
        </p:nvSpPr>
        <p:spPr>
          <a:xfrm>
            <a:off x="761970" y="3086100"/>
            <a:ext cx="10668030" cy="254020"/>
          </a:xfrm>
          <a:prstGeom prst="roundRect">
            <a:avLst>
              <a:gd name="adj" fmla="val 50000"/>
            </a:avLst>
          </a:prstGeom>
          <a:solidFill>
            <a:srgbClr val="E09A3A"/>
          </a:solidFill>
          <a:ln/>
        </p:spPr>
      </p:sp>
      <p:sp>
        <p:nvSpPr>
          <p:cNvPr id="20" name="Shape 18"/>
          <p:cNvSpPr/>
          <p:nvPr/>
        </p:nvSpPr>
        <p:spPr>
          <a:xfrm>
            <a:off x="761970" y="3657600"/>
            <a:ext cx="1517630" cy="215890"/>
          </a:xfrm>
          <a:prstGeom prst="roundRect">
            <a:avLst>
              <a:gd name="adj" fmla="val 50021"/>
            </a:avLst>
          </a:prstGeom>
          <a:solidFill>
            <a:srgbClr val="FFFFFF"/>
          </a:solidFill>
          <a:ln w="12700">
            <a:solidFill>
              <a:srgbClr val="16181B">
                <a:alpha val="18000"/>
              </a:srgbClr>
            </a:solidFill>
            <a:prstDash val="solid"/>
          </a:ln>
        </p:spPr>
      </p:sp>
      <p:sp>
        <p:nvSpPr>
          <p:cNvPr id="21" name="Text 18"/>
          <p:cNvSpPr/>
          <p:nvPr/>
        </p:nvSpPr>
        <p:spPr>
          <a:xfrm>
            <a:off x="761970" y="3700760"/>
            <a:ext cx="1517630"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AFTER · THE PLUGIN</a:t>
            </a:r>
            <a:endParaRPr lang="en-US" sz="850" dirty="0"/>
          </a:p>
        </p:txBody>
      </p:sp>
      <p:sp>
        <p:nvSpPr>
          <p:cNvPr id="22" name="Shape 20"/>
          <p:cNvSpPr/>
          <p:nvPr/>
        </p:nvSpPr>
        <p:spPr>
          <a:xfrm>
            <a:off x="2368570" y="3657600"/>
            <a:ext cx="914400" cy="215890"/>
          </a:xfrm>
          <a:prstGeom prst="roundRect">
            <a:avLst>
              <a:gd name="adj" fmla="val 50021"/>
            </a:avLst>
          </a:prstGeom>
          <a:solidFill>
            <a:srgbClr val="5FD39A">
              <a:alpha val="16000"/>
            </a:srgbClr>
          </a:solidFill>
          <a:ln/>
        </p:spPr>
      </p:sp>
      <p:sp>
        <p:nvSpPr>
          <p:cNvPr id="23" name="Shape 21"/>
          <p:cNvSpPr/>
          <p:nvPr/>
        </p:nvSpPr>
        <p:spPr>
          <a:xfrm>
            <a:off x="2476470" y="3740170"/>
            <a:ext cx="57150" cy="57150"/>
          </a:xfrm>
          <a:prstGeom prst="ellipse">
            <a:avLst/>
          </a:prstGeom>
          <a:solidFill>
            <a:srgbClr val="5FD39A"/>
          </a:solidFill>
          <a:ln/>
        </p:spPr>
      </p:sp>
      <p:sp>
        <p:nvSpPr>
          <p:cNvPr id="24" name="Text 21"/>
          <p:cNvSpPr/>
          <p:nvPr/>
        </p:nvSpPr>
        <p:spPr>
          <a:xfrm>
            <a:off x="2578059" y="3700760"/>
            <a:ext cx="64136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MEASURED</a:t>
            </a:r>
            <a:endParaRPr lang="en-US" sz="850" dirty="0"/>
          </a:p>
        </p:txBody>
      </p:sp>
      <p:sp>
        <p:nvSpPr>
          <p:cNvPr id="25" name="Text 22"/>
          <p:cNvSpPr/>
          <p:nvPr/>
        </p:nvSpPr>
        <p:spPr>
          <a:xfrm>
            <a:off x="761970" y="4038630"/>
            <a:ext cx="3174980" cy="622341"/>
          </a:xfrm>
          <a:prstGeom prst="rect">
            <a:avLst/>
          </a:prstGeom>
          <a:noFill/>
          <a:ln/>
        </p:spPr>
        <p:txBody>
          <a:bodyPr wrap="square" lIns="0" tIns="0" rIns="0" bIns="0" rtlCol="0" anchor="t"/>
          <a:lstStyle/>
          <a:p>
            <a:pPr algn="l" indent="0" marL="0">
              <a:lnSpc>
                <a:spcPct val="100000"/>
              </a:lnSpc>
              <a:buNone/>
            </a:pPr>
            <a:r>
              <a:rPr lang="en-US" sz="4056" dirty="0">
                <a:solidFill>
                  <a:srgbClr val="16181B"/>
                </a:solidFill>
                <a:latin typeface="Instrument Serif" pitchFamily="34" charset="0"/>
                <a:ea typeface="Instrument Serif" pitchFamily="34" charset="-122"/>
                <a:cs typeface="Instrument Serif" pitchFamily="34" charset="-120"/>
              </a:rPr>
              <a:t>17.3 s</a:t>
            </a:r>
            <a:endParaRPr lang="en-US" sz="4056" dirty="0"/>
          </a:p>
        </p:txBody>
      </p:sp>
      <p:sp>
        <p:nvSpPr>
          <p:cNvPr id="26" name="Text 23"/>
          <p:cNvSpPr/>
          <p:nvPr/>
        </p:nvSpPr>
        <p:spPr>
          <a:xfrm>
            <a:off x="4063959" y="4152930"/>
            <a:ext cx="7366041" cy="381030"/>
          </a:xfrm>
          <a:prstGeom prst="rect">
            <a:avLst/>
          </a:prstGeom>
          <a:noFill/>
          <a:ln/>
        </p:spPr>
        <p:txBody>
          <a:bodyPr wrap="square" lIns="0" tIns="0" rIns="0" bIns="0" rtlCol="0" anchor="t"/>
          <a:lstStyle/>
          <a:p>
            <a:pPr algn="l" indent="0" marL="0">
              <a:lnSpc>
                <a:spcPct val="140000"/>
              </a:lnSpc>
              <a:buNone/>
            </a:pPr>
            <a:r>
              <a:rPr lang="en-US" sz="1000" dirty="0">
                <a:solidFill>
                  <a:srgbClr val="16181B"/>
                </a:solidFill>
                <a:latin typeface="JetBrains Mono" pitchFamily="34" charset="0"/>
                <a:ea typeface="JetBrains Mono" pitchFamily="34" charset="-122"/>
                <a:cs typeface="JetBrains Mono" pitchFamily="34" charset="-120"/>
              </a:rPr>
              <a:t>repo → deck.json + deck.html, cold build on this machine (1.3 s this run). Plugin logic on a stub Figma API: 11 ms Slides · 28 ms Design · 1 ms FigJam.</a:t>
            </a:r>
            <a:endParaRPr lang="en-US" sz="1000" dirty="0"/>
          </a:p>
        </p:txBody>
      </p:sp>
      <p:sp>
        <p:nvSpPr>
          <p:cNvPr id="27" name="Text 24"/>
          <p:cNvSpPr/>
          <p:nvPr/>
        </p:nvSpPr>
        <p:spPr>
          <a:xfrm>
            <a:off x="4063959" y="4572000"/>
            <a:ext cx="7366041" cy="184160"/>
          </a:xfrm>
          <a:prstGeom prst="rect">
            <a:avLst/>
          </a:prstGeom>
          <a:noFill/>
          <a:ln/>
        </p:spPr>
        <p:txBody>
          <a:bodyPr wrap="square" lIns="0" tIns="0" rIns="0" bIns="0" rtlCol="0" anchor="t"/>
          <a:lstStyle/>
          <a:p>
            <a:pPr algn="l" indent="0" marL="0">
              <a:lnSpc>
                <a:spcPct val="140000"/>
              </a:lnSpc>
              <a:buNone/>
            </a:pPr>
            <a:r>
              <a:rPr lang="en-US" sz="900" dirty="0">
                <a:solidFill>
                  <a:srgbClr val="7C8188"/>
                </a:solidFill>
                <a:latin typeface="JetBrains Mono" pitchFamily="34" charset="0"/>
                <a:ea typeface="JetBrains Mono" pitchFamily="34" charset="-122"/>
                <a:cs typeface="JetBrains Mono" pitchFamily="34" charset="-120"/>
              </a:rPr>
              <a:t>Plugin run in real Figma: [fill after running]</a:t>
            </a:r>
            <a:endParaRPr lang="en-US" sz="900" dirty="0"/>
          </a:p>
        </p:txBody>
      </p:sp>
      <p:sp>
        <p:nvSpPr>
          <p:cNvPr id="28" name="Shape 26"/>
          <p:cNvSpPr/>
          <p:nvPr/>
        </p:nvSpPr>
        <p:spPr>
          <a:xfrm>
            <a:off x="761970" y="4864059"/>
            <a:ext cx="10668030" cy="254020"/>
          </a:xfrm>
          <a:prstGeom prst="roundRect">
            <a:avLst>
              <a:gd name="adj" fmla="val 50000"/>
            </a:avLst>
          </a:prstGeom>
          <a:solidFill>
            <a:srgbClr val="16181B">
              <a:alpha val="5000"/>
            </a:srgbClr>
          </a:solidFill>
          <a:ln/>
        </p:spPr>
      </p:sp>
      <p:sp>
        <p:nvSpPr>
          <p:cNvPr id="29" name="Shape 27"/>
          <p:cNvSpPr/>
          <p:nvPr/>
        </p:nvSpPr>
        <p:spPr>
          <a:xfrm>
            <a:off x="761970" y="4864059"/>
            <a:ext cx="76170" cy="254020"/>
          </a:xfrm>
          <a:prstGeom prst="roundRect">
            <a:avLst>
              <a:gd name="adj" fmla="val 50060"/>
            </a:avLst>
          </a:prstGeom>
          <a:solidFill>
            <a:srgbClr val="5FD39A"/>
          </a:solidFill>
          <a:ln/>
        </p:spPr>
      </p:sp>
      <p:sp>
        <p:nvSpPr>
          <p:cNvPr id="30" name="Text 27"/>
          <p:cNvSpPr/>
          <p:nvPr/>
        </p:nvSpPr>
        <p:spPr>
          <a:xfrm>
            <a:off x="965241" y="4927610"/>
            <a:ext cx="5715000" cy="16514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bars to scale · after = cold build time</a:t>
            </a:r>
            <a:endParaRPr lang="en-US" sz="800" dirty="0"/>
          </a:p>
        </p:txBody>
      </p:sp>
      <p:sp>
        <p:nvSpPr>
          <p:cNvPr id="31" name="Shape 29"/>
          <p:cNvSpPr/>
          <p:nvPr/>
        </p:nvSpPr>
        <p:spPr>
          <a:xfrm>
            <a:off x="761970" y="5460980"/>
            <a:ext cx="10668030" cy="12710"/>
          </a:xfrm>
          <a:prstGeom prst="rect">
            <a:avLst/>
          </a:prstGeom>
          <a:solidFill>
            <a:srgbClr val="16181B">
              <a:alpha val="10000"/>
            </a:srgbClr>
          </a:solidFill>
          <a:ln/>
        </p:spPr>
      </p:sp>
      <p:sp>
        <p:nvSpPr>
          <p:cNvPr id="32" name="Text 29"/>
          <p:cNvSpPr/>
          <p:nvPr/>
        </p:nvSpPr>
        <p:spPr>
          <a:xfrm>
            <a:off x="761970" y="5613410"/>
            <a:ext cx="10668030" cy="45720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Every run places 618 screenshots (364 app, 254 site) and turns 43 CSS variables into Figma styles and variables, with no hand work. By hand, 8 of 27 site tokens reached the app unchanged.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LIMITS · REAL VS SIMULATED</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19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1003280"/>
          </a:xfrm>
          <a:prstGeom prst="rect">
            <a:avLst/>
          </a:prstGeom>
          <a:noFill/>
          <a:ln/>
        </p:spPr>
        <p:txBody>
          <a:bodyPr wrap="square" lIns="0" tIns="0" rIns="0" bIns="0" rtlCol="0" anchor="t"/>
          <a:lstStyle/>
          <a:p>
            <a:pPr algn="l" indent="0" marL="0">
              <a:lnSpc>
                <a:spcPct val="100000"/>
              </a:lnSpc>
              <a:buNone/>
            </a:pPr>
            <a:r>
              <a:rPr lang="en-US" sz="3588" spc="-54" kern="0" dirty="0">
                <a:solidFill>
                  <a:srgbClr val="16181B"/>
                </a:solidFill>
                <a:latin typeface="Instrument Serif" pitchFamily="34" charset="0"/>
                <a:ea typeface="Instrument Serif" pitchFamily="34" charset="-122"/>
                <a:cs typeface="Instrument Serif" pitchFamily="34" charset="-120"/>
              </a:rPr>
              <a:t>Pill screens tablets. </a:t>
            </a:r>
            <a:pPr algn="l" indent="0" marL="0">
              <a:lnSpc>
                <a:spcPct val="100000"/>
              </a:lnSpc>
              <a:buNone/>
            </a:pPr>
            <a:r>
              <a:rPr lang="en-US" sz="3588" i="1" spc="-54" kern="0" dirty="0">
                <a:solidFill>
                  <a:srgbClr val="16181B"/>
                </a:solidFill>
                <a:latin typeface="Instrument Serif" pitchFamily="34" charset="0"/>
                <a:ea typeface="Instrument Serif" pitchFamily="34" charset="-122"/>
                <a:cs typeface="Instrument Serif" pitchFamily="34" charset="-120"/>
              </a:rPr>
              <a:t>It does not grade them.</a:t>
            </a:r>
            <a:endParaRPr lang="en-US" sz="3588" dirty="0"/>
          </a:p>
        </p:txBody>
      </p:sp>
      <p:sp>
        <p:nvSpPr>
          <p:cNvPr id="11" name="Shape 9"/>
          <p:cNvSpPr/>
          <p:nvPr/>
        </p:nvSpPr>
        <p:spPr>
          <a:xfrm>
            <a:off x="761970" y="2031980"/>
            <a:ext cx="5143500" cy="1714500"/>
          </a:xfrm>
          <a:prstGeom prst="roundRect">
            <a:avLst>
              <a:gd name="adj" fmla="val 10368"/>
            </a:avLst>
          </a:prstGeom>
          <a:solidFill>
            <a:srgbClr val="5FD39A">
              <a:alpha val="16000"/>
            </a:srgbClr>
          </a:solidFill>
          <a:ln w="12700">
            <a:solidFill>
              <a:srgbClr val="5FD39A">
                <a:alpha val="45000"/>
              </a:srgbClr>
            </a:solidFill>
            <a:prstDash val="solid"/>
          </a:ln>
        </p:spPr>
      </p:sp>
      <p:sp>
        <p:nvSpPr>
          <p:cNvPr id="12" name="Shape 10"/>
          <p:cNvSpPr/>
          <p:nvPr/>
        </p:nvSpPr>
        <p:spPr>
          <a:xfrm>
            <a:off x="1015990" y="2222541"/>
            <a:ext cx="1117580" cy="228600"/>
          </a:xfrm>
          <a:prstGeom prst="roundRect">
            <a:avLst>
              <a:gd name="adj" fmla="val 50000"/>
            </a:avLst>
          </a:prstGeom>
          <a:solidFill>
            <a:srgbClr val="FFFFFF"/>
          </a:solidFill>
          <a:ln/>
        </p:spPr>
      </p:sp>
      <p:sp>
        <p:nvSpPr>
          <p:cNvPr id="13" name="Shape 11"/>
          <p:cNvSpPr/>
          <p:nvPr/>
        </p:nvSpPr>
        <p:spPr>
          <a:xfrm>
            <a:off x="1130290" y="2311420"/>
            <a:ext cx="57150" cy="57150"/>
          </a:xfrm>
          <a:prstGeom prst="ellipse">
            <a:avLst/>
          </a:prstGeom>
          <a:solidFill>
            <a:srgbClr val="5FD39A"/>
          </a:solidFill>
          <a:ln/>
        </p:spPr>
      </p:sp>
      <p:sp>
        <p:nvSpPr>
          <p:cNvPr id="14" name="Text 11"/>
          <p:cNvSpPr/>
          <p:nvPr/>
        </p:nvSpPr>
        <p:spPr>
          <a:xfrm>
            <a:off x="1231880" y="2268261"/>
            <a:ext cx="831830" cy="165141"/>
          </a:xfrm>
          <a:prstGeom prst="rect">
            <a:avLst/>
          </a:prstGeom>
          <a:noFill/>
          <a:ln/>
        </p:spPr>
        <p:txBody>
          <a:bodyPr wrap="square" lIns="0" tIns="0" rIns="0" bIns="0" rtlCol="0" anchor="t"/>
          <a:lstStyle/>
          <a:p>
            <a:pPr algn="l" indent="0" marL="0">
              <a:lnSpc>
                <a:spcPct val="120000"/>
              </a:lnSpc>
              <a:buNone/>
            </a:pPr>
            <a:r>
              <a:rPr lang="en-US" sz="900" b="1" spc="54" kern="0" dirty="0">
                <a:solidFill>
                  <a:srgbClr val="16181B"/>
                </a:solidFill>
                <a:latin typeface="JetBrains Mono" pitchFamily="34" charset="0"/>
                <a:ea typeface="JetBrains Mono" pitchFamily="34" charset="-122"/>
                <a:cs typeface="JetBrains Mono" pitchFamily="34" charset="-120"/>
              </a:rPr>
              <a:t>PASS MEANS</a:t>
            </a:r>
            <a:endParaRPr lang="en-US" sz="900" dirty="0"/>
          </a:p>
        </p:txBody>
      </p:sp>
      <p:sp>
        <p:nvSpPr>
          <p:cNvPr id="15" name="Text 12"/>
          <p:cNvSpPr/>
          <p:nvPr/>
        </p:nvSpPr>
        <p:spPr>
          <a:xfrm>
            <a:off x="1015990" y="2616190"/>
            <a:ext cx="4635459" cy="723930"/>
          </a:xfrm>
          <a:prstGeom prst="rect">
            <a:avLst/>
          </a:prstGeom>
          <a:noFill/>
          <a:ln/>
        </p:spPr>
        <p:txBody>
          <a:bodyPr wrap="square" lIns="0" tIns="0" rIns="0" bIns="0" rtlCol="0" anchor="t"/>
          <a:lstStyle/>
          <a:p>
            <a:pPr algn="l" indent="0" marL="0">
              <a:lnSpc>
                <a:spcPct val="145000"/>
              </a:lnSpc>
              <a:buNone/>
            </a:pPr>
            <a:r>
              <a:rPr lang="en-US" sz="1250" dirty="0">
                <a:solidFill>
                  <a:srgbClr val="16181B"/>
                </a:solidFill>
                <a:latin typeface="Inter" pitchFamily="34" charset="0"/>
                <a:ea typeface="Inter" pitchFamily="34" charset="-122"/>
                <a:cs typeface="Inter" pitchFamily="34" charset="-120"/>
              </a:rPr>
              <a:t>The dissolution curve of this one tablet, on this box, was consistent with the reference runs. No red flags found.</a:t>
            </a:r>
            <a:endParaRPr lang="en-US" sz="1250" dirty="0"/>
          </a:p>
        </p:txBody>
      </p:sp>
      <p:sp>
        <p:nvSpPr>
          <p:cNvPr id="16" name="Shape 14"/>
          <p:cNvSpPr/>
          <p:nvPr/>
        </p:nvSpPr>
        <p:spPr>
          <a:xfrm>
            <a:off x="6286500" y="2031980"/>
            <a:ext cx="5143500" cy="1714500"/>
          </a:xfrm>
          <a:prstGeom prst="roundRect">
            <a:avLst>
              <a:gd name="adj" fmla="val 10368"/>
            </a:avLst>
          </a:prstGeom>
          <a:solidFill>
            <a:srgbClr val="E09A3A">
              <a:alpha val="16000"/>
            </a:srgbClr>
          </a:solidFill>
          <a:ln w="12700">
            <a:solidFill>
              <a:srgbClr val="E09A3A">
                <a:alpha val="40000"/>
              </a:srgbClr>
            </a:solidFill>
            <a:prstDash val="solid"/>
          </a:ln>
        </p:spPr>
      </p:sp>
      <p:sp>
        <p:nvSpPr>
          <p:cNvPr id="17" name="Shape 15"/>
          <p:cNvSpPr/>
          <p:nvPr/>
        </p:nvSpPr>
        <p:spPr>
          <a:xfrm>
            <a:off x="6540520" y="2222541"/>
            <a:ext cx="1720809" cy="228600"/>
          </a:xfrm>
          <a:prstGeom prst="roundRect">
            <a:avLst>
              <a:gd name="adj" fmla="val 50000"/>
            </a:avLst>
          </a:prstGeom>
          <a:solidFill>
            <a:srgbClr val="FFFFFF"/>
          </a:solidFill>
          <a:ln/>
        </p:spPr>
      </p:sp>
      <p:sp>
        <p:nvSpPr>
          <p:cNvPr id="18" name="Shape 16"/>
          <p:cNvSpPr/>
          <p:nvPr/>
        </p:nvSpPr>
        <p:spPr>
          <a:xfrm>
            <a:off x="6654820" y="2311420"/>
            <a:ext cx="57150" cy="57150"/>
          </a:xfrm>
          <a:prstGeom prst="ellipse">
            <a:avLst/>
          </a:prstGeom>
          <a:solidFill>
            <a:srgbClr val="E09A3A"/>
          </a:solidFill>
          <a:ln/>
        </p:spPr>
      </p:sp>
      <p:sp>
        <p:nvSpPr>
          <p:cNvPr id="19" name="Text 16"/>
          <p:cNvSpPr/>
          <p:nvPr/>
        </p:nvSpPr>
        <p:spPr>
          <a:xfrm>
            <a:off x="6756410" y="2268261"/>
            <a:ext cx="1435059" cy="165141"/>
          </a:xfrm>
          <a:prstGeom prst="rect">
            <a:avLst/>
          </a:prstGeom>
          <a:noFill/>
          <a:ln/>
        </p:spPr>
        <p:txBody>
          <a:bodyPr wrap="square" lIns="0" tIns="0" rIns="0" bIns="0" rtlCol="0" anchor="t"/>
          <a:lstStyle/>
          <a:p>
            <a:pPr algn="l" indent="0" marL="0">
              <a:lnSpc>
                <a:spcPct val="120000"/>
              </a:lnSpc>
              <a:buNone/>
            </a:pPr>
            <a:r>
              <a:rPr lang="en-US" sz="900" b="1" spc="54" kern="0" dirty="0">
                <a:solidFill>
                  <a:srgbClr val="16181B"/>
                </a:solidFill>
                <a:latin typeface="JetBrains Mono" pitchFamily="34" charset="0"/>
                <a:ea typeface="JetBrains Mono" pitchFamily="34" charset="-122"/>
                <a:cs typeface="JetBrains Mono" pitchFamily="34" charset="-120"/>
              </a:rPr>
              <a:t>PASS DOES NOT MEAN</a:t>
            </a:r>
            <a:endParaRPr lang="en-US" sz="900" dirty="0"/>
          </a:p>
        </p:txBody>
      </p:sp>
      <p:sp>
        <p:nvSpPr>
          <p:cNvPr id="20" name="Text 17"/>
          <p:cNvSpPr/>
          <p:nvPr/>
        </p:nvSpPr>
        <p:spPr>
          <a:xfrm>
            <a:off x="6540520" y="2616190"/>
            <a:ext cx="4635459" cy="723930"/>
          </a:xfrm>
          <a:prstGeom prst="rect">
            <a:avLst/>
          </a:prstGeom>
          <a:noFill/>
          <a:ln/>
        </p:spPr>
        <p:txBody>
          <a:bodyPr wrap="square" lIns="0" tIns="0" rIns="0" bIns="0" rtlCol="0" anchor="t"/>
          <a:lstStyle/>
          <a:p>
            <a:pPr algn="l" indent="0" marL="0">
              <a:lnSpc>
                <a:spcPct val="145000"/>
              </a:lnSpc>
              <a:buNone/>
            </a:pPr>
            <a:r>
              <a:rPr lang="en-US" sz="1250" dirty="0">
                <a:solidFill>
                  <a:srgbClr val="16181B"/>
                </a:solidFill>
                <a:latin typeface="Inter" pitchFamily="34" charset="0"/>
                <a:ea typeface="Inter" pitchFamily="34" charset="-122"/>
                <a:cs typeface="Inter" pitchFamily="34" charset="-120"/>
              </a:rPr>
              <a:t>That the tablet is the right drug, the right dose, or free of contaminants. Anything Pill cannot compare goes to a lab, by design.</a:t>
            </a:r>
            <a:endParaRPr lang="en-US" sz="1250" dirty="0"/>
          </a:p>
        </p:txBody>
      </p:sp>
      <p:sp>
        <p:nvSpPr>
          <p:cNvPr id="21" name="Text 18"/>
          <p:cNvSpPr/>
          <p:nvPr/>
        </p:nvSpPr>
        <p:spPr>
          <a:xfrm>
            <a:off x="761970" y="4063959"/>
            <a:ext cx="7619970" cy="152430"/>
          </a:xfrm>
          <a:prstGeom prst="rect">
            <a:avLst/>
          </a:prstGeom>
          <a:noFill/>
          <a:ln/>
        </p:spPr>
        <p:txBody>
          <a:bodyPr wrap="square" lIns="0" tIns="0" rIns="0" bIns="0" rtlCol="0" anchor="t"/>
          <a:lstStyle/>
          <a:p>
            <a:pPr algn="l" indent="0" marL="0">
              <a:lnSpc>
                <a:spcPct val="120000"/>
              </a:lnSpc>
              <a:buNone/>
            </a:pPr>
            <a:r>
              <a:rPr lang="en-US" sz="850" spc="119" kern="0" dirty="0">
                <a:solidFill>
                  <a:srgbClr val="7C8188"/>
                </a:solidFill>
                <a:latin typeface="JetBrains Mono" pitchFamily="34" charset="0"/>
                <a:ea typeface="JetBrains Mono" pitchFamily="34" charset="-122"/>
                <a:cs typeface="JetBrains Mono" pitchFamily="34" charset="-120"/>
              </a:rPr>
              <a:t>REAL VS SIMULATED, RIGHT NOW</a:t>
            </a:r>
            <a:endParaRPr lang="en-US" sz="850" dirty="0"/>
          </a:p>
        </p:txBody>
      </p:sp>
      <p:sp>
        <p:nvSpPr>
          <p:cNvPr id="22" name="Shape 20"/>
          <p:cNvSpPr/>
          <p:nvPr/>
        </p:nvSpPr>
        <p:spPr>
          <a:xfrm>
            <a:off x="761970" y="4279941"/>
            <a:ext cx="10668030" cy="6309"/>
          </a:xfrm>
          <a:prstGeom prst="rect">
            <a:avLst/>
          </a:prstGeom>
          <a:solidFill>
            <a:srgbClr val="16181B">
              <a:alpha val="10000"/>
            </a:srgbClr>
          </a:solidFill>
          <a:ln/>
        </p:spPr>
      </p:sp>
      <p:sp>
        <p:nvSpPr>
          <p:cNvPr id="23" name="Text 20"/>
          <p:cNvSpPr/>
          <p:nvPr/>
        </p:nvSpPr>
        <p:spPr>
          <a:xfrm>
            <a:off x="761970" y="4343400"/>
            <a:ext cx="190497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Inter" pitchFamily="34" charset="0"/>
                <a:ea typeface="Inter" pitchFamily="34" charset="-122"/>
                <a:cs typeface="Inter" pitchFamily="34" charset="-120"/>
              </a:rPr>
              <a:t>Station hardware</a:t>
            </a:r>
            <a:endParaRPr lang="en-US" sz="1050" dirty="0"/>
          </a:p>
        </p:txBody>
      </p:sp>
      <p:sp>
        <p:nvSpPr>
          <p:cNvPr id="24" name="Shape 22"/>
          <p:cNvSpPr/>
          <p:nvPr/>
        </p:nvSpPr>
        <p:spPr>
          <a:xfrm>
            <a:off x="2667030" y="4324380"/>
            <a:ext cx="558790" cy="190470"/>
          </a:xfrm>
          <a:prstGeom prst="roundRect">
            <a:avLst>
              <a:gd name="adj" fmla="val 50024"/>
            </a:avLst>
          </a:prstGeom>
          <a:solidFill>
            <a:srgbClr val="5FD39A">
              <a:alpha val="16000"/>
            </a:srgbClr>
          </a:solidFill>
          <a:ln/>
        </p:spPr>
      </p:sp>
      <p:sp>
        <p:nvSpPr>
          <p:cNvPr id="25" name="Shape 23"/>
          <p:cNvSpPr/>
          <p:nvPr/>
        </p:nvSpPr>
        <p:spPr>
          <a:xfrm>
            <a:off x="2762220" y="4394241"/>
            <a:ext cx="50841" cy="50841"/>
          </a:xfrm>
          <a:prstGeom prst="ellipse">
            <a:avLst/>
          </a:prstGeom>
          <a:solidFill>
            <a:srgbClr val="5FD39A"/>
          </a:solidFill>
          <a:ln/>
        </p:spPr>
      </p:sp>
      <p:sp>
        <p:nvSpPr>
          <p:cNvPr id="26" name="Text 23"/>
          <p:cNvSpPr/>
          <p:nvPr/>
        </p:nvSpPr>
        <p:spPr>
          <a:xfrm>
            <a:off x="2851191" y="4362420"/>
            <a:ext cx="317480" cy="133320"/>
          </a:xfrm>
          <a:prstGeom prst="rect">
            <a:avLst/>
          </a:prstGeom>
          <a:noFill/>
          <a:ln/>
        </p:spPr>
        <p:txBody>
          <a:bodyPr wrap="square" lIns="0" tIns="0" rIns="0" bIns="0" rtlCol="0" anchor="t"/>
          <a:lstStyle/>
          <a:p>
            <a:pPr algn="l"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REAL</a:t>
            </a:r>
            <a:endParaRPr lang="en-US" sz="750" dirty="0"/>
          </a:p>
        </p:txBody>
      </p:sp>
      <p:sp>
        <p:nvSpPr>
          <p:cNvPr id="27" name="Text 24"/>
          <p:cNvSpPr/>
          <p:nvPr/>
        </p:nvSpPr>
        <p:spPr>
          <a:xfrm>
            <a:off x="4063959" y="4343400"/>
            <a:ext cx="7366041"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Arduino UNO Q, 2 photoresistors, blue/white/red LEDs; one CSV line a second. One real aspirin run recorded Saturday. Reference profile not yet recorded; water-only control not yet run.</a:t>
            </a:r>
            <a:endParaRPr lang="en-US" sz="900" dirty="0"/>
          </a:p>
        </p:txBody>
      </p:sp>
      <p:sp>
        <p:nvSpPr>
          <p:cNvPr id="28" name="Shape 26"/>
          <p:cNvSpPr/>
          <p:nvPr/>
        </p:nvSpPr>
        <p:spPr>
          <a:xfrm>
            <a:off x="761970" y="4737141"/>
            <a:ext cx="10668030" cy="6309"/>
          </a:xfrm>
          <a:prstGeom prst="rect">
            <a:avLst/>
          </a:prstGeom>
          <a:solidFill>
            <a:srgbClr val="16181B">
              <a:alpha val="10000"/>
            </a:srgbClr>
          </a:solidFill>
          <a:ln/>
        </p:spPr>
      </p:sp>
      <p:sp>
        <p:nvSpPr>
          <p:cNvPr id="29" name="Text 26"/>
          <p:cNvSpPr/>
          <p:nvPr/>
        </p:nvSpPr>
        <p:spPr>
          <a:xfrm>
            <a:off x="761970" y="4800600"/>
            <a:ext cx="190497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Inter" pitchFamily="34" charset="0"/>
                <a:ea typeface="Inter" pitchFamily="34" charset="-122"/>
                <a:cs typeface="Inter" pitchFamily="34" charset="-120"/>
              </a:rPr>
              <a:t>Station app</a:t>
            </a:r>
            <a:endParaRPr lang="en-US" sz="1050" dirty="0"/>
          </a:p>
        </p:txBody>
      </p:sp>
      <p:sp>
        <p:nvSpPr>
          <p:cNvPr id="30" name="Shape 28"/>
          <p:cNvSpPr/>
          <p:nvPr/>
        </p:nvSpPr>
        <p:spPr>
          <a:xfrm>
            <a:off x="2667030" y="4781580"/>
            <a:ext cx="558790" cy="190470"/>
          </a:xfrm>
          <a:prstGeom prst="roundRect">
            <a:avLst>
              <a:gd name="adj" fmla="val 50024"/>
            </a:avLst>
          </a:prstGeom>
          <a:solidFill>
            <a:srgbClr val="5FD39A">
              <a:alpha val="16000"/>
            </a:srgbClr>
          </a:solidFill>
          <a:ln/>
        </p:spPr>
      </p:sp>
      <p:sp>
        <p:nvSpPr>
          <p:cNvPr id="31" name="Shape 29"/>
          <p:cNvSpPr/>
          <p:nvPr/>
        </p:nvSpPr>
        <p:spPr>
          <a:xfrm>
            <a:off x="2762220" y="4851441"/>
            <a:ext cx="50841" cy="50841"/>
          </a:xfrm>
          <a:prstGeom prst="ellipse">
            <a:avLst/>
          </a:prstGeom>
          <a:solidFill>
            <a:srgbClr val="5FD39A"/>
          </a:solidFill>
          <a:ln/>
        </p:spPr>
      </p:sp>
      <p:sp>
        <p:nvSpPr>
          <p:cNvPr id="32" name="Text 29"/>
          <p:cNvSpPr/>
          <p:nvPr/>
        </p:nvSpPr>
        <p:spPr>
          <a:xfrm>
            <a:off x="2851191" y="4819620"/>
            <a:ext cx="317480" cy="133320"/>
          </a:xfrm>
          <a:prstGeom prst="rect">
            <a:avLst/>
          </a:prstGeom>
          <a:noFill/>
          <a:ln/>
        </p:spPr>
        <p:txBody>
          <a:bodyPr wrap="square" lIns="0" tIns="0" rIns="0" bIns="0" rtlCol="0" anchor="t"/>
          <a:lstStyle/>
          <a:p>
            <a:pPr algn="l"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REAL</a:t>
            </a:r>
            <a:endParaRPr lang="en-US" sz="750" dirty="0"/>
          </a:p>
        </p:txBody>
      </p:sp>
      <p:sp>
        <p:nvSpPr>
          <p:cNvPr id="33" name="Text 30"/>
          <p:cNvSpPr/>
          <p:nvPr/>
        </p:nvSpPr>
        <p:spPr>
          <a:xfrm>
            <a:off x="4063959" y="4800600"/>
            <a:ext cx="7366041"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Analysis, guided run, lid detection, guardrail; 14 tests pass. Live Claude scan ran Sat 19:19 on scan_1024_191752_f0c2 (replay of the real aspirin run): Unable to verify, no reference profile yet.</a:t>
            </a:r>
            <a:endParaRPr lang="en-US" sz="900" dirty="0"/>
          </a:p>
        </p:txBody>
      </p:sp>
      <p:sp>
        <p:nvSpPr>
          <p:cNvPr id="34" name="Shape 32"/>
          <p:cNvSpPr/>
          <p:nvPr/>
        </p:nvSpPr>
        <p:spPr>
          <a:xfrm>
            <a:off x="761970" y="5194341"/>
            <a:ext cx="10668030" cy="6309"/>
          </a:xfrm>
          <a:prstGeom prst="rect">
            <a:avLst/>
          </a:prstGeom>
          <a:solidFill>
            <a:srgbClr val="16181B">
              <a:alpha val="10000"/>
            </a:srgbClr>
          </a:solidFill>
          <a:ln/>
        </p:spPr>
      </p:sp>
      <p:sp>
        <p:nvSpPr>
          <p:cNvPr id="35" name="Text 32"/>
          <p:cNvSpPr/>
          <p:nvPr/>
        </p:nvSpPr>
        <p:spPr>
          <a:xfrm>
            <a:off x="761970" y="5257800"/>
            <a:ext cx="190497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Inter" pitchFamily="34" charset="0"/>
                <a:ea typeface="Inter" pitchFamily="34" charset="-122"/>
                <a:cs typeface="Inter" pitchFamily="34" charset="-120"/>
              </a:rPr>
              <a:t>Clinic app curves</a:t>
            </a:r>
            <a:endParaRPr lang="en-US" sz="1050" dirty="0"/>
          </a:p>
        </p:txBody>
      </p:sp>
      <p:sp>
        <p:nvSpPr>
          <p:cNvPr id="36" name="Shape 34"/>
          <p:cNvSpPr/>
          <p:nvPr/>
        </p:nvSpPr>
        <p:spPr>
          <a:xfrm>
            <a:off x="2667030" y="5238780"/>
            <a:ext cx="679491" cy="190470"/>
          </a:xfrm>
          <a:prstGeom prst="roundRect">
            <a:avLst>
              <a:gd name="adj" fmla="val 50024"/>
            </a:avLst>
          </a:prstGeom>
          <a:solidFill>
            <a:srgbClr val="4FB3FF">
              <a:alpha val="14000"/>
            </a:srgbClr>
          </a:solidFill>
          <a:ln/>
        </p:spPr>
      </p:sp>
      <p:sp>
        <p:nvSpPr>
          <p:cNvPr id="37" name="Shape 35"/>
          <p:cNvSpPr/>
          <p:nvPr/>
        </p:nvSpPr>
        <p:spPr>
          <a:xfrm>
            <a:off x="2762220" y="5308641"/>
            <a:ext cx="50841" cy="50841"/>
          </a:xfrm>
          <a:prstGeom prst="ellipse">
            <a:avLst/>
          </a:prstGeom>
          <a:solidFill>
            <a:srgbClr val="4FB3FF"/>
          </a:solidFill>
          <a:ln/>
        </p:spPr>
      </p:sp>
      <p:sp>
        <p:nvSpPr>
          <p:cNvPr id="38" name="Text 35"/>
          <p:cNvSpPr/>
          <p:nvPr/>
        </p:nvSpPr>
        <p:spPr>
          <a:xfrm>
            <a:off x="2851191" y="5276820"/>
            <a:ext cx="438180" cy="133320"/>
          </a:xfrm>
          <a:prstGeom prst="rect">
            <a:avLst/>
          </a:prstGeom>
          <a:noFill/>
          <a:ln/>
        </p:spPr>
        <p:txBody>
          <a:bodyPr wrap="square" lIns="0" tIns="0" rIns="0" bIns="0" rtlCol="0" anchor="t"/>
          <a:lstStyle/>
          <a:p>
            <a:pPr algn="l"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REPLAY</a:t>
            </a:r>
            <a:endParaRPr lang="en-US" sz="750" dirty="0"/>
          </a:p>
        </p:txBody>
      </p:sp>
      <p:sp>
        <p:nvSpPr>
          <p:cNvPr id="39" name="Text 36"/>
          <p:cNvSpPr/>
          <p:nvPr/>
        </p:nvSpPr>
        <p:spPr>
          <a:xfrm>
            <a:off x="4063959" y="5257800"/>
            <a:ext cx="7366041"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Synthetic curves (B2-07, TM-02, B2-LID, AMX-01), labelled REPLAY on screen; the week of history is fixture data.</a:t>
            </a:r>
            <a:endParaRPr lang="en-US" sz="900" dirty="0"/>
          </a:p>
        </p:txBody>
      </p:sp>
      <p:sp>
        <p:nvSpPr>
          <p:cNvPr id="40" name="Shape 38"/>
          <p:cNvSpPr/>
          <p:nvPr/>
        </p:nvSpPr>
        <p:spPr>
          <a:xfrm>
            <a:off x="761970" y="5651541"/>
            <a:ext cx="10668030" cy="6309"/>
          </a:xfrm>
          <a:prstGeom prst="rect">
            <a:avLst/>
          </a:prstGeom>
          <a:solidFill>
            <a:srgbClr val="16181B">
              <a:alpha val="10000"/>
            </a:srgbClr>
          </a:solidFill>
          <a:ln/>
        </p:spPr>
      </p:sp>
      <p:sp>
        <p:nvSpPr>
          <p:cNvPr id="41" name="Text 38"/>
          <p:cNvSpPr/>
          <p:nvPr/>
        </p:nvSpPr>
        <p:spPr>
          <a:xfrm>
            <a:off x="761970" y="5715000"/>
            <a:ext cx="190497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Inter" pitchFamily="34" charset="0"/>
                <a:ea typeface="Inter" pitchFamily="34" charset="-122"/>
                <a:cs typeface="Inter" pitchFamily="34" charset="-120"/>
              </a:rPr>
              <a:t>Money</a:t>
            </a:r>
            <a:endParaRPr lang="en-US" sz="1050" dirty="0"/>
          </a:p>
        </p:txBody>
      </p:sp>
      <p:sp>
        <p:nvSpPr>
          <p:cNvPr id="42" name="Shape 40"/>
          <p:cNvSpPr/>
          <p:nvPr/>
        </p:nvSpPr>
        <p:spPr>
          <a:xfrm>
            <a:off x="2667030" y="5695980"/>
            <a:ext cx="869960" cy="190470"/>
          </a:xfrm>
          <a:prstGeom prst="roundRect">
            <a:avLst>
              <a:gd name="adj" fmla="val 50024"/>
            </a:avLst>
          </a:prstGeom>
          <a:solidFill>
            <a:srgbClr val="9AA0A6">
              <a:alpha val="18000"/>
            </a:srgbClr>
          </a:solidFill>
          <a:ln/>
        </p:spPr>
      </p:sp>
      <p:sp>
        <p:nvSpPr>
          <p:cNvPr id="43" name="Shape 41"/>
          <p:cNvSpPr/>
          <p:nvPr/>
        </p:nvSpPr>
        <p:spPr>
          <a:xfrm>
            <a:off x="2762220" y="5765841"/>
            <a:ext cx="50841" cy="50841"/>
          </a:xfrm>
          <a:prstGeom prst="ellipse">
            <a:avLst/>
          </a:prstGeom>
          <a:solidFill>
            <a:srgbClr val="9AA0A6"/>
          </a:solidFill>
          <a:ln/>
        </p:spPr>
      </p:sp>
      <p:sp>
        <p:nvSpPr>
          <p:cNvPr id="44" name="Text 41"/>
          <p:cNvSpPr/>
          <p:nvPr/>
        </p:nvSpPr>
        <p:spPr>
          <a:xfrm>
            <a:off x="2851191" y="5734020"/>
            <a:ext cx="628650" cy="133320"/>
          </a:xfrm>
          <a:prstGeom prst="rect">
            <a:avLst/>
          </a:prstGeom>
          <a:noFill/>
          <a:ln/>
        </p:spPr>
        <p:txBody>
          <a:bodyPr wrap="square" lIns="0" tIns="0" rIns="0" bIns="0" rtlCol="0" anchor="t"/>
          <a:lstStyle/>
          <a:p>
            <a:pPr algn="l"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SIMULATED</a:t>
            </a:r>
            <a:endParaRPr lang="en-US" sz="750" dirty="0"/>
          </a:p>
        </p:txBody>
      </p:sp>
      <p:sp>
        <p:nvSpPr>
          <p:cNvPr id="45" name="Text 42"/>
          <p:cNvSpPr/>
          <p:nvPr/>
        </p:nvSpPr>
        <p:spPr>
          <a:xfrm>
            <a:off x="4063959" y="5715000"/>
            <a:ext cx="7366041"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USDC escrow simulated until a CDP key. x402: real 402 and signature check; paid 200 pending. Nessie mirror built, not run. SANDBOX / TESTNET only.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TRACKS</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20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8889980" cy="571500"/>
          </a:xfrm>
          <a:prstGeom prst="rect">
            <a:avLst/>
          </a:prstGeom>
          <a:noFill/>
          <a:ln/>
        </p:spPr>
        <p:txBody>
          <a:bodyPr wrap="square" lIns="0" tIns="0" rIns="0" bIns="0" rtlCol="0" anchor="t"/>
          <a:lstStyle/>
          <a:p>
            <a:pPr algn="l" indent="0" marL="0">
              <a:lnSpc>
                <a:spcPct val="100000"/>
              </a:lnSpc>
              <a:buNone/>
            </a:pPr>
            <a:r>
              <a:rPr lang="en-US" sz="3744" spc="-56" kern="0" dirty="0">
                <a:solidFill>
                  <a:srgbClr val="16181B"/>
                </a:solidFill>
                <a:latin typeface="Instrument Serif" pitchFamily="34" charset="0"/>
                <a:ea typeface="Instrument Serif" pitchFamily="34" charset="-122"/>
                <a:cs typeface="Instrument Serif" pitchFamily="34" charset="-120"/>
              </a:rPr>
              <a:t>One build, many judges.</a:t>
            </a:r>
            <a:endParaRPr lang="en-US" sz="3744" dirty="0"/>
          </a:p>
        </p:txBody>
      </p:sp>
      <p:sp>
        <p:nvSpPr>
          <p:cNvPr id="11" name="Shape 9"/>
          <p:cNvSpPr/>
          <p:nvPr/>
        </p:nvSpPr>
        <p:spPr>
          <a:xfrm>
            <a:off x="761970" y="1968520"/>
            <a:ext cx="3429000" cy="888980"/>
          </a:xfrm>
          <a:prstGeom prst="roundRect">
            <a:avLst>
              <a:gd name="adj" fmla="val 14287"/>
            </a:avLst>
          </a:prstGeom>
          <a:solidFill>
            <a:srgbClr val="FFFFFF"/>
          </a:solidFill>
          <a:ln w="12700">
            <a:solidFill>
              <a:srgbClr val="16181B">
                <a:alpha val="10000"/>
              </a:srgbClr>
            </a:solidFill>
            <a:prstDash val="solid"/>
          </a:ln>
        </p:spPr>
      </p:sp>
      <p:sp>
        <p:nvSpPr>
          <p:cNvPr id="12" name="Shape 10"/>
          <p:cNvSpPr/>
          <p:nvPr/>
        </p:nvSpPr>
        <p:spPr>
          <a:xfrm>
            <a:off x="901690" y="2133570"/>
            <a:ext cx="38130" cy="558790"/>
          </a:xfrm>
          <a:prstGeom prst="roundRect">
            <a:avLst>
              <a:gd name="adj" fmla="val 49881"/>
            </a:avLst>
          </a:prstGeom>
          <a:solidFill>
            <a:srgbClr val="7A5CFF"/>
          </a:solidFill>
          <a:ln/>
        </p:spPr>
      </p:sp>
      <p:sp>
        <p:nvSpPr>
          <p:cNvPr id="13" name="Text 10"/>
          <p:cNvSpPr/>
          <p:nvPr/>
        </p:nvSpPr>
        <p:spPr>
          <a:xfrm>
            <a:off x="1079541" y="21335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Figma · Idea to Demo</a:t>
            </a:r>
            <a:endParaRPr lang="en-US" sz="1350" dirty="0"/>
          </a:p>
        </p:txBody>
      </p:sp>
      <p:sp>
        <p:nvSpPr>
          <p:cNvPr id="14" name="Text 11"/>
          <p:cNvSpPr/>
          <p:nvPr/>
        </p:nvSpPr>
        <p:spPr>
          <a:xfrm>
            <a:off x="1079541" y="24130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this deck, the plugin, the stage log</a:t>
            </a:r>
            <a:endParaRPr lang="en-US" sz="1050" dirty="0"/>
          </a:p>
        </p:txBody>
      </p:sp>
      <p:sp>
        <p:nvSpPr>
          <p:cNvPr id="15" name="Shape 13"/>
          <p:cNvSpPr/>
          <p:nvPr/>
        </p:nvSpPr>
        <p:spPr>
          <a:xfrm>
            <a:off x="4381530" y="1968520"/>
            <a:ext cx="3429000" cy="888980"/>
          </a:xfrm>
          <a:prstGeom prst="roundRect">
            <a:avLst>
              <a:gd name="adj" fmla="val 14287"/>
            </a:avLst>
          </a:prstGeom>
          <a:solidFill>
            <a:srgbClr val="FFFFFF"/>
          </a:solidFill>
          <a:ln w="12700">
            <a:solidFill>
              <a:srgbClr val="16181B">
                <a:alpha val="10000"/>
              </a:srgbClr>
            </a:solidFill>
            <a:prstDash val="solid"/>
          </a:ln>
        </p:spPr>
      </p:sp>
      <p:sp>
        <p:nvSpPr>
          <p:cNvPr id="16" name="Shape 14"/>
          <p:cNvSpPr/>
          <p:nvPr/>
        </p:nvSpPr>
        <p:spPr>
          <a:xfrm>
            <a:off x="4521159" y="2133570"/>
            <a:ext cx="38130" cy="558790"/>
          </a:xfrm>
          <a:prstGeom prst="roundRect">
            <a:avLst>
              <a:gd name="adj" fmla="val 49881"/>
            </a:avLst>
          </a:prstGeom>
          <a:solidFill>
            <a:srgbClr val="4FB3FF"/>
          </a:solidFill>
          <a:ln/>
        </p:spPr>
      </p:sp>
      <p:sp>
        <p:nvSpPr>
          <p:cNvPr id="17" name="Text 14"/>
          <p:cNvSpPr/>
          <p:nvPr/>
        </p:nvSpPr>
        <p:spPr>
          <a:xfrm>
            <a:off x="4699010" y="21335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Hardware Hack</a:t>
            </a:r>
            <a:endParaRPr lang="en-US" sz="1350" dirty="0"/>
          </a:p>
        </p:txBody>
      </p:sp>
      <p:sp>
        <p:nvSpPr>
          <p:cNvPr id="18" name="Text 15"/>
          <p:cNvSpPr/>
          <p:nvPr/>
        </p:nvSpPr>
        <p:spPr>
          <a:xfrm>
            <a:off x="4699010" y="24130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the station, on the table</a:t>
            </a:r>
            <a:endParaRPr lang="en-US" sz="1050" dirty="0"/>
          </a:p>
        </p:txBody>
      </p:sp>
      <p:sp>
        <p:nvSpPr>
          <p:cNvPr id="19" name="Shape 17"/>
          <p:cNvSpPr/>
          <p:nvPr/>
        </p:nvSpPr>
        <p:spPr>
          <a:xfrm>
            <a:off x="8001000" y="1968520"/>
            <a:ext cx="3429000" cy="888980"/>
          </a:xfrm>
          <a:prstGeom prst="roundRect">
            <a:avLst>
              <a:gd name="adj" fmla="val 14287"/>
            </a:avLst>
          </a:prstGeom>
          <a:solidFill>
            <a:srgbClr val="FFFFFF"/>
          </a:solidFill>
          <a:ln w="12700">
            <a:solidFill>
              <a:srgbClr val="16181B">
                <a:alpha val="10000"/>
              </a:srgbClr>
            </a:solidFill>
            <a:prstDash val="solid"/>
          </a:ln>
        </p:spPr>
      </p:sp>
      <p:sp>
        <p:nvSpPr>
          <p:cNvPr id="20" name="Shape 18"/>
          <p:cNvSpPr/>
          <p:nvPr/>
        </p:nvSpPr>
        <p:spPr>
          <a:xfrm>
            <a:off x="8140720" y="2133570"/>
            <a:ext cx="38130" cy="558790"/>
          </a:xfrm>
          <a:prstGeom prst="roundRect">
            <a:avLst>
              <a:gd name="adj" fmla="val 49881"/>
            </a:avLst>
          </a:prstGeom>
          <a:solidFill>
            <a:srgbClr val="4FB3FF"/>
          </a:solidFill>
          <a:ln/>
        </p:spPr>
      </p:sp>
      <p:sp>
        <p:nvSpPr>
          <p:cNvPr id="21" name="Text 18"/>
          <p:cNvSpPr/>
          <p:nvPr/>
        </p:nvSpPr>
        <p:spPr>
          <a:xfrm>
            <a:off x="8318480" y="21335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Hyphenate · finance agents</a:t>
            </a:r>
            <a:endParaRPr lang="en-US" sz="1350" dirty="0"/>
          </a:p>
        </p:txBody>
      </p:sp>
      <p:sp>
        <p:nvSpPr>
          <p:cNvPr id="22" name="Text 19"/>
          <p:cNvSpPr/>
          <p:nvPr/>
        </p:nvSpPr>
        <p:spPr>
          <a:xfrm>
            <a:off x="8318480" y="24130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policy agent: proposes, holds, escalates</a:t>
            </a:r>
            <a:endParaRPr lang="en-US" sz="1050" dirty="0"/>
          </a:p>
        </p:txBody>
      </p:sp>
      <p:sp>
        <p:nvSpPr>
          <p:cNvPr id="23" name="Shape 21"/>
          <p:cNvSpPr/>
          <p:nvPr/>
        </p:nvSpPr>
        <p:spPr>
          <a:xfrm>
            <a:off x="761970" y="2997220"/>
            <a:ext cx="3429000" cy="888980"/>
          </a:xfrm>
          <a:prstGeom prst="roundRect">
            <a:avLst>
              <a:gd name="adj" fmla="val 14287"/>
            </a:avLst>
          </a:prstGeom>
          <a:solidFill>
            <a:srgbClr val="FFFFFF"/>
          </a:solidFill>
          <a:ln w="12700">
            <a:solidFill>
              <a:srgbClr val="16181B">
                <a:alpha val="10000"/>
              </a:srgbClr>
            </a:solidFill>
            <a:prstDash val="solid"/>
          </a:ln>
        </p:spPr>
      </p:sp>
      <p:sp>
        <p:nvSpPr>
          <p:cNvPr id="24" name="Shape 22"/>
          <p:cNvSpPr/>
          <p:nvPr/>
        </p:nvSpPr>
        <p:spPr>
          <a:xfrm>
            <a:off x="901690" y="3162270"/>
            <a:ext cx="38130" cy="558790"/>
          </a:xfrm>
          <a:prstGeom prst="roundRect">
            <a:avLst>
              <a:gd name="adj" fmla="val 49881"/>
            </a:avLst>
          </a:prstGeom>
          <a:solidFill>
            <a:srgbClr val="7A5CFF"/>
          </a:solidFill>
          <a:ln/>
        </p:spPr>
      </p:sp>
      <p:sp>
        <p:nvSpPr>
          <p:cNvPr id="25" name="Text 22"/>
          <p:cNvSpPr/>
          <p:nvPr/>
        </p:nvSpPr>
        <p:spPr>
          <a:xfrm>
            <a:off x="1079541" y="31622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Coinbase · x402 payment agents</a:t>
            </a:r>
            <a:endParaRPr lang="en-US" sz="1350" dirty="0"/>
          </a:p>
        </p:txBody>
      </p:sp>
      <p:sp>
        <p:nvSpPr>
          <p:cNvPr id="26" name="Text 23"/>
          <p:cNvSpPr/>
          <p:nvPr/>
        </p:nvSpPr>
        <p:spPr>
          <a:xfrm>
            <a:off x="1079541" y="34417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/verify over x402, USDC escrow (TESTNET)</a:t>
            </a:r>
            <a:endParaRPr lang="en-US" sz="1050" dirty="0"/>
          </a:p>
        </p:txBody>
      </p:sp>
      <p:sp>
        <p:nvSpPr>
          <p:cNvPr id="27" name="Shape 25"/>
          <p:cNvSpPr/>
          <p:nvPr/>
        </p:nvSpPr>
        <p:spPr>
          <a:xfrm>
            <a:off x="4381530" y="2997220"/>
            <a:ext cx="3429000" cy="888980"/>
          </a:xfrm>
          <a:prstGeom prst="roundRect">
            <a:avLst>
              <a:gd name="adj" fmla="val 14287"/>
            </a:avLst>
          </a:prstGeom>
          <a:solidFill>
            <a:srgbClr val="FFFFFF"/>
          </a:solidFill>
          <a:ln w="12700">
            <a:solidFill>
              <a:srgbClr val="16181B">
                <a:alpha val="10000"/>
              </a:srgbClr>
            </a:solidFill>
            <a:prstDash val="solid"/>
          </a:ln>
        </p:spPr>
      </p:sp>
      <p:sp>
        <p:nvSpPr>
          <p:cNvPr id="28" name="Shape 26"/>
          <p:cNvSpPr/>
          <p:nvPr/>
        </p:nvSpPr>
        <p:spPr>
          <a:xfrm>
            <a:off x="4521159" y="3162270"/>
            <a:ext cx="38130" cy="558790"/>
          </a:xfrm>
          <a:prstGeom prst="roundRect">
            <a:avLst>
              <a:gd name="adj" fmla="val 49881"/>
            </a:avLst>
          </a:prstGeom>
          <a:solidFill>
            <a:srgbClr val="E09A3A"/>
          </a:solidFill>
          <a:ln/>
        </p:spPr>
      </p:sp>
      <p:sp>
        <p:nvSpPr>
          <p:cNvPr id="29" name="Text 26"/>
          <p:cNvSpPr/>
          <p:nvPr/>
        </p:nvSpPr>
        <p:spPr>
          <a:xfrm>
            <a:off x="4699010" y="31622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Capital One · Nessie</a:t>
            </a:r>
            <a:endParaRPr lang="en-US" sz="1350" dirty="0"/>
          </a:p>
        </p:txBody>
      </p:sp>
      <p:sp>
        <p:nvSpPr>
          <p:cNvPr id="30" name="Text 27"/>
          <p:cNvSpPr/>
          <p:nvPr/>
        </p:nvSpPr>
        <p:spPr>
          <a:xfrm>
            <a:off x="4699010" y="34417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sandbox mirror only if the key lands</a:t>
            </a:r>
            <a:endParaRPr lang="en-US" sz="1050" dirty="0"/>
          </a:p>
        </p:txBody>
      </p:sp>
      <p:sp>
        <p:nvSpPr>
          <p:cNvPr id="31" name="Shape 29"/>
          <p:cNvSpPr/>
          <p:nvPr/>
        </p:nvSpPr>
        <p:spPr>
          <a:xfrm>
            <a:off x="8001000" y="2997220"/>
            <a:ext cx="3429000" cy="888980"/>
          </a:xfrm>
          <a:prstGeom prst="roundRect">
            <a:avLst>
              <a:gd name="adj" fmla="val 14287"/>
            </a:avLst>
          </a:prstGeom>
          <a:solidFill>
            <a:srgbClr val="FFFFFF"/>
          </a:solidFill>
          <a:ln w="12700">
            <a:solidFill>
              <a:srgbClr val="16181B">
                <a:alpha val="10000"/>
              </a:srgbClr>
            </a:solidFill>
            <a:prstDash val="solid"/>
          </a:ln>
        </p:spPr>
      </p:sp>
      <p:sp>
        <p:nvSpPr>
          <p:cNvPr id="32" name="Shape 30"/>
          <p:cNvSpPr/>
          <p:nvPr/>
        </p:nvSpPr>
        <p:spPr>
          <a:xfrm>
            <a:off x="8140720" y="3162270"/>
            <a:ext cx="38130" cy="558790"/>
          </a:xfrm>
          <a:prstGeom prst="roundRect">
            <a:avLst>
              <a:gd name="adj" fmla="val 49881"/>
            </a:avLst>
          </a:prstGeom>
          <a:solidFill>
            <a:srgbClr val="4FB3FF"/>
          </a:solidFill>
          <a:ln/>
        </p:spPr>
      </p:sp>
      <p:sp>
        <p:nvSpPr>
          <p:cNvPr id="33" name="Text 30"/>
          <p:cNvSpPr/>
          <p:nvPr/>
        </p:nvSpPr>
        <p:spPr>
          <a:xfrm>
            <a:off x="8318480" y="3162270"/>
            <a:ext cx="2984510" cy="48262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Microsoft · Built for the Real World</a:t>
            </a:r>
            <a:endParaRPr lang="en-US" sz="1350" dirty="0"/>
          </a:p>
        </p:txBody>
      </p:sp>
      <p:sp>
        <p:nvSpPr>
          <p:cNvPr id="34" name="Text 31"/>
          <p:cNvSpPr/>
          <p:nvPr/>
        </p:nvSpPr>
        <p:spPr>
          <a:xfrm>
            <a:off x="8318480" y="34417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a clinic pharmacist’s delivery check</a:t>
            </a:r>
            <a:endParaRPr lang="en-US" sz="1050" dirty="0"/>
          </a:p>
        </p:txBody>
      </p:sp>
      <p:sp>
        <p:nvSpPr>
          <p:cNvPr id="35" name="Shape 33"/>
          <p:cNvSpPr/>
          <p:nvPr/>
        </p:nvSpPr>
        <p:spPr>
          <a:xfrm>
            <a:off x="761970" y="4025920"/>
            <a:ext cx="3429000" cy="888980"/>
          </a:xfrm>
          <a:prstGeom prst="roundRect">
            <a:avLst>
              <a:gd name="adj" fmla="val 14287"/>
            </a:avLst>
          </a:prstGeom>
          <a:solidFill>
            <a:srgbClr val="FFFFFF"/>
          </a:solidFill>
          <a:ln w="12700">
            <a:solidFill>
              <a:srgbClr val="16181B">
                <a:alpha val="10000"/>
              </a:srgbClr>
            </a:solidFill>
            <a:prstDash val="solid"/>
          </a:ln>
        </p:spPr>
      </p:sp>
      <p:sp>
        <p:nvSpPr>
          <p:cNvPr id="36" name="Shape 34"/>
          <p:cNvSpPr/>
          <p:nvPr/>
        </p:nvSpPr>
        <p:spPr>
          <a:xfrm>
            <a:off x="901690" y="4190970"/>
            <a:ext cx="38130" cy="558790"/>
          </a:xfrm>
          <a:prstGeom prst="roundRect">
            <a:avLst>
              <a:gd name="adj" fmla="val 49881"/>
            </a:avLst>
          </a:prstGeom>
          <a:solidFill>
            <a:srgbClr val="5FD39A"/>
          </a:solidFill>
          <a:ln/>
        </p:spPr>
      </p:sp>
      <p:sp>
        <p:nvSpPr>
          <p:cNvPr id="37" name="Text 34"/>
          <p:cNvSpPr/>
          <p:nvPr/>
        </p:nvSpPr>
        <p:spPr>
          <a:xfrm>
            <a:off x="1079541" y="41909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Anthropic · Claude</a:t>
            </a:r>
            <a:endParaRPr lang="en-US" sz="1350" dirty="0"/>
          </a:p>
        </p:txBody>
      </p:sp>
      <p:sp>
        <p:nvSpPr>
          <p:cNvPr id="38" name="Text 35"/>
          <p:cNvSpPr/>
          <p:nvPr/>
        </p:nvSpPr>
        <p:spPr>
          <a:xfrm>
            <a:off x="1079541" y="44704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the plain-English why; can only downgrade</a:t>
            </a:r>
            <a:endParaRPr lang="en-US" sz="1050" dirty="0"/>
          </a:p>
        </p:txBody>
      </p:sp>
      <p:sp>
        <p:nvSpPr>
          <p:cNvPr id="39" name="Shape 37"/>
          <p:cNvSpPr/>
          <p:nvPr/>
        </p:nvSpPr>
        <p:spPr>
          <a:xfrm>
            <a:off x="4381530" y="4025920"/>
            <a:ext cx="3429000" cy="888980"/>
          </a:xfrm>
          <a:prstGeom prst="roundRect">
            <a:avLst>
              <a:gd name="adj" fmla="val 14287"/>
            </a:avLst>
          </a:prstGeom>
          <a:solidFill>
            <a:srgbClr val="FFFFFF"/>
          </a:solidFill>
          <a:ln w="12700">
            <a:solidFill>
              <a:srgbClr val="16181B">
                <a:alpha val="10000"/>
              </a:srgbClr>
            </a:solidFill>
            <a:prstDash val="solid"/>
          </a:ln>
        </p:spPr>
      </p:sp>
      <p:sp>
        <p:nvSpPr>
          <p:cNvPr id="40" name="Shape 38"/>
          <p:cNvSpPr/>
          <p:nvPr/>
        </p:nvSpPr>
        <p:spPr>
          <a:xfrm>
            <a:off x="4521159" y="4190970"/>
            <a:ext cx="38130" cy="558790"/>
          </a:xfrm>
          <a:prstGeom prst="roundRect">
            <a:avLst>
              <a:gd name="adj" fmla="val 49881"/>
            </a:avLst>
          </a:prstGeom>
          <a:solidFill>
            <a:srgbClr val="5FD39A"/>
          </a:solidFill>
          <a:ln/>
        </p:spPr>
      </p:sp>
      <p:sp>
        <p:nvSpPr>
          <p:cNvPr id="41" name="Text 38"/>
          <p:cNvSpPr/>
          <p:nvPr/>
        </p:nvSpPr>
        <p:spPr>
          <a:xfrm>
            <a:off x="4699010" y="41909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People-First</a:t>
            </a:r>
            <a:endParaRPr lang="en-US" sz="1350" dirty="0"/>
          </a:p>
        </p:txBody>
      </p:sp>
      <p:sp>
        <p:nvSpPr>
          <p:cNvPr id="42" name="Text 39"/>
          <p:cNvSpPr/>
          <p:nvPr/>
        </p:nvSpPr>
        <p:spPr>
          <a:xfrm>
            <a:off x="4699010" y="44704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personal mode, read aloud</a:t>
            </a:r>
            <a:endParaRPr lang="en-US" sz="1050" dirty="0"/>
          </a:p>
        </p:txBody>
      </p:sp>
      <p:sp>
        <p:nvSpPr>
          <p:cNvPr id="43" name="Shape 41"/>
          <p:cNvSpPr/>
          <p:nvPr/>
        </p:nvSpPr>
        <p:spPr>
          <a:xfrm>
            <a:off x="8001000" y="4025920"/>
            <a:ext cx="3429000" cy="888980"/>
          </a:xfrm>
          <a:prstGeom prst="roundRect">
            <a:avLst>
              <a:gd name="adj" fmla="val 14287"/>
            </a:avLst>
          </a:prstGeom>
          <a:solidFill>
            <a:srgbClr val="FFFFFF"/>
          </a:solidFill>
          <a:ln w="12700">
            <a:solidFill>
              <a:srgbClr val="16181B">
                <a:alpha val="10000"/>
              </a:srgbClr>
            </a:solidFill>
            <a:prstDash val="solid"/>
          </a:ln>
        </p:spPr>
      </p:sp>
      <p:sp>
        <p:nvSpPr>
          <p:cNvPr id="44" name="Shape 42"/>
          <p:cNvSpPr/>
          <p:nvPr/>
        </p:nvSpPr>
        <p:spPr>
          <a:xfrm>
            <a:off x="8140720" y="4190970"/>
            <a:ext cx="38130" cy="558790"/>
          </a:xfrm>
          <a:prstGeom prst="roundRect">
            <a:avLst>
              <a:gd name="adj" fmla="val 49881"/>
            </a:avLst>
          </a:prstGeom>
          <a:solidFill>
            <a:srgbClr val="4FB3FF"/>
          </a:solidFill>
          <a:ln/>
        </p:spPr>
      </p:sp>
      <p:sp>
        <p:nvSpPr>
          <p:cNvPr id="45" name="Text 42"/>
          <p:cNvSpPr/>
          <p:nvPr/>
        </p:nvSpPr>
        <p:spPr>
          <a:xfrm>
            <a:off x="8318480" y="41909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Most Technically Complex</a:t>
            </a:r>
            <a:endParaRPr lang="en-US" sz="1350" dirty="0"/>
          </a:p>
        </p:txBody>
      </p:sp>
      <p:sp>
        <p:nvSpPr>
          <p:cNvPr id="46" name="Text 43"/>
          <p:cNvSpPr/>
          <p:nvPr/>
        </p:nvSpPr>
        <p:spPr>
          <a:xfrm>
            <a:off x="8318480" y="44704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two-sensor optics + rules + payments</a:t>
            </a:r>
            <a:endParaRPr lang="en-US" sz="1050" dirty="0"/>
          </a:p>
        </p:txBody>
      </p:sp>
      <p:sp>
        <p:nvSpPr>
          <p:cNvPr id="47" name="Shape 45"/>
          <p:cNvSpPr/>
          <p:nvPr/>
        </p:nvSpPr>
        <p:spPr>
          <a:xfrm>
            <a:off x="761970" y="5054620"/>
            <a:ext cx="3429000" cy="888980"/>
          </a:xfrm>
          <a:prstGeom prst="roundRect">
            <a:avLst>
              <a:gd name="adj" fmla="val 14287"/>
            </a:avLst>
          </a:prstGeom>
          <a:solidFill>
            <a:srgbClr val="FFFFFF"/>
          </a:solidFill>
          <a:ln w="12700">
            <a:solidFill>
              <a:srgbClr val="16181B">
                <a:alpha val="10000"/>
              </a:srgbClr>
            </a:solidFill>
            <a:prstDash val="solid"/>
          </a:ln>
        </p:spPr>
      </p:sp>
      <p:sp>
        <p:nvSpPr>
          <p:cNvPr id="48" name="Shape 46"/>
          <p:cNvSpPr/>
          <p:nvPr/>
        </p:nvSpPr>
        <p:spPr>
          <a:xfrm>
            <a:off x="901690" y="5219670"/>
            <a:ext cx="38130" cy="558790"/>
          </a:xfrm>
          <a:prstGeom prst="roundRect">
            <a:avLst>
              <a:gd name="adj" fmla="val 49881"/>
            </a:avLst>
          </a:prstGeom>
          <a:solidFill>
            <a:srgbClr val="5FD39A"/>
          </a:solidFill>
          <a:ln/>
        </p:spPr>
      </p:sp>
      <p:sp>
        <p:nvSpPr>
          <p:cNvPr id="49" name="Text 46"/>
          <p:cNvSpPr/>
          <p:nvPr/>
        </p:nvSpPr>
        <p:spPr>
          <a:xfrm>
            <a:off x="1079541" y="52196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MLH · Gemini API</a:t>
            </a:r>
            <a:endParaRPr lang="en-US" sz="1350" dirty="0"/>
          </a:p>
        </p:txBody>
      </p:sp>
      <p:sp>
        <p:nvSpPr>
          <p:cNvPr id="50" name="Text 47"/>
          <p:cNvSpPr/>
          <p:nvPr/>
        </p:nvSpPr>
        <p:spPr>
          <a:xfrm>
            <a:off x="1079541" y="54991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reads the bottle label</a:t>
            </a:r>
            <a:endParaRPr lang="en-US" sz="1050" dirty="0"/>
          </a:p>
        </p:txBody>
      </p:sp>
      <p:sp>
        <p:nvSpPr>
          <p:cNvPr id="51" name="Shape 49"/>
          <p:cNvSpPr/>
          <p:nvPr/>
        </p:nvSpPr>
        <p:spPr>
          <a:xfrm>
            <a:off x="4381530" y="5054620"/>
            <a:ext cx="3429000" cy="888980"/>
          </a:xfrm>
          <a:prstGeom prst="roundRect">
            <a:avLst>
              <a:gd name="adj" fmla="val 14287"/>
            </a:avLst>
          </a:prstGeom>
          <a:solidFill>
            <a:srgbClr val="FFFFFF"/>
          </a:solidFill>
          <a:ln w="12700">
            <a:solidFill>
              <a:srgbClr val="16181B">
                <a:alpha val="10000"/>
              </a:srgbClr>
            </a:solidFill>
            <a:prstDash val="solid"/>
          </a:ln>
        </p:spPr>
      </p:sp>
      <p:sp>
        <p:nvSpPr>
          <p:cNvPr id="52" name="Shape 50"/>
          <p:cNvSpPr/>
          <p:nvPr/>
        </p:nvSpPr>
        <p:spPr>
          <a:xfrm>
            <a:off x="4521159" y="5219670"/>
            <a:ext cx="38130" cy="558790"/>
          </a:xfrm>
          <a:prstGeom prst="roundRect">
            <a:avLst>
              <a:gd name="adj" fmla="val 49881"/>
            </a:avLst>
          </a:prstGeom>
          <a:solidFill>
            <a:srgbClr val="5FD39A"/>
          </a:solidFill>
          <a:ln/>
        </p:spPr>
      </p:sp>
      <p:sp>
        <p:nvSpPr>
          <p:cNvPr id="53" name="Text 50"/>
          <p:cNvSpPr/>
          <p:nvPr/>
        </p:nvSpPr>
        <p:spPr>
          <a:xfrm>
            <a:off x="4699010" y="52196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MLH · Gen AI</a:t>
            </a:r>
            <a:endParaRPr lang="en-US" sz="1350" dirty="0"/>
          </a:p>
        </p:txBody>
      </p:sp>
      <p:sp>
        <p:nvSpPr>
          <p:cNvPr id="54" name="Text 51"/>
          <p:cNvSpPr/>
          <p:nvPr/>
        </p:nvSpPr>
        <p:spPr>
          <a:xfrm>
            <a:off x="4699010" y="54991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models explain; rules decide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NEXT</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21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622341"/>
          </a:xfrm>
          <a:prstGeom prst="rect">
            <a:avLst/>
          </a:prstGeom>
          <a:noFill/>
          <a:ln/>
        </p:spPr>
        <p:txBody>
          <a:bodyPr wrap="square" lIns="0" tIns="0" rIns="0" bIns="0" rtlCol="0" anchor="t"/>
          <a:lstStyle/>
          <a:p>
            <a:pPr algn="l" indent="0" marL="0">
              <a:lnSpc>
                <a:spcPct val="100000"/>
              </a:lnSpc>
              <a:buNone/>
            </a:pPr>
            <a:r>
              <a:rPr lang="en-US" sz="4056" spc="-61" kern="0" dirty="0">
                <a:solidFill>
                  <a:srgbClr val="16181B"/>
                </a:solidFill>
                <a:latin typeface="Instrument Serif" pitchFamily="34" charset="0"/>
                <a:ea typeface="Instrument Serif" pitchFamily="34" charset="-122"/>
                <a:cs typeface="Instrument Serif" pitchFamily="34" charset="-120"/>
              </a:rPr>
              <a:t>Next: </a:t>
            </a:r>
            <a:pPr algn="l" indent="0" marL="0">
              <a:lnSpc>
                <a:spcPct val="100000"/>
              </a:lnSpc>
              <a:buNone/>
            </a:pPr>
            <a:r>
              <a:rPr lang="en-US" sz="4056" i="1" spc="-61" kern="0" dirty="0">
                <a:solidFill>
                  <a:srgbClr val="16181B"/>
                </a:solidFill>
                <a:latin typeface="Instrument Serif" pitchFamily="34" charset="0"/>
                <a:ea typeface="Instrument Serif" pitchFamily="34" charset="-122"/>
                <a:cs typeface="Instrument Serif" pitchFamily="34" charset="-120"/>
              </a:rPr>
              <a:t>real runs, one clinic.</a:t>
            </a:r>
            <a:endParaRPr lang="en-US" sz="4056" dirty="0"/>
          </a:p>
        </p:txBody>
      </p:sp>
      <p:sp>
        <p:nvSpPr>
          <p:cNvPr id="11" name="Shape 9"/>
          <p:cNvSpPr/>
          <p:nvPr/>
        </p:nvSpPr>
        <p:spPr>
          <a:xfrm>
            <a:off x="761970" y="2158990"/>
            <a:ext cx="482620" cy="482620"/>
          </a:xfrm>
          <a:prstGeom prst="ellipse">
            <a:avLst/>
          </a:prstGeom>
          <a:solidFill>
            <a:srgbClr val="4FB3FF">
              <a:alpha val="14000"/>
            </a:srgbClr>
          </a:solidFill>
          <a:ln w="19050">
            <a:solidFill>
              <a:srgbClr val="4FB3FF"/>
            </a:solidFill>
            <a:prstDash val="solid"/>
          </a:ln>
        </p:spPr>
      </p:sp>
      <p:sp>
        <p:nvSpPr>
          <p:cNvPr id="12" name="Text 9"/>
          <p:cNvSpPr/>
          <p:nvPr/>
        </p:nvSpPr>
        <p:spPr>
          <a:xfrm>
            <a:off x="761970" y="2235159"/>
            <a:ext cx="482620" cy="285750"/>
          </a:xfrm>
          <a:prstGeom prst="rect">
            <a:avLst/>
          </a:prstGeom>
          <a:noFill/>
          <a:ln/>
        </p:spPr>
        <p:txBody>
          <a:bodyPr wrap="square" lIns="0" tIns="0" rIns="0" bIns="0" rtlCol="0" anchor="t"/>
          <a:lstStyle/>
          <a:p>
            <a:pPr algn="ctr"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1</a:t>
            </a:r>
            <a:endParaRPr lang="en-US" sz="1872" dirty="0"/>
          </a:p>
        </p:txBody>
      </p:sp>
      <p:sp>
        <p:nvSpPr>
          <p:cNvPr id="13" name="Text 10"/>
          <p:cNvSpPr/>
          <p:nvPr/>
        </p:nvSpPr>
        <p:spPr>
          <a:xfrm>
            <a:off x="1498610" y="2171700"/>
            <a:ext cx="8889980" cy="323880"/>
          </a:xfrm>
          <a:prstGeom prst="rect">
            <a:avLst/>
          </a:prstGeom>
          <a:noFill/>
          <a:ln/>
        </p:spPr>
        <p:txBody>
          <a:bodyPr wrap="square" lIns="0" tIns="0" rIns="0" bIns="0" rtlCol="0" anchor="t"/>
          <a:lstStyle/>
          <a:p>
            <a:pPr algn="l" indent="0" marL="0">
              <a:lnSpc>
                <a:spcPct val="130000"/>
              </a:lnSpc>
              <a:buNone/>
            </a:pPr>
            <a:r>
              <a:rPr lang="en-US" sz="1700" b="1" dirty="0">
                <a:solidFill>
                  <a:srgbClr val="16181B"/>
                </a:solidFill>
                <a:latin typeface="Inter" pitchFamily="34" charset="0"/>
                <a:ea typeface="Inter" pitchFamily="34" charset="-122"/>
                <a:cs typeface="Inter" pitchFamily="34" charset="-120"/>
              </a:rPr>
              <a:t>A reference profile on the real box</a:t>
            </a:r>
            <a:endParaRPr lang="en-US" sz="1700" dirty="0"/>
          </a:p>
        </p:txBody>
      </p:sp>
      <p:sp>
        <p:nvSpPr>
          <p:cNvPr id="14" name="Text 11"/>
          <p:cNvSpPr/>
          <p:nvPr/>
        </p:nvSpPr>
        <p:spPr>
          <a:xfrm>
            <a:off x="1498610" y="2489180"/>
            <a:ext cx="8889980" cy="279441"/>
          </a:xfrm>
          <a:prstGeom prst="rect">
            <a:avLst/>
          </a:prstGeom>
          <a:noFill/>
          <a:ln/>
        </p:spPr>
        <p:txBody>
          <a:bodyPr wrap="square" lIns="0" tIns="0" rIns="0" bIns="0" rtlCol="0" anchor="t"/>
          <a:lstStyle/>
          <a:p>
            <a:pPr algn="l" indent="0" marL="0">
              <a:lnSpc>
                <a:spcPct val="140000"/>
              </a:lnSpc>
              <a:buNone/>
            </a:pPr>
            <a:r>
              <a:rPr lang="en-US" sz="1350" dirty="0">
                <a:solidFill>
                  <a:srgbClr val="4A4E55"/>
                </a:solidFill>
                <a:latin typeface="Inter" pitchFamily="34" charset="0"/>
                <a:ea typeface="Inter" pitchFamily="34" charset="-122"/>
                <a:cs typeface="Inter" pitchFamily="34" charset="-120"/>
              </a:rPr>
              <a:t>Three or more runs of a known-good aspirin tablet, then the water-only control against it.</a:t>
            </a:r>
            <a:endParaRPr lang="en-US" sz="1350" dirty="0"/>
          </a:p>
        </p:txBody>
      </p:sp>
      <p:sp>
        <p:nvSpPr>
          <p:cNvPr id="15" name="Shape 13"/>
          <p:cNvSpPr/>
          <p:nvPr/>
        </p:nvSpPr>
        <p:spPr>
          <a:xfrm>
            <a:off x="761970" y="3174980"/>
            <a:ext cx="482620" cy="482620"/>
          </a:xfrm>
          <a:prstGeom prst="ellipse">
            <a:avLst/>
          </a:prstGeom>
          <a:solidFill>
            <a:srgbClr val="4FB3FF">
              <a:alpha val="14000"/>
            </a:srgbClr>
          </a:solidFill>
          <a:ln w="19050">
            <a:solidFill>
              <a:srgbClr val="4FB3FF"/>
            </a:solidFill>
            <a:prstDash val="solid"/>
          </a:ln>
        </p:spPr>
      </p:sp>
      <p:sp>
        <p:nvSpPr>
          <p:cNvPr id="16" name="Text 13"/>
          <p:cNvSpPr/>
          <p:nvPr/>
        </p:nvSpPr>
        <p:spPr>
          <a:xfrm>
            <a:off x="761970" y="3251241"/>
            <a:ext cx="482620" cy="285750"/>
          </a:xfrm>
          <a:prstGeom prst="rect">
            <a:avLst/>
          </a:prstGeom>
          <a:noFill/>
          <a:ln/>
        </p:spPr>
        <p:txBody>
          <a:bodyPr wrap="square" lIns="0" tIns="0" rIns="0" bIns="0" rtlCol="0" anchor="t"/>
          <a:lstStyle/>
          <a:p>
            <a:pPr algn="ctr"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2</a:t>
            </a:r>
            <a:endParaRPr lang="en-US" sz="1872" dirty="0"/>
          </a:p>
        </p:txBody>
      </p:sp>
      <p:sp>
        <p:nvSpPr>
          <p:cNvPr id="17" name="Text 14"/>
          <p:cNvSpPr/>
          <p:nvPr/>
        </p:nvSpPr>
        <p:spPr>
          <a:xfrm>
            <a:off x="1498610" y="3187690"/>
            <a:ext cx="8889980" cy="323880"/>
          </a:xfrm>
          <a:prstGeom prst="rect">
            <a:avLst/>
          </a:prstGeom>
          <a:noFill/>
          <a:ln/>
        </p:spPr>
        <p:txBody>
          <a:bodyPr wrap="square" lIns="0" tIns="0" rIns="0" bIns="0" rtlCol="0" anchor="t"/>
          <a:lstStyle/>
          <a:p>
            <a:pPr algn="l" indent="0" marL="0">
              <a:lnSpc>
                <a:spcPct val="130000"/>
              </a:lnSpc>
              <a:buNone/>
            </a:pPr>
            <a:r>
              <a:rPr lang="en-US" sz="1700" b="1" dirty="0">
                <a:solidFill>
                  <a:srgbClr val="16181B"/>
                </a:solidFill>
                <a:latin typeface="Inter" pitchFamily="34" charset="0"/>
                <a:ea typeface="Inter" pitchFamily="34" charset="-122"/>
                <a:cs typeface="Inter" pitchFamily="34" charset="-120"/>
              </a:rPr>
              <a:t>A second reference drug</a:t>
            </a:r>
            <a:endParaRPr lang="en-US" sz="1700" dirty="0"/>
          </a:p>
        </p:txBody>
      </p:sp>
      <p:sp>
        <p:nvSpPr>
          <p:cNvPr id="18" name="Text 15"/>
          <p:cNvSpPr/>
          <p:nvPr/>
        </p:nvSpPr>
        <p:spPr>
          <a:xfrm>
            <a:off x="1498610" y="3505170"/>
            <a:ext cx="8889980" cy="279441"/>
          </a:xfrm>
          <a:prstGeom prst="rect">
            <a:avLst/>
          </a:prstGeom>
          <a:noFill/>
          <a:ln/>
        </p:spPr>
        <p:txBody>
          <a:bodyPr wrap="square" lIns="0" tIns="0" rIns="0" bIns="0" rtlCol="0" anchor="t"/>
          <a:lstStyle/>
          <a:p>
            <a:pPr algn="l" indent="0" marL="0">
              <a:lnSpc>
                <a:spcPct val="140000"/>
              </a:lnSpc>
              <a:buNone/>
            </a:pPr>
            <a:r>
              <a:rPr lang="en-US" sz="1350" dirty="0">
                <a:solidFill>
                  <a:srgbClr val="4A4E55"/>
                </a:solidFill>
                <a:latin typeface="Inter" pitchFamily="34" charset="0"/>
                <a:ea typeface="Inter" pitchFamily="34" charset="-122"/>
                <a:cs typeface="Inter" pitchFamily="34" charset="-120"/>
              </a:rPr>
              <a:t>Each new drug needs its own profile. Until then it is UNABLE TO VERIFY, on purpose.</a:t>
            </a:r>
            <a:endParaRPr lang="en-US" sz="1350" dirty="0"/>
          </a:p>
        </p:txBody>
      </p:sp>
      <p:sp>
        <p:nvSpPr>
          <p:cNvPr id="19" name="Shape 17"/>
          <p:cNvSpPr/>
          <p:nvPr/>
        </p:nvSpPr>
        <p:spPr>
          <a:xfrm>
            <a:off x="761970" y="4190970"/>
            <a:ext cx="482620" cy="482620"/>
          </a:xfrm>
          <a:prstGeom prst="ellipse">
            <a:avLst/>
          </a:prstGeom>
          <a:solidFill>
            <a:srgbClr val="4FB3FF">
              <a:alpha val="14000"/>
            </a:srgbClr>
          </a:solidFill>
          <a:ln w="19050">
            <a:solidFill>
              <a:srgbClr val="4FB3FF"/>
            </a:solidFill>
            <a:prstDash val="solid"/>
          </a:ln>
        </p:spPr>
      </p:sp>
      <p:sp>
        <p:nvSpPr>
          <p:cNvPr id="20" name="Text 17"/>
          <p:cNvSpPr/>
          <p:nvPr/>
        </p:nvSpPr>
        <p:spPr>
          <a:xfrm>
            <a:off x="761970" y="4267230"/>
            <a:ext cx="482620" cy="285750"/>
          </a:xfrm>
          <a:prstGeom prst="rect">
            <a:avLst/>
          </a:prstGeom>
          <a:noFill/>
          <a:ln/>
        </p:spPr>
        <p:txBody>
          <a:bodyPr wrap="square" lIns="0" tIns="0" rIns="0" bIns="0" rtlCol="0" anchor="t"/>
          <a:lstStyle/>
          <a:p>
            <a:pPr algn="ctr"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3</a:t>
            </a:r>
            <a:endParaRPr lang="en-US" sz="1872" dirty="0"/>
          </a:p>
        </p:txBody>
      </p:sp>
      <p:sp>
        <p:nvSpPr>
          <p:cNvPr id="21" name="Text 18"/>
          <p:cNvSpPr/>
          <p:nvPr/>
        </p:nvSpPr>
        <p:spPr>
          <a:xfrm>
            <a:off x="1498610" y="4203680"/>
            <a:ext cx="8889980" cy="323880"/>
          </a:xfrm>
          <a:prstGeom prst="rect">
            <a:avLst/>
          </a:prstGeom>
          <a:noFill/>
          <a:ln/>
        </p:spPr>
        <p:txBody>
          <a:bodyPr wrap="square" lIns="0" tIns="0" rIns="0" bIns="0" rtlCol="0" anchor="t"/>
          <a:lstStyle/>
          <a:p>
            <a:pPr algn="l" indent="0" marL="0">
              <a:lnSpc>
                <a:spcPct val="130000"/>
              </a:lnSpc>
              <a:buNone/>
            </a:pPr>
            <a:r>
              <a:rPr lang="en-US" sz="1700" b="1" dirty="0">
                <a:solidFill>
                  <a:srgbClr val="16181B"/>
                </a:solidFill>
                <a:latin typeface="Inter" pitchFamily="34" charset="0"/>
                <a:ea typeface="Inter" pitchFamily="34" charset="-122"/>
                <a:cs typeface="Inter" pitchFamily="34" charset="-120"/>
              </a:rPr>
              <a:t>One pharmacy, one week</a:t>
            </a:r>
            <a:endParaRPr lang="en-US" sz="1700" dirty="0"/>
          </a:p>
        </p:txBody>
      </p:sp>
      <p:sp>
        <p:nvSpPr>
          <p:cNvPr id="22" name="Text 19"/>
          <p:cNvSpPr/>
          <p:nvPr/>
        </p:nvSpPr>
        <p:spPr>
          <a:xfrm>
            <a:off x="1498610" y="4521159"/>
            <a:ext cx="8889980" cy="279441"/>
          </a:xfrm>
          <a:prstGeom prst="rect">
            <a:avLst/>
          </a:prstGeom>
          <a:noFill/>
          <a:ln/>
        </p:spPr>
        <p:txBody>
          <a:bodyPr wrap="square" lIns="0" tIns="0" rIns="0" bIns="0" rtlCol="0" anchor="t"/>
          <a:lstStyle/>
          <a:p>
            <a:pPr algn="l" indent="0" marL="0">
              <a:lnSpc>
                <a:spcPct val="140000"/>
              </a:lnSpc>
              <a:buNone/>
            </a:pPr>
            <a:r>
              <a:rPr lang="en-US" sz="1350" dirty="0">
                <a:solidFill>
                  <a:srgbClr val="4A4E55"/>
                </a:solidFill>
                <a:latin typeface="Inter" pitchFamily="34" charset="0"/>
                <a:ea typeface="Inter" pitchFamily="34" charset="-122"/>
                <a:cs typeface="Inter" pitchFamily="34" charset="-120"/>
              </a:rPr>
              <a:t>A procurement officer samples one tablet per delivery; we log every decision and every override.</a:t>
            </a:r>
            <a:endParaRPr lang="en-US" sz="1350" dirty="0"/>
          </a:p>
        </p:txBody>
      </p:sp>
      <p:sp>
        <p:nvSpPr>
          <p:cNvPr id="23" name="Shape 21"/>
          <p:cNvSpPr/>
          <p:nvPr/>
        </p:nvSpPr>
        <p:spPr>
          <a:xfrm>
            <a:off x="761970" y="5397520"/>
            <a:ext cx="10668030" cy="761970"/>
          </a:xfrm>
          <a:prstGeom prst="roundRect">
            <a:avLst>
              <a:gd name="adj" fmla="val 18337"/>
            </a:avLst>
          </a:prstGeom>
          <a:solidFill>
            <a:srgbClr val="4FB3FF">
              <a:alpha val="14000"/>
            </a:srgbClr>
          </a:solidFill>
          <a:ln w="12700">
            <a:solidFill>
              <a:srgbClr val="4FB3FF">
                <a:alpha val="35000"/>
              </a:srgbClr>
            </a:solidFill>
            <a:prstDash val="solid"/>
          </a:ln>
        </p:spPr>
      </p:sp>
      <p:sp>
        <p:nvSpPr>
          <p:cNvPr id="24" name="Text 21"/>
          <p:cNvSpPr/>
          <p:nvPr/>
        </p:nvSpPr>
        <p:spPr>
          <a:xfrm>
            <a:off x="1015990" y="5549859"/>
            <a:ext cx="10159990" cy="520659"/>
          </a:xfrm>
          <a:prstGeom prst="rect">
            <a:avLst/>
          </a:prstGeom>
          <a:noFill/>
          <a:ln/>
        </p:spPr>
        <p:txBody>
          <a:bodyPr wrap="square" lIns="0" tIns="0" rIns="0" bIns="0" rtlCol="0" anchor="t"/>
          <a:lstStyle/>
          <a:p>
            <a:pPr algn="l" indent="0" marL="0">
              <a:lnSpc>
                <a:spcPct val="135000"/>
              </a:lnSpc>
              <a:buNone/>
            </a:pPr>
            <a:r>
              <a:rPr lang="en-US" sz="1400" dirty="0">
                <a:solidFill>
                  <a:srgbClr val="16181B"/>
                </a:solidFill>
                <a:latin typeface="Inter" pitchFamily="34" charset="0"/>
                <a:ea typeface="Inter" pitchFamily="34" charset="-122"/>
                <a:cs typeface="Inter" pitchFamily="34" charset="-120"/>
              </a:rPr>
              <a:t>Ask: try to make it say PASS on the chalk. Then tell us which tablet to calibrate next, and introduce us to one clinic pharmacist.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Pill — The box measures. Pill explains.</dc:title>
  <dc:subject>Pill deck (Plan B import for Figma Slides; same source as the plugin: figma/deck.json)</dc:subject>
  <dc:creator>Pill · Cal Hacks 13.0</dc:creator>
  <cp:lastModifiedBy>Pill · Cal Hacks 13.0</cp:lastModifiedBy>
  <cp:revision>1</cp:revision>
  <dcterms:created xsi:type="dcterms:W3CDTF">2026-10-25T08:56:49Z</dcterms:created>
  <dcterms:modified xsi:type="dcterms:W3CDTF">2026-10-25T08:56:49Z</dcterms:modified>
</cp:coreProperties>
</file>